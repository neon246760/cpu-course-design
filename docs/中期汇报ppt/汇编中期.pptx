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6"/>
  </p:notesMasterIdLst>
  <p:sldIdLst>
    <p:sldId id="256" r:id="rId2"/>
    <p:sldId id="1013" r:id="rId3"/>
    <p:sldId id="257" r:id="rId4"/>
    <p:sldId id="258" r:id="rId5"/>
    <p:sldId id="259" r:id="rId6"/>
    <p:sldId id="260" r:id="rId7"/>
    <p:sldId id="261" r:id="rId8"/>
    <p:sldId id="262" r:id="rId9"/>
    <p:sldId id="1011" r:id="rId10"/>
    <p:sldId id="263" r:id="rId11"/>
    <p:sldId id="264" r:id="rId12"/>
    <p:sldId id="1010" r:id="rId13"/>
    <p:sldId id="265" r:id="rId14"/>
    <p:sldId id="266" r:id="rId1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4660"/>
  </p:normalViewPr>
  <p:slideViewPr>
    <p:cSldViewPr snapToGrid="0" snapToObjects="1">
      <p:cViewPr varScale="1">
        <p:scale>
          <a:sx n="104" d="100"/>
          <a:sy n="104" d="100"/>
        </p:scale>
        <p:origin x="96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逐页讲稿：
各位老师好，这部分汇报面向汇编与接口技术课程。我们的中期题目是基于 ST7571 的 LCD SPI 接口控制器及 RISC-V 汇编驱动。本阶段要证明接口协议、硬件结构、MMIO 约定和最小驱动已经确定，并能在仿真中正确发送命令与显示数据。完整游戏和 IP 封装留到最终阶段。
内容依据：
- docs/中期与最终汇报范围划分.md §6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逐页讲稿：
我们选择板载 ST7571 LCD 作为主要外设，因为它同时包含串行协议、初始化时序和持续数据传输，能体现接口控制器设计。采用 4 线 SPI，CS 选择器件，SCK 提供时钟，MOSI 发送数据，RS 区分命令与显示数据，RST 完成硬复位。当前实现空闲时 SCK 为低，按 MSB first 发送。
内容依据：
- rtl/peripheral/lcd_spi_master.sv
- docs/中期与最终汇报范围划分.md §6.2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逐页讲稿：
系统中 CPU 通过 LW 和 SW 访问 MMIO。地址译码器把 LCD 地址转换为控制器请求，控制器负责复位、初始化、清屏和用户字节调度，底层 SPI master 只负责一个字节的串行移位。控制器输出 CS、SCK、MOSI、RS 和 RST 到 LCD。这样的分层让汇编程序不需要直接控制每一个 SPI 边沿。
内容依据：
- rtl/soc/soc_top.sv
- rtl/peripheral/lcd_controller.sv
- rtl/peripheral/lcd_spi_master.sv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逐页讲稿：
发送一个字节时，控制器先在 SCK 为低时拉低 CS，并把最高位放到 MOSI。随后每个上升沿供 LCD 采样，每个下降沿切换到下一位，共发送 8 位。RS 等于零表示命令，等于一表示显示数据。最后一个下降沿后释放 CS，ready 恢复。答辩时可沿着 D7 到 D0 解释位序。
内容依据：
- rtl/peripheral/lcd_spi_master.sv
- sim/unit/tb_lcd_spi_master.sv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逐页讲稿：
LCD 上电后不能立即接收普通显示数据。状态机先保持硬复位低电平，再等待约 120 毫秒，然后依次发送初始化命令。每个命令都经过等待 SPI 忙和等待完成两个阶段。初始化后清屏，最后进入 IDLE 并置 initialized。reinit 请求可以让状态机重新回到复位阶段。
内容依据：
- rtl/peripheral/lcd_controller.sv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逐页讲稿：
ready 和 valid 用于跨越 CPU 与慢速 SPI 之间的速度差。只有控制器在 IDLE 且 SPI 空闲时，tx_ready 才有效。软件写 LCD_CMD 或 LCD_DATA 后，SoC 保持总线请求，直到 ready。握手成功只产生一次 tx_valid 脉冲，随后控制器拉低 ready，忙完再恢复，因此既不会丢字，也不会重复发送。
内容依据：
- rtl/soc/soc_top.sv:182-254
- rtl/peripheral/lcd_controller.sv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逐页讲稿：
这页给出中期使用的 MMIO 接口。CMD 和 DATA 都写低 8 位，区别由 RS 自动产生。STATUS 的 bit0 表示 ready，bit1 表示 initialized。CTRL 可触发重新初始化、清屏和固定文字演示。后面三个寄存器已经为棋盘行、整屏刷新和蜂鸣器预留，但中期只作为后续扩展接口，不展开完整应用。
内容依据：
- rtl/memory/address_decoder.sv
- docs/中期与最终汇报范围划分.md §5.4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逐页讲稿：
最小汇编驱动先轮询 LCD_STATUS 的 initialized 位，确认上电初始化结束。发送命令或数据前再等待 ready，然后使用 SW 写入相应 MMIO 地址。上层函数可以组合出设置页地址、设置列地址、发送测试字节和触发固定文字。软件只关心寄存器语义，具体 SPI 位序由硬件完成。
内容依据：
- firmware/bringup.S
- docs/中期与最终汇报范围划分.md §6.2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逐页讲稿：
中期验证需要四类证据。第一类观察复位和 initialized，确认等待时间与状态迁移。第二类观察 CS、SCK、MOSI 和 RS，核对 8 位 MSB first。第三类观察 tx_valid 与 tx_ready，确认忙时拒绝新字节。第四类观察 CPU 的 dmem_req 和 ready，确认总线等待期间一次写请求只触发一次外设发送。页面中的条带是信号关系摘要，正式答辩可换成仿真截图。
内容依据：
- sim/unit/tb_lcd_spi_master.sv
- sim/unit/tb_lcd_controller.sv
- docs/中期与最终汇报范围划分.md §6.3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逐页讲稿：</a:t>
            </a:r>
          </a:p>
          <a:p>
            <a:r>
              <a:t>这页属于补充证据，不作为 LCD 协议本身的核心证明。三张波形说明运行汇编驱动的 CPU 能处理双源前递、load-use 停顿和分支冲刷，控制台显示联合自检通过。汇编与接口课程主讲仍应回到 SPI 位序、初始化状态机和 MMIO 握手。</a:t>
            </a:r>
          </a:p>
          <a:p>
            <a:r>
              <a:t>内容依据：</a:t>
            </a:r>
          </a:p>
          <a:p>
            <a:r>
              <a:t>- sim/system/tb_pipeline_hazard.sv</a:t>
            </a:r>
          </a:p>
          <a:p>
            <a:r>
              <a:t>- docs/仿真/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逐页讲稿：
当前已经完成 SPI master、LCD 初始化控制器、ready/valid 握手、MMIO 地址约定和最小汇编驱动，相关 testbench 设置了自动 PASS 检查。下一阶段将把控制器封装为独立 IP，完成棋盘刷新接口和俄罗斯方块汇编程序，再进行 FPGA 实板验证。本次中期结论只评价接口和基础驱动。
内容依据：
- docs/中期与最终汇报范围划分.md §6.4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342900" indent="-342900" algn="l" defTabSz="914400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marL="742950" indent="-285750" algn="l" defTabSz="914400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/>
        </p:nvSpPr>
        <p:spPr>
          <a:xfrm>
            <a:off x="713232" y="658368"/>
            <a:ext cx="301752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00" b="1">
                <a:solidFill>
                  <a:srgbClr val="22D3EE"/>
                </a:solidFill>
                <a:latin typeface="Microsoft YaHei"/>
                <a:ea typeface="Microsoft YaHei"/>
                <a:cs typeface="Microsoft YaHei"/>
              </a:rPr>
              <a:t>汇编与接口技术课程设计</a:t>
            </a:r>
            <a:endParaRPr sz="1100"/>
          </a:p>
        </p:txBody>
      </p:sp>
      <p:sp>
        <p:nvSpPr>
          <p:cNvPr id="3" name="Shape 1"/>
          <p:cNvSpPr>
            <a:spLocks noGrp="1"/>
          </p:cNvSpPr>
          <p:nvPr/>
        </p:nvSpPr>
        <p:spPr>
          <a:xfrm>
            <a:off x="731520" y="1152144"/>
            <a:ext cx="45720" cy="1848806"/>
          </a:xfrm>
          <a:prstGeom prst="line">
            <a:avLst/>
          </a:prstGeom>
          <a:noFill/>
          <a:ln w="44450">
            <a:solidFill>
              <a:srgbClr val="22D3EE"/>
            </a:solidFill>
            <a:prstDash val="solid"/>
          </a:ln>
        </p:spPr>
      </p:sp>
      <p:sp>
        <p:nvSpPr>
          <p:cNvPr id="4" name="Text 2"/>
          <p:cNvSpPr>
            <a:spLocks noGrp="1"/>
          </p:cNvSpPr>
          <p:nvPr/>
        </p:nvSpPr>
        <p:spPr>
          <a:xfrm>
            <a:off x="1005840" y="1097280"/>
            <a:ext cx="6583680" cy="217627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330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基于 ST7571 的</a:t>
            </a:r>
            <a:endParaRPr sz="3300"/>
          </a:p>
          <a:p>
            <a:pPr marL="0" indent="0">
              <a:buNone/>
            </a:pPr>
            <a:r>
              <a:rPr sz="330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LCD SPI 接口控制器</a:t>
            </a:r>
            <a:endParaRPr sz="3300"/>
          </a:p>
          <a:p>
            <a:pPr marL="0" indent="0">
              <a:buNone/>
            </a:pPr>
            <a:r>
              <a:rPr sz="330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及汇编驱动</a:t>
            </a:r>
            <a:endParaRPr sz="3300"/>
          </a:p>
        </p:txBody>
      </p:sp>
      <p:sp>
        <p:nvSpPr>
          <p:cNvPr id="6" name="Text 4"/>
          <p:cNvSpPr>
            <a:spLocks noGrp="1"/>
          </p:cNvSpPr>
          <p:nvPr/>
        </p:nvSpPr>
        <p:spPr>
          <a:xfrm>
            <a:off x="1005840" y="3707892"/>
            <a:ext cx="6492240" cy="502920"/>
          </a:xfrm>
          <a:prstGeom prst="rect">
            <a:avLst/>
          </a:prstGeom>
          <a:solidFill>
            <a:srgbClr val="121B31"/>
          </a:solidFill>
          <a:ln w="12700">
            <a:solidFill>
              <a:srgbClr val="27466B"/>
            </a:solidFill>
          </a:ln>
        </p:spPr>
        <p:txBody>
          <a:bodyPr wrap="square" lIns="1651" tIns="1651" rIns="1651" bIns="1651" anchor="ctr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B9C8E6"/>
                </a:solidFill>
                <a:latin typeface="Microsoft YaHei"/>
                <a:ea typeface="Microsoft YaHei"/>
                <a:cs typeface="Microsoft YaHei"/>
              </a:rPr>
              <a:t>  </a:t>
            </a:r>
            <a:r>
              <a:rPr sz="1350" dirty="0" err="1">
                <a:solidFill>
                  <a:srgbClr val="B9C8E6"/>
                </a:solidFill>
                <a:latin typeface="Microsoft YaHei"/>
                <a:ea typeface="Microsoft YaHei"/>
                <a:cs typeface="Microsoft YaHei"/>
              </a:rPr>
              <a:t>阶段目标：接口协议、控制器、MMIO</a:t>
            </a:r>
            <a:r>
              <a:rPr sz="1350" dirty="0">
                <a:solidFill>
                  <a:srgbClr val="B9C8E6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350" dirty="0" err="1">
                <a:solidFill>
                  <a:srgbClr val="B9C8E6"/>
                </a:solidFill>
                <a:latin typeface="Microsoft YaHei"/>
                <a:ea typeface="Microsoft YaHei"/>
                <a:cs typeface="Microsoft YaHei"/>
              </a:rPr>
              <a:t>与最小汇编驱动正确</a:t>
            </a:r>
            <a:endParaRPr sz="1350" dirty="0"/>
          </a:p>
        </p:txBody>
      </p:sp>
      <p:sp>
        <p:nvSpPr>
          <p:cNvPr id="7" name="Text 5"/>
          <p:cNvSpPr>
            <a:spLocks noGrp="1"/>
          </p:cNvSpPr>
          <p:nvPr/>
        </p:nvSpPr>
        <p:spPr>
          <a:xfrm>
            <a:off x="1005840" y="4530852"/>
            <a:ext cx="6492240" cy="365760"/>
          </a:xfrm>
          <a:prstGeom prst="rect">
            <a:avLst/>
          </a:prstGeom>
          <a:solidFill>
            <a:srgbClr val="0F172A"/>
          </a:solidFill>
          <a:ln w="12700">
            <a:solidFill>
              <a:srgbClr val="263A5E"/>
            </a:solidFill>
          </a:ln>
        </p:spPr>
        <p:txBody>
          <a:bodyPr wrap="square" lIns="1397" tIns="1397" rIns="1397" bIns="1397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8392B7"/>
                </a:solidFill>
                <a:latin typeface="Microsoft YaHei"/>
                <a:ea typeface="Microsoft YaHei"/>
                <a:cs typeface="Microsoft YaHei"/>
              </a:rPr>
              <a:t>  </a:t>
            </a:r>
            <a:r>
              <a:rPr sz="1050" dirty="0" err="1">
                <a:solidFill>
                  <a:srgbClr val="8392B7"/>
                </a:solidFill>
                <a:latin typeface="Microsoft YaHei"/>
                <a:ea typeface="Microsoft YaHei"/>
                <a:cs typeface="Microsoft YaHei"/>
              </a:rPr>
              <a:t>成员：王建乐、张晓行、钱博傲</a:t>
            </a:r>
            <a:r>
              <a:rPr sz="1050" dirty="0">
                <a:solidFill>
                  <a:srgbClr val="8392B7"/>
                </a:solidFill>
                <a:latin typeface="Microsoft YaHei"/>
                <a:ea typeface="Microsoft YaHei"/>
                <a:cs typeface="Microsoft YaHei"/>
              </a:rPr>
              <a:t>    日期：2026 年 9 月</a:t>
            </a:r>
            <a:endParaRPr sz="1050" dirty="0"/>
          </a:p>
        </p:txBody>
      </p:sp>
      <p:sp>
        <p:nvSpPr>
          <p:cNvPr id="8" name="Shape 6"/>
          <p:cNvSpPr>
            <a:spLocks noGrp="1"/>
          </p:cNvSpPr>
          <p:nvPr/>
        </p:nvSpPr>
        <p:spPr>
          <a:xfrm>
            <a:off x="8412480" y="960120"/>
            <a:ext cx="2606040" cy="4069080"/>
          </a:xfrm>
          <a:prstGeom prst="rect">
            <a:avLst/>
          </a:prstGeom>
          <a:solidFill>
            <a:srgbClr val="111A31"/>
          </a:solidFill>
          <a:ln w="15240">
            <a:solidFill>
              <a:srgbClr val="355479"/>
            </a:solidFill>
            <a:prstDash val="solid"/>
          </a:ln>
        </p:spPr>
      </p:sp>
      <p:sp>
        <p:nvSpPr>
          <p:cNvPr id="9" name="Text 7"/>
          <p:cNvSpPr>
            <a:spLocks noGrp="1"/>
          </p:cNvSpPr>
          <p:nvPr/>
        </p:nvSpPr>
        <p:spPr>
          <a:xfrm>
            <a:off x="8915400" y="1234440"/>
            <a:ext cx="1600200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3000" b="1">
                <a:solidFill>
                  <a:srgbClr val="22D3EE"/>
                </a:solidFill>
                <a:latin typeface="Microsoft YaHei"/>
                <a:ea typeface="Microsoft YaHei"/>
                <a:cs typeface="Microsoft YaHei"/>
              </a:rPr>
              <a:t>LCD</a:t>
            </a:r>
            <a:endParaRPr sz="3000"/>
          </a:p>
        </p:txBody>
      </p:sp>
      <p:sp>
        <p:nvSpPr>
          <p:cNvPr id="10" name="Shape 8"/>
          <p:cNvSpPr>
            <a:spLocks noGrp="1"/>
          </p:cNvSpPr>
          <p:nvPr/>
        </p:nvSpPr>
        <p:spPr>
          <a:xfrm>
            <a:off x="8778240" y="1920240"/>
            <a:ext cx="1874520" cy="2286000"/>
          </a:xfrm>
          <a:prstGeom prst="rect">
            <a:avLst/>
          </a:prstGeom>
          <a:solidFill>
            <a:srgbClr val="0B1020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1" name="Text 9"/>
          <p:cNvSpPr>
            <a:spLocks noGrp="1"/>
          </p:cNvSpPr>
          <p:nvPr/>
        </p:nvSpPr>
        <p:spPr>
          <a:xfrm>
            <a:off x="7680960" y="1508760"/>
            <a:ext cx="502920" cy="18288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r">
              <a:buNone/>
            </a:pPr>
            <a:r>
              <a:rPr sz="850">
                <a:solidFill>
                  <a:srgbClr val="3B82F6"/>
                </a:solidFill>
                <a:latin typeface="Microsoft YaHei"/>
                <a:ea typeface="Microsoft YaHei"/>
                <a:cs typeface="Microsoft YaHei"/>
              </a:rPr>
              <a:t>CS</a:t>
            </a:r>
            <a:endParaRPr sz="850"/>
          </a:p>
        </p:txBody>
      </p:sp>
      <p:sp>
        <p:nvSpPr>
          <p:cNvPr id="12" name="Shape 10"/>
          <p:cNvSpPr>
            <a:spLocks noGrp="1"/>
          </p:cNvSpPr>
          <p:nvPr/>
        </p:nvSpPr>
        <p:spPr>
          <a:xfrm>
            <a:off x="8229600" y="1600200"/>
            <a:ext cx="530352" cy="0"/>
          </a:xfrm>
          <a:prstGeom prst="line">
            <a:avLst/>
          </a:prstGeom>
          <a:noFill/>
          <a:ln w="19050">
            <a:solidFill>
              <a:srgbClr val="3B82F6"/>
            </a:solidFill>
            <a:prstDash val="solid"/>
          </a:ln>
        </p:spPr>
      </p:sp>
      <p:sp>
        <p:nvSpPr>
          <p:cNvPr id="13" name="Text 11"/>
          <p:cNvSpPr>
            <a:spLocks noGrp="1"/>
          </p:cNvSpPr>
          <p:nvPr/>
        </p:nvSpPr>
        <p:spPr>
          <a:xfrm>
            <a:off x="7680960" y="2075688"/>
            <a:ext cx="502920" cy="18288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r">
              <a:buNone/>
            </a:pPr>
            <a:r>
              <a:rPr sz="850">
                <a:solidFill>
                  <a:srgbClr val="22D3EE"/>
                </a:solidFill>
                <a:latin typeface="Microsoft YaHei"/>
                <a:ea typeface="Microsoft YaHei"/>
                <a:cs typeface="Microsoft YaHei"/>
              </a:rPr>
              <a:t>SCK</a:t>
            </a:r>
            <a:endParaRPr sz="850"/>
          </a:p>
        </p:txBody>
      </p:sp>
      <p:sp>
        <p:nvSpPr>
          <p:cNvPr id="14" name="Shape 12"/>
          <p:cNvSpPr>
            <a:spLocks noGrp="1"/>
          </p:cNvSpPr>
          <p:nvPr/>
        </p:nvSpPr>
        <p:spPr>
          <a:xfrm>
            <a:off x="8229600" y="2167128"/>
            <a:ext cx="530352" cy="0"/>
          </a:xfrm>
          <a:prstGeom prst="line">
            <a:avLst/>
          </a:prstGeom>
          <a:noFill/>
          <a:ln w="19050">
            <a:solidFill>
              <a:srgbClr val="22D3EE"/>
            </a:solidFill>
            <a:prstDash val="solid"/>
          </a:ln>
        </p:spPr>
      </p:sp>
      <p:sp>
        <p:nvSpPr>
          <p:cNvPr id="15" name="Text 13"/>
          <p:cNvSpPr>
            <a:spLocks noGrp="1"/>
          </p:cNvSpPr>
          <p:nvPr/>
        </p:nvSpPr>
        <p:spPr>
          <a:xfrm>
            <a:off x="7680960" y="2642616"/>
            <a:ext cx="502920" cy="18288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r">
              <a:buNone/>
            </a:pPr>
            <a:r>
              <a:rPr sz="850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MOSI</a:t>
            </a:r>
            <a:endParaRPr sz="850"/>
          </a:p>
        </p:txBody>
      </p:sp>
      <p:sp>
        <p:nvSpPr>
          <p:cNvPr id="16" name="Shape 14"/>
          <p:cNvSpPr>
            <a:spLocks noGrp="1"/>
          </p:cNvSpPr>
          <p:nvPr/>
        </p:nvSpPr>
        <p:spPr>
          <a:xfrm>
            <a:off x="8229600" y="2734056"/>
            <a:ext cx="530352" cy="0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>
            <a:spLocks noGrp="1"/>
          </p:cNvSpPr>
          <p:nvPr/>
        </p:nvSpPr>
        <p:spPr>
          <a:xfrm>
            <a:off x="7680960" y="3209544"/>
            <a:ext cx="502920" cy="18288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r">
              <a:buNone/>
            </a:pPr>
            <a:r>
              <a:rPr sz="850">
                <a:solidFill>
                  <a:srgbClr val="F87171"/>
                </a:solidFill>
                <a:latin typeface="Microsoft YaHei"/>
                <a:ea typeface="Microsoft YaHei"/>
                <a:cs typeface="Microsoft YaHei"/>
              </a:rPr>
              <a:t>RS</a:t>
            </a:r>
            <a:endParaRPr sz="850"/>
          </a:p>
        </p:txBody>
      </p:sp>
      <p:sp>
        <p:nvSpPr>
          <p:cNvPr id="18" name="Shape 16"/>
          <p:cNvSpPr>
            <a:spLocks noGrp="1"/>
          </p:cNvSpPr>
          <p:nvPr/>
        </p:nvSpPr>
        <p:spPr>
          <a:xfrm>
            <a:off x="8229600" y="3300984"/>
            <a:ext cx="530352" cy="0"/>
          </a:xfrm>
          <a:prstGeom prst="line">
            <a:avLst/>
          </a:prstGeom>
          <a:noFill/>
          <a:ln w="19050">
            <a:solidFill>
              <a:srgbClr val="F87171"/>
            </a:solidFill>
            <a:prstDash val="solid"/>
          </a:ln>
        </p:spPr>
      </p:sp>
      <p:sp>
        <p:nvSpPr>
          <p:cNvPr id="19" name="Text 17"/>
          <p:cNvSpPr>
            <a:spLocks noGrp="1"/>
          </p:cNvSpPr>
          <p:nvPr/>
        </p:nvSpPr>
        <p:spPr>
          <a:xfrm>
            <a:off x="7680960" y="3776472"/>
            <a:ext cx="502920" cy="18288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r">
              <a:buNone/>
            </a:pPr>
            <a:r>
              <a:rPr sz="850">
                <a:solidFill>
                  <a:srgbClr val="A78BFA"/>
                </a:solidFill>
                <a:latin typeface="Microsoft YaHei"/>
                <a:ea typeface="Microsoft YaHei"/>
                <a:cs typeface="Microsoft YaHei"/>
              </a:rPr>
              <a:t>RST</a:t>
            </a:r>
            <a:endParaRPr sz="850"/>
          </a:p>
        </p:txBody>
      </p:sp>
      <p:sp>
        <p:nvSpPr>
          <p:cNvPr id="20" name="Shape 18"/>
          <p:cNvSpPr>
            <a:spLocks noGrp="1"/>
          </p:cNvSpPr>
          <p:nvPr/>
        </p:nvSpPr>
        <p:spPr>
          <a:xfrm>
            <a:off x="8229600" y="3867912"/>
            <a:ext cx="530352" cy="0"/>
          </a:xfrm>
          <a:prstGeom prst="line">
            <a:avLst/>
          </a:prstGeom>
          <a:noFill/>
          <a:ln w="19050">
            <a:solidFill>
              <a:srgbClr val="A78BFA"/>
            </a:solidFill>
            <a:prstDash val="solid"/>
          </a:ln>
        </p:spPr>
      </p:sp>
      <p:sp>
        <p:nvSpPr>
          <p:cNvPr id="21" name="Text 19"/>
          <p:cNvSpPr>
            <a:spLocks noGrp="1"/>
          </p:cNvSpPr>
          <p:nvPr/>
        </p:nvSpPr>
        <p:spPr>
          <a:xfrm>
            <a:off x="8613648" y="4572000"/>
            <a:ext cx="214884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000" b="1">
                <a:solidFill>
                  <a:srgbClr val="B9C8E6"/>
                </a:solidFill>
                <a:latin typeface="Microsoft YaHei"/>
                <a:ea typeface="Microsoft YaHei"/>
                <a:cs typeface="Microsoft YaHei"/>
              </a:rPr>
              <a:t>SPI · MMIO · ASM</a:t>
            </a:r>
            <a:endParaRPr sz="1000"/>
          </a:p>
        </p:txBody>
      </p:sp>
      <p:sp>
        <p:nvSpPr>
          <p:cNvPr id="22" name="Text 20"/>
          <p:cNvSpPr>
            <a:spLocks noGrp="1"/>
          </p:cNvSpPr>
          <p:nvPr/>
        </p:nvSpPr>
        <p:spPr>
          <a:xfrm>
            <a:off x="530352" y="6428232"/>
            <a:ext cx="3840480" cy="16459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800">
                <a:solidFill>
                  <a:srgbClr val="8392B7"/>
                </a:solidFill>
                <a:latin typeface="Microsoft YaHei"/>
                <a:ea typeface="Microsoft YaHei"/>
                <a:cs typeface="Microsoft YaHei"/>
              </a:rPr>
              <a:t>ST7571 LCD · SPI · MMIO · RISC-V ASM</a:t>
            </a:r>
            <a:endParaRPr sz="8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Grp="1"/>
          </p:cNvSpPr>
          <p:nvPr/>
        </p:nvSpPr>
        <p:spPr>
          <a:xfrm>
            <a:off x="533400" y="323850"/>
            <a:ext cx="57150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900" b="1">
                <a:solidFill>
                  <a:srgbClr val="22D3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22D3EE"/>
                </a:solidFill>
                <a:latin typeface="Microsoft YaHei"/>
                <a:ea typeface="Microsoft YaHei"/>
                <a:cs typeface="Microsoft YaHei"/>
              </a:rPr>
              <a:t>中期答辩补充</a:t>
            </a: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33400" y="609600"/>
            <a:ext cx="10763250" cy="5334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0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三人分工与接口协作</a:t>
            </a: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533400" y="1143000"/>
            <a:ext cx="10953750" cy="3619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0">
                <a:solidFill>
                  <a:srgbClr val="BAC9E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BAC9E2"/>
                </a:solidFill>
                <a:latin typeface="Microsoft YaHei"/>
                <a:ea typeface="Microsoft YaHei"/>
                <a:cs typeface="Microsoft YaHei"/>
              </a:rPr>
              <a:t>每人承担模块设计、实现与验证，组长维护系统接口</a:t>
            </a: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590550" y="1876425"/>
            <a:ext cx="1066800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1">
                <a:solidFill>
                  <a:srgbClr val="22D3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dirty="0" err="1">
                <a:solidFill>
                  <a:srgbClr val="22D3EE"/>
                </a:solidFill>
                <a:latin typeface="Microsoft YaHei"/>
                <a:ea typeface="Microsoft YaHei"/>
                <a:cs typeface="Microsoft YaHei"/>
              </a:rPr>
              <a:t>王建乐</a:t>
            </a:r>
            <a:r>
              <a:rPr lang="en-US" sz="1650" b="1" dirty="0" err="1">
                <a:solidFill>
                  <a:srgbClr val="22D3EE"/>
                </a:solidFill>
                <a:latin typeface="Microsoft YaHei"/>
                <a:ea typeface="Microsoft YaHei"/>
                <a:cs typeface="Microsoft YaHei"/>
              </a:rPr>
              <a:t>（A</a:t>
            </a:r>
            <a:r>
              <a:rPr lang="en-US" sz="1650" b="1" dirty="0">
                <a:solidFill>
                  <a:srgbClr val="22D3EE"/>
                </a:solidFill>
                <a:latin typeface="Microsoft YaHei"/>
                <a:ea typeface="Microsoft YaHei"/>
                <a:cs typeface="Microsoft YaHei"/>
              </a:rPr>
              <a:t>，</a:t>
            </a:r>
            <a:r>
              <a:rPr lang="zh-CN" altLang="en-US" sz="1650" b="1" dirty="0">
                <a:solidFill>
                  <a:srgbClr val="22D3EE"/>
                </a:solidFill>
                <a:latin typeface="Microsoft YaHei"/>
                <a:ea typeface="Microsoft YaHei"/>
                <a:cs typeface="Microsoft YaHei"/>
              </a:rPr>
              <a:t>组长）</a:t>
            </a:r>
            <a:endParaRPr sz="1650" b="1" dirty="0">
              <a:solidFill>
                <a:srgbClr val="22D3EE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590550" y="2219325"/>
            <a:ext cx="1066800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0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ISA、水平微码、CPU / SoC 集成，维护控制字与接口文档</a:t>
            </a: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590550" y="2819400"/>
            <a:ext cx="1066800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1">
                <a:solidFill>
                  <a:srgbClr val="22D3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dirty="0" err="1">
                <a:solidFill>
                  <a:srgbClr val="22D3EE"/>
                </a:solidFill>
                <a:latin typeface="Microsoft YaHei"/>
                <a:ea typeface="Microsoft YaHei"/>
                <a:cs typeface="Microsoft YaHei"/>
              </a:rPr>
              <a:t>张晓行</a:t>
            </a:r>
            <a:r>
              <a:rPr lang="en-US" sz="1650" b="1" dirty="0" err="1">
                <a:solidFill>
                  <a:srgbClr val="22D3EE"/>
                </a:solidFill>
                <a:latin typeface="Microsoft YaHei"/>
                <a:ea typeface="Microsoft YaHei"/>
                <a:cs typeface="Microsoft YaHei"/>
              </a:rPr>
              <a:t>（B</a:t>
            </a:r>
            <a:r>
              <a:rPr lang="en-US" sz="1650" b="1" dirty="0">
                <a:solidFill>
                  <a:srgbClr val="22D3EE"/>
                </a:solidFill>
                <a:latin typeface="Microsoft YaHei"/>
                <a:ea typeface="Microsoft YaHei"/>
                <a:cs typeface="Microsoft YaHei"/>
              </a:rPr>
              <a:t>）</a:t>
            </a:r>
            <a:endParaRPr sz="1650" b="1" dirty="0">
              <a:solidFill>
                <a:srgbClr val="22D3EE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590550" y="3162300"/>
            <a:ext cx="1066800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0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前递、load-use、分支冲刷、存储等待及 CPU 自检</a:t>
            </a: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590550" y="3762375"/>
            <a:ext cx="1066800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1">
                <a:solidFill>
                  <a:srgbClr val="22D3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dirty="0" err="1">
                <a:solidFill>
                  <a:srgbClr val="22D3EE"/>
                </a:solidFill>
                <a:latin typeface="Microsoft YaHei"/>
                <a:ea typeface="Microsoft YaHei"/>
                <a:cs typeface="Microsoft YaHei"/>
              </a:rPr>
              <a:t>钱博傲</a:t>
            </a:r>
            <a:r>
              <a:rPr lang="en-US" sz="1650" b="1" dirty="0" err="1">
                <a:solidFill>
                  <a:srgbClr val="22D3EE"/>
                </a:solidFill>
                <a:latin typeface="Microsoft YaHei"/>
                <a:ea typeface="Microsoft YaHei"/>
                <a:cs typeface="Microsoft YaHei"/>
              </a:rPr>
              <a:t>（C</a:t>
            </a:r>
            <a:r>
              <a:rPr lang="en-US" sz="1650" b="1" dirty="0">
                <a:solidFill>
                  <a:srgbClr val="22D3EE"/>
                </a:solidFill>
                <a:latin typeface="Microsoft YaHei"/>
                <a:ea typeface="Microsoft YaHei"/>
                <a:cs typeface="Microsoft YaHei"/>
              </a:rPr>
              <a:t>）</a:t>
            </a:r>
            <a:endParaRPr sz="1650" b="1" dirty="0">
              <a:solidFill>
                <a:srgbClr val="22D3EE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590550" y="4105275"/>
            <a:ext cx="1066800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0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LCD SPI、初始化、MMIO、汇编驱动及接口单元测试</a:t>
            </a: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590550" y="4705350"/>
            <a:ext cx="1066800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1">
                <a:solidFill>
                  <a:srgbClr val="22D3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2D3EE"/>
                </a:solidFill>
                <a:latin typeface="Microsoft YaHei"/>
                <a:ea typeface="Microsoft YaHei"/>
                <a:cs typeface="Microsoft YaHei"/>
              </a:rPr>
              <a:t>联调方式</a:t>
            </a: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590550" y="5048250"/>
            <a:ext cx="1066800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0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A 统一规格与基线，B/C 分别验证 CPU 请求和外设接收</a:t>
            </a:r>
          </a:p>
        </p:txBody>
      </p:sp>
      <p:sp>
        <p:nvSpPr>
          <p:cNvPr id="14" name="Text 3"/>
          <p:cNvSpPr>
            <a:spLocks noGrp="1"/>
          </p:cNvSpPr>
          <p:nvPr/>
        </p:nvSpPr>
        <p:spPr>
          <a:xfrm>
            <a:off x="11137392" y="384048"/>
            <a:ext cx="50292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000" b="1">
                <a:solidFill>
                  <a:srgbClr val="8392B7"/>
                </a:solidFill>
                <a:latin typeface="Microsoft YaHei"/>
                <a:ea typeface="Microsoft YaHei"/>
                <a:cs typeface="Microsoft YaHei"/>
              </a:rPr>
              <a:t>13</a:t>
            </a:r>
            <a:endParaRPr sz="1000"/>
          </a:p>
        </p:txBody>
      </p:sp>
      <p:sp>
        <p:nvSpPr>
          <p:cNvPr id="16" name="Text 16"/>
          <p:cNvSpPr>
            <a:spLocks noGrp="1"/>
          </p:cNvSpPr>
          <p:nvPr/>
        </p:nvSpPr>
        <p:spPr>
          <a:xfrm>
            <a:off x="530352" y="6428232"/>
            <a:ext cx="3840480" cy="16459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800" dirty="0">
                <a:solidFill>
                  <a:srgbClr val="8392B7"/>
                </a:solidFill>
                <a:latin typeface="Microsoft YaHei"/>
                <a:ea typeface="Microsoft YaHei"/>
                <a:cs typeface="Microsoft YaHei"/>
              </a:rPr>
              <a:t>ST7571 LCD · SPI · MMIO · RISC-V ASM</a:t>
            </a:r>
            <a:endParaRPr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/>
        </p:nvSpPr>
        <p:spPr>
          <a:xfrm>
            <a:off x="530352" y="320040"/>
            <a:ext cx="1645920" cy="20116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850" b="1">
                <a:solidFill>
                  <a:srgbClr val="22D3EE"/>
                </a:solidFill>
                <a:latin typeface="Microsoft YaHei"/>
                <a:ea typeface="Microsoft YaHei"/>
                <a:cs typeface="Microsoft YaHei"/>
              </a:rPr>
              <a:t>外设选型</a:t>
            </a:r>
            <a:endParaRPr sz="850"/>
          </a:p>
        </p:txBody>
      </p:sp>
      <p:sp>
        <p:nvSpPr>
          <p:cNvPr id="3" name="Text 1"/>
          <p:cNvSpPr>
            <a:spLocks noGrp="1"/>
          </p:cNvSpPr>
          <p:nvPr/>
        </p:nvSpPr>
        <p:spPr>
          <a:xfrm>
            <a:off x="530352" y="566928"/>
            <a:ext cx="8595360" cy="40233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240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板载 LCD 与接口选择</a:t>
            </a:r>
            <a:endParaRPr sz="2400"/>
          </a:p>
        </p:txBody>
      </p:sp>
      <p:sp>
        <p:nvSpPr>
          <p:cNvPr id="4" name="Text 2"/>
          <p:cNvSpPr>
            <a:spLocks noGrp="1"/>
          </p:cNvSpPr>
          <p:nvPr/>
        </p:nvSpPr>
        <p:spPr>
          <a:xfrm>
            <a:off x="548640" y="1024128"/>
            <a:ext cx="7863840" cy="25603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1150">
                <a:solidFill>
                  <a:srgbClr val="B9C8E6"/>
                </a:solidFill>
                <a:latin typeface="Microsoft YaHei"/>
                <a:ea typeface="Microsoft YaHei"/>
                <a:cs typeface="Microsoft YaHei"/>
              </a:rPr>
              <a:t>ST7571 通过 4 线 SPI 接收命令和显示数据</a:t>
            </a:r>
            <a:endParaRPr sz="1150"/>
          </a:p>
        </p:txBody>
      </p:sp>
      <p:sp>
        <p:nvSpPr>
          <p:cNvPr id="5" name="Text 3"/>
          <p:cNvSpPr>
            <a:spLocks noGrp="1"/>
          </p:cNvSpPr>
          <p:nvPr/>
        </p:nvSpPr>
        <p:spPr>
          <a:xfrm>
            <a:off x="11137392" y="384048"/>
            <a:ext cx="50292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000" b="1">
                <a:solidFill>
                  <a:srgbClr val="8392B7"/>
                </a:solidFill>
                <a:latin typeface="Microsoft YaHei"/>
                <a:ea typeface="Microsoft YaHei"/>
                <a:cs typeface="Microsoft YaHei"/>
              </a:rPr>
              <a:t>02</a:t>
            </a:r>
            <a:endParaRPr sz="1000"/>
          </a:p>
        </p:txBody>
      </p:sp>
      <p:sp>
        <p:nvSpPr>
          <p:cNvPr id="6" name="Shape 4"/>
          <p:cNvSpPr>
            <a:spLocks noGrp="1"/>
          </p:cNvSpPr>
          <p:nvPr/>
        </p:nvSpPr>
        <p:spPr>
          <a:xfrm>
            <a:off x="530352" y="1389888"/>
            <a:ext cx="11109960" cy="0"/>
          </a:xfrm>
          <a:prstGeom prst="line">
            <a:avLst/>
          </a:prstGeom>
          <a:noFill/>
          <a:ln w="10160">
            <a:solidFill>
              <a:srgbClr val="2C3D61">
                <a:alpha val="80000"/>
              </a:srgbClr>
            </a:solidFill>
            <a:prstDash val="solid"/>
          </a:ln>
        </p:spPr>
      </p:sp>
      <p:sp>
        <p:nvSpPr>
          <p:cNvPr id="7" name="Shape 5"/>
          <p:cNvSpPr>
            <a:spLocks noGrp="1"/>
          </p:cNvSpPr>
          <p:nvPr/>
        </p:nvSpPr>
        <p:spPr>
          <a:xfrm>
            <a:off x="530352" y="1389888"/>
            <a:ext cx="1508760" cy="0"/>
          </a:xfrm>
          <a:prstGeom prst="line">
            <a:avLst/>
          </a:prstGeom>
          <a:noFill/>
          <a:ln w="27940">
            <a:solidFill>
              <a:srgbClr val="22D3EE"/>
            </a:solidFill>
            <a:prstDash val="solid"/>
          </a:ln>
        </p:spPr>
      </p:sp>
      <p:sp>
        <p:nvSpPr>
          <p:cNvPr id="8" name="Text 6"/>
          <p:cNvSpPr>
            <a:spLocks noGrp="1"/>
          </p:cNvSpPr>
          <p:nvPr/>
        </p:nvSpPr>
        <p:spPr>
          <a:xfrm>
            <a:off x="658368" y="1783080"/>
            <a:ext cx="1874520" cy="950976"/>
          </a:xfrm>
          <a:prstGeom prst="rect">
            <a:avLst/>
          </a:prstGeom>
          <a:solidFill>
            <a:srgbClr val="121A2D"/>
          </a:solidFill>
          <a:ln w="15240">
            <a:solidFill>
              <a:srgbClr val="3B82F6"/>
            </a:solidFill>
          </a:ln>
        </p:spPr>
        <p:txBody>
          <a:bodyPr wrap="square" lIns="1524" tIns="1524" rIns="1524" bIns="1524" anchor="ctr">
            <a:normAutofit/>
          </a:bodyPr>
          <a:lstStyle/>
          <a:p>
            <a:pPr marL="0" indent="0" algn="ctr">
              <a:buNone/>
            </a:pPr>
            <a:r>
              <a:rPr sz="115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CS</a:t>
            </a:r>
            <a:endParaRPr sz="1150"/>
          </a:p>
          <a:p>
            <a:pPr marL="0" indent="0" algn="ctr">
              <a:buNone/>
            </a:pPr>
            <a:r>
              <a:rPr sz="115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低有效片选</a:t>
            </a:r>
            <a:endParaRPr sz="1150"/>
          </a:p>
        </p:txBody>
      </p:sp>
      <p:sp>
        <p:nvSpPr>
          <p:cNvPr id="9" name="Text 7"/>
          <p:cNvSpPr>
            <a:spLocks noGrp="1"/>
          </p:cNvSpPr>
          <p:nvPr/>
        </p:nvSpPr>
        <p:spPr>
          <a:xfrm>
            <a:off x="2907792" y="1783080"/>
            <a:ext cx="1874520" cy="950976"/>
          </a:xfrm>
          <a:prstGeom prst="rect">
            <a:avLst/>
          </a:prstGeom>
          <a:solidFill>
            <a:srgbClr val="121A2D"/>
          </a:solidFill>
          <a:ln w="15240">
            <a:solidFill>
              <a:srgbClr val="22D3EE"/>
            </a:solidFill>
          </a:ln>
        </p:spPr>
        <p:txBody>
          <a:bodyPr wrap="square" lIns="1524" tIns="1524" rIns="1524" bIns="1524" anchor="ctr">
            <a:normAutofit/>
          </a:bodyPr>
          <a:lstStyle/>
          <a:p>
            <a:pPr marL="0" indent="0" algn="ctr">
              <a:buNone/>
            </a:pPr>
            <a:r>
              <a:rPr sz="115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SCK</a:t>
            </a:r>
            <a:endParaRPr sz="1150"/>
          </a:p>
          <a:p>
            <a:pPr marL="0" indent="0" algn="ctr">
              <a:buNone/>
            </a:pPr>
            <a:r>
              <a:rPr sz="115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空闲低；上升沿采样</a:t>
            </a:r>
            <a:endParaRPr sz="1150"/>
          </a:p>
        </p:txBody>
      </p:sp>
      <p:sp>
        <p:nvSpPr>
          <p:cNvPr id="10" name="Text 8"/>
          <p:cNvSpPr>
            <a:spLocks noGrp="1"/>
          </p:cNvSpPr>
          <p:nvPr/>
        </p:nvSpPr>
        <p:spPr>
          <a:xfrm>
            <a:off x="5157216" y="1783080"/>
            <a:ext cx="1874520" cy="950976"/>
          </a:xfrm>
          <a:prstGeom prst="rect">
            <a:avLst/>
          </a:prstGeom>
          <a:solidFill>
            <a:srgbClr val="121A2D"/>
          </a:solidFill>
          <a:ln w="15240">
            <a:solidFill>
              <a:srgbClr val="F59E0B"/>
            </a:solidFill>
          </a:ln>
        </p:spPr>
        <p:txBody>
          <a:bodyPr wrap="square" lIns="1524" tIns="1524" rIns="1524" bIns="1524" anchor="ctr">
            <a:normAutofit/>
          </a:bodyPr>
          <a:lstStyle/>
          <a:p>
            <a:pPr marL="0" indent="0" algn="ctr">
              <a:buNone/>
            </a:pPr>
            <a:r>
              <a:rPr sz="115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MOSI</a:t>
            </a:r>
            <a:endParaRPr sz="1150"/>
          </a:p>
          <a:p>
            <a:pPr marL="0" indent="0" algn="ctr">
              <a:buNone/>
            </a:pPr>
            <a:r>
              <a:rPr sz="115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MSB first 串行数据</a:t>
            </a:r>
            <a:endParaRPr sz="1150"/>
          </a:p>
        </p:txBody>
      </p:sp>
      <p:sp>
        <p:nvSpPr>
          <p:cNvPr id="11" name="Text 9"/>
          <p:cNvSpPr>
            <a:spLocks noGrp="1"/>
          </p:cNvSpPr>
          <p:nvPr/>
        </p:nvSpPr>
        <p:spPr>
          <a:xfrm>
            <a:off x="7406640" y="1783080"/>
            <a:ext cx="1874520" cy="950976"/>
          </a:xfrm>
          <a:prstGeom prst="rect">
            <a:avLst/>
          </a:prstGeom>
          <a:solidFill>
            <a:srgbClr val="121A2D"/>
          </a:solidFill>
          <a:ln w="15240">
            <a:solidFill>
              <a:srgbClr val="F87171"/>
            </a:solidFill>
          </a:ln>
        </p:spPr>
        <p:txBody>
          <a:bodyPr wrap="square" lIns="1524" tIns="1524" rIns="1524" bIns="1524" anchor="ctr">
            <a:normAutofit/>
          </a:bodyPr>
          <a:lstStyle/>
          <a:p>
            <a:pPr marL="0" indent="0" algn="ctr">
              <a:buNone/>
            </a:pPr>
            <a:r>
              <a:rPr sz="115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RS</a:t>
            </a:r>
            <a:endParaRPr sz="1150"/>
          </a:p>
          <a:p>
            <a:pPr marL="0" indent="0" algn="ctr">
              <a:buNone/>
            </a:pPr>
            <a:r>
              <a:rPr sz="115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0 命令；1 数据</a:t>
            </a:r>
            <a:endParaRPr sz="1150"/>
          </a:p>
        </p:txBody>
      </p:sp>
      <p:sp>
        <p:nvSpPr>
          <p:cNvPr id="12" name="Text 10"/>
          <p:cNvSpPr>
            <a:spLocks noGrp="1"/>
          </p:cNvSpPr>
          <p:nvPr/>
        </p:nvSpPr>
        <p:spPr>
          <a:xfrm>
            <a:off x="9656064" y="1783080"/>
            <a:ext cx="1874520" cy="950976"/>
          </a:xfrm>
          <a:prstGeom prst="rect">
            <a:avLst/>
          </a:prstGeom>
          <a:solidFill>
            <a:srgbClr val="121A2D"/>
          </a:solidFill>
          <a:ln w="15240">
            <a:solidFill>
              <a:srgbClr val="A78BFA"/>
            </a:solidFill>
          </a:ln>
        </p:spPr>
        <p:txBody>
          <a:bodyPr wrap="square" lIns="1524" tIns="1524" rIns="1524" bIns="1524" anchor="ctr">
            <a:normAutofit/>
          </a:bodyPr>
          <a:lstStyle/>
          <a:p>
            <a:pPr marL="0" indent="0" algn="ctr">
              <a:buNone/>
            </a:pPr>
            <a:r>
              <a:rPr sz="115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RST</a:t>
            </a:r>
            <a:endParaRPr sz="1150"/>
          </a:p>
          <a:p>
            <a:pPr marL="0" indent="0" algn="ctr">
              <a:buNone/>
            </a:pPr>
            <a:r>
              <a:rPr sz="115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低有效硬复位</a:t>
            </a:r>
            <a:endParaRPr sz="1150"/>
          </a:p>
        </p:txBody>
      </p:sp>
      <p:sp>
        <p:nvSpPr>
          <p:cNvPr id="13" name="Text 11"/>
          <p:cNvSpPr>
            <a:spLocks noGrp="1"/>
          </p:cNvSpPr>
          <p:nvPr/>
        </p:nvSpPr>
        <p:spPr>
          <a:xfrm>
            <a:off x="713232" y="3273552"/>
            <a:ext cx="1371600" cy="21945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950" b="1">
                <a:solidFill>
                  <a:srgbClr val="34D399"/>
                </a:solidFill>
                <a:latin typeface="Microsoft YaHei"/>
                <a:ea typeface="Microsoft YaHei"/>
                <a:cs typeface="Microsoft YaHei"/>
              </a:rPr>
              <a:t>为什么选它</a:t>
            </a:r>
            <a:endParaRPr sz="950"/>
          </a:p>
        </p:txBody>
      </p:sp>
      <p:sp>
        <p:nvSpPr>
          <p:cNvPr id="14" name="Text 12"/>
          <p:cNvSpPr>
            <a:spLocks noGrp="1"/>
          </p:cNvSpPr>
          <p:nvPr/>
        </p:nvSpPr>
        <p:spPr>
          <a:xfrm>
            <a:off x="713232" y="3611880"/>
            <a:ext cx="5166360" cy="749808"/>
          </a:xfrm>
          <a:prstGeom prst="rect">
            <a:avLst/>
          </a:prstGeom>
          <a:solidFill>
            <a:srgbClr val="102033"/>
          </a:solidFill>
          <a:ln w="12700">
            <a:solidFill>
              <a:srgbClr val="1F5E6E"/>
            </a:solidFill>
          </a:ln>
        </p:spPr>
        <p:txBody>
          <a:bodyPr wrap="square" lIns="2032" tIns="2032" rIns="2032" bIns="2032" anchor="ctr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  </a:t>
            </a:r>
            <a:r>
              <a:rPr sz="1400" dirty="0" err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协议包含复位等待、命令序列和连续数据传输，能完整体现外设</a:t>
            </a:r>
            <a:r>
              <a:rPr lang="en-US" sz="1400" dirty="0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  </a:t>
            </a:r>
            <a:r>
              <a:rPr sz="1400" dirty="0" err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接口控制器的状态机与握手设计</a:t>
            </a:r>
            <a:r>
              <a:rPr sz="1400" dirty="0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。</a:t>
            </a:r>
            <a:endParaRPr sz="1400" dirty="0"/>
          </a:p>
        </p:txBody>
      </p:sp>
      <p:sp>
        <p:nvSpPr>
          <p:cNvPr id="15" name="Text 13"/>
          <p:cNvSpPr>
            <a:spLocks noGrp="1"/>
          </p:cNvSpPr>
          <p:nvPr/>
        </p:nvSpPr>
        <p:spPr>
          <a:xfrm>
            <a:off x="713232" y="4535424"/>
            <a:ext cx="5166360" cy="530352"/>
          </a:xfrm>
          <a:prstGeom prst="rect">
            <a:avLst/>
          </a:prstGeom>
          <a:solidFill>
            <a:srgbClr val="10271E"/>
          </a:solidFill>
          <a:ln w="12700">
            <a:solidFill>
              <a:srgbClr val="246E4B"/>
            </a:solidFill>
          </a:ln>
        </p:spPr>
        <p:txBody>
          <a:bodyPr wrap="square" lIns="2032" tIns="2032" rIns="2032" bIns="2032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DBFBEA"/>
                </a:solidFill>
                <a:latin typeface="Microsoft YaHei"/>
                <a:ea typeface="Microsoft YaHei"/>
                <a:cs typeface="Microsoft YaHei"/>
              </a:rPr>
              <a:t>  </a:t>
            </a:r>
            <a:r>
              <a:rPr sz="1300" dirty="0" err="1">
                <a:solidFill>
                  <a:srgbClr val="DBFBEA"/>
                </a:solidFill>
                <a:latin typeface="Microsoft YaHei"/>
                <a:ea typeface="Microsoft YaHei"/>
                <a:cs typeface="Microsoft YaHei"/>
              </a:rPr>
              <a:t>硬件处理精确时序，汇编软件通过寄存器接口发送高层操作</a:t>
            </a:r>
            <a:r>
              <a:rPr sz="1300" dirty="0">
                <a:solidFill>
                  <a:srgbClr val="DBFBEA"/>
                </a:solidFill>
                <a:latin typeface="Microsoft YaHei"/>
                <a:ea typeface="Microsoft YaHei"/>
                <a:cs typeface="Microsoft YaHei"/>
              </a:rPr>
              <a:t>。</a:t>
            </a:r>
            <a:endParaRPr sz="1300" dirty="0"/>
          </a:p>
        </p:txBody>
      </p:sp>
      <p:sp>
        <p:nvSpPr>
          <p:cNvPr id="16" name="Text 14"/>
          <p:cNvSpPr>
            <a:spLocks noGrp="1"/>
          </p:cNvSpPr>
          <p:nvPr/>
        </p:nvSpPr>
        <p:spPr>
          <a:xfrm>
            <a:off x="6547104" y="3273552"/>
            <a:ext cx="1371600" cy="21945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950" b="1">
                <a:solidFill>
                  <a:srgbClr val="22D3EE"/>
                </a:solidFill>
                <a:latin typeface="Microsoft YaHei"/>
                <a:ea typeface="Microsoft YaHei"/>
                <a:cs typeface="Microsoft YaHei"/>
              </a:rPr>
              <a:t>接口抽象</a:t>
            </a:r>
            <a:endParaRPr sz="950"/>
          </a:p>
        </p:txBody>
      </p:sp>
      <p:sp>
        <p:nvSpPr>
          <p:cNvPr id="17" name="Shape 15"/>
          <p:cNvSpPr>
            <a:spLocks noGrp="1"/>
          </p:cNvSpPr>
          <p:nvPr/>
        </p:nvSpPr>
        <p:spPr>
          <a:xfrm>
            <a:off x="6748272" y="4023360"/>
            <a:ext cx="950976" cy="0"/>
          </a:xfrm>
          <a:prstGeom prst="line">
            <a:avLst/>
          </a:prstGeom>
          <a:noFill/>
          <a:ln w="20320">
            <a:solidFill>
              <a:srgbClr val="22D3EE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>
            <a:spLocks noGrp="1"/>
          </p:cNvSpPr>
          <p:nvPr/>
        </p:nvSpPr>
        <p:spPr>
          <a:xfrm>
            <a:off x="8412480" y="4023360"/>
            <a:ext cx="987552" cy="0"/>
          </a:xfrm>
          <a:prstGeom prst="line">
            <a:avLst/>
          </a:prstGeom>
          <a:noFill/>
          <a:ln w="20320">
            <a:solidFill>
              <a:srgbClr val="22D3EE"/>
            </a:solidFill>
            <a:prstDash val="solid"/>
            <a:headEnd type="none"/>
            <a:tailEnd type="triangle"/>
          </a:ln>
        </p:spPr>
      </p:sp>
      <p:sp>
        <p:nvSpPr>
          <p:cNvPr id="19" name="Text 17"/>
          <p:cNvSpPr>
            <a:spLocks noGrp="1"/>
          </p:cNvSpPr>
          <p:nvPr/>
        </p:nvSpPr>
        <p:spPr>
          <a:xfrm>
            <a:off x="6236208" y="3703320"/>
            <a:ext cx="1280160" cy="658368"/>
          </a:xfrm>
          <a:prstGeom prst="rect">
            <a:avLst/>
          </a:prstGeom>
          <a:solidFill>
            <a:srgbClr val="19233B"/>
          </a:solidFill>
          <a:ln w="15240">
            <a:solidFill>
              <a:srgbClr val="3B82F6"/>
            </a:solidFill>
          </a:ln>
        </p:spPr>
        <p:txBody>
          <a:bodyPr wrap="square" lIns="1397" tIns="1397" rIns="1397" bIns="1397" anchor="ctr">
            <a:normAutofit/>
          </a:bodyPr>
          <a:lstStyle/>
          <a:p>
            <a:pPr marL="0" indent="0" algn="ctr">
              <a:buNone/>
            </a:pPr>
            <a:r>
              <a:rPr sz="105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CPU</a:t>
            </a:r>
            <a:endParaRPr sz="1050"/>
          </a:p>
          <a:p>
            <a:pPr marL="0" indent="0" algn="ctr">
              <a:buNone/>
            </a:pPr>
            <a:r>
              <a:rPr sz="105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SW / LW</a:t>
            </a:r>
            <a:endParaRPr sz="1050"/>
          </a:p>
        </p:txBody>
      </p:sp>
      <p:sp>
        <p:nvSpPr>
          <p:cNvPr id="20" name="Text 18"/>
          <p:cNvSpPr>
            <a:spLocks noGrp="1"/>
          </p:cNvSpPr>
          <p:nvPr/>
        </p:nvSpPr>
        <p:spPr>
          <a:xfrm>
            <a:off x="7808976" y="3703320"/>
            <a:ext cx="1572768" cy="658368"/>
          </a:xfrm>
          <a:prstGeom prst="rect">
            <a:avLst/>
          </a:prstGeom>
          <a:solidFill>
            <a:srgbClr val="19233B"/>
          </a:solidFill>
          <a:ln w="15240">
            <a:solidFill>
              <a:srgbClr val="34D399"/>
            </a:solidFill>
          </a:ln>
        </p:spPr>
        <p:txBody>
          <a:bodyPr wrap="square" lIns="1397" tIns="1397" rIns="1397" bIns="1397" anchor="ctr">
            <a:normAutofit/>
          </a:bodyPr>
          <a:lstStyle/>
          <a:p>
            <a:pPr marL="0" indent="0" algn="ctr">
              <a:buNone/>
            </a:pPr>
            <a:r>
              <a:rPr sz="105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MMIO</a:t>
            </a:r>
            <a:endParaRPr sz="1050"/>
          </a:p>
          <a:p>
            <a:pPr marL="0" indent="0" algn="ctr">
              <a:buNone/>
            </a:pPr>
            <a:r>
              <a:rPr sz="105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CMD · DATA · STATUS</a:t>
            </a:r>
            <a:endParaRPr sz="1050"/>
          </a:p>
        </p:txBody>
      </p:sp>
      <p:sp>
        <p:nvSpPr>
          <p:cNvPr id="21" name="Text 19"/>
          <p:cNvSpPr>
            <a:spLocks noGrp="1"/>
          </p:cNvSpPr>
          <p:nvPr/>
        </p:nvSpPr>
        <p:spPr>
          <a:xfrm>
            <a:off x="9528048" y="3703320"/>
            <a:ext cx="1828800" cy="658368"/>
          </a:xfrm>
          <a:prstGeom prst="rect">
            <a:avLst/>
          </a:prstGeom>
          <a:solidFill>
            <a:srgbClr val="19233B"/>
          </a:solidFill>
          <a:ln w="15240">
            <a:solidFill>
              <a:srgbClr val="F59E0B"/>
            </a:solidFill>
          </a:ln>
        </p:spPr>
        <p:txBody>
          <a:bodyPr wrap="square" lIns="1397" tIns="1397" rIns="1397" bIns="1397" anchor="ctr">
            <a:normAutofit/>
          </a:bodyPr>
          <a:lstStyle/>
          <a:p>
            <a:pPr marL="0" indent="0" algn="ctr">
              <a:buNone/>
            </a:pPr>
            <a:r>
              <a:rPr sz="105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LCD</a:t>
            </a:r>
            <a:endParaRPr sz="1050"/>
          </a:p>
          <a:p>
            <a:pPr marL="0" indent="0" algn="ctr">
              <a:buNone/>
            </a:pPr>
            <a:r>
              <a:rPr sz="105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CS/SCK/MOSI/RS/RST</a:t>
            </a:r>
            <a:endParaRPr sz="1050"/>
          </a:p>
        </p:txBody>
      </p:sp>
      <p:sp>
        <p:nvSpPr>
          <p:cNvPr id="22" name="Text 20"/>
          <p:cNvSpPr>
            <a:spLocks noGrp="1"/>
          </p:cNvSpPr>
          <p:nvPr/>
        </p:nvSpPr>
        <p:spPr>
          <a:xfrm>
            <a:off x="530352" y="6428232"/>
            <a:ext cx="3840480" cy="16459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800">
                <a:solidFill>
                  <a:srgbClr val="8392B7"/>
                </a:solidFill>
                <a:latin typeface="Microsoft YaHei"/>
                <a:ea typeface="Microsoft YaHei"/>
                <a:cs typeface="Microsoft YaHei"/>
              </a:rPr>
              <a:t>ST7571 LCD · SPI · MMIO · RISC-V ASM</a:t>
            </a:r>
            <a:endParaRPr sz="8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/>
        </p:nvSpPr>
        <p:spPr>
          <a:xfrm>
            <a:off x="530352" y="320040"/>
            <a:ext cx="1645920" cy="20116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850" b="1">
                <a:solidFill>
                  <a:srgbClr val="22D3EE"/>
                </a:solidFill>
                <a:latin typeface="Microsoft YaHei"/>
                <a:ea typeface="Microsoft YaHei"/>
                <a:cs typeface="Microsoft YaHei"/>
              </a:rPr>
              <a:t>系统结构</a:t>
            </a:r>
            <a:endParaRPr sz="850"/>
          </a:p>
        </p:txBody>
      </p:sp>
      <p:sp>
        <p:nvSpPr>
          <p:cNvPr id="3" name="Text 1"/>
          <p:cNvSpPr>
            <a:spLocks noGrp="1"/>
          </p:cNvSpPr>
          <p:nvPr/>
        </p:nvSpPr>
        <p:spPr>
          <a:xfrm>
            <a:off x="530352" y="566928"/>
            <a:ext cx="8595360" cy="40233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240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CPU、MMIO 与 LCD 控制器</a:t>
            </a:r>
            <a:endParaRPr sz="2400"/>
          </a:p>
        </p:txBody>
      </p:sp>
      <p:sp>
        <p:nvSpPr>
          <p:cNvPr id="4" name="Text 2"/>
          <p:cNvSpPr>
            <a:spLocks noGrp="1"/>
          </p:cNvSpPr>
          <p:nvPr/>
        </p:nvSpPr>
        <p:spPr>
          <a:xfrm>
            <a:off x="548640" y="1024128"/>
            <a:ext cx="7863840" cy="25603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1150">
                <a:solidFill>
                  <a:srgbClr val="B9C8E6"/>
                </a:solidFill>
                <a:latin typeface="Microsoft YaHei"/>
                <a:ea typeface="Microsoft YaHei"/>
                <a:cs typeface="Microsoft YaHei"/>
              </a:rPr>
              <a:t>软件访问寄存器，硬件完成初始化与逐位发送</a:t>
            </a:r>
            <a:endParaRPr sz="1150"/>
          </a:p>
        </p:txBody>
      </p:sp>
      <p:sp>
        <p:nvSpPr>
          <p:cNvPr id="5" name="Text 3"/>
          <p:cNvSpPr>
            <a:spLocks noGrp="1"/>
          </p:cNvSpPr>
          <p:nvPr/>
        </p:nvSpPr>
        <p:spPr>
          <a:xfrm>
            <a:off x="11137392" y="384048"/>
            <a:ext cx="50292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000" b="1">
                <a:solidFill>
                  <a:srgbClr val="8392B7"/>
                </a:solidFill>
                <a:latin typeface="Microsoft YaHei"/>
                <a:ea typeface="Microsoft YaHei"/>
                <a:cs typeface="Microsoft YaHei"/>
              </a:rPr>
              <a:t>03</a:t>
            </a:r>
            <a:endParaRPr sz="1000"/>
          </a:p>
        </p:txBody>
      </p:sp>
      <p:sp>
        <p:nvSpPr>
          <p:cNvPr id="6" name="Shape 4"/>
          <p:cNvSpPr>
            <a:spLocks noGrp="1"/>
          </p:cNvSpPr>
          <p:nvPr/>
        </p:nvSpPr>
        <p:spPr>
          <a:xfrm>
            <a:off x="530352" y="1389888"/>
            <a:ext cx="11109960" cy="0"/>
          </a:xfrm>
          <a:prstGeom prst="line">
            <a:avLst/>
          </a:prstGeom>
          <a:noFill/>
          <a:ln w="10160">
            <a:solidFill>
              <a:srgbClr val="2C3D61">
                <a:alpha val="80000"/>
              </a:srgbClr>
            </a:solidFill>
            <a:prstDash val="solid"/>
          </a:ln>
        </p:spPr>
      </p:sp>
      <p:sp>
        <p:nvSpPr>
          <p:cNvPr id="7" name="Shape 5"/>
          <p:cNvSpPr>
            <a:spLocks noGrp="1"/>
          </p:cNvSpPr>
          <p:nvPr/>
        </p:nvSpPr>
        <p:spPr>
          <a:xfrm>
            <a:off x="530352" y="1389888"/>
            <a:ext cx="1508760" cy="0"/>
          </a:xfrm>
          <a:prstGeom prst="line">
            <a:avLst/>
          </a:prstGeom>
          <a:noFill/>
          <a:ln w="27940">
            <a:solidFill>
              <a:srgbClr val="22D3EE"/>
            </a:solidFill>
            <a:prstDash val="solid"/>
          </a:ln>
        </p:spPr>
      </p:sp>
      <p:sp>
        <p:nvSpPr>
          <p:cNvPr id="8" name="Shape 6"/>
          <p:cNvSpPr>
            <a:spLocks noGrp="1"/>
          </p:cNvSpPr>
          <p:nvPr/>
        </p:nvSpPr>
        <p:spPr>
          <a:xfrm>
            <a:off x="2039112" y="2350008"/>
            <a:ext cx="338328" cy="0"/>
          </a:xfrm>
          <a:prstGeom prst="line">
            <a:avLst/>
          </a:prstGeom>
          <a:noFill/>
          <a:ln w="17780">
            <a:solidFill>
              <a:srgbClr val="22D3EE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>
            <a:spLocks noGrp="1"/>
          </p:cNvSpPr>
          <p:nvPr/>
        </p:nvSpPr>
        <p:spPr>
          <a:xfrm>
            <a:off x="3867912" y="2350008"/>
            <a:ext cx="338328" cy="0"/>
          </a:xfrm>
          <a:prstGeom prst="line">
            <a:avLst/>
          </a:prstGeom>
          <a:noFill/>
          <a:ln w="17780">
            <a:solidFill>
              <a:srgbClr val="22D3EE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>
            <a:spLocks noGrp="1"/>
          </p:cNvSpPr>
          <p:nvPr/>
        </p:nvSpPr>
        <p:spPr>
          <a:xfrm>
            <a:off x="5696712" y="2350008"/>
            <a:ext cx="338328" cy="0"/>
          </a:xfrm>
          <a:prstGeom prst="line">
            <a:avLst/>
          </a:prstGeom>
          <a:noFill/>
          <a:ln w="17780">
            <a:solidFill>
              <a:srgbClr val="22D3EE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>
            <a:spLocks noGrp="1"/>
          </p:cNvSpPr>
          <p:nvPr/>
        </p:nvSpPr>
        <p:spPr>
          <a:xfrm>
            <a:off x="7525512" y="2350008"/>
            <a:ext cx="338328" cy="0"/>
          </a:xfrm>
          <a:prstGeom prst="line">
            <a:avLst/>
          </a:prstGeom>
          <a:noFill/>
          <a:ln w="17780">
            <a:solidFill>
              <a:srgbClr val="22D3EE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>
            <a:spLocks noGrp="1"/>
          </p:cNvSpPr>
          <p:nvPr/>
        </p:nvSpPr>
        <p:spPr>
          <a:xfrm>
            <a:off x="9354312" y="2350008"/>
            <a:ext cx="338328" cy="0"/>
          </a:xfrm>
          <a:prstGeom prst="line">
            <a:avLst/>
          </a:prstGeom>
          <a:noFill/>
          <a:ln w="17780">
            <a:solidFill>
              <a:srgbClr val="22D3EE"/>
            </a:solidFill>
            <a:prstDash val="solid"/>
            <a:headEnd type="none"/>
            <a:tailEnd type="triangle"/>
          </a:ln>
        </p:spPr>
      </p:sp>
      <p:sp>
        <p:nvSpPr>
          <p:cNvPr id="13" name="Text 11"/>
          <p:cNvSpPr>
            <a:spLocks noGrp="1"/>
          </p:cNvSpPr>
          <p:nvPr/>
        </p:nvSpPr>
        <p:spPr>
          <a:xfrm>
            <a:off x="658368" y="2011680"/>
            <a:ext cx="1325880" cy="676656"/>
          </a:xfrm>
          <a:prstGeom prst="rect">
            <a:avLst/>
          </a:prstGeom>
          <a:solidFill>
            <a:srgbClr val="19233B"/>
          </a:solidFill>
          <a:ln w="15240">
            <a:solidFill>
              <a:srgbClr val="3B82F6"/>
            </a:solidFill>
          </a:ln>
        </p:spPr>
        <p:txBody>
          <a:bodyPr wrap="square" lIns="1397" tIns="1397" rIns="1397" bIns="1397" anchor="ctr">
            <a:normAutofit/>
          </a:bodyPr>
          <a:lstStyle/>
          <a:p>
            <a:pPr marL="0" indent="0" algn="ctr">
              <a:buNone/>
            </a:pPr>
            <a:r>
              <a:rPr sz="105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RISC-V 汇编</a:t>
            </a:r>
            <a:endParaRPr sz="1050"/>
          </a:p>
          <a:p>
            <a:pPr marL="0" indent="0" algn="ctr">
              <a:buNone/>
            </a:pPr>
            <a:r>
              <a:rPr sz="105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LW / SW</a:t>
            </a:r>
            <a:endParaRPr sz="1050"/>
          </a:p>
        </p:txBody>
      </p:sp>
      <p:sp>
        <p:nvSpPr>
          <p:cNvPr id="14" name="Text 12"/>
          <p:cNvSpPr>
            <a:spLocks noGrp="1"/>
          </p:cNvSpPr>
          <p:nvPr/>
        </p:nvSpPr>
        <p:spPr>
          <a:xfrm>
            <a:off x="2487168" y="2011680"/>
            <a:ext cx="1325880" cy="676656"/>
          </a:xfrm>
          <a:prstGeom prst="rect">
            <a:avLst/>
          </a:prstGeom>
          <a:solidFill>
            <a:srgbClr val="19233B"/>
          </a:solidFill>
          <a:ln w="15240">
            <a:solidFill>
              <a:srgbClr val="34D399"/>
            </a:solidFill>
          </a:ln>
        </p:spPr>
        <p:txBody>
          <a:bodyPr wrap="square" lIns="1397" tIns="1397" rIns="1397" bIns="1397" anchor="ctr">
            <a:normAutofit/>
          </a:bodyPr>
          <a:lstStyle/>
          <a:p>
            <a:pPr marL="0" indent="0" algn="ctr">
              <a:buNone/>
            </a:pPr>
            <a:r>
              <a:rPr sz="105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地址译码</a:t>
            </a:r>
            <a:endParaRPr sz="1050"/>
          </a:p>
          <a:p>
            <a:pPr marL="0" indent="0" algn="ctr">
              <a:buNone/>
            </a:pPr>
            <a:r>
              <a:rPr sz="105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LCD MMIO</a:t>
            </a:r>
            <a:endParaRPr sz="1050"/>
          </a:p>
        </p:txBody>
      </p:sp>
      <p:sp>
        <p:nvSpPr>
          <p:cNvPr id="15" name="Text 13"/>
          <p:cNvSpPr>
            <a:spLocks noGrp="1"/>
          </p:cNvSpPr>
          <p:nvPr/>
        </p:nvSpPr>
        <p:spPr>
          <a:xfrm>
            <a:off x="4315968" y="2011680"/>
            <a:ext cx="1325880" cy="676656"/>
          </a:xfrm>
          <a:prstGeom prst="rect">
            <a:avLst/>
          </a:prstGeom>
          <a:solidFill>
            <a:srgbClr val="19233B"/>
          </a:solidFill>
          <a:ln w="15240">
            <a:solidFill>
              <a:srgbClr val="22D3EE"/>
            </a:solidFill>
          </a:ln>
        </p:spPr>
        <p:txBody>
          <a:bodyPr wrap="square" lIns="1397" tIns="1397" rIns="1397" bIns="1397" anchor="ctr">
            <a:normAutofit/>
          </a:bodyPr>
          <a:lstStyle/>
          <a:p>
            <a:pPr marL="0" indent="0" algn="ctr">
              <a:buNone/>
            </a:pPr>
            <a:r>
              <a:rPr sz="105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LCD 控制器</a:t>
            </a:r>
            <a:endParaRPr sz="1050"/>
          </a:p>
          <a:p>
            <a:pPr marL="0" indent="0" algn="ctr">
              <a:buNone/>
            </a:pPr>
            <a:r>
              <a:rPr sz="105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初始化 / 清屏</a:t>
            </a:r>
            <a:endParaRPr sz="1050"/>
          </a:p>
        </p:txBody>
      </p:sp>
      <p:sp>
        <p:nvSpPr>
          <p:cNvPr id="16" name="Text 14"/>
          <p:cNvSpPr>
            <a:spLocks noGrp="1"/>
          </p:cNvSpPr>
          <p:nvPr/>
        </p:nvSpPr>
        <p:spPr>
          <a:xfrm>
            <a:off x="6144768" y="2011680"/>
            <a:ext cx="1325880" cy="676656"/>
          </a:xfrm>
          <a:prstGeom prst="rect">
            <a:avLst/>
          </a:prstGeom>
          <a:solidFill>
            <a:srgbClr val="19233B"/>
          </a:solidFill>
          <a:ln w="15240">
            <a:solidFill>
              <a:srgbClr val="A78BFA"/>
            </a:solidFill>
          </a:ln>
        </p:spPr>
        <p:txBody>
          <a:bodyPr wrap="square" lIns="1397" tIns="1397" rIns="1397" bIns="1397" anchor="ctr">
            <a:normAutofit/>
          </a:bodyPr>
          <a:lstStyle/>
          <a:p>
            <a:pPr marL="0" indent="0" algn="ctr">
              <a:buNone/>
            </a:pPr>
            <a:r>
              <a:rPr sz="105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调度</a:t>
            </a:r>
            <a:endParaRPr sz="1050"/>
          </a:p>
          <a:p>
            <a:pPr marL="0" indent="0" algn="ctr">
              <a:buNone/>
            </a:pPr>
            <a:r>
              <a:rPr sz="105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ready / valid</a:t>
            </a:r>
            <a:endParaRPr sz="1050"/>
          </a:p>
        </p:txBody>
      </p:sp>
      <p:sp>
        <p:nvSpPr>
          <p:cNvPr id="17" name="Text 15"/>
          <p:cNvSpPr>
            <a:spLocks noGrp="1"/>
          </p:cNvSpPr>
          <p:nvPr/>
        </p:nvSpPr>
        <p:spPr>
          <a:xfrm>
            <a:off x="7973568" y="2011680"/>
            <a:ext cx="1325880" cy="676656"/>
          </a:xfrm>
          <a:prstGeom prst="rect">
            <a:avLst/>
          </a:prstGeom>
          <a:solidFill>
            <a:srgbClr val="19233B"/>
          </a:solidFill>
          <a:ln w="15240">
            <a:solidFill>
              <a:srgbClr val="F59E0B"/>
            </a:solidFill>
          </a:ln>
        </p:spPr>
        <p:txBody>
          <a:bodyPr wrap="square" lIns="1397" tIns="1397" rIns="1397" bIns="1397" anchor="ctr">
            <a:normAutofit/>
          </a:bodyPr>
          <a:lstStyle/>
          <a:p>
            <a:pPr marL="0" indent="0" algn="ctr">
              <a:buNone/>
            </a:pPr>
            <a:r>
              <a:rPr sz="105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SPI master</a:t>
            </a:r>
            <a:endParaRPr sz="1050"/>
          </a:p>
          <a:p>
            <a:pPr marL="0" indent="0" algn="ctr">
              <a:buNone/>
            </a:pPr>
            <a:r>
              <a:rPr sz="105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8 位移位</a:t>
            </a:r>
            <a:endParaRPr sz="1050"/>
          </a:p>
        </p:txBody>
      </p:sp>
      <p:sp>
        <p:nvSpPr>
          <p:cNvPr id="18" name="Text 16"/>
          <p:cNvSpPr>
            <a:spLocks noGrp="1"/>
          </p:cNvSpPr>
          <p:nvPr/>
        </p:nvSpPr>
        <p:spPr>
          <a:xfrm>
            <a:off x="9802368" y="2011680"/>
            <a:ext cx="1325880" cy="676656"/>
          </a:xfrm>
          <a:prstGeom prst="rect">
            <a:avLst/>
          </a:prstGeom>
          <a:solidFill>
            <a:srgbClr val="19233B"/>
          </a:solidFill>
          <a:ln w="15240">
            <a:solidFill>
              <a:srgbClr val="F87171"/>
            </a:solidFill>
          </a:ln>
        </p:spPr>
        <p:txBody>
          <a:bodyPr wrap="square" lIns="1397" tIns="1397" rIns="1397" bIns="1397" anchor="ctr">
            <a:normAutofit/>
          </a:bodyPr>
          <a:lstStyle/>
          <a:p>
            <a:pPr marL="0" indent="0" algn="ctr">
              <a:buNone/>
            </a:pPr>
            <a:r>
              <a:rPr sz="105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LCD</a:t>
            </a:r>
            <a:endParaRPr sz="1050"/>
          </a:p>
          <a:p>
            <a:pPr marL="0" indent="0" algn="ctr">
              <a:buNone/>
            </a:pPr>
            <a:r>
              <a:rPr sz="105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ST7571</a:t>
            </a:r>
            <a:endParaRPr sz="1050"/>
          </a:p>
        </p:txBody>
      </p:sp>
      <p:sp>
        <p:nvSpPr>
          <p:cNvPr id="19" name="Text 17"/>
          <p:cNvSpPr>
            <a:spLocks noGrp="1"/>
          </p:cNvSpPr>
          <p:nvPr/>
        </p:nvSpPr>
        <p:spPr>
          <a:xfrm>
            <a:off x="786384" y="3931920"/>
            <a:ext cx="3154680" cy="914400"/>
          </a:xfrm>
          <a:prstGeom prst="rect">
            <a:avLst/>
          </a:prstGeom>
          <a:solidFill>
            <a:srgbClr val="121A2D"/>
          </a:solidFill>
          <a:ln w="14605">
            <a:solidFill>
              <a:srgbClr val="3B82F6"/>
            </a:solidFill>
          </a:ln>
        </p:spPr>
        <p:txBody>
          <a:bodyPr wrap="square" lIns="1778" tIns="1778" rIns="1778" bIns="1778" anchor="ctr">
            <a:normAutofit/>
          </a:bodyPr>
          <a:lstStyle/>
          <a:p>
            <a:pPr marL="0" indent="0" algn="ctr">
              <a:buNone/>
            </a:pPr>
            <a:r>
              <a:rPr sz="125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软件职责</a:t>
            </a:r>
            <a:endParaRPr sz="1250"/>
          </a:p>
          <a:p>
            <a:pPr marL="0" indent="0" algn="ctr">
              <a:buNone/>
            </a:pPr>
            <a:r>
              <a:rPr sz="125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轮询状态并写命令或数据</a:t>
            </a:r>
            <a:endParaRPr sz="1250"/>
          </a:p>
          <a:p>
            <a:pPr marL="0" indent="0" algn="ctr">
              <a:buNone/>
            </a:pPr>
            <a:r>
              <a:rPr sz="125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组合出最小显示流程</a:t>
            </a:r>
            <a:endParaRPr sz="1250"/>
          </a:p>
        </p:txBody>
      </p:sp>
      <p:sp>
        <p:nvSpPr>
          <p:cNvPr id="20" name="Text 18"/>
          <p:cNvSpPr>
            <a:spLocks noGrp="1"/>
          </p:cNvSpPr>
          <p:nvPr/>
        </p:nvSpPr>
        <p:spPr>
          <a:xfrm>
            <a:off x="4553712" y="3931920"/>
            <a:ext cx="3154680" cy="914400"/>
          </a:xfrm>
          <a:prstGeom prst="rect">
            <a:avLst/>
          </a:prstGeom>
          <a:solidFill>
            <a:srgbClr val="121A2D"/>
          </a:solidFill>
          <a:ln w="14605">
            <a:solidFill>
              <a:srgbClr val="34D399"/>
            </a:solidFill>
          </a:ln>
        </p:spPr>
        <p:txBody>
          <a:bodyPr wrap="square" lIns="1778" tIns="1778" rIns="1778" bIns="1778" anchor="ctr">
            <a:normAutofit/>
          </a:bodyPr>
          <a:lstStyle/>
          <a:p>
            <a:pPr marL="0" indent="0" algn="ctr">
              <a:buNone/>
            </a:pPr>
            <a:r>
              <a:rPr sz="125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控制器职责</a:t>
            </a:r>
            <a:endParaRPr sz="1250"/>
          </a:p>
          <a:p>
            <a:pPr marL="0" indent="0" algn="ctr">
              <a:buNone/>
            </a:pPr>
            <a:r>
              <a:rPr sz="125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上电时序、命令队列、清屏</a:t>
            </a:r>
            <a:endParaRPr sz="1250"/>
          </a:p>
          <a:p>
            <a:pPr marL="0" indent="0" algn="ctr">
              <a:buNone/>
            </a:pPr>
            <a:r>
              <a:rPr sz="125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把请求调度到 SPI master</a:t>
            </a:r>
            <a:endParaRPr sz="1250"/>
          </a:p>
        </p:txBody>
      </p:sp>
      <p:sp>
        <p:nvSpPr>
          <p:cNvPr id="21" name="Text 19"/>
          <p:cNvSpPr>
            <a:spLocks noGrp="1"/>
          </p:cNvSpPr>
          <p:nvPr/>
        </p:nvSpPr>
        <p:spPr>
          <a:xfrm>
            <a:off x="8321040" y="3931920"/>
            <a:ext cx="3154680" cy="914400"/>
          </a:xfrm>
          <a:prstGeom prst="rect">
            <a:avLst/>
          </a:prstGeom>
          <a:solidFill>
            <a:srgbClr val="121A2D"/>
          </a:solidFill>
          <a:ln w="14605">
            <a:solidFill>
              <a:srgbClr val="F59E0B"/>
            </a:solidFill>
          </a:ln>
        </p:spPr>
        <p:txBody>
          <a:bodyPr wrap="square" lIns="1778" tIns="1778" rIns="1778" bIns="1778" anchor="ctr">
            <a:normAutofit/>
          </a:bodyPr>
          <a:lstStyle/>
          <a:p>
            <a:pPr marL="0" indent="0" algn="ctr">
              <a:buNone/>
            </a:pPr>
            <a:r>
              <a:rPr sz="125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SPI 职责</a:t>
            </a:r>
            <a:endParaRPr sz="1250"/>
          </a:p>
          <a:p>
            <a:pPr marL="0" indent="0" algn="ctr">
              <a:buNone/>
            </a:pPr>
            <a:r>
              <a:rPr sz="125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锁存 RS 与 8 位数据</a:t>
            </a:r>
            <a:endParaRPr sz="1250"/>
          </a:p>
          <a:p>
            <a:pPr marL="0" indent="0" algn="ctr">
              <a:buNone/>
            </a:pPr>
            <a:r>
              <a:rPr sz="125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产生 CS、SCK 和 MOSI</a:t>
            </a:r>
            <a:endParaRPr sz="1250"/>
          </a:p>
        </p:txBody>
      </p:sp>
      <p:sp>
        <p:nvSpPr>
          <p:cNvPr id="22" name="Text 20"/>
          <p:cNvSpPr>
            <a:spLocks noGrp="1"/>
          </p:cNvSpPr>
          <p:nvPr/>
        </p:nvSpPr>
        <p:spPr>
          <a:xfrm>
            <a:off x="530352" y="6428232"/>
            <a:ext cx="3840480" cy="16459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800">
                <a:solidFill>
                  <a:srgbClr val="8392B7"/>
                </a:solidFill>
                <a:latin typeface="Microsoft YaHei"/>
                <a:ea typeface="Microsoft YaHei"/>
                <a:cs typeface="Microsoft YaHei"/>
              </a:rPr>
              <a:t>ST7571 LCD · SPI · MMIO · RISC-V ASM</a:t>
            </a:r>
            <a:endParaRPr sz="8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/>
        </p:nvSpPr>
        <p:spPr>
          <a:xfrm>
            <a:off x="530352" y="320040"/>
            <a:ext cx="1645920" cy="20116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850" b="1">
                <a:solidFill>
                  <a:srgbClr val="22D3EE"/>
                </a:solidFill>
                <a:latin typeface="Microsoft YaHei"/>
                <a:ea typeface="Microsoft YaHei"/>
                <a:cs typeface="Microsoft YaHei"/>
              </a:rPr>
              <a:t>串行协议</a:t>
            </a:r>
            <a:endParaRPr sz="850"/>
          </a:p>
        </p:txBody>
      </p:sp>
      <p:sp>
        <p:nvSpPr>
          <p:cNvPr id="3" name="Text 1"/>
          <p:cNvSpPr>
            <a:spLocks noGrp="1"/>
          </p:cNvSpPr>
          <p:nvPr/>
        </p:nvSpPr>
        <p:spPr>
          <a:xfrm>
            <a:off x="530352" y="566928"/>
            <a:ext cx="8595360" cy="40233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240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SPI 单字节发送时序</a:t>
            </a:r>
            <a:endParaRPr sz="2400"/>
          </a:p>
        </p:txBody>
      </p:sp>
      <p:sp>
        <p:nvSpPr>
          <p:cNvPr id="4" name="Text 2"/>
          <p:cNvSpPr>
            <a:spLocks noGrp="1"/>
          </p:cNvSpPr>
          <p:nvPr/>
        </p:nvSpPr>
        <p:spPr>
          <a:xfrm>
            <a:off x="548640" y="1024128"/>
            <a:ext cx="7863840" cy="25603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1150">
                <a:solidFill>
                  <a:srgbClr val="B9C8E6"/>
                </a:solidFill>
                <a:latin typeface="Microsoft YaHei"/>
                <a:ea typeface="Microsoft YaHei"/>
                <a:cs typeface="Microsoft YaHei"/>
              </a:rPr>
              <a:t>CS 拉低期间发送 8 位，LCD 在 SCK 上升沿采样</a:t>
            </a:r>
            <a:endParaRPr sz="1150"/>
          </a:p>
        </p:txBody>
      </p:sp>
      <p:sp>
        <p:nvSpPr>
          <p:cNvPr id="5" name="Text 3"/>
          <p:cNvSpPr>
            <a:spLocks noGrp="1"/>
          </p:cNvSpPr>
          <p:nvPr/>
        </p:nvSpPr>
        <p:spPr>
          <a:xfrm>
            <a:off x="11137392" y="384048"/>
            <a:ext cx="50292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000" b="1">
                <a:solidFill>
                  <a:srgbClr val="8392B7"/>
                </a:solidFill>
                <a:latin typeface="Microsoft YaHei"/>
                <a:ea typeface="Microsoft YaHei"/>
                <a:cs typeface="Microsoft YaHei"/>
              </a:rPr>
              <a:t>04</a:t>
            </a:r>
            <a:endParaRPr sz="1000"/>
          </a:p>
        </p:txBody>
      </p:sp>
      <p:sp>
        <p:nvSpPr>
          <p:cNvPr id="6" name="Shape 4"/>
          <p:cNvSpPr>
            <a:spLocks noGrp="1"/>
          </p:cNvSpPr>
          <p:nvPr/>
        </p:nvSpPr>
        <p:spPr>
          <a:xfrm>
            <a:off x="530352" y="1389888"/>
            <a:ext cx="11109960" cy="0"/>
          </a:xfrm>
          <a:prstGeom prst="line">
            <a:avLst/>
          </a:prstGeom>
          <a:noFill/>
          <a:ln w="10160">
            <a:solidFill>
              <a:srgbClr val="2C3D61">
                <a:alpha val="80000"/>
              </a:srgbClr>
            </a:solidFill>
            <a:prstDash val="solid"/>
          </a:ln>
        </p:spPr>
      </p:sp>
      <p:sp>
        <p:nvSpPr>
          <p:cNvPr id="7" name="Shape 5"/>
          <p:cNvSpPr>
            <a:spLocks noGrp="1"/>
          </p:cNvSpPr>
          <p:nvPr/>
        </p:nvSpPr>
        <p:spPr>
          <a:xfrm>
            <a:off x="530352" y="1389888"/>
            <a:ext cx="1508760" cy="0"/>
          </a:xfrm>
          <a:prstGeom prst="line">
            <a:avLst/>
          </a:prstGeom>
          <a:noFill/>
          <a:ln w="27940">
            <a:solidFill>
              <a:srgbClr val="22D3EE"/>
            </a:solidFill>
            <a:prstDash val="solid"/>
          </a:ln>
        </p:spPr>
      </p:sp>
      <p:sp>
        <p:nvSpPr>
          <p:cNvPr id="8" name="Text 6"/>
          <p:cNvSpPr>
            <a:spLocks noGrp="1"/>
          </p:cNvSpPr>
          <p:nvPr/>
        </p:nvSpPr>
        <p:spPr>
          <a:xfrm>
            <a:off x="603504" y="1920240"/>
            <a:ext cx="320040" cy="16459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r">
              <a:buNone/>
            </a:pPr>
            <a:r>
              <a:rPr sz="850">
                <a:solidFill>
                  <a:srgbClr val="8392B7"/>
                </a:solidFill>
                <a:latin typeface="Microsoft YaHei"/>
                <a:ea typeface="Microsoft YaHei"/>
                <a:cs typeface="Microsoft YaHei"/>
              </a:rPr>
              <a:t>bit</a:t>
            </a:r>
            <a:endParaRPr sz="850"/>
          </a:p>
        </p:txBody>
      </p:sp>
      <p:sp>
        <p:nvSpPr>
          <p:cNvPr id="9" name="Text 7"/>
          <p:cNvSpPr>
            <a:spLocks noGrp="1"/>
          </p:cNvSpPr>
          <p:nvPr/>
        </p:nvSpPr>
        <p:spPr>
          <a:xfrm>
            <a:off x="1024128" y="1828800"/>
            <a:ext cx="585216" cy="274320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9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D7</a:t>
            </a:r>
            <a:endParaRPr sz="900"/>
          </a:p>
        </p:txBody>
      </p:sp>
      <p:sp>
        <p:nvSpPr>
          <p:cNvPr id="10" name="Text 8"/>
          <p:cNvSpPr>
            <a:spLocks noGrp="1"/>
          </p:cNvSpPr>
          <p:nvPr/>
        </p:nvSpPr>
        <p:spPr>
          <a:xfrm>
            <a:off x="2011680" y="1828800"/>
            <a:ext cx="585216" cy="274320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9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D6</a:t>
            </a:r>
            <a:endParaRPr sz="900"/>
          </a:p>
        </p:txBody>
      </p:sp>
      <p:sp>
        <p:nvSpPr>
          <p:cNvPr id="11" name="Text 9"/>
          <p:cNvSpPr>
            <a:spLocks noGrp="1"/>
          </p:cNvSpPr>
          <p:nvPr/>
        </p:nvSpPr>
        <p:spPr>
          <a:xfrm>
            <a:off x="2999232" y="1828800"/>
            <a:ext cx="585216" cy="274320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9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D5</a:t>
            </a:r>
            <a:endParaRPr sz="900"/>
          </a:p>
        </p:txBody>
      </p:sp>
      <p:sp>
        <p:nvSpPr>
          <p:cNvPr id="12" name="Text 10"/>
          <p:cNvSpPr>
            <a:spLocks noGrp="1"/>
          </p:cNvSpPr>
          <p:nvPr/>
        </p:nvSpPr>
        <p:spPr>
          <a:xfrm>
            <a:off x="3986784" y="1828800"/>
            <a:ext cx="585216" cy="274320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9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D4</a:t>
            </a:r>
            <a:endParaRPr sz="900"/>
          </a:p>
        </p:txBody>
      </p:sp>
      <p:sp>
        <p:nvSpPr>
          <p:cNvPr id="13" name="Text 11"/>
          <p:cNvSpPr>
            <a:spLocks noGrp="1"/>
          </p:cNvSpPr>
          <p:nvPr/>
        </p:nvSpPr>
        <p:spPr>
          <a:xfrm>
            <a:off x="4974336" y="1828800"/>
            <a:ext cx="585216" cy="274320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9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D3</a:t>
            </a:r>
            <a:endParaRPr sz="900"/>
          </a:p>
        </p:txBody>
      </p:sp>
      <p:sp>
        <p:nvSpPr>
          <p:cNvPr id="14" name="Text 12"/>
          <p:cNvSpPr>
            <a:spLocks noGrp="1"/>
          </p:cNvSpPr>
          <p:nvPr/>
        </p:nvSpPr>
        <p:spPr>
          <a:xfrm>
            <a:off x="5961888" y="1828800"/>
            <a:ext cx="585216" cy="274320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9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D2</a:t>
            </a:r>
            <a:endParaRPr sz="900"/>
          </a:p>
        </p:txBody>
      </p:sp>
      <p:sp>
        <p:nvSpPr>
          <p:cNvPr id="15" name="Text 13"/>
          <p:cNvSpPr>
            <a:spLocks noGrp="1"/>
          </p:cNvSpPr>
          <p:nvPr/>
        </p:nvSpPr>
        <p:spPr>
          <a:xfrm>
            <a:off x="6949440" y="1828800"/>
            <a:ext cx="585216" cy="274320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9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D1</a:t>
            </a:r>
            <a:endParaRPr sz="900"/>
          </a:p>
        </p:txBody>
      </p:sp>
      <p:sp>
        <p:nvSpPr>
          <p:cNvPr id="16" name="Text 14"/>
          <p:cNvSpPr>
            <a:spLocks noGrp="1"/>
          </p:cNvSpPr>
          <p:nvPr/>
        </p:nvSpPr>
        <p:spPr>
          <a:xfrm>
            <a:off x="7936992" y="1828800"/>
            <a:ext cx="585216" cy="274320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9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D0</a:t>
            </a:r>
            <a:endParaRPr sz="900"/>
          </a:p>
        </p:txBody>
      </p:sp>
      <p:sp>
        <p:nvSpPr>
          <p:cNvPr id="17" name="Text 15"/>
          <p:cNvSpPr>
            <a:spLocks noGrp="1"/>
          </p:cNvSpPr>
          <p:nvPr/>
        </p:nvSpPr>
        <p:spPr>
          <a:xfrm>
            <a:off x="603504" y="2788920"/>
            <a:ext cx="347472" cy="18288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r">
              <a:buNone/>
            </a:pPr>
            <a:r>
              <a:rPr sz="920">
                <a:solidFill>
                  <a:srgbClr val="B9C8E6"/>
                </a:solidFill>
                <a:latin typeface="Microsoft YaHei"/>
                <a:ea typeface="Microsoft YaHei"/>
                <a:cs typeface="Microsoft YaHei"/>
              </a:rPr>
              <a:t>SCK</a:t>
            </a:r>
            <a:endParaRPr sz="920"/>
          </a:p>
        </p:txBody>
      </p:sp>
      <p:sp>
        <p:nvSpPr>
          <p:cNvPr id="18" name="Shape 16"/>
          <p:cNvSpPr>
            <a:spLocks noGrp="1"/>
          </p:cNvSpPr>
          <p:nvPr/>
        </p:nvSpPr>
        <p:spPr>
          <a:xfrm>
            <a:off x="1069848" y="2907792"/>
            <a:ext cx="182880" cy="0"/>
          </a:xfrm>
          <a:prstGeom prst="line">
            <a:avLst/>
          </a:prstGeom>
          <a:noFill/>
          <a:ln w="19050">
            <a:solidFill>
              <a:srgbClr val="22D3EE"/>
            </a:solidFill>
            <a:prstDash val="solid"/>
          </a:ln>
        </p:spPr>
      </p:sp>
      <p:sp>
        <p:nvSpPr>
          <p:cNvPr id="19" name="Shape 17"/>
          <p:cNvSpPr>
            <a:spLocks noGrp="1"/>
          </p:cNvSpPr>
          <p:nvPr/>
        </p:nvSpPr>
        <p:spPr>
          <a:xfrm>
            <a:off x="1252728" y="2633472"/>
            <a:ext cx="0" cy="274320"/>
          </a:xfrm>
          <a:prstGeom prst="line">
            <a:avLst/>
          </a:prstGeom>
          <a:noFill/>
          <a:ln w="19050">
            <a:solidFill>
              <a:srgbClr val="22D3EE"/>
            </a:solidFill>
            <a:prstDash val="solid"/>
          </a:ln>
        </p:spPr>
      </p:sp>
      <p:sp>
        <p:nvSpPr>
          <p:cNvPr id="20" name="Shape 18"/>
          <p:cNvSpPr>
            <a:spLocks noGrp="1"/>
          </p:cNvSpPr>
          <p:nvPr/>
        </p:nvSpPr>
        <p:spPr>
          <a:xfrm>
            <a:off x="1252728" y="2633472"/>
            <a:ext cx="292608" cy="0"/>
          </a:xfrm>
          <a:prstGeom prst="line">
            <a:avLst/>
          </a:prstGeom>
          <a:noFill/>
          <a:ln w="19050">
            <a:solidFill>
              <a:srgbClr val="22D3EE"/>
            </a:solidFill>
            <a:prstDash val="solid"/>
          </a:ln>
        </p:spPr>
      </p:sp>
      <p:sp>
        <p:nvSpPr>
          <p:cNvPr id="21" name="Shape 19"/>
          <p:cNvSpPr>
            <a:spLocks noGrp="1"/>
          </p:cNvSpPr>
          <p:nvPr/>
        </p:nvSpPr>
        <p:spPr>
          <a:xfrm>
            <a:off x="1545336" y="2633472"/>
            <a:ext cx="0" cy="274320"/>
          </a:xfrm>
          <a:prstGeom prst="line">
            <a:avLst/>
          </a:prstGeom>
          <a:noFill/>
          <a:ln w="19050">
            <a:solidFill>
              <a:srgbClr val="22D3EE"/>
            </a:solidFill>
            <a:prstDash val="solid"/>
          </a:ln>
        </p:spPr>
      </p:sp>
      <p:sp>
        <p:nvSpPr>
          <p:cNvPr id="22" name="Shape 20"/>
          <p:cNvSpPr>
            <a:spLocks noGrp="1"/>
          </p:cNvSpPr>
          <p:nvPr/>
        </p:nvSpPr>
        <p:spPr>
          <a:xfrm>
            <a:off x="1545336" y="2907792"/>
            <a:ext cx="274320" cy="0"/>
          </a:xfrm>
          <a:prstGeom prst="line">
            <a:avLst/>
          </a:prstGeom>
          <a:noFill/>
          <a:ln w="19050">
            <a:solidFill>
              <a:srgbClr val="22D3EE"/>
            </a:solidFill>
            <a:prstDash val="solid"/>
          </a:ln>
        </p:spPr>
      </p:sp>
      <p:sp>
        <p:nvSpPr>
          <p:cNvPr id="23" name="Shape 21"/>
          <p:cNvSpPr>
            <a:spLocks noGrp="1"/>
          </p:cNvSpPr>
          <p:nvPr/>
        </p:nvSpPr>
        <p:spPr>
          <a:xfrm>
            <a:off x="2057400" y="2907792"/>
            <a:ext cx="182880" cy="0"/>
          </a:xfrm>
          <a:prstGeom prst="line">
            <a:avLst/>
          </a:prstGeom>
          <a:noFill/>
          <a:ln w="19050">
            <a:solidFill>
              <a:srgbClr val="22D3EE"/>
            </a:solidFill>
            <a:prstDash val="solid"/>
          </a:ln>
        </p:spPr>
      </p:sp>
      <p:sp>
        <p:nvSpPr>
          <p:cNvPr id="24" name="Shape 22"/>
          <p:cNvSpPr>
            <a:spLocks noGrp="1"/>
          </p:cNvSpPr>
          <p:nvPr/>
        </p:nvSpPr>
        <p:spPr>
          <a:xfrm>
            <a:off x="2240280" y="2633472"/>
            <a:ext cx="0" cy="274320"/>
          </a:xfrm>
          <a:prstGeom prst="line">
            <a:avLst/>
          </a:prstGeom>
          <a:noFill/>
          <a:ln w="19050">
            <a:solidFill>
              <a:srgbClr val="22D3EE"/>
            </a:solidFill>
            <a:prstDash val="solid"/>
          </a:ln>
        </p:spPr>
      </p:sp>
      <p:sp>
        <p:nvSpPr>
          <p:cNvPr id="25" name="Shape 23"/>
          <p:cNvSpPr>
            <a:spLocks noGrp="1"/>
          </p:cNvSpPr>
          <p:nvPr/>
        </p:nvSpPr>
        <p:spPr>
          <a:xfrm>
            <a:off x="2240280" y="2633472"/>
            <a:ext cx="292608" cy="0"/>
          </a:xfrm>
          <a:prstGeom prst="line">
            <a:avLst/>
          </a:prstGeom>
          <a:noFill/>
          <a:ln w="19050">
            <a:solidFill>
              <a:srgbClr val="22D3EE"/>
            </a:solidFill>
            <a:prstDash val="solid"/>
          </a:ln>
        </p:spPr>
      </p:sp>
      <p:sp>
        <p:nvSpPr>
          <p:cNvPr id="26" name="Shape 24"/>
          <p:cNvSpPr>
            <a:spLocks noGrp="1"/>
          </p:cNvSpPr>
          <p:nvPr/>
        </p:nvSpPr>
        <p:spPr>
          <a:xfrm>
            <a:off x="2532888" y="2633472"/>
            <a:ext cx="0" cy="274320"/>
          </a:xfrm>
          <a:prstGeom prst="line">
            <a:avLst/>
          </a:prstGeom>
          <a:noFill/>
          <a:ln w="19050">
            <a:solidFill>
              <a:srgbClr val="22D3EE"/>
            </a:solidFill>
            <a:prstDash val="solid"/>
          </a:ln>
        </p:spPr>
      </p:sp>
      <p:sp>
        <p:nvSpPr>
          <p:cNvPr id="27" name="Shape 25"/>
          <p:cNvSpPr>
            <a:spLocks noGrp="1"/>
          </p:cNvSpPr>
          <p:nvPr/>
        </p:nvSpPr>
        <p:spPr>
          <a:xfrm>
            <a:off x="2532888" y="2907792"/>
            <a:ext cx="274320" cy="0"/>
          </a:xfrm>
          <a:prstGeom prst="line">
            <a:avLst/>
          </a:prstGeom>
          <a:noFill/>
          <a:ln w="19050">
            <a:solidFill>
              <a:srgbClr val="22D3EE"/>
            </a:solidFill>
            <a:prstDash val="solid"/>
          </a:ln>
        </p:spPr>
      </p:sp>
      <p:sp>
        <p:nvSpPr>
          <p:cNvPr id="28" name="Shape 26"/>
          <p:cNvSpPr>
            <a:spLocks noGrp="1"/>
          </p:cNvSpPr>
          <p:nvPr/>
        </p:nvSpPr>
        <p:spPr>
          <a:xfrm>
            <a:off x="3044952" y="2907792"/>
            <a:ext cx="182880" cy="0"/>
          </a:xfrm>
          <a:prstGeom prst="line">
            <a:avLst/>
          </a:prstGeom>
          <a:noFill/>
          <a:ln w="19050">
            <a:solidFill>
              <a:srgbClr val="22D3EE"/>
            </a:solidFill>
            <a:prstDash val="solid"/>
          </a:ln>
        </p:spPr>
      </p:sp>
      <p:sp>
        <p:nvSpPr>
          <p:cNvPr id="29" name="Shape 27"/>
          <p:cNvSpPr>
            <a:spLocks noGrp="1"/>
          </p:cNvSpPr>
          <p:nvPr/>
        </p:nvSpPr>
        <p:spPr>
          <a:xfrm>
            <a:off x="3227832" y="2633472"/>
            <a:ext cx="0" cy="274320"/>
          </a:xfrm>
          <a:prstGeom prst="line">
            <a:avLst/>
          </a:prstGeom>
          <a:noFill/>
          <a:ln w="19050">
            <a:solidFill>
              <a:srgbClr val="22D3EE"/>
            </a:solidFill>
            <a:prstDash val="solid"/>
          </a:ln>
        </p:spPr>
      </p:sp>
      <p:sp>
        <p:nvSpPr>
          <p:cNvPr id="30" name="Shape 28"/>
          <p:cNvSpPr>
            <a:spLocks noGrp="1"/>
          </p:cNvSpPr>
          <p:nvPr/>
        </p:nvSpPr>
        <p:spPr>
          <a:xfrm>
            <a:off x="3227832" y="2633472"/>
            <a:ext cx="292608" cy="0"/>
          </a:xfrm>
          <a:prstGeom prst="line">
            <a:avLst/>
          </a:prstGeom>
          <a:noFill/>
          <a:ln w="19050">
            <a:solidFill>
              <a:srgbClr val="22D3EE"/>
            </a:solidFill>
            <a:prstDash val="solid"/>
          </a:ln>
        </p:spPr>
      </p:sp>
      <p:sp>
        <p:nvSpPr>
          <p:cNvPr id="31" name="Shape 29"/>
          <p:cNvSpPr>
            <a:spLocks noGrp="1"/>
          </p:cNvSpPr>
          <p:nvPr/>
        </p:nvSpPr>
        <p:spPr>
          <a:xfrm>
            <a:off x="3520440" y="2633472"/>
            <a:ext cx="0" cy="274320"/>
          </a:xfrm>
          <a:prstGeom prst="line">
            <a:avLst/>
          </a:prstGeom>
          <a:noFill/>
          <a:ln w="19050">
            <a:solidFill>
              <a:srgbClr val="22D3EE"/>
            </a:solidFill>
            <a:prstDash val="solid"/>
          </a:ln>
        </p:spPr>
      </p:sp>
      <p:sp>
        <p:nvSpPr>
          <p:cNvPr id="32" name="Shape 30"/>
          <p:cNvSpPr>
            <a:spLocks noGrp="1"/>
          </p:cNvSpPr>
          <p:nvPr/>
        </p:nvSpPr>
        <p:spPr>
          <a:xfrm>
            <a:off x="3520440" y="2907792"/>
            <a:ext cx="274320" cy="0"/>
          </a:xfrm>
          <a:prstGeom prst="line">
            <a:avLst/>
          </a:prstGeom>
          <a:noFill/>
          <a:ln w="19050">
            <a:solidFill>
              <a:srgbClr val="22D3EE"/>
            </a:solidFill>
            <a:prstDash val="solid"/>
          </a:ln>
        </p:spPr>
      </p:sp>
      <p:sp>
        <p:nvSpPr>
          <p:cNvPr id="33" name="Shape 31"/>
          <p:cNvSpPr>
            <a:spLocks noGrp="1"/>
          </p:cNvSpPr>
          <p:nvPr/>
        </p:nvSpPr>
        <p:spPr>
          <a:xfrm>
            <a:off x="4032504" y="2907792"/>
            <a:ext cx="182880" cy="0"/>
          </a:xfrm>
          <a:prstGeom prst="line">
            <a:avLst/>
          </a:prstGeom>
          <a:noFill/>
          <a:ln w="19050">
            <a:solidFill>
              <a:srgbClr val="22D3EE"/>
            </a:solidFill>
            <a:prstDash val="solid"/>
          </a:ln>
        </p:spPr>
      </p:sp>
      <p:sp>
        <p:nvSpPr>
          <p:cNvPr id="34" name="Shape 32"/>
          <p:cNvSpPr>
            <a:spLocks noGrp="1"/>
          </p:cNvSpPr>
          <p:nvPr/>
        </p:nvSpPr>
        <p:spPr>
          <a:xfrm>
            <a:off x="4215384" y="2633472"/>
            <a:ext cx="0" cy="274320"/>
          </a:xfrm>
          <a:prstGeom prst="line">
            <a:avLst/>
          </a:prstGeom>
          <a:noFill/>
          <a:ln w="19050">
            <a:solidFill>
              <a:srgbClr val="22D3EE"/>
            </a:solidFill>
            <a:prstDash val="solid"/>
          </a:ln>
        </p:spPr>
      </p:sp>
      <p:sp>
        <p:nvSpPr>
          <p:cNvPr id="35" name="Shape 33"/>
          <p:cNvSpPr>
            <a:spLocks noGrp="1"/>
          </p:cNvSpPr>
          <p:nvPr/>
        </p:nvSpPr>
        <p:spPr>
          <a:xfrm>
            <a:off x="4215384" y="2633472"/>
            <a:ext cx="292608" cy="0"/>
          </a:xfrm>
          <a:prstGeom prst="line">
            <a:avLst/>
          </a:prstGeom>
          <a:noFill/>
          <a:ln w="19050">
            <a:solidFill>
              <a:srgbClr val="22D3EE"/>
            </a:solidFill>
            <a:prstDash val="solid"/>
          </a:ln>
        </p:spPr>
      </p:sp>
      <p:sp>
        <p:nvSpPr>
          <p:cNvPr id="36" name="Shape 34"/>
          <p:cNvSpPr>
            <a:spLocks noGrp="1"/>
          </p:cNvSpPr>
          <p:nvPr/>
        </p:nvSpPr>
        <p:spPr>
          <a:xfrm>
            <a:off x="4507992" y="2633472"/>
            <a:ext cx="0" cy="274320"/>
          </a:xfrm>
          <a:prstGeom prst="line">
            <a:avLst/>
          </a:prstGeom>
          <a:noFill/>
          <a:ln w="19050">
            <a:solidFill>
              <a:srgbClr val="22D3EE"/>
            </a:solidFill>
            <a:prstDash val="solid"/>
          </a:ln>
        </p:spPr>
      </p:sp>
      <p:sp>
        <p:nvSpPr>
          <p:cNvPr id="37" name="Shape 35"/>
          <p:cNvSpPr>
            <a:spLocks noGrp="1"/>
          </p:cNvSpPr>
          <p:nvPr/>
        </p:nvSpPr>
        <p:spPr>
          <a:xfrm>
            <a:off x="4507992" y="2907792"/>
            <a:ext cx="274320" cy="0"/>
          </a:xfrm>
          <a:prstGeom prst="line">
            <a:avLst/>
          </a:prstGeom>
          <a:noFill/>
          <a:ln w="19050">
            <a:solidFill>
              <a:srgbClr val="22D3EE"/>
            </a:solidFill>
            <a:prstDash val="solid"/>
          </a:ln>
        </p:spPr>
      </p:sp>
      <p:sp>
        <p:nvSpPr>
          <p:cNvPr id="38" name="Shape 36"/>
          <p:cNvSpPr>
            <a:spLocks noGrp="1"/>
          </p:cNvSpPr>
          <p:nvPr/>
        </p:nvSpPr>
        <p:spPr>
          <a:xfrm>
            <a:off x="5020056" y="2907792"/>
            <a:ext cx="182880" cy="0"/>
          </a:xfrm>
          <a:prstGeom prst="line">
            <a:avLst/>
          </a:prstGeom>
          <a:noFill/>
          <a:ln w="19050">
            <a:solidFill>
              <a:srgbClr val="22D3EE"/>
            </a:solidFill>
            <a:prstDash val="solid"/>
          </a:ln>
        </p:spPr>
      </p:sp>
      <p:sp>
        <p:nvSpPr>
          <p:cNvPr id="39" name="Shape 37"/>
          <p:cNvSpPr>
            <a:spLocks noGrp="1"/>
          </p:cNvSpPr>
          <p:nvPr/>
        </p:nvSpPr>
        <p:spPr>
          <a:xfrm>
            <a:off x="5202936" y="2633472"/>
            <a:ext cx="0" cy="274320"/>
          </a:xfrm>
          <a:prstGeom prst="line">
            <a:avLst/>
          </a:prstGeom>
          <a:noFill/>
          <a:ln w="19050">
            <a:solidFill>
              <a:srgbClr val="22D3EE"/>
            </a:solidFill>
            <a:prstDash val="solid"/>
          </a:ln>
        </p:spPr>
      </p:sp>
      <p:sp>
        <p:nvSpPr>
          <p:cNvPr id="40" name="Shape 38"/>
          <p:cNvSpPr>
            <a:spLocks noGrp="1"/>
          </p:cNvSpPr>
          <p:nvPr/>
        </p:nvSpPr>
        <p:spPr>
          <a:xfrm>
            <a:off x="5202936" y="2633472"/>
            <a:ext cx="292608" cy="0"/>
          </a:xfrm>
          <a:prstGeom prst="line">
            <a:avLst/>
          </a:prstGeom>
          <a:noFill/>
          <a:ln w="19050">
            <a:solidFill>
              <a:srgbClr val="22D3EE"/>
            </a:solidFill>
            <a:prstDash val="solid"/>
          </a:ln>
        </p:spPr>
      </p:sp>
      <p:sp>
        <p:nvSpPr>
          <p:cNvPr id="41" name="Shape 39"/>
          <p:cNvSpPr>
            <a:spLocks noGrp="1"/>
          </p:cNvSpPr>
          <p:nvPr/>
        </p:nvSpPr>
        <p:spPr>
          <a:xfrm>
            <a:off x="5495544" y="2633472"/>
            <a:ext cx="0" cy="274320"/>
          </a:xfrm>
          <a:prstGeom prst="line">
            <a:avLst/>
          </a:prstGeom>
          <a:noFill/>
          <a:ln w="19050">
            <a:solidFill>
              <a:srgbClr val="22D3EE"/>
            </a:solidFill>
            <a:prstDash val="solid"/>
          </a:ln>
        </p:spPr>
      </p:sp>
      <p:sp>
        <p:nvSpPr>
          <p:cNvPr id="42" name="Shape 40"/>
          <p:cNvSpPr>
            <a:spLocks noGrp="1"/>
          </p:cNvSpPr>
          <p:nvPr/>
        </p:nvSpPr>
        <p:spPr>
          <a:xfrm>
            <a:off x="5495544" y="2907792"/>
            <a:ext cx="274320" cy="0"/>
          </a:xfrm>
          <a:prstGeom prst="line">
            <a:avLst/>
          </a:prstGeom>
          <a:noFill/>
          <a:ln w="19050">
            <a:solidFill>
              <a:srgbClr val="22D3EE"/>
            </a:solidFill>
            <a:prstDash val="solid"/>
          </a:ln>
        </p:spPr>
      </p:sp>
      <p:sp>
        <p:nvSpPr>
          <p:cNvPr id="43" name="Shape 41"/>
          <p:cNvSpPr>
            <a:spLocks noGrp="1"/>
          </p:cNvSpPr>
          <p:nvPr/>
        </p:nvSpPr>
        <p:spPr>
          <a:xfrm>
            <a:off x="6007608" y="2907792"/>
            <a:ext cx="182880" cy="0"/>
          </a:xfrm>
          <a:prstGeom prst="line">
            <a:avLst/>
          </a:prstGeom>
          <a:noFill/>
          <a:ln w="19050">
            <a:solidFill>
              <a:srgbClr val="22D3EE"/>
            </a:solidFill>
            <a:prstDash val="solid"/>
          </a:ln>
        </p:spPr>
      </p:sp>
      <p:sp>
        <p:nvSpPr>
          <p:cNvPr id="44" name="Shape 42"/>
          <p:cNvSpPr>
            <a:spLocks noGrp="1"/>
          </p:cNvSpPr>
          <p:nvPr/>
        </p:nvSpPr>
        <p:spPr>
          <a:xfrm>
            <a:off x="6190488" y="2633472"/>
            <a:ext cx="0" cy="274320"/>
          </a:xfrm>
          <a:prstGeom prst="line">
            <a:avLst/>
          </a:prstGeom>
          <a:noFill/>
          <a:ln w="19050">
            <a:solidFill>
              <a:srgbClr val="22D3EE"/>
            </a:solidFill>
            <a:prstDash val="solid"/>
          </a:ln>
        </p:spPr>
      </p:sp>
      <p:sp>
        <p:nvSpPr>
          <p:cNvPr id="45" name="Shape 43"/>
          <p:cNvSpPr>
            <a:spLocks noGrp="1"/>
          </p:cNvSpPr>
          <p:nvPr/>
        </p:nvSpPr>
        <p:spPr>
          <a:xfrm>
            <a:off x="6190488" y="2633472"/>
            <a:ext cx="292608" cy="0"/>
          </a:xfrm>
          <a:prstGeom prst="line">
            <a:avLst/>
          </a:prstGeom>
          <a:noFill/>
          <a:ln w="19050">
            <a:solidFill>
              <a:srgbClr val="22D3EE"/>
            </a:solidFill>
            <a:prstDash val="solid"/>
          </a:ln>
        </p:spPr>
      </p:sp>
      <p:sp>
        <p:nvSpPr>
          <p:cNvPr id="46" name="Shape 44"/>
          <p:cNvSpPr>
            <a:spLocks noGrp="1"/>
          </p:cNvSpPr>
          <p:nvPr/>
        </p:nvSpPr>
        <p:spPr>
          <a:xfrm>
            <a:off x="6483096" y="2633472"/>
            <a:ext cx="0" cy="274320"/>
          </a:xfrm>
          <a:prstGeom prst="line">
            <a:avLst/>
          </a:prstGeom>
          <a:noFill/>
          <a:ln w="19050">
            <a:solidFill>
              <a:srgbClr val="22D3EE"/>
            </a:solidFill>
            <a:prstDash val="solid"/>
          </a:ln>
        </p:spPr>
      </p:sp>
      <p:sp>
        <p:nvSpPr>
          <p:cNvPr id="47" name="Shape 45"/>
          <p:cNvSpPr>
            <a:spLocks noGrp="1"/>
          </p:cNvSpPr>
          <p:nvPr/>
        </p:nvSpPr>
        <p:spPr>
          <a:xfrm>
            <a:off x="6483096" y="2907792"/>
            <a:ext cx="274320" cy="0"/>
          </a:xfrm>
          <a:prstGeom prst="line">
            <a:avLst/>
          </a:prstGeom>
          <a:noFill/>
          <a:ln w="19050">
            <a:solidFill>
              <a:srgbClr val="22D3EE"/>
            </a:solidFill>
            <a:prstDash val="solid"/>
          </a:ln>
        </p:spPr>
      </p:sp>
      <p:sp>
        <p:nvSpPr>
          <p:cNvPr id="48" name="Shape 46"/>
          <p:cNvSpPr>
            <a:spLocks noGrp="1"/>
          </p:cNvSpPr>
          <p:nvPr/>
        </p:nvSpPr>
        <p:spPr>
          <a:xfrm>
            <a:off x="6995160" y="2907792"/>
            <a:ext cx="182880" cy="0"/>
          </a:xfrm>
          <a:prstGeom prst="line">
            <a:avLst/>
          </a:prstGeom>
          <a:noFill/>
          <a:ln w="19050">
            <a:solidFill>
              <a:srgbClr val="22D3EE"/>
            </a:solidFill>
            <a:prstDash val="solid"/>
          </a:ln>
        </p:spPr>
      </p:sp>
      <p:sp>
        <p:nvSpPr>
          <p:cNvPr id="49" name="Shape 47"/>
          <p:cNvSpPr>
            <a:spLocks noGrp="1"/>
          </p:cNvSpPr>
          <p:nvPr/>
        </p:nvSpPr>
        <p:spPr>
          <a:xfrm>
            <a:off x="7178040" y="2633472"/>
            <a:ext cx="0" cy="274320"/>
          </a:xfrm>
          <a:prstGeom prst="line">
            <a:avLst/>
          </a:prstGeom>
          <a:noFill/>
          <a:ln w="19050">
            <a:solidFill>
              <a:srgbClr val="22D3EE"/>
            </a:solidFill>
            <a:prstDash val="solid"/>
          </a:ln>
        </p:spPr>
      </p:sp>
      <p:sp>
        <p:nvSpPr>
          <p:cNvPr id="50" name="Shape 48"/>
          <p:cNvSpPr>
            <a:spLocks noGrp="1"/>
          </p:cNvSpPr>
          <p:nvPr/>
        </p:nvSpPr>
        <p:spPr>
          <a:xfrm>
            <a:off x="7178040" y="2633472"/>
            <a:ext cx="292608" cy="0"/>
          </a:xfrm>
          <a:prstGeom prst="line">
            <a:avLst/>
          </a:prstGeom>
          <a:noFill/>
          <a:ln w="19050">
            <a:solidFill>
              <a:srgbClr val="22D3EE"/>
            </a:solidFill>
            <a:prstDash val="solid"/>
          </a:ln>
        </p:spPr>
      </p:sp>
      <p:sp>
        <p:nvSpPr>
          <p:cNvPr id="51" name="Shape 49"/>
          <p:cNvSpPr>
            <a:spLocks noGrp="1"/>
          </p:cNvSpPr>
          <p:nvPr/>
        </p:nvSpPr>
        <p:spPr>
          <a:xfrm>
            <a:off x="7470648" y="2633472"/>
            <a:ext cx="0" cy="274320"/>
          </a:xfrm>
          <a:prstGeom prst="line">
            <a:avLst/>
          </a:prstGeom>
          <a:noFill/>
          <a:ln w="19050">
            <a:solidFill>
              <a:srgbClr val="22D3EE"/>
            </a:solidFill>
            <a:prstDash val="solid"/>
          </a:ln>
        </p:spPr>
      </p:sp>
      <p:sp>
        <p:nvSpPr>
          <p:cNvPr id="52" name="Shape 50"/>
          <p:cNvSpPr>
            <a:spLocks noGrp="1"/>
          </p:cNvSpPr>
          <p:nvPr/>
        </p:nvSpPr>
        <p:spPr>
          <a:xfrm>
            <a:off x="7470648" y="2907792"/>
            <a:ext cx="274320" cy="0"/>
          </a:xfrm>
          <a:prstGeom prst="line">
            <a:avLst/>
          </a:prstGeom>
          <a:noFill/>
          <a:ln w="19050">
            <a:solidFill>
              <a:srgbClr val="22D3EE"/>
            </a:solidFill>
            <a:prstDash val="solid"/>
          </a:ln>
        </p:spPr>
      </p:sp>
      <p:sp>
        <p:nvSpPr>
          <p:cNvPr id="53" name="Shape 51"/>
          <p:cNvSpPr>
            <a:spLocks noGrp="1"/>
          </p:cNvSpPr>
          <p:nvPr/>
        </p:nvSpPr>
        <p:spPr>
          <a:xfrm>
            <a:off x="7982712" y="2907792"/>
            <a:ext cx="182880" cy="0"/>
          </a:xfrm>
          <a:prstGeom prst="line">
            <a:avLst/>
          </a:prstGeom>
          <a:noFill/>
          <a:ln w="19050">
            <a:solidFill>
              <a:srgbClr val="22D3EE"/>
            </a:solidFill>
            <a:prstDash val="solid"/>
          </a:ln>
        </p:spPr>
      </p:sp>
      <p:sp>
        <p:nvSpPr>
          <p:cNvPr id="54" name="Shape 52"/>
          <p:cNvSpPr>
            <a:spLocks noGrp="1"/>
          </p:cNvSpPr>
          <p:nvPr/>
        </p:nvSpPr>
        <p:spPr>
          <a:xfrm>
            <a:off x="8165592" y="2633472"/>
            <a:ext cx="0" cy="274320"/>
          </a:xfrm>
          <a:prstGeom prst="line">
            <a:avLst/>
          </a:prstGeom>
          <a:noFill/>
          <a:ln w="19050">
            <a:solidFill>
              <a:srgbClr val="22D3EE"/>
            </a:solidFill>
            <a:prstDash val="solid"/>
          </a:ln>
        </p:spPr>
      </p:sp>
      <p:sp>
        <p:nvSpPr>
          <p:cNvPr id="55" name="Shape 53"/>
          <p:cNvSpPr>
            <a:spLocks noGrp="1"/>
          </p:cNvSpPr>
          <p:nvPr/>
        </p:nvSpPr>
        <p:spPr>
          <a:xfrm>
            <a:off x="8165592" y="2633472"/>
            <a:ext cx="292608" cy="0"/>
          </a:xfrm>
          <a:prstGeom prst="line">
            <a:avLst/>
          </a:prstGeom>
          <a:noFill/>
          <a:ln w="19050">
            <a:solidFill>
              <a:srgbClr val="22D3EE"/>
            </a:solidFill>
            <a:prstDash val="solid"/>
          </a:ln>
        </p:spPr>
      </p:sp>
      <p:sp>
        <p:nvSpPr>
          <p:cNvPr id="56" name="Shape 54"/>
          <p:cNvSpPr>
            <a:spLocks noGrp="1"/>
          </p:cNvSpPr>
          <p:nvPr/>
        </p:nvSpPr>
        <p:spPr>
          <a:xfrm>
            <a:off x="8458200" y="2633472"/>
            <a:ext cx="0" cy="274320"/>
          </a:xfrm>
          <a:prstGeom prst="line">
            <a:avLst/>
          </a:prstGeom>
          <a:noFill/>
          <a:ln w="19050">
            <a:solidFill>
              <a:srgbClr val="22D3EE"/>
            </a:solidFill>
            <a:prstDash val="solid"/>
          </a:ln>
        </p:spPr>
      </p:sp>
      <p:sp>
        <p:nvSpPr>
          <p:cNvPr id="57" name="Shape 55"/>
          <p:cNvSpPr>
            <a:spLocks noGrp="1"/>
          </p:cNvSpPr>
          <p:nvPr/>
        </p:nvSpPr>
        <p:spPr>
          <a:xfrm>
            <a:off x="8458200" y="2907792"/>
            <a:ext cx="274320" cy="0"/>
          </a:xfrm>
          <a:prstGeom prst="line">
            <a:avLst/>
          </a:prstGeom>
          <a:noFill/>
          <a:ln w="19050">
            <a:solidFill>
              <a:srgbClr val="22D3EE"/>
            </a:solidFill>
            <a:prstDash val="solid"/>
          </a:ln>
        </p:spPr>
      </p:sp>
      <p:sp>
        <p:nvSpPr>
          <p:cNvPr id="58" name="Text 56"/>
          <p:cNvSpPr>
            <a:spLocks noGrp="1"/>
          </p:cNvSpPr>
          <p:nvPr/>
        </p:nvSpPr>
        <p:spPr>
          <a:xfrm>
            <a:off x="539496" y="3657600"/>
            <a:ext cx="411480" cy="18288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r">
              <a:buNone/>
            </a:pPr>
            <a:r>
              <a:rPr sz="920">
                <a:solidFill>
                  <a:srgbClr val="B9C8E6"/>
                </a:solidFill>
                <a:latin typeface="Microsoft YaHei"/>
                <a:ea typeface="Microsoft YaHei"/>
                <a:cs typeface="Microsoft YaHei"/>
              </a:rPr>
              <a:t>MOSI</a:t>
            </a:r>
            <a:endParaRPr sz="920"/>
          </a:p>
        </p:txBody>
      </p:sp>
      <p:sp>
        <p:nvSpPr>
          <p:cNvPr id="59" name="Text 57"/>
          <p:cNvSpPr>
            <a:spLocks noGrp="1"/>
          </p:cNvSpPr>
          <p:nvPr/>
        </p:nvSpPr>
        <p:spPr>
          <a:xfrm>
            <a:off x="1024128" y="3511296"/>
            <a:ext cx="658368" cy="329184"/>
          </a:xfrm>
          <a:prstGeom prst="rect">
            <a:avLst/>
          </a:prstGeom>
          <a:solidFill>
            <a:srgbClr val="17223B"/>
          </a:solidFill>
          <a:ln w="12700">
            <a:solidFill>
              <a:srgbClr val="2C3D61"/>
            </a:solidFill>
          </a:ln>
        </p:spPr>
        <p:txBody>
          <a:bodyPr wrap="square" lIns="254" tIns="254" rIns="254" bIns="254" anchor="ctr">
            <a:normAutofit/>
          </a:bodyPr>
          <a:lstStyle/>
          <a:p>
            <a:pPr marL="0" indent="0" algn="ctr">
              <a:buNone/>
            </a:pPr>
            <a:r>
              <a:rPr sz="95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D7</a:t>
            </a:r>
            <a:endParaRPr sz="950"/>
          </a:p>
        </p:txBody>
      </p:sp>
      <p:sp>
        <p:nvSpPr>
          <p:cNvPr id="60" name="Text 58"/>
          <p:cNvSpPr>
            <a:spLocks noGrp="1"/>
          </p:cNvSpPr>
          <p:nvPr/>
        </p:nvSpPr>
        <p:spPr>
          <a:xfrm>
            <a:off x="2011680" y="3511296"/>
            <a:ext cx="658368" cy="329184"/>
          </a:xfrm>
          <a:prstGeom prst="rect">
            <a:avLst/>
          </a:prstGeom>
          <a:solidFill>
            <a:srgbClr val="17223B"/>
          </a:solidFill>
          <a:ln w="12700">
            <a:solidFill>
              <a:srgbClr val="2C3D61"/>
            </a:solidFill>
          </a:ln>
        </p:spPr>
        <p:txBody>
          <a:bodyPr wrap="square" lIns="254" tIns="254" rIns="254" bIns="254" anchor="ctr">
            <a:normAutofit/>
          </a:bodyPr>
          <a:lstStyle/>
          <a:p>
            <a:pPr marL="0" indent="0" algn="ctr">
              <a:buNone/>
            </a:pPr>
            <a:r>
              <a:rPr sz="95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D6</a:t>
            </a:r>
            <a:endParaRPr sz="950"/>
          </a:p>
        </p:txBody>
      </p:sp>
      <p:sp>
        <p:nvSpPr>
          <p:cNvPr id="61" name="Text 59"/>
          <p:cNvSpPr>
            <a:spLocks noGrp="1"/>
          </p:cNvSpPr>
          <p:nvPr/>
        </p:nvSpPr>
        <p:spPr>
          <a:xfrm>
            <a:off x="2999232" y="3511296"/>
            <a:ext cx="658368" cy="329184"/>
          </a:xfrm>
          <a:prstGeom prst="rect">
            <a:avLst/>
          </a:prstGeom>
          <a:solidFill>
            <a:srgbClr val="17223B"/>
          </a:solidFill>
          <a:ln w="12700">
            <a:solidFill>
              <a:srgbClr val="2C3D61"/>
            </a:solidFill>
          </a:ln>
        </p:spPr>
        <p:txBody>
          <a:bodyPr wrap="square" lIns="254" tIns="254" rIns="254" bIns="254" anchor="ctr">
            <a:normAutofit/>
          </a:bodyPr>
          <a:lstStyle/>
          <a:p>
            <a:pPr marL="0" indent="0" algn="ctr">
              <a:buNone/>
            </a:pPr>
            <a:r>
              <a:rPr sz="95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D5</a:t>
            </a:r>
            <a:endParaRPr sz="950"/>
          </a:p>
        </p:txBody>
      </p:sp>
      <p:sp>
        <p:nvSpPr>
          <p:cNvPr id="62" name="Text 60"/>
          <p:cNvSpPr>
            <a:spLocks noGrp="1"/>
          </p:cNvSpPr>
          <p:nvPr/>
        </p:nvSpPr>
        <p:spPr>
          <a:xfrm>
            <a:off x="3986784" y="3511296"/>
            <a:ext cx="658368" cy="329184"/>
          </a:xfrm>
          <a:prstGeom prst="rect">
            <a:avLst/>
          </a:prstGeom>
          <a:solidFill>
            <a:srgbClr val="17223B"/>
          </a:solidFill>
          <a:ln w="12700">
            <a:solidFill>
              <a:srgbClr val="2C3D61"/>
            </a:solidFill>
          </a:ln>
        </p:spPr>
        <p:txBody>
          <a:bodyPr wrap="square" lIns="254" tIns="254" rIns="254" bIns="254" anchor="ctr">
            <a:normAutofit/>
          </a:bodyPr>
          <a:lstStyle/>
          <a:p>
            <a:pPr marL="0" indent="0" algn="ctr">
              <a:buNone/>
            </a:pPr>
            <a:r>
              <a:rPr sz="95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D4</a:t>
            </a:r>
            <a:endParaRPr sz="950"/>
          </a:p>
        </p:txBody>
      </p:sp>
      <p:sp>
        <p:nvSpPr>
          <p:cNvPr id="63" name="Text 61"/>
          <p:cNvSpPr>
            <a:spLocks noGrp="1"/>
          </p:cNvSpPr>
          <p:nvPr/>
        </p:nvSpPr>
        <p:spPr>
          <a:xfrm>
            <a:off x="4974336" y="3511296"/>
            <a:ext cx="658368" cy="329184"/>
          </a:xfrm>
          <a:prstGeom prst="rect">
            <a:avLst/>
          </a:prstGeom>
          <a:solidFill>
            <a:srgbClr val="17223B"/>
          </a:solidFill>
          <a:ln w="12700">
            <a:solidFill>
              <a:srgbClr val="2C3D61"/>
            </a:solidFill>
          </a:ln>
        </p:spPr>
        <p:txBody>
          <a:bodyPr wrap="square" lIns="254" tIns="254" rIns="254" bIns="254" anchor="ctr">
            <a:normAutofit/>
          </a:bodyPr>
          <a:lstStyle/>
          <a:p>
            <a:pPr marL="0" indent="0" algn="ctr">
              <a:buNone/>
            </a:pPr>
            <a:r>
              <a:rPr sz="95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D3</a:t>
            </a:r>
            <a:endParaRPr sz="950"/>
          </a:p>
        </p:txBody>
      </p:sp>
      <p:sp>
        <p:nvSpPr>
          <p:cNvPr id="64" name="Text 62"/>
          <p:cNvSpPr>
            <a:spLocks noGrp="1"/>
          </p:cNvSpPr>
          <p:nvPr/>
        </p:nvSpPr>
        <p:spPr>
          <a:xfrm>
            <a:off x="5961888" y="3511296"/>
            <a:ext cx="658368" cy="329184"/>
          </a:xfrm>
          <a:prstGeom prst="rect">
            <a:avLst/>
          </a:prstGeom>
          <a:solidFill>
            <a:srgbClr val="17223B"/>
          </a:solidFill>
          <a:ln w="12700">
            <a:solidFill>
              <a:srgbClr val="2C3D61"/>
            </a:solidFill>
          </a:ln>
        </p:spPr>
        <p:txBody>
          <a:bodyPr wrap="square" lIns="254" tIns="254" rIns="254" bIns="254" anchor="ctr">
            <a:normAutofit/>
          </a:bodyPr>
          <a:lstStyle/>
          <a:p>
            <a:pPr marL="0" indent="0" algn="ctr">
              <a:buNone/>
            </a:pPr>
            <a:r>
              <a:rPr sz="95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D2</a:t>
            </a:r>
            <a:endParaRPr sz="950"/>
          </a:p>
        </p:txBody>
      </p:sp>
      <p:sp>
        <p:nvSpPr>
          <p:cNvPr id="65" name="Text 63"/>
          <p:cNvSpPr>
            <a:spLocks noGrp="1"/>
          </p:cNvSpPr>
          <p:nvPr/>
        </p:nvSpPr>
        <p:spPr>
          <a:xfrm>
            <a:off x="6949440" y="3511296"/>
            <a:ext cx="658368" cy="329184"/>
          </a:xfrm>
          <a:prstGeom prst="rect">
            <a:avLst/>
          </a:prstGeom>
          <a:solidFill>
            <a:srgbClr val="17223B"/>
          </a:solidFill>
          <a:ln w="12700">
            <a:solidFill>
              <a:srgbClr val="2C3D61"/>
            </a:solidFill>
          </a:ln>
        </p:spPr>
        <p:txBody>
          <a:bodyPr wrap="square" lIns="254" tIns="254" rIns="254" bIns="254" anchor="ctr">
            <a:normAutofit/>
          </a:bodyPr>
          <a:lstStyle/>
          <a:p>
            <a:pPr marL="0" indent="0" algn="ctr">
              <a:buNone/>
            </a:pPr>
            <a:r>
              <a:rPr sz="95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D1</a:t>
            </a:r>
            <a:endParaRPr sz="950"/>
          </a:p>
        </p:txBody>
      </p:sp>
      <p:sp>
        <p:nvSpPr>
          <p:cNvPr id="66" name="Text 64"/>
          <p:cNvSpPr>
            <a:spLocks noGrp="1"/>
          </p:cNvSpPr>
          <p:nvPr/>
        </p:nvSpPr>
        <p:spPr>
          <a:xfrm>
            <a:off x="7936992" y="3511296"/>
            <a:ext cx="658368" cy="329184"/>
          </a:xfrm>
          <a:prstGeom prst="rect">
            <a:avLst/>
          </a:prstGeom>
          <a:solidFill>
            <a:srgbClr val="17223B"/>
          </a:solidFill>
          <a:ln w="12700">
            <a:solidFill>
              <a:srgbClr val="2C3D61"/>
            </a:solidFill>
          </a:ln>
        </p:spPr>
        <p:txBody>
          <a:bodyPr wrap="square" lIns="254" tIns="254" rIns="254" bIns="254" anchor="ctr">
            <a:normAutofit/>
          </a:bodyPr>
          <a:lstStyle/>
          <a:p>
            <a:pPr marL="0" indent="0" algn="ctr">
              <a:buNone/>
            </a:pPr>
            <a:r>
              <a:rPr sz="95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D0</a:t>
            </a:r>
            <a:endParaRPr sz="950"/>
          </a:p>
        </p:txBody>
      </p:sp>
      <p:sp>
        <p:nvSpPr>
          <p:cNvPr id="67" name="Text 65"/>
          <p:cNvSpPr>
            <a:spLocks noGrp="1"/>
          </p:cNvSpPr>
          <p:nvPr/>
        </p:nvSpPr>
        <p:spPr>
          <a:xfrm>
            <a:off x="658368" y="4407408"/>
            <a:ext cx="292608" cy="18288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r">
              <a:buNone/>
            </a:pPr>
            <a:r>
              <a:rPr sz="920">
                <a:solidFill>
                  <a:srgbClr val="B9C8E6"/>
                </a:solidFill>
                <a:latin typeface="Microsoft YaHei"/>
                <a:ea typeface="Microsoft YaHei"/>
                <a:cs typeface="Microsoft YaHei"/>
              </a:rPr>
              <a:t>CS</a:t>
            </a:r>
            <a:endParaRPr sz="920"/>
          </a:p>
        </p:txBody>
      </p:sp>
      <p:sp>
        <p:nvSpPr>
          <p:cNvPr id="68" name="Shape 66"/>
          <p:cNvSpPr>
            <a:spLocks noGrp="1"/>
          </p:cNvSpPr>
          <p:nvPr/>
        </p:nvSpPr>
        <p:spPr>
          <a:xfrm>
            <a:off x="932688" y="4535424"/>
            <a:ext cx="292608" cy="0"/>
          </a:xfrm>
          <a:prstGeom prst="line">
            <a:avLst/>
          </a:prstGeom>
          <a:noFill/>
          <a:ln w="15240">
            <a:solidFill>
              <a:srgbClr val="B9C8E6"/>
            </a:solidFill>
            <a:prstDash val="solid"/>
          </a:ln>
        </p:spPr>
      </p:sp>
      <p:sp>
        <p:nvSpPr>
          <p:cNvPr id="69" name="Shape 67"/>
          <p:cNvSpPr>
            <a:spLocks noGrp="1"/>
          </p:cNvSpPr>
          <p:nvPr/>
        </p:nvSpPr>
        <p:spPr>
          <a:xfrm>
            <a:off x="1225296" y="4535424"/>
            <a:ext cx="0" cy="310896"/>
          </a:xfrm>
          <a:prstGeom prst="line">
            <a:avLst/>
          </a:prstGeom>
          <a:noFill/>
          <a:ln w="15240">
            <a:solidFill>
              <a:srgbClr val="B9C8E6"/>
            </a:solidFill>
            <a:prstDash val="solid"/>
          </a:ln>
        </p:spPr>
      </p:sp>
      <p:sp>
        <p:nvSpPr>
          <p:cNvPr id="70" name="Shape 68"/>
          <p:cNvSpPr>
            <a:spLocks noGrp="1"/>
          </p:cNvSpPr>
          <p:nvPr/>
        </p:nvSpPr>
        <p:spPr>
          <a:xfrm>
            <a:off x="1225296" y="4846320"/>
            <a:ext cx="7388352" cy="0"/>
          </a:xfrm>
          <a:prstGeom prst="line">
            <a:avLst/>
          </a:prstGeom>
          <a:noFill/>
          <a:ln w="15240">
            <a:solidFill>
              <a:srgbClr val="B9C8E6"/>
            </a:solidFill>
            <a:prstDash val="solid"/>
          </a:ln>
        </p:spPr>
      </p:sp>
      <p:sp>
        <p:nvSpPr>
          <p:cNvPr id="71" name="Shape 69"/>
          <p:cNvSpPr>
            <a:spLocks noGrp="1"/>
          </p:cNvSpPr>
          <p:nvPr/>
        </p:nvSpPr>
        <p:spPr>
          <a:xfrm>
            <a:off x="8613648" y="4535424"/>
            <a:ext cx="0" cy="310896"/>
          </a:xfrm>
          <a:prstGeom prst="line">
            <a:avLst/>
          </a:prstGeom>
          <a:noFill/>
          <a:ln w="15240">
            <a:solidFill>
              <a:srgbClr val="B9C8E6"/>
            </a:solidFill>
            <a:prstDash val="solid"/>
          </a:ln>
        </p:spPr>
      </p:sp>
      <p:sp>
        <p:nvSpPr>
          <p:cNvPr id="72" name="Shape 70"/>
          <p:cNvSpPr>
            <a:spLocks noGrp="1"/>
          </p:cNvSpPr>
          <p:nvPr/>
        </p:nvSpPr>
        <p:spPr>
          <a:xfrm>
            <a:off x="8613648" y="4535424"/>
            <a:ext cx="292608" cy="0"/>
          </a:xfrm>
          <a:prstGeom prst="line">
            <a:avLst/>
          </a:prstGeom>
          <a:noFill/>
          <a:ln w="15240">
            <a:solidFill>
              <a:srgbClr val="B9C8E6"/>
            </a:solidFill>
            <a:prstDash val="solid"/>
          </a:ln>
        </p:spPr>
      </p:sp>
      <p:sp>
        <p:nvSpPr>
          <p:cNvPr id="73" name="Text 71"/>
          <p:cNvSpPr>
            <a:spLocks noGrp="1"/>
          </p:cNvSpPr>
          <p:nvPr/>
        </p:nvSpPr>
        <p:spPr>
          <a:xfrm>
            <a:off x="2148840" y="5486400"/>
            <a:ext cx="1600200" cy="329184"/>
          </a:xfrm>
          <a:prstGeom prst="rect">
            <a:avLst/>
          </a:prstGeom>
          <a:solidFill>
            <a:srgbClr val="3B1520"/>
          </a:solidFill>
          <a:ln w="12700">
            <a:solidFill>
              <a:srgbClr val="F87171"/>
            </a:solidFill>
          </a:ln>
        </p:spPr>
        <p:txBody>
          <a:bodyPr wrap="square" lIns="254" tIns="254" rIns="254" bIns="254" anchor="ctr">
            <a:normAutofit/>
          </a:bodyPr>
          <a:lstStyle/>
          <a:p>
            <a:pPr marL="0" indent="0" algn="ctr">
              <a:buNone/>
            </a:pPr>
            <a:r>
              <a:rPr sz="105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RS = 0：命令</a:t>
            </a:r>
            <a:endParaRPr sz="1050"/>
          </a:p>
        </p:txBody>
      </p:sp>
      <p:sp>
        <p:nvSpPr>
          <p:cNvPr id="74" name="Text 72"/>
          <p:cNvSpPr>
            <a:spLocks noGrp="1"/>
          </p:cNvSpPr>
          <p:nvPr/>
        </p:nvSpPr>
        <p:spPr>
          <a:xfrm>
            <a:off x="4782312" y="5486400"/>
            <a:ext cx="1600200" cy="329184"/>
          </a:xfrm>
          <a:prstGeom prst="rect">
            <a:avLst/>
          </a:prstGeom>
          <a:solidFill>
            <a:srgbClr val="12301F"/>
          </a:solidFill>
          <a:ln w="12700">
            <a:solidFill>
              <a:srgbClr val="34D399"/>
            </a:solidFill>
          </a:ln>
        </p:spPr>
        <p:txBody>
          <a:bodyPr wrap="square" lIns="254" tIns="254" rIns="254" bIns="254" anchor="ctr">
            <a:normAutofit/>
          </a:bodyPr>
          <a:lstStyle/>
          <a:p>
            <a:pPr marL="0" indent="0" algn="ctr">
              <a:buNone/>
            </a:pPr>
            <a:r>
              <a:rPr sz="105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RS = 1：数据</a:t>
            </a:r>
            <a:endParaRPr sz="1050"/>
          </a:p>
        </p:txBody>
      </p:sp>
      <p:sp>
        <p:nvSpPr>
          <p:cNvPr id="75" name="Text 73"/>
          <p:cNvSpPr>
            <a:spLocks noGrp="1"/>
          </p:cNvSpPr>
          <p:nvPr/>
        </p:nvSpPr>
        <p:spPr>
          <a:xfrm>
            <a:off x="7589520" y="5541264"/>
            <a:ext cx="2148840" cy="18288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buNone/>
            </a:pPr>
            <a:r>
              <a:rPr sz="920">
                <a:solidFill>
                  <a:srgbClr val="8392B7"/>
                </a:solidFill>
                <a:latin typeface="Microsoft YaHei"/>
                <a:ea typeface="Microsoft YaHei"/>
                <a:cs typeface="Microsoft YaHei"/>
              </a:rPr>
              <a:t>空闲 SCK = 0，下降沿准备下一位</a:t>
            </a:r>
            <a:endParaRPr sz="920"/>
          </a:p>
        </p:txBody>
      </p:sp>
      <p:sp>
        <p:nvSpPr>
          <p:cNvPr id="76" name="Text 74"/>
          <p:cNvSpPr>
            <a:spLocks noGrp="1"/>
          </p:cNvSpPr>
          <p:nvPr/>
        </p:nvSpPr>
        <p:spPr>
          <a:xfrm>
            <a:off x="530352" y="6428232"/>
            <a:ext cx="3840480" cy="16459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800">
                <a:solidFill>
                  <a:srgbClr val="8392B7"/>
                </a:solidFill>
                <a:latin typeface="Microsoft YaHei"/>
                <a:ea typeface="Microsoft YaHei"/>
                <a:cs typeface="Microsoft YaHei"/>
              </a:rPr>
              <a:t>ST7571 LCD · SPI · MMIO · RISC-V ASM</a:t>
            </a:r>
            <a:endParaRPr sz="8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/>
        </p:nvSpPr>
        <p:spPr>
          <a:xfrm>
            <a:off x="530352" y="320040"/>
            <a:ext cx="1645920" cy="20116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850" b="1">
                <a:solidFill>
                  <a:srgbClr val="22D3EE"/>
                </a:solidFill>
                <a:latin typeface="Microsoft YaHei"/>
                <a:ea typeface="Microsoft YaHei"/>
                <a:cs typeface="Microsoft YaHei"/>
              </a:rPr>
              <a:t>硬件控制器</a:t>
            </a:r>
            <a:endParaRPr sz="850"/>
          </a:p>
        </p:txBody>
      </p:sp>
      <p:sp>
        <p:nvSpPr>
          <p:cNvPr id="3" name="Text 1"/>
          <p:cNvSpPr>
            <a:spLocks noGrp="1"/>
          </p:cNvSpPr>
          <p:nvPr/>
        </p:nvSpPr>
        <p:spPr>
          <a:xfrm>
            <a:off x="530352" y="566928"/>
            <a:ext cx="8595360" cy="40233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240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LCD 初始化状态机</a:t>
            </a:r>
            <a:endParaRPr sz="2400"/>
          </a:p>
        </p:txBody>
      </p:sp>
      <p:sp>
        <p:nvSpPr>
          <p:cNvPr id="4" name="Text 2"/>
          <p:cNvSpPr>
            <a:spLocks noGrp="1"/>
          </p:cNvSpPr>
          <p:nvPr/>
        </p:nvSpPr>
        <p:spPr>
          <a:xfrm>
            <a:off x="548640" y="1024128"/>
            <a:ext cx="7863840" cy="25603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1150">
                <a:solidFill>
                  <a:srgbClr val="B9C8E6"/>
                </a:solidFill>
                <a:latin typeface="Microsoft YaHei"/>
                <a:ea typeface="Microsoft YaHei"/>
                <a:cs typeface="Microsoft YaHei"/>
              </a:rPr>
              <a:t>初始化完成前，控制器自动执行复位、等待、命令序列与清屏</a:t>
            </a:r>
            <a:endParaRPr sz="1150"/>
          </a:p>
        </p:txBody>
      </p:sp>
      <p:sp>
        <p:nvSpPr>
          <p:cNvPr id="5" name="Text 3"/>
          <p:cNvSpPr>
            <a:spLocks noGrp="1"/>
          </p:cNvSpPr>
          <p:nvPr/>
        </p:nvSpPr>
        <p:spPr>
          <a:xfrm>
            <a:off x="11137392" y="384048"/>
            <a:ext cx="50292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000" b="1">
                <a:solidFill>
                  <a:srgbClr val="8392B7"/>
                </a:solidFill>
                <a:latin typeface="Microsoft YaHei"/>
                <a:ea typeface="Microsoft YaHei"/>
                <a:cs typeface="Microsoft YaHei"/>
              </a:rPr>
              <a:t>05</a:t>
            </a:r>
            <a:endParaRPr sz="1000"/>
          </a:p>
        </p:txBody>
      </p:sp>
      <p:sp>
        <p:nvSpPr>
          <p:cNvPr id="6" name="Shape 4"/>
          <p:cNvSpPr>
            <a:spLocks noGrp="1"/>
          </p:cNvSpPr>
          <p:nvPr/>
        </p:nvSpPr>
        <p:spPr>
          <a:xfrm>
            <a:off x="530352" y="1389888"/>
            <a:ext cx="11109960" cy="0"/>
          </a:xfrm>
          <a:prstGeom prst="line">
            <a:avLst/>
          </a:prstGeom>
          <a:noFill/>
          <a:ln w="10160">
            <a:solidFill>
              <a:srgbClr val="2C3D61">
                <a:alpha val="80000"/>
              </a:srgbClr>
            </a:solidFill>
            <a:prstDash val="solid"/>
          </a:ln>
        </p:spPr>
      </p:sp>
      <p:sp>
        <p:nvSpPr>
          <p:cNvPr id="7" name="Shape 5"/>
          <p:cNvSpPr>
            <a:spLocks noGrp="1"/>
          </p:cNvSpPr>
          <p:nvPr/>
        </p:nvSpPr>
        <p:spPr>
          <a:xfrm>
            <a:off x="530352" y="1389888"/>
            <a:ext cx="1508760" cy="0"/>
          </a:xfrm>
          <a:prstGeom prst="line">
            <a:avLst/>
          </a:prstGeom>
          <a:noFill/>
          <a:ln w="27940">
            <a:solidFill>
              <a:srgbClr val="22D3EE"/>
            </a:solidFill>
            <a:prstDash val="solid"/>
          </a:ln>
        </p:spPr>
      </p:sp>
      <p:sp>
        <p:nvSpPr>
          <p:cNvPr id="8" name="Shape 6"/>
          <p:cNvSpPr>
            <a:spLocks noGrp="1"/>
          </p:cNvSpPr>
          <p:nvPr/>
        </p:nvSpPr>
        <p:spPr>
          <a:xfrm>
            <a:off x="1975104" y="2258568"/>
            <a:ext cx="73152" cy="0"/>
          </a:xfrm>
          <a:prstGeom prst="line">
            <a:avLst/>
          </a:prstGeom>
          <a:noFill/>
          <a:ln w="14605">
            <a:solidFill>
              <a:srgbClr val="22D3EE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>
            <a:spLocks noGrp="1"/>
          </p:cNvSpPr>
          <p:nvPr/>
        </p:nvSpPr>
        <p:spPr>
          <a:xfrm>
            <a:off x="3566160" y="2258568"/>
            <a:ext cx="73152" cy="0"/>
          </a:xfrm>
          <a:prstGeom prst="line">
            <a:avLst/>
          </a:prstGeom>
          <a:noFill/>
          <a:ln w="14605">
            <a:solidFill>
              <a:srgbClr val="22D3EE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>
            <a:spLocks noGrp="1"/>
          </p:cNvSpPr>
          <p:nvPr/>
        </p:nvSpPr>
        <p:spPr>
          <a:xfrm>
            <a:off x="5157216" y="2258568"/>
            <a:ext cx="73152" cy="0"/>
          </a:xfrm>
          <a:prstGeom prst="line">
            <a:avLst/>
          </a:prstGeom>
          <a:noFill/>
          <a:ln w="14605">
            <a:solidFill>
              <a:srgbClr val="22D3EE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>
            <a:spLocks noGrp="1"/>
          </p:cNvSpPr>
          <p:nvPr/>
        </p:nvSpPr>
        <p:spPr>
          <a:xfrm>
            <a:off x="6748272" y="2258568"/>
            <a:ext cx="73152" cy="0"/>
          </a:xfrm>
          <a:prstGeom prst="line">
            <a:avLst/>
          </a:prstGeom>
          <a:noFill/>
          <a:ln w="14605">
            <a:solidFill>
              <a:srgbClr val="22D3EE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>
            <a:spLocks noGrp="1"/>
          </p:cNvSpPr>
          <p:nvPr/>
        </p:nvSpPr>
        <p:spPr>
          <a:xfrm>
            <a:off x="8339328" y="2258568"/>
            <a:ext cx="73152" cy="0"/>
          </a:xfrm>
          <a:prstGeom prst="line">
            <a:avLst/>
          </a:prstGeom>
          <a:noFill/>
          <a:ln w="14605">
            <a:solidFill>
              <a:srgbClr val="22D3EE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>
            <a:spLocks noGrp="1"/>
          </p:cNvSpPr>
          <p:nvPr/>
        </p:nvSpPr>
        <p:spPr>
          <a:xfrm>
            <a:off x="9930384" y="2258568"/>
            <a:ext cx="73152" cy="0"/>
          </a:xfrm>
          <a:prstGeom prst="line">
            <a:avLst/>
          </a:prstGeom>
          <a:noFill/>
          <a:ln w="14605">
            <a:solidFill>
              <a:srgbClr val="22D3EE"/>
            </a:solidFill>
            <a:prstDash val="solid"/>
            <a:headEnd type="none"/>
            <a:tailEnd type="triangle"/>
          </a:ln>
        </p:spPr>
      </p:sp>
      <p:sp>
        <p:nvSpPr>
          <p:cNvPr id="14" name="Text 12"/>
          <p:cNvSpPr>
            <a:spLocks noGrp="1"/>
          </p:cNvSpPr>
          <p:nvPr/>
        </p:nvSpPr>
        <p:spPr>
          <a:xfrm>
            <a:off x="530352" y="1938528"/>
            <a:ext cx="1408176" cy="640080"/>
          </a:xfrm>
          <a:prstGeom prst="rect">
            <a:avLst/>
          </a:prstGeom>
          <a:solidFill>
            <a:srgbClr val="19233B"/>
          </a:solidFill>
          <a:ln w="15240">
            <a:solidFill>
              <a:srgbClr val="F87171"/>
            </a:solidFill>
          </a:ln>
        </p:spPr>
        <p:txBody>
          <a:bodyPr wrap="square" lIns="1397" tIns="1397" rIns="1397" bIns="1397" anchor="ctr">
            <a:normAutofit/>
          </a:bodyPr>
          <a:lstStyle/>
          <a:p>
            <a:pPr marL="0" indent="0" algn="ctr">
              <a:buNone/>
            </a:pPr>
            <a:r>
              <a:rPr sz="105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RESET_LOW</a:t>
            </a:r>
            <a:endParaRPr sz="1050"/>
          </a:p>
          <a:p>
            <a:pPr marL="0" indent="0" algn="ctr">
              <a:buNone/>
            </a:pPr>
            <a:r>
              <a:rPr sz="105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硬复位低</a:t>
            </a:r>
            <a:endParaRPr sz="1050"/>
          </a:p>
        </p:txBody>
      </p:sp>
      <p:sp>
        <p:nvSpPr>
          <p:cNvPr id="15" name="Text 13"/>
          <p:cNvSpPr>
            <a:spLocks noGrp="1"/>
          </p:cNvSpPr>
          <p:nvPr/>
        </p:nvSpPr>
        <p:spPr>
          <a:xfrm>
            <a:off x="2121408" y="1938528"/>
            <a:ext cx="1408176" cy="640080"/>
          </a:xfrm>
          <a:prstGeom prst="rect">
            <a:avLst/>
          </a:prstGeom>
          <a:solidFill>
            <a:srgbClr val="19233B"/>
          </a:solidFill>
          <a:ln w="15240">
            <a:solidFill>
              <a:srgbClr val="A78BFA"/>
            </a:solidFill>
          </a:ln>
        </p:spPr>
        <p:txBody>
          <a:bodyPr wrap="square" lIns="1397" tIns="1397" rIns="1397" bIns="1397" anchor="ctr">
            <a:normAutofit/>
          </a:bodyPr>
          <a:lstStyle/>
          <a:p>
            <a:pPr marL="0" indent="0" algn="ctr">
              <a:buNone/>
            </a:pPr>
            <a:r>
              <a:rPr sz="105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POWER_WAIT</a:t>
            </a:r>
            <a:endParaRPr sz="1050"/>
          </a:p>
          <a:p>
            <a:pPr marL="0" indent="0" algn="ctr">
              <a:buNone/>
            </a:pPr>
            <a:r>
              <a:rPr sz="105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等待 120 ms</a:t>
            </a:r>
            <a:endParaRPr sz="1050"/>
          </a:p>
        </p:txBody>
      </p:sp>
      <p:sp>
        <p:nvSpPr>
          <p:cNvPr id="16" name="Text 14"/>
          <p:cNvSpPr>
            <a:spLocks noGrp="1"/>
          </p:cNvSpPr>
          <p:nvPr/>
        </p:nvSpPr>
        <p:spPr>
          <a:xfrm>
            <a:off x="3712464" y="1938528"/>
            <a:ext cx="1408176" cy="640080"/>
          </a:xfrm>
          <a:prstGeom prst="rect">
            <a:avLst/>
          </a:prstGeom>
          <a:solidFill>
            <a:srgbClr val="19233B"/>
          </a:solidFill>
          <a:ln w="15240">
            <a:solidFill>
              <a:srgbClr val="3B82F6"/>
            </a:solidFill>
          </a:ln>
        </p:spPr>
        <p:txBody>
          <a:bodyPr wrap="square" lIns="1397" tIns="1397" rIns="1397" bIns="1397" anchor="ctr">
            <a:normAutofit/>
          </a:bodyPr>
          <a:lstStyle/>
          <a:p>
            <a:pPr marL="0" indent="0" algn="ctr">
              <a:buNone/>
            </a:pPr>
            <a:r>
              <a:rPr sz="105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INIT_SEND</a:t>
            </a:r>
            <a:endParaRPr sz="1050"/>
          </a:p>
          <a:p>
            <a:pPr marL="0" indent="0" algn="ctr">
              <a:buNone/>
            </a:pPr>
            <a:r>
              <a:rPr sz="105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发送命令</a:t>
            </a:r>
            <a:endParaRPr sz="1050"/>
          </a:p>
        </p:txBody>
      </p:sp>
      <p:sp>
        <p:nvSpPr>
          <p:cNvPr id="17" name="Text 15"/>
          <p:cNvSpPr>
            <a:spLocks noGrp="1"/>
          </p:cNvSpPr>
          <p:nvPr/>
        </p:nvSpPr>
        <p:spPr>
          <a:xfrm>
            <a:off x="5303520" y="1938528"/>
            <a:ext cx="1408176" cy="640080"/>
          </a:xfrm>
          <a:prstGeom prst="rect">
            <a:avLst/>
          </a:prstGeom>
          <a:solidFill>
            <a:srgbClr val="19233B"/>
          </a:solidFill>
          <a:ln w="15240">
            <a:solidFill>
              <a:srgbClr val="22D3EE"/>
            </a:solidFill>
          </a:ln>
        </p:spPr>
        <p:txBody>
          <a:bodyPr wrap="square" lIns="1397" tIns="1397" rIns="1397" bIns="1397" anchor="ctr">
            <a:normAutofit/>
          </a:bodyPr>
          <a:lstStyle/>
          <a:p>
            <a:pPr marL="0" indent="0" algn="ctr">
              <a:buNone/>
            </a:pPr>
            <a:r>
              <a:rPr sz="105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WAIT</a:t>
            </a:r>
            <a:endParaRPr sz="1050"/>
          </a:p>
          <a:p>
            <a:pPr marL="0" indent="0" algn="ctr">
              <a:buNone/>
            </a:pPr>
            <a:r>
              <a:rPr sz="105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等待 SPI</a:t>
            </a:r>
            <a:endParaRPr sz="1050"/>
          </a:p>
        </p:txBody>
      </p:sp>
      <p:sp>
        <p:nvSpPr>
          <p:cNvPr id="18" name="Text 16"/>
          <p:cNvSpPr>
            <a:spLocks noGrp="1"/>
          </p:cNvSpPr>
          <p:nvPr/>
        </p:nvSpPr>
        <p:spPr>
          <a:xfrm>
            <a:off x="6894576" y="1938528"/>
            <a:ext cx="1408176" cy="640080"/>
          </a:xfrm>
          <a:prstGeom prst="rect">
            <a:avLst/>
          </a:prstGeom>
          <a:solidFill>
            <a:srgbClr val="19233B"/>
          </a:solidFill>
          <a:ln w="15240">
            <a:solidFill>
              <a:srgbClr val="A78BFA"/>
            </a:solidFill>
          </a:ln>
        </p:spPr>
        <p:txBody>
          <a:bodyPr wrap="square" lIns="1397" tIns="1397" rIns="1397" bIns="1397" anchor="ctr">
            <a:normAutofit/>
          </a:bodyPr>
          <a:lstStyle/>
          <a:p>
            <a:pPr marL="0" indent="0" algn="ctr">
              <a:buNone/>
            </a:pPr>
            <a:r>
              <a:rPr sz="105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INIT_DELAY</a:t>
            </a:r>
            <a:endParaRPr sz="1050"/>
          </a:p>
          <a:p>
            <a:pPr marL="0" indent="0" algn="ctr">
              <a:buNone/>
            </a:pPr>
            <a:r>
              <a:rPr sz="105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命令间延时</a:t>
            </a:r>
            <a:endParaRPr sz="1050"/>
          </a:p>
        </p:txBody>
      </p:sp>
      <p:sp>
        <p:nvSpPr>
          <p:cNvPr id="19" name="Text 17"/>
          <p:cNvSpPr>
            <a:spLocks noGrp="1"/>
          </p:cNvSpPr>
          <p:nvPr/>
        </p:nvSpPr>
        <p:spPr>
          <a:xfrm>
            <a:off x="8485632" y="1938528"/>
            <a:ext cx="1408176" cy="640080"/>
          </a:xfrm>
          <a:prstGeom prst="rect">
            <a:avLst/>
          </a:prstGeom>
          <a:solidFill>
            <a:srgbClr val="19233B"/>
          </a:solidFill>
          <a:ln w="15240">
            <a:solidFill>
              <a:srgbClr val="F59E0B"/>
            </a:solidFill>
          </a:ln>
        </p:spPr>
        <p:txBody>
          <a:bodyPr wrap="square" lIns="1397" tIns="1397" rIns="1397" bIns="1397" anchor="ctr">
            <a:normAutofit/>
          </a:bodyPr>
          <a:lstStyle/>
          <a:p>
            <a:pPr marL="0" indent="0" algn="ctr">
              <a:buNone/>
            </a:pPr>
            <a:r>
              <a:rPr sz="105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CLEAR_SEND</a:t>
            </a:r>
            <a:endParaRPr sz="1050"/>
          </a:p>
          <a:p>
            <a:pPr marL="0" indent="0" algn="ctr">
              <a:buNone/>
            </a:pPr>
            <a:r>
              <a:rPr sz="105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清屏</a:t>
            </a:r>
            <a:endParaRPr sz="1050"/>
          </a:p>
        </p:txBody>
      </p:sp>
      <p:sp>
        <p:nvSpPr>
          <p:cNvPr id="20" name="Text 18"/>
          <p:cNvSpPr>
            <a:spLocks noGrp="1"/>
          </p:cNvSpPr>
          <p:nvPr/>
        </p:nvSpPr>
        <p:spPr>
          <a:xfrm>
            <a:off x="10076688" y="1938528"/>
            <a:ext cx="1408176" cy="640080"/>
          </a:xfrm>
          <a:prstGeom prst="rect">
            <a:avLst/>
          </a:prstGeom>
          <a:solidFill>
            <a:srgbClr val="19233B"/>
          </a:solidFill>
          <a:ln w="15240">
            <a:solidFill>
              <a:srgbClr val="34D399"/>
            </a:solidFill>
          </a:ln>
        </p:spPr>
        <p:txBody>
          <a:bodyPr wrap="square" lIns="1397" tIns="1397" rIns="1397" bIns="1397" anchor="ctr">
            <a:normAutofit/>
          </a:bodyPr>
          <a:lstStyle/>
          <a:p>
            <a:pPr marL="0" indent="0" algn="ctr">
              <a:buNone/>
            </a:pPr>
            <a:r>
              <a:rPr sz="105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IDLE</a:t>
            </a:r>
            <a:endParaRPr sz="1050"/>
          </a:p>
          <a:p>
            <a:pPr marL="0" indent="0" algn="ctr">
              <a:buNone/>
            </a:pPr>
            <a:r>
              <a:rPr sz="105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接受软件请求</a:t>
            </a:r>
            <a:endParaRPr sz="1050"/>
          </a:p>
        </p:txBody>
      </p:sp>
      <p:sp>
        <p:nvSpPr>
          <p:cNvPr id="21" name="Text 19"/>
          <p:cNvSpPr>
            <a:spLocks noGrp="1"/>
          </p:cNvSpPr>
          <p:nvPr/>
        </p:nvSpPr>
        <p:spPr>
          <a:xfrm>
            <a:off x="713232" y="3246120"/>
            <a:ext cx="1645920" cy="21031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950" b="1">
                <a:solidFill>
                  <a:srgbClr val="34D399"/>
                </a:solidFill>
                <a:latin typeface="Microsoft YaHei"/>
                <a:ea typeface="Microsoft YaHei"/>
                <a:cs typeface="Microsoft YaHei"/>
              </a:rPr>
              <a:t>关键状态输出</a:t>
            </a:r>
            <a:endParaRPr sz="950"/>
          </a:p>
        </p:txBody>
      </p:sp>
      <p:sp>
        <p:nvSpPr>
          <p:cNvPr id="22" name="Text 20"/>
          <p:cNvSpPr>
            <a:spLocks noGrp="1"/>
          </p:cNvSpPr>
          <p:nvPr/>
        </p:nvSpPr>
        <p:spPr>
          <a:xfrm>
            <a:off x="713232" y="3566160"/>
            <a:ext cx="10789920" cy="502920"/>
          </a:xfrm>
          <a:prstGeom prst="rect">
            <a:avLst/>
          </a:prstGeom>
          <a:solidFill>
            <a:srgbClr val="101E2D"/>
          </a:solidFill>
          <a:ln w="12700">
            <a:solidFill>
              <a:srgbClr val="1E5E62"/>
            </a:solidFill>
          </a:ln>
        </p:spPr>
        <p:txBody>
          <a:bodyPr wrap="square" lIns="1778" tIns="1778" rIns="1778" bIns="1778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  </a:t>
            </a:r>
            <a:r>
              <a:rPr sz="1300" dirty="0" err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lcd_rst_n</a:t>
            </a:r>
            <a:r>
              <a:rPr sz="1300" dirty="0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 在 RESET_LOW </a:t>
            </a:r>
            <a:r>
              <a:rPr sz="1300" dirty="0" err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保持为</a:t>
            </a:r>
            <a:r>
              <a:rPr sz="1300" dirty="0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 0；initialized </a:t>
            </a:r>
            <a:r>
              <a:rPr sz="1300" dirty="0" err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只在初始化和清屏完成后置</a:t>
            </a:r>
            <a:r>
              <a:rPr sz="1300" dirty="0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 1</a:t>
            </a:r>
            <a:endParaRPr sz="1300" dirty="0"/>
          </a:p>
        </p:txBody>
      </p:sp>
      <p:sp>
        <p:nvSpPr>
          <p:cNvPr id="23" name="Text 21"/>
          <p:cNvSpPr>
            <a:spLocks noGrp="1"/>
          </p:cNvSpPr>
          <p:nvPr/>
        </p:nvSpPr>
        <p:spPr>
          <a:xfrm>
            <a:off x="713232" y="4480560"/>
            <a:ext cx="1645920" cy="21031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950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优先级与接收条件</a:t>
            </a:r>
            <a:endParaRPr sz="950"/>
          </a:p>
        </p:txBody>
      </p:sp>
      <p:sp>
        <p:nvSpPr>
          <p:cNvPr id="24" name="Text 22"/>
          <p:cNvSpPr>
            <a:spLocks noGrp="1"/>
          </p:cNvSpPr>
          <p:nvPr/>
        </p:nvSpPr>
        <p:spPr>
          <a:xfrm>
            <a:off x="713232" y="4791456"/>
            <a:ext cx="10789920" cy="502920"/>
          </a:xfrm>
          <a:prstGeom prst="rect">
            <a:avLst/>
          </a:prstGeom>
          <a:solidFill>
            <a:srgbClr val="201B12"/>
          </a:solidFill>
          <a:ln w="12700">
            <a:solidFill>
              <a:srgbClr val="6C4B13"/>
            </a:solidFill>
          </a:ln>
        </p:spPr>
        <p:txBody>
          <a:bodyPr wrap="square" lIns="1778" tIns="1778" rIns="1778" bIns="1778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FFF2D2"/>
                </a:solidFill>
                <a:latin typeface="Microsoft YaHei"/>
                <a:ea typeface="Microsoft YaHei"/>
                <a:cs typeface="Microsoft YaHei"/>
              </a:rPr>
              <a:t>  </a:t>
            </a:r>
            <a:r>
              <a:rPr sz="1300" dirty="0" err="1">
                <a:solidFill>
                  <a:srgbClr val="FFF2D2"/>
                </a:solidFill>
                <a:latin typeface="Microsoft YaHei"/>
                <a:ea typeface="Microsoft YaHei"/>
                <a:cs typeface="Microsoft YaHei"/>
              </a:rPr>
              <a:t>reinit_req</a:t>
            </a:r>
            <a:r>
              <a:rPr sz="1300" dirty="0">
                <a:solidFill>
                  <a:srgbClr val="FFF2D2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300" dirty="0" err="1">
                <a:solidFill>
                  <a:srgbClr val="FFF2D2"/>
                </a:solidFill>
                <a:latin typeface="Microsoft YaHei"/>
                <a:ea typeface="Microsoft YaHei"/>
                <a:cs typeface="Microsoft YaHei"/>
              </a:rPr>
              <a:t>优先返回</a:t>
            </a:r>
            <a:r>
              <a:rPr sz="1300" dirty="0">
                <a:solidFill>
                  <a:srgbClr val="FFF2D2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300" dirty="0" err="1">
                <a:solidFill>
                  <a:srgbClr val="FFF2D2"/>
                </a:solidFill>
                <a:latin typeface="Microsoft YaHei"/>
                <a:ea typeface="Microsoft YaHei"/>
                <a:cs typeface="Microsoft YaHei"/>
              </a:rPr>
              <a:t>RESET_LOW；用户字节、清屏与演示请求只在</a:t>
            </a:r>
            <a:r>
              <a:rPr sz="1300" dirty="0">
                <a:solidFill>
                  <a:srgbClr val="FFF2D2"/>
                </a:solidFill>
                <a:latin typeface="Microsoft YaHei"/>
                <a:ea typeface="Microsoft YaHei"/>
                <a:cs typeface="Microsoft YaHei"/>
              </a:rPr>
              <a:t> IDLE </a:t>
            </a:r>
            <a:r>
              <a:rPr sz="1300" dirty="0" err="1">
                <a:solidFill>
                  <a:srgbClr val="FFF2D2"/>
                </a:solidFill>
                <a:latin typeface="Microsoft YaHei"/>
                <a:ea typeface="Microsoft YaHei"/>
                <a:cs typeface="Microsoft YaHei"/>
              </a:rPr>
              <a:t>接受</a:t>
            </a:r>
            <a:endParaRPr sz="1300" dirty="0"/>
          </a:p>
        </p:txBody>
      </p:sp>
      <p:sp>
        <p:nvSpPr>
          <p:cNvPr id="25" name="Text 23"/>
          <p:cNvSpPr>
            <a:spLocks noGrp="1"/>
          </p:cNvSpPr>
          <p:nvPr/>
        </p:nvSpPr>
        <p:spPr>
          <a:xfrm>
            <a:off x="530352" y="6428232"/>
            <a:ext cx="3840480" cy="16459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800">
                <a:solidFill>
                  <a:srgbClr val="8392B7"/>
                </a:solidFill>
                <a:latin typeface="Microsoft YaHei"/>
                <a:ea typeface="Microsoft YaHei"/>
                <a:cs typeface="Microsoft YaHei"/>
              </a:rPr>
              <a:t>ST7571 LCD · SPI · MMIO · RISC-V ASM</a:t>
            </a:r>
            <a:endParaRPr sz="8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/>
        </p:nvSpPr>
        <p:spPr>
          <a:xfrm>
            <a:off x="530352" y="320040"/>
            <a:ext cx="1645920" cy="20116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850" b="1">
                <a:solidFill>
                  <a:srgbClr val="22D3EE"/>
                </a:solidFill>
                <a:latin typeface="Microsoft YaHei"/>
                <a:ea typeface="Microsoft YaHei"/>
                <a:cs typeface="Microsoft YaHei"/>
              </a:rPr>
              <a:t>总线握手</a:t>
            </a:r>
            <a:endParaRPr sz="850"/>
          </a:p>
        </p:txBody>
      </p:sp>
      <p:sp>
        <p:nvSpPr>
          <p:cNvPr id="3" name="Text 1"/>
          <p:cNvSpPr>
            <a:spLocks noGrp="1"/>
          </p:cNvSpPr>
          <p:nvPr/>
        </p:nvSpPr>
        <p:spPr>
          <a:xfrm>
            <a:off x="530352" y="566928"/>
            <a:ext cx="8595360" cy="40233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240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ready / valid 发送握手</a:t>
            </a:r>
            <a:endParaRPr sz="2400"/>
          </a:p>
        </p:txBody>
      </p:sp>
      <p:sp>
        <p:nvSpPr>
          <p:cNvPr id="4" name="Text 2"/>
          <p:cNvSpPr>
            <a:spLocks noGrp="1"/>
          </p:cNvSpPr>
          <p:nvPr/>
        </p:nvSpPr>
        <p:spPr>
          <a:xfrm>
            <a:off x="548640" y="1024128"/>
            <a:ext cx="7863840" cy="25603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1150">
                <a:solidFill>
                  <a:srgbClr val="B9C8E6"/>
                </a:solidFill>
                <a:latin typeface="Microsoft YaHei"/>
                <a:ea typeface="Microsoft YaHei"/>
                <a:cs typeface="Microsoft YaHei"/>
              </a:rPr>
              <a:t>一次 MMIO 写只触发一次 SPI 字节</a:t>
            </a:r>
            <a:endParaRPr sz="1150"/>
          </a:p>
        </p:txBody>
      </p:sp>
      <p:sp>
        <p:nvSpPr>
          <p:cNvPr id="5" name="Text 3"/>
          <p:cNvSpPr>
            <a:spLocks noGrp="1"/>
          </p:cNvSpPr>
          <p:nvPr/>
        </p:nvSpPr>
        <p:spPr>
          <a:xfrm>
            <a:off x="11137392" y="384048"/>
            <a:ext cx="50292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000" b="1">
                <a:solidFill>
                  <a:srgbClr val="8392B7"/>
                </a:solidFill>
                <a:latin typeface="Microsoft YaHei"/>
                <a:ea typeface="Microsoft YaHei"/>
                <a:cs typeface="Microsoft YaHei"/>
              </a:rPr>
              <a:t>06</a:t>
            </a:r>
            <a:endParaRPr sz="1000"/>
          </a:p>
        </p:txBody>
      </p:sp>
      <p:sp>
        <p:nvSpPr>
          <p:cNvPr id="6" name="Shape 4"/>
          <p:cNvSpPr>
            <a:spLocks noGrp="1"/>
          </p:cNvSpPr>
          <p:nvPr/>
        </p:nvSpPr>
        <p:spPr>
          <a:xfrm>
            <a:off x="530352" y="1389888"/>
            <a:ext cx="11109960" cy="0"/>
          </a:xfrm>
          <a:prstGeom prst="line">
            <a:avLst/>
          </a:prstGeom>
          <a:noFill/>
          <a:ln w="10160">
            <a:solidFill>
              <a:srgbClr val="2C3D61">
                <a:alpha val="80000"/>
              </a:srgbClr>
            </a:solidFill>
            <a:prstDash val="solid"/>
          </a:ln>
        </p:spPr>
      </p:sp>
      <p:sp>
        <p:nvSpPr>
          <p:cNvPr id="7" name="Shape 5"/>
          <p:cNvSpPr>
            <a:spLocks noGrp="1"/>
          </p:cNvSpPr>
          <p:nvPr/>
        </p:nvSpPr>
        <p:spPr>
          <a:xfrm>
            <a:off x="530352" y="1389888"/>
            <a:ext cx="1508760" cy="0"/>
          </a:xfrm>
          <a:prstGeom prst="line">
            <a:avLst/>
          </a:prstGeom>
          <a:noFill/>
          <a:ln w="27940">
            <a:solidFill>
              <a:srgbClr val="22D3EE"/>
            </a:solidFill>
            <a:prstDash val="solid"/>
          </a:ln>
        </p:spPr>
      </p:sp>
      <p:sp>
        <p:nvSpPr>
          <p:cNvPr id="8" name="Shape 6"/>
          <p:cNvSpPr>
            <a:spLocks noGrp="1"/>
          </p:cNvSpPr>
          <p:nvPr/>
        </p:nvSpPr>
        <p:spPr>
          <a:xfrm>
            <a:off x="2441448" y="2221992"/>
            <a:ext cx="329184" cy="0"/>
          </a:xfrm>
          <a:prstGeom prst="line">
            <a:avLst/>
          </a:prstGeom>
          <a:noFill/>
          <a:ln w="15240">
            <a:solidFill>
              <a:srgbClr val="22D3EE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>
            <a:spLocks noGrp="1"/>
          </p:cNvSpPr>
          <p:nvPr/>
        </p:nvSpPr>
        <p:spPr>
          <a:xfrm>
            <a:off x="4617720" y="2221992"/>
            <a:ext cx="329184" cy="0"/>
          </a:xfrm>
          <a:prstGeom prst="line">
            <a:avLst/>
          </a:prstGeom>
          <a:noFill/>
          <a:ln w="15240">
            <a:solidFill>
              <a:srgbClr val="22D3EE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>
            <a:spLocks noGrp="1"/>
          </p:cNvSpPr>
          <p:nvPr/>
        </p:nvSpPr>
        <p:spPr>
          <a:xfrm>
            <a:off x="6793992" y="2221992"/>
            <a:ext cx="329184" cy="0"/>
          </a:xfrm>
          <a:prstGeom prst="line">
            <a:avLst/>
          </a:prstGeom>
          <a:noFill/>
          <a:ln w="15240">
            <a:solidFill>
              <a:srgbClr val="22D3EE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>
            <a:spLocks noGrp="1"/>
          </p:cNvSpPr>
          <p:nvPr/>
        </p:nvSpPr>
        <p:spPr>
          <a:xfrm>
            <a:off x="8970264" y="2221992"/>
            <a:ext cx="329184" cy="0"/>
          </a:xfrm>
          <a:prstGeom prst="line">
            <a:avLst/>
          </a:prstGeom>
          <a:noFill/>
          <a:ln w="15240">
            <a:solidFill>
              <a:srgbClr val="22D3EE"/>
            </a:solidFill>
            <a:prstDash val="solid"/>
            <a:headEnd type="none"/>
            <a:tailEnd type="triangle"/>
          </a:ln>
        </p:spPr>
      </p:sp>
      <p:sp>
        <p:nvSpPr>
          <p:cNvPr id="12" name="Text 10"/>
          <p:cNvSpPr>
            <a:spLocks noGrp="1"/>
          </p:cNvSpPr>
          <p:nvPr/>
        </p:nvSpPr>
        <p:spPr>
          <a:xfrm>
            <a:off x="685800" y="1901952"/>
            <a:ext cx="1700784" cy="640080"/>
          </a:xfrm>
          <a:prstGeom prst="rect">
            <a:avLst/>
          </a:prstGeom>
          <a:solidFill>
            <a:srgbClr val="19233B"/>
          </a:solidFill>
          <a:ln w="15240">
            <a:solidFill>
              <a:srgbClr val="3B82F6"/>
            </a:solidFill>
          </a:ln>
        </p:spPr>
        <p:txBody>
          <a:bodyPr wrap="square" lIns="1397" tIns="1397" rIns="1397" bIns="1397" anchor="ctr">
            <a:normAutofit/>
          </a:bodyPr>
          <a:lstStyle/>
          <a:p>
            <a:pPr marL="0" indent="0" algn="ctr">
              <a:buNone/>
            </a:pPr>
            <a:r>
              <a:rPr sz="105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CPU 请求</a:t>
            </a:r>
            <a:endParaRPr sz="1050"/>
          </a:p>
          <a:p>
            <a:pPr marL="0" indent="0" algn="ctr">
              <a:buNone/>
            </a:pPr>
            <a:r>
              <a:rPr sz="105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dmem_req = 1</a:t>
            </a:r>
            <a:endParaRPr sz="1050"/>
          </a:p>
        </p:txBody>
      </p:sp>
      <p:sp>
        <p:nvSpPr>
          <p:cNvPr id="13" name="Text 11"/>
          <p:cNvSpPr>
            <a:spLocks noGrp="1"/>
          </p:cNvSpPr>
          <p:nvPr/>
        </p:nvSpPr>
        <p:spPr>
          <a:xfrm>
            <a:off x="2862072" y="1901952"/>
            <a:ext cx="1700784" cy="640080"/>
          </a:xfrm>
          <a:prstGeom prst="rect">
            <a:avLst/>
          </a:prstGeom>
          <a:solidFill>
            <a:srgbClr val="19233B"/>
          </a:solidFill>
          <a:ln w="15240">
            <a:solidFill>
              <a:srgbClr val="34D399"/>
            </a:solidFill>
          </a:ln>
        </p:spPr>
        <p:txBody>
          <a:bodyPr wrap="square" lIns="1397" tIns="1397" rIns="1397" bIns="1397" anchor="ctr">
            <a:normAutofit/>
          </a:bodyPr>
          <a:lstStyle/>
          <a:p>
            <a:pPr marL="0" indent="0" algn="ctr">
              <a:buNone/>
            </a:pPr>
            <a:r>
              <a:rPr sz="105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地址译码</a:t>
            </a:r>
            <a:endParaRPr sz="1050"/>
          </a:p>
          <a:p>
            <a:pPr marL="0" indent="0" algn="ctr">
              <a:buNone/>
            </a:pPr>
            <a:r>
              <a:rPr sz="105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LCD_CMD / DATA</a:t>
            </a:r>
            <a:endParaRPr sz="1050"/>
          </a:p>
        </p:txBody>
      </p:sp>
      <p:sp>
        <p:nvSpPr>
          <p:cNvPr id="14" name="Text 12"/>
          <p:cNvSpPr>
            <a:spLocks noGrp="1"/>
          </p:cNvSpPr>
          <p:nvPr/>
        </p:nvSpPr>
        <p:spPr>
          <a:xfrm>
            <a:off x="5038344" y="1901952"/>
            <a:ext cx="1700784" cy="640080"/>
          </a:xfrm>
          <a:prstGeom prst="rect">
            <a:avLst/>
          </a:prstGeom>
          <a:solidFill>
            <a:srgbClr val="19233B"/>
          </a:solidFill>
          <a:ln w="15240">
            <a:solidFill>
              <a:srgbClr val="22D3EE"/>
            </a:solidFill>
          </a:ln>
        </p:spPr>
        <p:txBody>
          <a:bodyPr wrap="square" lIns="1397" tIns="1397" rIns="1397" bIns="1397" anchor="ctr">
            <a:normAutofit/>
          </a:bodyPr>
          <a:lstStyle/>
          <a:p>
            <a:pPr marL="0" indent="0" algn="ctr">
              <a:buNone/>
            </a:pPr>
            <a:r>
              <a:rPr sz="105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握手成功</a:t>
            </a:r>
            <a:endParaRPr sz="1050"/>
          </a:p>
          <a:p>
            <a:pPr marL="0" indent="0" algn="ctr">
              <a:buNone/>
            </a:pPr>
            <a:r>
              <a:rPr sz="105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valid &amp;&amp; ready</a:t>
            </a:r>
            <a:endParaRPr sz="1050"/>
          </a:p>
        </p:txBody>
      </p:sp>
      <p:sp>
        <p:nvSpPr>
          <p:cNvPr id="15" name="Text 13"/>
          <p:cNvSpPr>
            <a:spLocks noGrp="1"/>
          </p:cNvSpPr>
          <p:nvPr/>
        </p:nvSpPr>
        <p:spPr>
          <a:xfrm>
            <a:off x="7214616" y="1901952"/>
            <a:ext cx="1700784" cy="640080"/>
          </a:xfrm>
          <a:prstGeom prst="rect">
            <a:avLst/>
          </a:prstGeom>
          <a:solidFill>
            <a:srgbClr val="19233B"/>
          </a:solidFill>
          <a:ln w="15240">
            <a:solidFill>
              <a:srgbClr val="F59E0B"/>
            </a:solidFill>
          </a:ln>
        </p:spPr>
        <p:txBody>
          <a:bodyPr wrap="square" lIns="1397" tIns="1397" rIns="1397" bIns="1397" anchor="ctr">
            <a:normAutofit/>
          </a:bodyPr>
          <a:lstStyle/>
          <a:p>
            <a:pPr marL="0" indent="0" algn="ctr">
              <a:buNone/>
            </a:pPr>
            <a:r>
              <a:rPr sz="105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SPI 忙</a:t>
            </a:r>
            <a:endParaRPr sz="1050"/>
          </a:p>
          <a:p>
            <a:pPr marL="0" indent="0" algn="ctr">
              <a:buNone/>
            </a:pPr>
            <a:r>
              <a:rPr sz="105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ready = 0</a:t>
            </a:r>
            <a:endParaRPr sz="1050"/>
          </a:p>
        </p:txBody>
      </p:sp>
      <p:sp>
        <p:nvSpPr>
          <p:cNvPr id="16" name="Text 14"/>
          <p:cNvSpPr>
            <a:spLocks noGrp="1"/>
          </p:cNvSpPr>
          <p:nvPr/>
        </p:nvSpPr>
        <p:spPr>
          <a:xfrm>
            <a:off x="9390888" y="1901952"/>
            <a:ext cx="1700784" cy="640080"/>
          </a:xfrm>
          <a:prstGeom prst="rect">
            <a:avLst/>
          </a:prstGeom>
          <a:solidFill>
            <a:srgbClr val="19233B"/>
          </a:solidFill>
          <a:ln w="15240">
            <a:solidFill>
              <a:srgbClr val="34D399"/>
            </a:solidFill>
          </a:ln>
        </p:spPr>
        <p:txBody>
          <a:bodyPr wrap="square" lIns="1397" tIns="1397" rIns="1397" bIns="1397" anchor="ctr">
            <a:normAutofit/>
          </a:bodyPr>
          <a:lstStyle/>
          <a:p>
            <a:pPr marL="0" indent="0" algn="ctr">
              <a:buNone/>
            </a:pPr>
            <a:r>
              <a:rPr sz="105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空闲</a:t>
            </a:r>
            <a:endParaRPr sz="1050"/>
          </a:p>
          <a:p>
            <a:pPr marL="0" indent="0" algn="ctr">
              <a:buNone/>
            </a:pPr>
            <a:r>
              <a:rPr sz="105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tx_ready = 1</a:t>
            </a:r>
            <a:endParaRPr sz="1050"/>
          </a:p>
        </p:txBody>
      </p:sp>
      <p:sp>
        <p:nvSpPr>
          <p:cNvPr id="17" name="Text 15"/>
          <p:cNvSpPr>
            <a:spLocks noGrp="1"/>
          </p:cNvSpPr>
          <p:nvPr/>
        </p:nvSpPr>
        <p:spPr>
          <a:xfrm>
            <a:off x="804672" y="3721608"/>
            <a:ext cx="3044952" cy="1051560"/>
          </a:xfrm>
          <a:prstGeom prst="rect">
            <a:avLst/>
          </a:prstGeom>
          <a:solidFill>
            <a:srgbClr val="121A2D"/>
          </a:solidFill>
          <a:ln w="15240">
            <a:solidFill>
              <a:srgbClr val="34D399"/>
            </a:solidFill>
          </a:ln>
        </p:spPr>
        <p:txBody>
          <a:bodyPr wrap="square" lIns="1651" tIns="1651" rIns="1651" bIns="1651" anchor="ctr">
            <a:normAutofit/>
          </a:bodyPr>
          <a:lstStyle/>
          <a:p>
            <a:pPr marL="0" indent="0" algn="ctr">
              <a:buNone/>
            </a:pPr>
            <a:r>
              <a:rPr sz="120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空闲</a:t>
            </a:r>
            <a:endParaRPr sz="1200"/>
          </a:p>
          <a:p>
            <a:pPr marL="0" indent="0" algn="ctr">
              <a:buNone/>
            </a:pPr>
            <a:r>
              <a:rPr sz="120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控制器处于 IDLE</a:t>
            </a:r>
            <a:endParaRPr sz="1200"/>
          </a:p>
          <a:p>
            <a:pPr marL="0" indent="0" algn="ctr">
              <a:buNone/>
            </a:pPr>
            <a:r>
              <a:rPr sz="120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SPI ready = 1</a:t>
            </a:r>
            <a:endParaRPr sz="1200"/>
          </a:p>
          <a:p>
            <a:pPr marL="0" indent="0" algn="ctr">
              <a:buNone/>
            </a:pPr>
            <a:r>
              <a:rPr sz="120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tx_ready 对软件可见</a:t>
            </a:r>
            <a:endParaRPr sz="1200"/>
          </a:p>
        </p:txBody>
      </p:sp>
      <p:sp>
        <p:nvSpPr>
          <p:cNvPr id="18" name="Text 16"/>
          <p:cNvSpPr>
            <a:spLocks noGrp="1"/>
          </p:cNvSpPr>
          <p:nvPr/>
        </p:nvSpPr>
        <p:spPr>
          <a:xfrm>
            <a:off x="4507992" y="3721608"/>
            <a:ext cx="3044952" cy="1051560"/>
          </a:xfrm>
          <a:prstGeom prst="rect">
            <a:avLst/>
          </a:prstGeom>
          <a:solidFill>
            <a:srgbClr val="121A2D"/>
          </a:solidFill>
          <a:ln w="15240">
            <a:solidFill>
              <a:srgbClr val="22D3EE"/>
            </a:solidFill>
          </a:ln>
        </p:spPr>
        <p:txBody>
          <a:bodyPr wrap="square" lIns="1651" tIns="1651" rIns="1651" bIns="1651" anchor="ctr">
            <a:normAutofit/>
          </a:bodyPr>
          <a:lstStyle/>
          <a:p>
            <a:pPr marL="0" indent="0" algn="ctr">
              <a:buNone/>
            </a:pPr>
            <a:r>
              <a:rPr sz="120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发送</a:t>
            </a:r>
            <a:endParaRPr sz="1200"/>
          </a:p>
          <a:p>
            <a:pPr marL="0" indent="0" algn="ctr">
              <a:buNone/>
            </a:pPr>
            <a:r>
              <a:rPr sz="120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锁存 RS 与 data</a:t>
            </a:r>
            <a:endParaRPr sz="1200"/>
          </a:p>
          <a:p>
            <a:pPr marL="0" indent="0" algn="ctr">
              <a:buNone/>
            </a:pPr>
            <a:r>
              <a:rPr sz="120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产生一次 start 脉冲</a:t>
            </a:r>
            <a:endParaRPr sz="1200"/>
          </a:p>
          <a:p>
            <a:pPr marL="0" indent="0" algn="ctr">
              <a:buNone/>
            </a:pPr>
            <a:r>
              <a:rPr sz="120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随后拉低 ready</a:t>
            </a:r>
            <a:endParaRPr sz="1200"/>
          </a:p>
        </p:txBody>
      </p:sp>
      <p:sp>
        <p:nvSpPr>
          <p:cNvPr id="19" name="Text 17"/>
          <p:cNvSpPr>
            <a:spLocks noGrp="1"/>
          </p:cNvSpPr>
          <p:nvPr/>
        </p:nvSpPr>
        <p:spPr>
          <a:xfrm>
            <a:off x="8211312" y="3721608"/>
            <a:ext cx="3044952" cy="1051560"/>
          </a:xfrm>
          <a:prstGeom prst="rect">
            <a:avLst/>
          </a:prstGeom>
          <a:solidFill>
            <a:srgbClr val="121A2D"/>
          </a:solidFill>
          <a:ln w="15240">
            <a:solidFill>
              <a:srgbClr val="F59E0B"/>
            </a:solidFill>
          </a:ln>
        </p:spPr>
        <p:txBody>
          <a:bodyPr wrap="square" lIns="1651" tIns="1651" rIns="1651" bIns="1651" anchor="ctr">
            <a:normAutofit/>
          </a:bodyPr>
          <a:lstStyle/>
          <a:p>
            <a:pPr marL="0" indent="0" algn="ctr">
              <a:buNone/>
            </a:pPr>
            <a:r>
              <a:rPr sz="120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等待</a:t>
            </a:r>
            <a:endParaRPr sz="1200"/>
          </a:p>
          <a:p>
            <a:pPr marL="0" indent="0" algn="ctr">
              <a:buNone/>
            </a:pPr>
            <a:r>
              <a:rPr sz="120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总线请求保持到完成</a:t>
            </a:r>
            <a:endParaRPr sz="1200"/>
          </a:p>
          <a:p>
            <a:pPr marL="0" indent="0" algn="ctr">
              <a:buNone/>
            </a:pPr>
            <a:r>
              <a:rPr sz="120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忙时不接受新字节</a:t>
            </a:r>
            <a:endParaRPr sz="1200"/>
          </a:p>
          <a:p>
            <a:pPr marL="0" indent="0" algn="ctr">
              <a:buNone/>
            </a:pPr>
            <a:r>
              <a:rPr sz="120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恢复后处理下一次写</a:t>
            </a:r>
            <a:endParaRPr sz="1200"/>
          </a:p>
        </p:txBody>
      </p:sp>
      <p:sp>
        <p:nvSpPr>
          <p:cNvPr id="20" name="Text 18"/>
          <p:cNvSpPr>
            <a:spLocks noGrp="1"/>
          </p:cNvSpPr>
          <p:nvPr/>
        </p:nvSpPr>
        <p:spPr>
          <a:xfrm>
            <a:off x="1042416" y="5513832"/>
            <a:ext cx="10104120" cy="384048"/>
          </a:xfrm>
          <a:prstGeom prst="rect">
            <a:avLst/>
          </a:prstGeom>
          <a:solidFill>
            <a:srgbClr val="2B1018"/>
          </a:solidFill>
          <a:ln w="12700">
            <a:solidFill>
              <a:srgbClr val="F87171"/>
            </a:solidFill>
          </a:ln>
        </p:spPr>
        <p:txBody>
          <a:bodyPr wrap="square" lIns="635" tIns="635" rIns="635" bIns="635" anchor="ctr">
            <a:normAutofit/>
          </a:bodyPr>
          <a:lstStyle/>
          <a:p>
            <a:pPr marL="0" indent="0" algn="ctr">
              <a:buNone/>
            </a:pPr>
            <a:r>
              <a:rPr sz="1250" b="1">
                <a:solidFill>
                  <a:srgbClr val="FFD6DD"/>
                </a:solidFill>
                <a:latin typeface="Microsoft YaHei"/>
                <a:ea typeface="Microsoft YaHei"/>
                <a:cs typeface="Microsoft YaHei"/>
              </a:rPr>
              <a:t>关键约束：写副作用由 req &amp;&amp; ready 产生，避免慢外设导致重复发送</a:t>
            </a:r>
            <a:endParaRPr sz="1250"/>
          </a:p>
        </p:txBody>
      </p:sp>
      <p:sp>
        <p:nvSpPr>
          <p:cNvPr id="21" name="Text 19"/>
          <p:cNvSpPr>
            <a:spLocks noGrp="1"/>
          </p:cNvSpPr>
          <p:nvPr/>
        </p:nvSpPr>
        <p:spPr>
          <a:xfrm>
            <a:off x="530352" y="6428232"/>
            <a:ext cx="3840480" cy="16459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800">
                <a:solidFill>
                  <a:srgbClr val="8392B7"/>
                </a:solidFill>
                <a:latin typeface="Microsoft YaHei"/>
                <a:ea typeface="Microsoft YaHei"/>
                <a:cs typeface="Microsoft YaHei"/>
              </a:rPr>
              <a:t>ST7571 LCD · SPI · MMIO · RISC-V ASM</a:t>
            </a:r>
            <a:endParaRPr sz="8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/>
        </p:nvSpPr>
        <p:spPr>
          <a:xfrm>
            <a:off x="530352" y="320040"/>
            <a:ext cx="1645920" cy="20116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850" b="1">
                <a:solidFill>
                  <a:srgbClr val="22D3EE"/>
                </a:solidFill>
                <a:latin typeface="Microsoft YaHei"/>
                <a:ea typeface="Microsoft YaHei"/>
                <a:cs typeface="Microsoft YaHei"/>
              </a:rPr>
              <a:t>软件接口</a:t>
            </a:r>
            <a:endParaRPr sz="850"/>
          </a:p>
        </p:txBody>
      </p:sp>
      <p:sp>
        <p:nvSpPr>
          <p:cNvPr id="3" name="Text 1"/>
          <p:cNvSpPr>
            <a:spLocks noGrp="1"/>
          </p:cNvSpPr>
          <p:nvPr/>
        </p:nvSpPr>
        <p:spPr>
          <a:xfrm>
            <a:off x="530352" y="566928"/>
            <a:ext cx="8595360" cy="40233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240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LCD MMIO 寄存器</a:t>
            </a:r>
            <a:endParaRPr sz="2400"/>
          </a:p>
        </p:txBody>
      </p:sp>
      <p:sp>
        <p:nvSpPr>
          <p:cNvPr id="4" name="Text 2"/>
          <p:cNvSpPr>
            <a:spLocks noGrp="1"/>
          </p:cNvSpPr>
          <p:nvPr/>
        </p:nvSpPr>
        <p:spPr>
          <a:xfrm>
            <a:off x="548640" y="1024128"/>
            <a:ext cx="7863840" cy="25603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1150">
                <a:solidFill>
                  <a:srgbClr val="B9C8E6"/>
                </a:solidFill>
                <a:latin typeface="Microsoft YaHei"/>
                <a:ea typeface="Microsoft YaHei"/>
                <a:cs typeface="Microsoft YaHei"/>
              </a:rPr>
              <a:t>所有地址位于不可缓存、强顺序的 MMIO 区域</a:t>
            </a:r>
            <a:endParaRPr sz="1150"/>
          </a:p>
        </p:txBody>
      </p:sp>
      <p:sp>
        <p:nvSpPr>
          <p:cNvPr id="5" name="Text 3"/>
          <p:cNvSpPr>
            <a:spLocks noGrp="1"/>
          </p:cNvSpPr>
          <p:nvPr/>
        </p:nvSpPr>
        <p:spPr>
          <a:xfrm>
            <a:off x="11137392" y="384048"/>
            <a:ext cx="50292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000" b="1">
                <a:solidFill>
                  <a:srgbClr val="8392B7"/>
                </a:solidFill>
                <a:latin typeface="Microsoft YaHei"/>
                <a:ea typeface="Microsoft YaHei"/>
                <a:cs typeface="Microsoft YaHei"/>
              </a:rPr>
              <a:t>07</a:t>
            </a:r>
            <a:endParaRPr sz="1000"/>
          </a:p>
        </p:txBody>
      </p:sp>
      <p:sp>
        <p:nvSpPr>
          <p:cNvPr id="6" name="Shape 4"/>
          <p:cNvSpPr>
            <a:spLocks noGrp="1"/>
          </p:cNvSpPr>
          <p:nvPr/>
        </p:nvSpPr>
        <p:spPr>
          <a:xfrm>
            <a:off x="530352" y="1389888"/>
            <a:ext cx="11109960" cy="0"/>
          </a:xfrm>
          <a:prstGeom prst="line">
            <a:avLst/>
          </a:prstGeom>
          <a:noFill/>
          <a:ln w="10160">
            <a:solidFill>
              <a:srgbClr val="2C3D61">
                <a:alpha val="80000"/>
              </a:srgbClr>
            </a:solidFill>
            <a:prstDash val="solid"/>
          </a:ln>
        </p:spPr>
      </p:sp>
      <p:sp>
        <p:nvSpPr>
          <p:cNvPr id="7" name="Shape 5"/>
          <p:cNvSpPr>
            <a:spLocks noGrp="1"/>
          </p:cNvSpPr>
          <p:nvPr/>
        </p:nvSpPr>
        <p:spPr>
          <a:xfrm>
            <a:off x="530352" y="1389888"/>
            <a:ext cx="1508760" cy="0"/>
          </a:xfrm>
          <a:prstGeom prst="line">
            <a:avLst/>
          </a:prstGeom>
          <a:noFill/>
          <a:ln w="27940">
            <a:solidFill>
              <a:srgbClr val="22D3EE"/>
            </a:solidFill>
            <a:prstDash val="solid"/>
          </a:ln>
        </p:spPr>
      </p:sp>
      <p:sp>
        <p:nvSpPr>
          <p:cNvPr id="8" name="Text 6"/>
          <p:cNvSpPr>
            <a:spLocks noGrp="1"/>
          </p:cNvSpPr>
          <p:nvPr/>
        </p:nvSpPr>
        <p:spPr>
          <a:xfrm>
            <a:off x="713232" y="1554480"/>
            <a:ext cx="7772400" cy="219456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buNone/>
            </a:pPr>
            <a:r>
              <a:rPr sz="1050">
                <a:solidFill>
                  <a:srgbClr val="8392B7"/>
                </a:solidFill>
                <a:latin typeface="Microsoft YaHei"/>
                <a:ea typeface="Microsoft YaHei"/>
                <a:cs typeface="Microsoft YaHei"/>
              </a:rPr>
              <a:t>中期核心寄存器为 CMD、DATA、STATUS 与 CTRL，后三项只说明扩展方向</a:t>
            </a:r>
            <a:endParaRPr sz="1050"/>
          </a:p>
        </p:txBody>
      </p:sp>
      <p:sp>
        <p:nvSpPr>
          <p:cNvPr id="9" name="Text 7"/>
          <p:cNvSpPr>
            <a:spLocks noGrp="1"/>
          </p:cNvSpPr>
          <p:nvPr/>
        </p:nvSpPr>
        <p:spPr>
          <a:xfrm>
            <a:off x="786384" y="1874520"/>
            <a:ext cx="2103120" cy="329184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</a:ln>
        </p:spPr>
        <p:txBody>
          <a:bodyPr wrap="square" lIns="254" tIns="254" rIns="254" bIns="254" anchor="ctr">
            <a:normAutofit/>
          </a:bodyPr>
          <a:lstStyle/>
          <a:p>
            <a:pPr marL="0" indent="0" algn="ctr">
              <a:buNone/>
            </a:pPr>
            <a:r>
              <a:rPr sz="113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地址</a:t>
            </a:r>
            <a:endParaRPr sz="1130"/>
          </a:p>
        </p:txBody>
      </p:sp>
      <p:sp>
        <p:nvSpPr>
          <p:cNvPr id="10" name="Text 8"/>
          <p:cNvSpPr>
            <a:spLocks noGrp="1"/>
          </p:cNvSpPr>
          <p:nvPr/>
        </p:nvSpPr>
        <p:spPr>
          <a:xfrm>
            <a:off x="3182112" y="1874520"/>
            <a:ext cx="1783080" cy="329184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</a:ln>
        </p:spPr>
        <p:txBody>
          <a:bodyPr wrap="square" lIns="254" tIns="254" rIns="254" bIns="254" anchor="ctr">
            <a:normAutofit/>
          </a:bodyPr>
          <a:lstStyle/>
          <a:p>
            <a:pPr marL="0" indent="0" algn="ctr">
              <a:buNone/>
            </a:pPr>
            <a:r>
              <a:rPr sz="113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寄存器</a:t>
            </a:r>
            <a:endParaRPr sz="1130"/>
          </a:p>
        </p:txBody>
      </p:sp>
      <p:sp>
        <p:nvSpPr>
          <p:cNvPr id="11" name="Text 9"/>
          <p:cNvSpPr>
            <a:spLocks noGrp="1"/>
          </p:cNvSpPr>
          <p:nvPr/>
        </p:nvSpPr>
        <p:spPr>
          <a:xfrm>
            <a:off x="5303520" y="1874520"/>
            <a:ext cx="5989320" cy="329184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</a:ln>
        </p:spPr>
        <p:txBody>
          <a:bodyPr wrap="square" lIns="254" tIns="254" rIns="254" bIns="254" anchor="ctr">
            <a:normAutofit/>
          </a:bodyPr>
          <a:lstStyle/>
          <a:p>
            <a:pPr marL="0" indent="0" algn="ctr">
              <a:buNone/>
            </a:pPr>
            <a:r>
              <a:rPr sz="113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中期用途</a:t>
            </a:r>
            <a:endParaRPr sz="1130"/>
          </a:p>
        </p:txBody>
      </p:sp>
      <p:sp>
        <p:nvSpPr>
          <p:cNvPr id="12" name="Text 10"/>
          <p:cNvSpPr>
            <a:spLocks noGrp="1"/>
          </p:cNvSpPr>
          <p:nvPr/>
        </p:nvSpPr>
        <p:spPr>
          <a:xfrm>
            <a:off x="786384" y="2286000"/>
            <a:ext cx="2103120" cy="347472"/>
          </a:xfrm>
          <a:prstGeom prst="rect">
            <a:avLst/>
          </a:prstGeom>
          <a:solidFill>
            <a:srgbClr val="121A2D"/>
          </a:solidFill>
          <a:ln w="12700">
            <a:solidFill>
              <a:srgbClr val="2C3D61"/>
            </a:solidFill>
          </a:ln>
        </p:spPr>
        <p:txBody>
          <a:bodyPr wrap="square" lIns="508" tIns="508" rIns="508" bIns="508" anchor="ctr">
            <a:normAutofit/>
          </a:bodyPr>
          <a:lstStyle/>
          <a:p>
            <a:pPr marL="0" indent="0" algn="ctr">
              <a:buNone/>
            </a:pPr>
            <a:r>
              <a:rPr sz="1020">
                <a:solidFill>
                  <a:srgbClr val="B9C8E6"/>
                </a:solidFill>
                <a:latin typeface="Microsoft YaHei"/>
                <a:ea typeface="Microsoft YaHei"/>
                <a:cs typeface="Microsoft YaHei"/>
              </a:rPr>
              <a:t>0x2000_0020</a:t>
            </a:r>
            <a:endParaRPr sz="1020"/>
          </a:p>
        </p:txBody>
      </p:sp>
      <p:sp>
        <p:nvSpPr>
          <p:cNvPr id="13" name="Text 11"/>
          <p:cNvSpPr>
            <a:spLocks noGrp="1"/>
          </p:cNvSpPr>
          <p:nvPr/>
        </p:nvSpPr>
        <p:spPr>
          <a:xfrm>
            <a:off x="3182112" y="2286000"/>
            <a:ext cx="1783080" cy="347472"/>
          </a:xfrm>
          <a:prstGeom prst="rect">
            <a:avLst/>
          </a:prstGeom>
          <a:solidFill>
            <a:srgbClr val="121A2D"/>
          </a:solidFill>
          <a:ln w="12700">
            <a:solidFill>
              <a:srgbClr val="2C3D61"/>
            </a:solidFill>
          </a:ln>
        </p:spPr>
        <p:txBody>
          <a:bodyPr wrap="square" lIns="508" tIns="508" rIns="508" bIns="508" anchor="ctr">
            <a:normAutofit/>
          </a:bodyPr>
          <a:lstStyle/>
          <a:p>
            <a:pPr marL="0" indent="0" algn="ctr">
              <a:buNone/>
            </a:pPr>
            <a:r>
              <a:rPr sz="102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LCD_CMD</a:t>
            </a:r>
            <a:endParaRPr sz="1020"/>
          </a:p>
        </p:txBody>
      </p:sp>
      <p:sp>
        <p:nvSpPr>
          <p:cNvPr id="14" name="Text 12"/>
          <p:cNvSpPr>
            <a:spLocks noGrp="1"/>
          </p:cNvSpPr>
          <p:nvPr/>
        </p:nvSpPr>
        <p:spPr>
          <a:xfrm>
            <a:off x="5303520" y="2286000"/>
            <a:ext cx="5989320" cy="347472"/>
          </a:xfrm>
          <a:prstGeom prst="rect">
            <a:avLst/>
          </a:prstGeom>
          <a:solidFill>
            <a:srgbClr val="121A2D"/>
          </a:solidFill>
          <a:ln w="12700">
            <a:solidFill>
              <a:srgbClr val="2C3D61"/>
            </a:solidFill>
          </a:ln>
        </p:spPr>
        <p:txBody>
          <a:bodyPr wrap="square" lIns="508" tIns="508" rIns="508" bIns="508" anchor="ctr">
            <a:normAutofit/>
          </a:bodyPr>
          <a:lstStyle/>
          <a:p>
            <a:pPr marL="0" indent="0" algn="l">
              <a:buNone/>
            </a:pPr>
            <a:r>
              <a:rPr lang="en-US" sz="1020" dirty="0">
                <a:solidFill>
                  <a:srgbClr val="B9C8E6"/>
                </a:solidFill>
                <a:latin typeface="Microsoft YaHei"/>
                <a:ea typeface="Microsoft YaHei"/>
                <a:cs typeface="Microsoft YaHei"/>
              </a:rPr>
              <a:t>  </a:t>
            </a:r>
            <a:r>
              <a:rPr sz="1020" dirty="0" err="1">
                <a:solidFill>
                  <a:srgbClr val="B9C8E6"/>
                </a:solidFill>
                <a:latin typeface="Microsoft YaHei"/>
                <a:ea typeface="Microsoft YaHei"/>
                <a:cs typeface="Microsoft YaHei"/>
              </a:rPr>
              <a:t>写低</a:t>
            </a:r>
            <a:r>
              <a:rPr sz="1020" dirty="0">
                <a:solidFill>
                  <a:srgbClr val="B9C8E6"/>
                </a:solidFill>
                <a:latin typeface="Microsoft YaHei"/>
                <a:ea typeface="Microsoft YaHei"/>
                <a:cs typeface="Microsoft YaHei"/>
              </a:rPr>
              <a:t> 8 </a:t>
            </a:r>
            <a:r>
              <a:rPr sz="1020" dirty="0" err="1">
                <a:solidFill>
                  <a:srgbClr val="B9C8E6"/>
                </a:solidFill>
                <a:latin typeface="Microsoft YaHei"/>
                <a:ea typeface="Microsoft YaHei"/>
                <a:cs typeface="Microsoft YaHei"/>
              </a:rPr>
              <a:t>位命令，RS</a:t>
            </a:r>
            <a:r>
              <a:rPr sz="1020" dirty="0">
                <a:solidFill>
                  <a:srgbClr val="B9C8E6"/>
                </a:solidFill>
                <a:latin typeface="Microsoft YaHei"/>
                <a:ea typeface="Microsoft YaHei"/>
                <a:cs typeface="Microsoft YaHei"/>
              </a:rPr>
              <a:t> = 0</a:t>
            </a:r>
            <a:endParaRPr sz="1020" dirty="0"/>
          </a:p>
        </p:txBody>
      </p:sp>
      <p:sp>
        <p:nvSpPr>
          <p:cNvPr id="15" name="Text 13"/>
          <p:cNvSpPr>
            <a:spLocks noGrp="1"/>
          </p:cNvSpPr>
          <p:nvPr/>
        </p:nvSpPr>
        <p:spPr>
          <a:xfrm>
            <a:off x="786384" y="2734056"/>
            <a:ext cx="2103120" cy="347472"/>
          </a:xfrm>
          <a:prstGeom prst="rect">
            <a:avLst/>
          </a:prstGeom>
          <a:solidFill>
            <a:srgbClr val="10172A"/>
          </a:solidFill>
          <a:ln w="12700">
            <a:solidFill>
              <a:srgbClr val="2C3D61"/>
            </a:solidFill>
          </a:ln>
        </p:spPr>
        <p:txBody>
          <a:bodyPr wrap="square" lIns="508" tIns="508" rIns="508" bIns="508" anchor="ctr">
            <a:normAutofit/>
          </a:bodyPr>
          <a:lstStyle/>
          <a:p>
            <a:pPr marL="0" indent="0" algn="ctr">
              <a:buNone/>
            </a:pPr>
            <a:r>
              <a:rPr sz="1020">
                <a:solidFill>
                  <a:srgbClr val="B9C8E6"/>
                </a:solidFill>
                <a:latin typeface="Microsoft YaHei"/>
                <a:ea typeface="Microsoft YaHei"/>
                <a:cs typeface="Microsoft YaHei"/>
              </a:rPr>
              <a:t>0x2000_0024</a:t>
            </a:r>
            <a:endParaRPr sz="1020"/>
          </a:p>
        </p:txBody>
      </p:sp>
      <p:sp>
        <p:nvSpPr>
          <p:cNvPr id="16" name="Text 14"/>
          <p:cNvSpPr>
            <a:spLocks noGrp="1"/>
          </p:cNvSpPr>
          <p:nvPr/>
        </p:nvSpPr>
        <p:spPr>
          <a:xfrm>
            <a:off x="3182112" y="2734056"/>
            <a:ext cx="1783080" cy="347472"/>
          </a:xfrm>
          <a:prstGeom prst="rect">
            <a:avLst/>
          </a:prstGeom>
          <a:solidFill>
            <a:srgbClr val="10172A"/>
          </a:solidFill>
          <a:ln w="12700">
            <a:solidFill>
              <a:srgbClr val="2C3D61"/>
            </a:solidFill>
          </a:ln>
        </p:spPr>
        <p:txBody>
          <a:bodyPr wrap="square" lIns="508" tIns="508" rIns="508" bIns="508" anchor="ctr">
            <a:normAutofit/>
          </a:bodyPr>
          <a:lstStyle/>
          <a:p>
            <a:pPr marL="0" indent="0" algn="ctr">
              <a:buNone/>
            </a:pPr>
            <a:r>
              <a:rPr sz="102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LCD_DATA</a:t>
            </a:r>
            <a:endParaRPr sz="1020"/>
          </a:p>
        </p:txBody>
      </p:sp>
      <p:sp>
        <p:nvSpPr>
          <p:cNvPr id="17" name="Text 15"/>
          <p:cNvSpPr>
            <a:spLocks noGrp="1"/>
          </p:cNvSpPr>
          <p:nvPr/>
        </p:nvSpPr>
        <p:spPr>
          <a:xfrm>
            <a:off x="5303520" y="2734056"/>
            <a:ext cx="5989320" cy="347472"/>
          </a:xfrm>
          <a:prstGeom prst="rect">
            <a:avLst/>
          </a:prstGeom>
          <a:solidFill>
            <a:srgbClr val="10172A"/>
          </a:solidFill>
          <a:ln w="12700">
            <a:solidFill>
              <a:srgbClr val="2C3D61"/>
            </a:solidFill>
          </a:ln>
        </p:spPr>
        <p:txBody>
          <a:bodyPr wrap="square" lIns="508" tIns="508" rIns="508" bIns="508" anchor="ctr">
            <a:normAutofit/>
          </a:bodyPr>
          <a:lstStyle/>
          <a:p>
            <a:pPr marL="0" indent="0" algn="l">
              <a:buNone/>
            </a:pPr>
            <a:r>
              <a:rPr lang="en-US" sz="1020" dirty="0">
                <a:solidFill>
                  <a:srgbClr val="B9C8E6"/>
                </a:solidFill>
                <a:latin typeface="Microsoft YaHei"/>
                <a:ea typeface="Microsoft YaHei"/>
                <a:cs typeface="Microsoft YaHei"/>
              </a:rPr>
              <a:t>  </a:t>
            </a:r>
            <a:r>
              <a:rPr sz="1020" dirty="0" err="1">
                <a:solidFill>
                  <a:srgbClr val="B9C8E6"/>
                </a:solidFill>
                <a:latin typeface="Microsoft YaHei"/>
                <a:ea typeface="Microsoft YaHei"/>
                <a:cs typeface="Microsoft YaHei"/>
              </a:rPr>
              <a:t>写低</a:t>
            </a:r>
            <a:r>
              <a:rPr sz="1020" dirty="0">
                <a:solidFill>
                  <a:srgbClr val="B9C8E6"/>
                </a:solidFill>
                <a:latin typeface="Microsoft YaHei"/>
                <a:ea typeface="Microsoft YaHei"/>
                <a:cs typeface="Microsoft YaHei"/>
              </a:rPr>
              <a:t> 8 </a:t>
            </a:r>
            <a:r>
              <a:rPr sz="1020" dirty="0" err="1">
                <a:solidFill>
                  <a:srgbClr val="B9C8E6"/>
                </a:solidFill>
                <a:latin typeface="Microsoft YaHei"/>
                <a:ea typeface="Microsoft YaHei"/>
                <a:cs typeface="Microsoft YaHei"/>
              </a:rPr>
              <a:t>位显示数据，RS</a:t>
            </a:r>
            <a:r>
              <a:rPr sz="1020" dirty="0">
                <a:solidFill>
                  <a:srgbClr val="B9C8E6"/>
                </a:solidFill>
                <a:latin typeface="Microsoft YaHei"/>
                <a:ea typeface="Microsoft YaHei"/>
                <a:cs typeface="Microsoft YaHei"/>
              </a:rPr>
              <a:t> = 1</a:t>
            </a:r>
            <a:endParaRPr sz="1020" dirty="0"/>
          </a:p>
        </p:txBody>
      </p:sp>
      <p:sp>
        <p:nvSpPr>
          <p:cNvPr id="18" name="Text 16"/>
          <p:cNvSpPr>
            <a:spLocks noGrp="1"/>
          </p:cNvSpPr>
          <p:nvPr/>
        </p:nvSpPr>
        <p:spPr>
          <a:xfrm>
            <a:off x="786384" y="3182112"/>
            <a:ext cx="2103120" cy="347472"/>
          </a:xfrm>
          <a:prstGeom prst="rect">
            <a:avLst/>
          </a:prstGeom>
          <a:solidFill>
            <a:srgbClr val="121A2D"/>
          </a:solidFill>
          <a:ln w="12700">
            <a:solidFill>
              <a:srgbClr val="2C3D61"/>
            </a:solidFill>
          </a:ln>
        </p:spPr>
        <p:txBody>
          <a:bodyPr wrap="square" lIns="508" tIns="508" rIns="508" bIns="508" anchor="ctr">
            <a:normAutofit/>
          </a:bodyPr>
          <a:lstStyle/>
          <a:p>
            <a:pPr marL="0" indent="0" algn="ctr">
              <a:buNone/>
            </a:pPr>
            <a:r>
              <a:rPr sz="1020">
                <a:solidFill>
                  <a:srgbClr val="B9C8E6"/>
                </a:solidFill>
                <a:latin typeface="Microsoft YaHei"/>
                <a:ea typeface="Microsoft YaHei"/>
                <a:cs typeface="Microsoft YaHei"/>
              </a:rPr>
              <a:t>0x2000_0028</a:t>
            </a:r>
            <a:endParaRPr sz="1020"/>
          </a:p>
        </p:txBody>
      </p:sp>
      <p:sp>
        <p:nvSpPr>
          <p:cNvPr id="19" name="Text 17"/>
          <p:cNvSpPr>
            <a:spLocks noGrp="1"/>
          </p:cNvSpPr>
          <p:nvPr/>
        </p:nvSpPr>
        <p:spPr>
          <a:xfrm>
            <a:off x="3182112" y="3182112"/>
            <a:ext cx="1783080" cy="347472"/>
          </a:xfrm>
          <a:prstGeom prst="rect">
            <a:avLst/>
          </a:prstGeom>
          <a:solidFill>
            <a:srgbClr val="121A2D"/>
          </a:solidFill>
          <a:ln w="12700">
            <a:solidFill>
              <a:srgbClr val="2C3D61"/>
            </a:solidFill>
          </a:ln>
        </p:spPr>
        <p:txBody>
          <a:bodyPr wrap="square" lIns="508" tIns="508" rIns="508" bIns="508" anchor="ctr">
            <a:normAutofit/>
          </a:bodyPr>
          <a:lstStyle/>
          <a:p>
            <a:pPr marL="0" indent="0" algn="ctr">
              <a:buNone/>
            </a:pPr>
            <a:r>
              <a:rPr sz="102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LCD_STATUS</a:t>
            </a:r>
            <a:endParaRPr sz="1020"/>
          </a:p>
        </p:txBody>
      </p:sp>
      <p:sp>
        <p:nvSpPr>
          <p:cNvPr id="20" name="Text 18"/>
          <p:cNvSpPr>
            <a:spLocks noGrp="1"/>
          </p:cNvSpPr>
          <p:nvPr/>
        </p:nvSpPr>
        <p:spPr>
          <a:xfrm>
            <a:off x="5303520" y="3182112"/>
            <a:ext cx="5989320" cy="347472"/>
          </a:xfrm>
          <a:prstGeom prst="rect">
            <a:avLst/>
          </a:prstGeom>
          <a:solidFill>
            <a:srgbClr val="121A2D"/>
          </a:solidFill>
          <a:ln w="12700">
            <a:solidFill>
              <a:srgbClr val="2C3D61"/>
            </a:solidFill>
          </a:ln>
        </p:spPr>
        <p:txBody>
          <a:bodyPr wrap="square" lIns="508" tIns="508" rIns="508" bIns="508" anchor="ctr">
            <a:normAutofit/>
          </a:bodyPr>
          <a:lstStyle/>
          <a:p>
            <a:pPr marL="0" indent="0" algn="l">
              <a:buNone/>
            </a:pPr>
            <a:r>
              <a:rPr lang="en-US" sz="1020" dirty="0">
                <a:solidFill>
                  <a:srgbClr val="B9C8E6"/>
                </a:solidFill>
                <a:latin typeface="Microsoft YaHei"/>
                <a:ea typeface="Microsoft YaHei"/>
                <a:cs typeface="Microsoft YaHei"/>
              </a:rPr>
              <a:t>  </a:t>
            </a:r>
            <a:r>
              <a:rPr sz="1020" dirty="0">
                <a:solidFill>
                  <a:srgbClr val="B9C8E6"/>
                </a:solidFill>
                <a:latin typeface="Microsoft YaHei"/>
                <a:ea typeface="Microsoft YaHei"/>
                <a:cs typeface="Microsoft YaHei"/>
              </a:rPr>
              <a:t>bit0 ready，bit1 initialized</a:t>
            </a:r>
            <a:endParaRPr sz="1020" dirty="0"/>
          </a:p>
        </p:txBody>
      </p:sp>
      <p:sp>
        <p:nvSpPr>
          <p:cNvPr id="21" name="Text 19"/>
          <p:cNvSpPr>
            <a:spLocks noGrp="1"/>
          </p:cNvSpPr>
          <p:nvPr/>
        </p:nvSpPr>
        <p:spPr>
          <a:xfrm>
            <a:off x="786384" y="3630168"/>
            <a:ext cx="2103120" cy="347472"/>
          </a:xfrm>
          <a:prstGeom prst="rect">
            <a:avLst/>
          </a:prstGeom>
          <a:solidFill>
            <a:srgbClr val="10172A"/>
          </a:solidFill>
          <a:ln w="12700">
            <a:solidFill>
              <a:srgbClr val="2C3D61"/>
            </a:solidFill>
          </a:ln>
        </p:spPr>
        <p:txBody>
          <a:bodyPr wrap="square" lIns="508" tIns="508" rIns="508" bIns="508" anchor="ctr">
            <a:normAutofit/>
          </a:bodyPr>
          <a:lstStyle/>
          <a:p>
            <a:pPr marL="0" indent="0" algn="ctr">
              <a:buNone/>
            </a:pPr>
            <a:r>
              <a:rPr sz="1020">
                <a:solidFill>
                  <a:srgbClr val="B9C8E6"/>
                </a:solidFill>
                <a:latin typeface="Microsoft YaHei"/>
                <a:ea typeface="Microsoft YaHei"/>
                <a:cs typeface="Microsoft YaHei"/>
              </a:rPr>
              <a:t>0x2000_002C</a:t>
            </a:r>
            <a:endParaRPr sz="1020"/>
          </a:p>
        </p:txBody>
      </p:sp>
      <p:sp>
        <p:nvSpPr>
          <p:cNvPr id="22" name="Text 20"/>
          <p:cNvSpPr>
            <a:spLocks noGrp="1"/>
          </p:cNvSpPr>
          <p:nvPr/>
        </p:nvSpPr>
        <p:spPr>
          <a:xfrm>
            <a:off x="3182112" y="3630168"/>
            <a:ext cx="1783080" cy="347472"/>
          </a:xfrm>
          <a:prstGeom prst="rect">
            <a:avLst/>
          </a:prstGeom>
          <a:solidFill>
            <a:srgbClr val="10172A"/>
          </a:solidFill>
          <a:ln w="12700">
            <a:solidFill>
              <a:srgbClr val="2C3D61"/>
            </a:solidFill>
          </a:ln>
        </p:spPr>
        <p:txBody>
          <a:bodyPr wrap="square" lIns="508" tIns="508" rIns="508" bIns="508" anchor="ctr">
            <a:normAutofit/>
          </a:bodyPr>
          <a:lstStyle/>
          <a:p>
            <a:pPr marL="0" indent="0" algn="ctr">
              <a:buNone/>
            </a:pPr>
            <a:r>
              <a:rPr sz="102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LCD_CTRL</a:t>
            </a:r>
            <a:endParaRPr sz="1020"/>
          </a:p>
        </p:txBody>
      </p:sp>
      <p:sp>
        <p:nvSpPr>
          <p:cNvPr id="23" name="Text 21"/>
          <p:cNvSpPr>
            <a:spLocks noGrp="1"/>
          </p:cNvSpPr>
          <p:nvPr/>
        </p:nvSpPr>
        <p:spPr>
          <a:xfrm>
            <a:off x="5303520" y="3630168"/>
            <a:ext cx="5989320" cy="347472"/>
          </a:xfrm>
          <a:prstGeom prst="rect">
            <a:avLst/>
          </a:prstGeom>
          <a:solidFill>
            <a:srgbClr val="10172A"/>
          </a:solidFill>
          <a:ln w="12700">
            <a:solidFill>
              <a:srgbClr val="2C3D61"/>
            </a:solidFill>
          </a:ln>
        </p:spPr>
        <p:txBody>
          <a:bodyPr wrap="square" lIns="508" tIns="508" rIns="508" bIns="508" anchor="ctr">
            <a:normAutofit/>
          </a:bodyPr>
          <a:lstStyle/>
          <a:p>
            <a:pPr marL="0" indent="0" algn="l">
              <a:buNone/>
            </a:pPr>
            <a:r>
              <a:rPr lang="en-US" sz="1020" dirty="0">
                <a:solidFill>
                  <a:srgbClr val="B9C8E6"/>
                </a:solidFill>
                <a:latin typeface="Microsoft YaHei"/>
                <a:ea typeface="Microsoft YaHei"/>
                <a:cs typeface="Microsoft YaHei"/>
              </a:rPr>
              <a:t>  </a:t>
            </a:r>
            <a:r>
              <a:rPr sz="1020" dirty="0" err="1">
                <a:solidFill>
                  <a:srgbClr val="B9C8E6"/>
                </a:solidFill>
                <a:latin typeface="Microsoft YaHei"/>
                <a:ea typeface="Microsoft YaHei"/>
                <a:cs typeface="Microsoft YaHei"/>
              </a:rPr>
              <a:t>重新初始化、清屏、固定文字</a:t>
            </a:r>
            <a:endParaRPr sz="1020" dirty="0"/>
          </a:p>
        </p:txBody>
      </p:sp>
      <p:sp>
        <p:nvSpPr>
          <p:cNvPr id="24" name="Text 22"/>
          <p:cNvSpPr>
            <a:spLocks noGrp="1"/>
          </p:cNvSpPr>
          <p:nvPr/>
        </p:nvSpPr>
        <p:spPr>
          <a:xfrm>
            <a:off x="786384" y="4078224"/>
            <a:ext cx="2103120" cy="347472"/>
          </a:xfrm>
          <a:prstGeom prst="rect">
            <a:avLst/>
          </a:prstGeom>
          <a:solidFill>
            <a:srgbClr val="121A2D"/>
          </a:solidFill>
          <a:ln w="12700">
            <a:solidFill>
              <a:srgbClr val="2C3D61"/>
            </a:solidFill>
          </a:ln>
        </p:spPr>
        <p:txBody>
          <a:bodyPr wrap="square" lIns="508" tIns="508" rIns="508" bIns="508" anchor="ctr">
            <a:normAutofit/>
          </a:bodyPr>
          <a:lstStyle/>
          <a:p>
            <a:pPr marL="0" indent="0" algn="ctr">
              <a:buNone/>
            </a:pPr>
            <a:r>
              <a:rPr sz="1020">
                <a:solidFill>
                  <a:srgbClr val="B9C8E6"/>
                </a:solidFill>
                <a:latin typeface="Microsoft YaHei"/>
                <a:ea typeface="Microsoft YaHei"/>
                <a:cs typeface="Microsoft YaHei"/>
              </a:rPr>
              <a:t>0x2000_0030</a:t>
            </a:r>
            <a:endParaRPr sz="1020"/>
          </a:p>
        </p:txBody>
      </p:sp>
      <p:sp>
        <p:nvSpPr>
          <p:cNvPr id="25" name="Text 23"/>
          <p:cNvSpPr>
            <a:spLocks noGrp="1"/>
          </p:cNvSpPr>
          <p:nvPr/>
        </p:nvSpPr>
        <p:spPr>
          <a:xfrm>
            <a:off x="3182112" y="4078224"/>
            <a:ext cx="1783080" cy="347472"/>
          </a:xfrm>
          <a:prstGeom prst="rect">
            <a:avLst/>
          </a:prstGeom>
          <a:solidFill>
            <a:srgbClr val="121A2D"/>
          </a:solidFill>
          <a:ln w="12700">
            <a:solidFill>
              <a:srgbClr val="2C3D61"/>
            </a:solidFill>
          </a:ln>
        </p:spPr>
        <p:txBody>
          <a:bodyPr wrap="square" lIns="508" tIns="508" rIns="508" bIns="508" anchor="ctr">
            <a:normAutofit/>
          </a:bodyPr>
          <a:lstStyle/>
          <a:p>
            <a:pPr marL="0" indent="0" algn="ctr">
              <a:buNone/>
            </a:pPr>
            <a:r>
              <a:rPr sz="102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LCD_GAME_ROW</a:t>
            </a:r>
            <a:endParaRPr sz="1020"/>
          </a:p>
        </p:txBody>
      </p:sp>
      <p:sp>
        <p:nvSpPr>
          <p:cNvPr id="26" name="Text 24"/>
          <p:cNvSpPr>
            <a:spLocks noGrp="1"/>
          </p:cNvSpPr>
          <p:nvPr/>
        </p:nvSpPr>
        <p:spPr>
          <a:xfrm>
            <a:off x="5303520" y="4078224"/>
            <a:ext cx="5989320" cy="347472"/>
          </a:xfrm>
          <a:prstGeom prst="rect">
            <a:avLst/>
          </a:prstGeom>
          <a:solidFill>
            <a:srgbClr val="121A2D"/>
          </a:solidFill>
          <a:ln w="12700">
            <a:solidFill>
              <a:srgbClr val="2C3D61"/>
            </a:solidFill>
          </a:ln>
        </p:spPr>
        <p:txBody>
          <a:bodyPr wrap="square" lIns="508" tIns="508" rIns="508" bIns="508" anchor="ctr">
            <a:normAutofit/>
          </a:bodyPr>
          <a:lstStyle/>
          <a:p>
            <a:pPr marL="0" indent="0" algn="l">
              <a:buNone/>
            </a:pPr>
            <a:r>
              <a:rPr lang="en-US" sz="1020" dirty="0">
                <a:solidFill>
                  <a:srgbClr val="B9C8E6"/>
                </a:solidFill>
                <a:latin typeface="Microsoft YaHei"/>
                <a:ea typeface="Microsoft YaHei"/>
                <a:cs typeface="Microsoft YaHei"/>
              </a:rPr>
              <a:t>  </a:t>
            </a:r>
            <a:r>
              <a:rPr sz="1020" dirty="0" err="1">
                <a:solidFill>
                  <a:srgbClr val="B9C8E6"/>
                </a:solidFill>
                <a:latin typeface="Microsoft YaHei"/>
                <a:ea typeface="Microsoft YaHei"/>
                <a:cs typeface="Microsoft YaHei"/>
              </a:rPr>
              <a:t>后续棋盘行接口</a:t>
            </a:r>
            <a:endParaRPr sz="1020" dirty="0"/>
          </a:p>
        </p:txBody>
      </p:sp>
      <p:sp>
        <p:nvSpPr>
          <p:cNvPr id="27" name="Text 25"/>
          <p:cNvSpPr>
            <a:spLocks noGrp="1"/>
          </p:cNvSpPr>
          <p:nvPr/>
        </p:nvSpPr>
        <p:spPr>
          <a:xfrm>
            <a:off x="786384" y="4526280"/>
            <a:ext cx="2103120" cy="347472"/>
          </a:xfrm>
          <a:prstGeom prst="rect">
            <a:avLst/>
          </a:prstGeom>
          <a:solidFill>
            <a:srgbClr val="10172A"/>
          </a:solidFill>
          <a:ln w="12700">
            <a:solidFill>
              <a:srgbClr val="2C3D61"/>
            </a:solidFill>
          </a:ln>
        </p:spPr>
        <p:txBody>
          <a:bodyPr wrap="square" lIns="508" tIns="508" rIns="508" bIns="508" anchor="ctr">
            <a:normAutofit/>
          </a:bodyPr>
          <a:lstStyle/>
          <a:p>
            <a:pPr marL="0" indent="0" algn="ctr">
              <a:buNone/>
            </a:pPr>
            <a:r>
              <a:rPr sz="1020">
                <a:solidFill>
                  <a:srgbClr val="B9C8E6"/>
                </a:solidFill>
                <a:latin typeface="Microsoft YaHei"/>
                <a:ea typeface="Microsoft YaHei"/>
                <a:cs typeface="Microsoft YaHei"/>
              </a:rPr>
              <a:t>0x2000_0034</a:t>
            </a:r>
            <a:endParaRPr sz="1020"/>
          </a:p>
        </p:txBody>
      </p:sp>
      <p:sp>
        <p:nvSpPr>
          <p:cNvPr id="28" name="Text 26"/>
          <p:cNvSpPr>
            <a:spLocks noGrp="1"/>
          </p:cNvSpPr>
          <p:nvPr/>
        </p:nvSpPr>
        <p:spPr>
          <a:xfrm>
            <a:off x="3182112" y="4526280"/>
            <a:ext cx="1783080" cy="347472"/>
          </a:xfrm>
          <a:prstGeom prst="rect">
            <a:avLst/>
          </a:prstGeom>
          <a:solidFill>
            <a:srgbClr val="10172A"/>
          </a:solidFill>
          <a:ln w="12700">
            <a:solidFill>
              <a:srgbClr val="2C3D61"/>
            </a:solidFill>
          </a:ln>
        </p:spPr>
        <p:txBody>
          <a:bodyPr wrap="square" lIns="508" tIns="508" rIns="508" bIns="508" anchor="ctr">
            <a:normAutofit/>
          </a:bodyPr>
          <a:lstStyle/>
          <a:p>
            <a:pPr marL="0" indent="0" algn="ctr">
              <a:buNone/>
            </a:pPr>
            <a:r>
              <a:rPr sz="102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LCD_GAME_REFRESH</a:t>
            </a:r>
            <a:endParaRPr sz="1020"/>
          </a:p>
        </p:txBody>
      </p:sp>
      <p:sp>
        <p:nvSpPr>
          <p:cNvPr id="29" name="Text 27"/>
          <p:cNvSpPr>
            <a:spLocks noGrp="1"/>
          </p:cNvSpPr>
          <p:nvPr/>
        </p:nvSpPr>
        <p:spPr>
          <a:xfrm>
            <a:off x="5303520" y="4526280"/>
            <a:ext cx="5989320" cy="347472"/>
          </a:xfrm>
          <a:prstGeom prst="rect">
            <a:avLst/>
          </a:prstGeom>
          <a:solidFill>
            <a:srgbClr val="10172A"/>
          </a:solidFill>
          <a:ln w="12700">
            <a:solidFill>
              <a:srgbClr val="2C3D61"/>
            </a:solidFill>
          </a:ln>
        </p:spPr>
        <p:txBody>
          <a:bodyPr wrap="square" lIns="508" tIns="508" rIns="508" bIns="508" anchor="ctr">
            <a:normAutofit/>
          </a:bodyPr>
          <a:lstStyle/>
          <a:p>
            <a:pPr marL="0" indent="0" algn="l">
              <a:buNone/>
            </a:pPr>
            <a:r>
              <a:rPr lang="en-US" sz="1020" dirty="0">
                <a:solidFill>
                  <a:srgbClr val="B9C8E6"/>
                </a:solidFill>
                <a:latin typeface="Microsoft YaHei"/>
                <a:ea typeface="Microsoft YaHei"/>
                <a:cs typeface="Microsoft YaHei"/>
              </a:rPr>
              <a:t>  </a:t>
            </a:r>
            <a:r>
              <a:rPr sz="1020" dirty="0" err="1">
                <a:solidFill>
                  <a:srgbClr val="B9C8E6"/>
                </a:solidFill>
                <a:latin typeface="Microsoft YaHei"/>
                <a:ea typeface="Microsoft YaHei"/>
                <a:cs typeface="Microsoft YaHei"/>
              </a:rPr>
              <a:t>后续整屏刷新接口</a:t>
            </a:r>
            <a:endParaRPr sz="1020" dirty="0"/>
          </a:p>
        </p:txBody>
      </p:sp>
      <p:sp>
        <p:nvSpPr>
          <p:cNvPr id="30" name="Text 28"/>
          <p:cNvSpPr>
            <a:spLocks noGrp="1"/>
          </p:cNvSpPr>
          <p:nvPr/>
        </p:nvSpPr>
        <p:spPr>
          <a:xfrm>
            <a:off x="786384" y="4974336"/>
            <a:ext cx="2103120" cy="347472"/>
          </a:xfrm>
          <a:prstGeom prst="rect">
            <a:avLst/>
          </a:prstGeom>
          <a:solidFill>
            <a:srgbClr val="121A2D"/>
          </a:solidFill>
          <a:ln w="12700">
            <a:solidFill>
              <a:srgbClr val="2C3D61"/>
            </a:solidFill>
          </a:ln>
        </p:spPr>
        <p:txBody>
          <a:bodyPr wrap="square" lIns="508" tIns="508" rIns="508" bIns="508" anchor="ctr">
            <a:normAutofit/>
          </a:bodyPr>
          <a:lstStyle/>
          <a:p>
            <a:pPr marL="0" indent="0" algn="ctr">
              <a:buNone/>
            </a:pPr>
            <a:r>
              <a:rPr sz="1020">
                <a:solidFill>
                  <a:srgbClr val="B9C8E6"/>
                </a:solidFill>
                <a:latin typeface="Microsoft YaHei"/>
                <a:ea typeface="Microsoft YaHei"/>
                <a:cs typeface="Microsoft YaHei"/>
              </a:rPr>
              <a:t>0x2000_0038</a:t>
            </a:r>
            <a:endParaRPr sz="1020"/>
          </a:p>
        </p:txBody>
      </p:sp>
      <p:sp>
        <p:nvSpPr>
          <p:cNvPr id="31" name="Text 29"/>
          <p:cNvSpPr>
            <a:spLocks noGrp="1"/>
          </p:cNvSpPr>
          <p:nvPr/>
        </p:nvSpPr>
        <p:spPr>
          <a:xfrm>
            <a:off x="3182112" y="4974336"/>
            <a:ext cx="1783080" cy="347472"/>
          </a:xfrm>
          <a:prstGeom prst="rect">
            <a:avLst/>
          </a:prstGeom>
          <a:solidFill>
            <a:srgbClr val="121A2D"/>
          </a:solidFill>
          <a:ln w="12700">
            <a:solidFill>
              <a:srgbClr val="2C3D61"/>
            </a:solidFill>
          </a:ln>
        </p:spPr>
        <p:txBody>
          <a:bodyPr wrap="square" lIns="508" tIns="508" rIns="508" bIns="508" anchor="ctr">
            <a:normAutofit/>
          </a:bodyPr>
          <a:lstStyle/>
          <a:p>
            <a:pPr marL="0" indent="0" algn="ctr">
              <a:buNone/>
            </a:pPr>
            <a:r>
              <a:rPr sz="102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BUZZER_TRIGGER</a:t>
            </a:r>
            <a:endParaRPr sz="1020"/>
          </a:p>
        </p:txBody>
      </p:sp>
      <p:sp>
        <p:nvSpPr>
          <p:cNvPr id="32" name="Text 30"/>
          <p:cNvSpPr>
            <a:spLocks noGrp="1"/>
          </p:cNvSpPr>
          <p:nvPr/>
        </p:nvSpPr>
        <p:spPr>
          <a:xfrm>
            <a:off x="5303520" y="4974336"/>
            <a:ext cx="5989320" cy="347472"/>
          </a:xfrm>
          <a:prstGeom prst="rect">
            <a:avLst/>
          </a:prstGeom>
          <a:solidFill>
            <a:srgbClr val="121A2D"/>
          </a:solidFill>
          <a:ln w="12700">
            <a:solidFill>
              <a:srgbClr val="2C3D61"/>
            </a:solidFill>
          </a:ln>
        </p:spPr>
        <p:txBody>
          <a:bodyPr wrap="square" lIns="508" tIns="508" rIns="508" bIns="508" anchor="ctr">
            <a:normAutofit/>
          </a:bodyPr>
          <a:lstStyle/>
          <a:p>
            <a:pPr marL="0" indent="0" algn="l">
              <a:buNone/>
            </a:pPr>
            <a:r>
              <a:rPr lang="en-US" sz="1020" dirty="0">
                <a:solidFill>
                  <a:srgbClr val="B9C8E6"/>
                </a:solidFill>
                <a:latin typeface="Microsoft YaHei"/>
                <a:ea typeface="Microsoft YaHei"/>
                <a:cs typeface="Microsoft YaHei"/>
              </a:rPr>
              <a:t>  </a:t>
            </a:r>
            <a:r>
              <a:rPr sz="1020" dirty="0" err="1">
                <a:solidFill>
                  <a:srgbClr val="B9C8E6"/>
                </a:solidFill>
                <a:latin typeface="Microsoft YaHei"/>
                <a:ea typeface="Microsoft YaHei"/>
                <a:cs typeface="Microsoft YaHei"/>
              </a:rPr>
              <a:t>后续蜂鸣器预留</a:t>
            </a:r>
            <a:endParaRPr sz="1020" dirty="0"/>
          </a:p>
        </p:txBody>
      </p:sp>
      <p:sp>
        <p:nvSpPr>
          <p:cNvPr id="33" name="Text 31"/>
          <p:cNvSpPr>
            <a:spLocks noGrp="1"/>
          </p:cNvSpPr>
          <p:nvPr/>
        </p:nvSpPr>
        <p:spPr>
          <a:xfrm>
            <a:off x="2633472" y="5715000"/>
            <a:ext cx="6903720" cy="402336"/>
          </a:xfrm>
          <a:prstGeom prst="rect">
            <a:avLst/>
          </a:prstGeom>
          <a:solidFill>
            <a:srgbClr val="102033"/>
          </a:solidFill>
          <a:ln w="12700">
            <a:solidFill>
              <a:srgbClr val="1F5E6E"/>
            </a:solidFill>
          </a:ln>
        </p:spPr>
        <p:txBody>
          <a:bodyPr wrap="square" lIns="508" tIns="508" rIns="508" bIns="508" anchor="ctr">
            <a:normAutofit/>
          </a:bodyPr>
          <a:lstStyle/>
          <a:p>
            <a:pPr marL="0" indent="0" algn="ctr">
              <a:buNone/>
            </a:pPr>
            <a:r>
              <a:rPr sz="1250" b="1">
                <a:solidFill>
                  <a:srgbClr val="E5FBFF"/>
                </a:solidFill>
                <a:latin typeface="Microsoft YaHei"/>
                <a:ea typeface="Microsoft YaHei"/>
                <a:cs typeface="Microsoft YaHei"/>
              </a:rPr>
              <a:t>寄存器语义把“软件意图”转换为“硬件时序”</a:t>
            </a:r>
            <a:endParaRPr sz="1250"/>
          </a:p>
        </p:txBody>
      </p:sp>
      <p:sp>
        <p:nvSpPr>
          <p:cNvPr id="34" name="Text 32"/>
          <p:cNvSpPr>
            <a:spLocks noGrp="1"/>
          </p:cNvSpPr>
          <p:nvPr/>
        </p:nvSpPr>
        <p:spPr>
          <a:xfrm>
            <a:off x="530352" y="6428232"/>
            <a:ext cx="3840480" cy="16459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800">
                <a:solidFill>
                  <a:srgbClr val="8392B7"/>
                </a:solidFill>
                <a:latin typeface="Microsoft YaHei"/>
                <a:ea typeface="Microsoft YaHei"/>
                <a:cs typeface="Microsoft YaHei"/>
              </a:rPr>
              <a:t>ST7571 LCD · SPI · MMIO · RISC-V ASM</a:t>
            </a:r>
            <a:endParaRPr sz="8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Grp="1"/>
          </p:cNvSpPr>
          <p:nvPr/>
        </p:nvSpPr>
        <p:spPr>
          <a:xfrm>
            <a:off x="533400" y="323850"/>
            <a:ext cx="57150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900" b="1">
                <a:solidFill>
                  <a:srgbClr val="22D3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22D3EE"/>
                </a:solidFill>
                <a:latin typeface="Microsoft YaHei"/>
                <a:ea typeface="Microsoft YaHei"/>
                <a:cs typeface="Microsoft YaHei"/>
              </a:rPr>
              <a:t>中期答辩补充</a:t>
            </a: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33400" y="609600"/>
            <a:ext cx="10763250" cy="5334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0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MMIO 请求保持与单次接收</a:t>
            </a: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533400" y="1143000"/>
            <a:ext cx="10953750" cy="3619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0">
                <a:solidFill>
                  <a:srgbClr val="BAC9E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BAC9E2"/>
                </a:solidFill>
                <a:latin typeface="Microsoft YaHei"/>
                <a:ea typeface="Microsoft YaHei"/>
                <a:cs typeface="Microsoft YaHei"/>
              </a:rPr>
              <a:t>CPU 和 LCD 通过 ready 协同，写操作在总线完成条件下生效</a:t>
            </a: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590550" y="1876425"/>
            <a:ext cx="1066800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1">
                <a:solidFill>
                  <a:srgbClr val="22D3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2D3EE"/>
                </a:solidFill>
                <a:latin typeface="Microsoft YaHei"/>
                <a:ea typeface="Microsoft YaHei"/>
                <a:cs typeface="Microsoft YaHei"/>
              </a:rPr>
              <a:t>等待期间</a:t>
            </a: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590550" y="2219325"/>
            <a:ext cx="1066800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0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bus_req 保持有效，地址与数据保持，bus_ready = 0</a:t>
            </a: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590550" y="2819400"/>
            <a:ext cx="1066800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1">
                <a:solidFill>
                  <a:srgbClr val="22D3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2D3EE"/>
                </a:solidFill>
                <a:latin typeface="Microsoft YaHei"/>
                <a:ea typeface="Microsoft YaHei"/>
                <a:cs typeface="Microsoft YaHei"/>
              </a:rPr>
              <a:t>完成条件</a:t>
            </a: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590550" y="3162300"/>
            <a:ext cx="1066800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0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bus_req &amp;&amp; bus_ready &amp;&amp; bus_write 才产生 LCD 写脉冲</a:t>
            </a: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590550" y="3762375"/>
            <a:ext cx="1066800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1">
                <a:solidFill>
                  <a:srgbClr val="22D3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2D3EE"/>
                </a:solidFill>
                <a:latin typeface="Microsoft YaHei"/>
                <a:ea typeface="Microsoft YaHei"/>
                <a:cs typeface="Microsoft YaHei"/>
              </a:rPr>
              <a:t>LCD 接收</a:t>
            </a: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590550" y="4105275"/>
            <a:ext cx="1066800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0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lcd_tx_valid 携带 RS 与数据，控制器调度 SPI 发送</a:t>
            </a: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590550" y="4705350"/>
            <a:ext cx="1066800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1">
                <a:solidFill>
                  <a:srgbClr val="22D3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2D3EE"/>
                </a:solidFill>
                <a:latin typeface="Microsoft YaHei"/>
                <a:ea typeface="Microsoft YaHei"/>
                <a:cs typeface="Microsoft YaHei"/>
              </a:rPr>
              <a:t>联合检查</a:t>
            </a: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590550" y="5048250"/>
            <a:ext cx="1066800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0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延长 busy，核对接受次数与有效写事务数一致，并检查字节顺序</a:t>
            </a:r>
          </a:p>
        </p:txBody>
      </p:sp>
      <p:sp>
        <p:nvSpPr>
          <p:cNvPr id="14" name="Text 3"/>
          <p:cNvSpPr>
            <a:spLocks noGrp="1"/>
          </p:cNvSpPr>
          <p:nvPr/>
        </p:nvSpPr>
        <p:spPr>
          <a:xfrm>
            <a:off x="11137392" y="384048"/>
            <a:ext cx="50292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000" b="1">
                <a:solidFill>
                  <a:srgbClr val="8392B7"/>
                </a:solidFill>
                <a:latin typeface="Microsoft YaHei"/>
                <a:ea typeface="Microsoft YaHei"/>
                <a:cs typeface="Microsoft YaHei"/>
              </a:rPr>
              <a:t>11</a:t>
            </a:r>
            <a:endParaRPr sz="1000"/>
          </a:p>
        </p:txBody>
      </p:sp>
      <p:sp>
        <p:nvSpPr>
          <p:cNvPr id="16" name="Text 16"/>
          <p:cNvSpPr>
            <a:spLocks noGrp="1"/>
          </p:cNvSpPr>
          <p:nvPr/>
        </p:nvSpPr>
        <p:spPr>
          <a:xfrm>
            <a:off x="530352" y="6428232"/>
            <a:ext cx="3840480" cy="16459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800" dirty="0">
                <a:solidFill>
                  <a:srgbClr val="8392B7"/>
                </a:solidFill>
                <a:latin typeface="Microsoft YaHei"/>
                <a:ea typeface="Microsoft YaHei"/>
                <a:cs typeface="Microsoft YaHei"/>
              </a:rPr>
              <a:t>ST7571 LCD · SPI · MMIO · RISC-V ASM</a:t>
            </a:r>
            <a:endParaRPr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/>
        </p:nvSpPr>
        <p:spPr>
          <a:xfrm>
            <a:off x="530352" y="320040"/>
            <a:ext cx="1645920" cy="20116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850" b="1">
                <a:solidFill>
                  <a:srgbClr val="22D3EE"/>
                </a:solidFill>
                <a:latin typeface="Microsoft YaHei"/>
                <a:ea typeface="Microsoft YaHei"/>
                <a:cs typeface="Microsoft YaHei"/>
              </a:rPr>
              <a:t>软件流程</a:t>
            </a:r>
            <a:endParaRPr sz="850"/>
          </a:p>
        </p:txBody>
      </p:sp>
      <p:sp>
        <p:nvSpPr>
          <p:cNvPr id="3" name="Text 1"/>
          <p:cNvSpPr>
            <a:spLocks noGrp="1"/>
          </p:cNvSpPr>
          <p:nvPr/>
        </p:nvSpPr>
        <p:spPr>
          <a:xfrm>
            <a:off x="530352" y="566928"/>
            <a:ext cx="8595360" cy="40233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240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最小 RISC-V 汇编驱动</a:t>
            </a:r>
            <a:endParaRPr sz="2400"/>
          </a:p>
        </p:txBody>
      </p:sp>
      <p:sp>
        <p:nvSpPr>
          <p:cNvPr id="4" name="Text 2"/>
          <p:cNvSpPr>
            <a:spLocks noGrp="1"/>
          </p:cNvSpPr>
          <p:nvPr/>
        </p:nvSpPr>
        <p:spPr>
          <a:xfrm>
            <a:off x="548640" y="1024128"/>
            <a:ext cx="7863840" cy="25603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1150">
                <a:solidFill>
                  <a:srgbClr val="B9C8E6"/>
                </a:solidFill>
                <a:latin typeface="Microsoft YaHei"/>
                <a:ea typeface="Microsoft YaHei"/>
                <a:cs typeface="Microsoft YaHei"/>
              </a:rPr>
              <a:t>驱动通过轮询状态，把 LCD 时序封装成简单函数</a:t>
            </a:r>
            <a:endParaRPr sz="1150"/>
          </a:p>
        </p:txBody>
      </p:sp>
      <p:sp>
        <p:nvSpPr>
          <p:cNvPr id="5" name="Text 3"/>
          <p:cNvSpPr>
            <a:spLocks noGrp="1"/>
          </p:cNvSpPr>
          <p:nvPr/>
        </p:nvSpPr>
        <p:spPr>
          <a:xfrm>
            <a:off x="11137392" y="384048"/>
            <a:ext cx="50292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000" b="1">
                <a:solidFill>
                  <a:srgbClr val="8392B7"/>
                </a:solidFill>
                <a:latin typeface="Microsoft YaHei"/>
                <a:ea typeface="Microsoft YaHei"/>
                <a:cs typeface="Microsoft YaHei"/>
              </a:rPr>
              <a:t>08</a:t>
            </a:r>
            <a:endParaRPr sz="1000"/>
          </a:p>
        </p:txBody>
      </p:sp>
      <p:sp>
        <p:nvSpPr>
          <p:cNvPr id="6" name="Shape 4"/>
          <p:cNvSpPr>
            <a:spLocks noGrp="1"/>
          </p:cNvSpPr>
          <p:nvPr/>
        </p:nvSpPr>
        <p:spPr>
          <a:xfrm>
            <a:off x="530352" y="1389888"/>
            <a:ext cx="11109960" cy="0"/>
          </a:xfrm>
          <a:prstGeom prst="line">
            <a:avLst/>
          </a:prstGeom>
          <a:noFill/>
          <a:ln w="10160">
            <a:solidFill>
              <a:srgbClr val="2C3D61">
                <a:alpha val="80000"/>
              </a:srgbClr>
            </a:solidFill>
            <a:prstDash val="solid"/>
          </a:ln>
        </p:spPr>
      </p:sp>
      <p:sp>
        <p:nvSpPr>
          <p:cNvPr id="7" name="Shape 5"/>
          <p:cNvSpPr>
            <a:spLocks noGrp="1"/>
          </p:cNvSpPr>
          <p:nvPr/>
        </p:nvSpPr>
        <p:spPr>
          <a:xfrm>
            <a:off x="530352" y="1389888"/>
            <a:ext cx="1508760" cy="0"/>
          </a:xfrm>
          <a:prstGeom prst="line">
            <a:avLst/>
          </a:prstGeom>
          <a:noFill/>
          <a:ln w="27940">
            <a:solidFill>
              <a:srgbClr val="22D3EE"/>
            </a:solidFill>
            <a:prstDash val="solid"/>
          </a:ln>
        </p:spPr>
      </p:sp>
      <p:sp>
        <p:nvSpPr>
          <p:cNvPr id="8" name="Shape 6"/>
          <p:cNvSpPr>
            <a:spLocks noGrp="1"/>
          </p:cNvSpPr>
          <p:nvPr/>
        </p:nvSpPr>
        <p:spPr>
          <a:xfrm>
            <a:off x="1993392" y="2084832"/>
            <a:ext cx="493776" cy="0"/>
          </a:xfrm>
          <a:prstGeom prst="line">
            <a:avLst/>
          </a:prstGeom>
          <a:noFill/>
          <a:ln w="13970">
            <a:solidFill>
              <a:srgbClr val="22D3EE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>
            <a:spLocks noGrp="1"/>
          </p:cNvSpPr>
          <p:nvPr/>
        </p:nvSpPr>
        <p:spPr>
          <a:xfrm>
            <a:off x="4050792" y="2084832"/>
            <a:ext cx="493776" cy="0"/>
          </a:xfrm>
          <a:prstGeom prst="line">
            <a:avLst/>
          </a:prstGeom>
          <a:noFill/>
          <a:ln w="13970">
            <a:solidFill>
              <a:srgbClr val="22D3EE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>
            <a:spLocks noGrp="1"/>
          </p:cNvSpPr>
          <p:nvPr/>
        </p:nvSpPr>
        <p:spPr>
          <a:xfrm>
            <a:off x="6108192" y="2084832"/>
            <a:ext cx="493776" cy="0"/>
          </a:xfrm>
          <a:prstGeom prst="line">
            <a:avLst/>
          </a:prstGeom>
          <a:noFill/>
          <a:ln w="13970">
            <a:solidFill>
              <a:srgbClr val="22D3EE"/>
            </a:solidFill>
            <a:prstDash val="solid"/>
            <a:headEnd type="none"/>
            <a:tailEnd type="triangle"/>
          </a:ln>
        </p:spPr>
      </p:sp>
      <p:sp>
        <p:nvSpPr>
          <p:cNvPr id="11" name="Text 9"/>
          <p:cNvSpPr>
            <a:spLocks noGrp="1"/>
          </p:cNvSpPr>
          <p:nvPr/>
        </p:nvSpPr>
        <p:spPr>
          <a:xfrm>
            <a:off x="685800" y="1755648"/>
            <a:ext cx="1417320" cy="658368"/>
          </a:xfrm>
          <a:prstGeom prst="rect">
            <a:avLst/>
          </a:prstGeom>
          <a:solidFill>
            <a:srgbClr val="19233B"/>
          </a:solidFill>
          <a:ln w="15240">
            <a:solidFill>
              <a:srgbClr val="34D399"/>
            </a:solidFill>
          </a:ln>
        </p:spPr>
        <p:txBody>
          <a:bodyPr wrap="square" lIns="1397" tIns="1397" rIns="1397" bIns="1397" anchor="ctr">
            <a:normAutofit/>
          </a:bodyPr>
          <a:lstStyle/>
          <a:p>
            <a:pPr marL="0" indent="0" algn="ctr">
              <a:buNone/>
            </a:pPr>
            <a:r>
              <a:rPr sz="105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lcd_wait_init</a:t>
            </a:r>
            <a:endParaRPr sz="1050"/>
          </a:p>
          <a:p>
            <a:pPr marL="0" indent="0" algn="ctr">
              <a:buNone/>
            </a:pPr>
            <a:r>
              <a:rPr sz="105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等待 initialized</a:t>
            </a:r>
            <a:endParaRPr sz="1050"/>
          </a:p>
        </p:txBody>
      </p:sp>
      <p:sp>
        <p:nvSpPr>
          <p:cNvPr id="12" name="Text 10"/>
          <p:cNvSpPr>
            <a:spLocks noGrp="1"/>
          </p:cNvSpPr>
          <p:nvPr/>
        </p:nvSpPr>
        <p:spPr>
          <a:xfrm>
            <a:off x="2743200" y="1755648"/>
            <a:ext cx="1417320" cy="658368"/>
          </a:xfrm>
          <a:prstGeom prst="rect">
            <a:avLst/>
          </a:prstGeom>
          <a:solidFill>
            <a:srgbClr val="19233B"/>
          </a:solidFill>
          <a:ln w="15240">
            <a:solidFill>
              <a:srgbClr val="22D3EE"/>
            </a:solidFill>
          </a:ln>
        </p:spPr>
        <p:txBody>
          <a:bodyPr wrap="square" lIns="1397" tIns="1397" rIns="1397" bIns="1397" anchor="ctr">
            <a:normAutofit/>
          </a:bodyPr>
          <a:lstStyle/>
          <a:p>
            <a:pPr marL="0" indent="0" algn="ctr">
              <a:buNone/>
            </a:pPr>
            <a:r>
              <a:rPr sz="105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lcd_wait_ready</a:t>
            </a:r>
            <a:endParaRPr sz="1050"/>
          </a:p>
          <a:p>
            <a:pPr marL="0" indent="0" algn="ctr">
              <a:buNone/>
            </a:pPr>
            <a:r>
              <a:rPr sz="105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等待 ready</a:t>
            </a:r>
            <a:endParaRPr sz="1050"/>
          </a:p>
        </p:txBody>
      </p:sp>
      <p:sp>
        <p:nvSpPr>
          <p:cNvPr id="13" name="Text 11"/>
          <p:cNvSpPr>
            <a:spLocks noGrp="1"/>
          </p:cNvSpPr>
          <p:nvPr/>
        </p:nvSpPr>
        <p:spPr>
          <a:xfrm>
            <a:off x="4800600" y="1755648"/>
            <a:ext cx="1417320" cy="658368"/>
          </a:xfrm>
          <a:prstGeom prst="rect">
            <a:avLst/>
          </a:prstGeom>
          <a:solidFill>
            <a:srgbClr val="19233B"/>
          </a:solidFill>
          <a:ln w="15240">
            <a:solidFill>
              <a:srgbClr val="3B82F6"/>
            </a:solidFill>
          </a:ln>
        </p:spPr>
        <p:txBody>
          <a:bodyPr wrap="square" lIns="1397" tIns="1397" rIns="1397" bIns="1397" anchor="ctr">
            <a:normAutofit/>
          </a:bodyPr>
          <a:lstStyle/>
          <a:p>
            <a:pPr marL="0" indent="0" algn="ctr">
              <a:buNone/>
            </a:pPr>
            <a:r>
              <a:rPr sz="105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lcd_write_cmd</a:t>
            </a:r>
            <a:endParaRPr sz="1050"/>
          </a:p>
          <a:p>
            <a:pPr marL="0" indent="0" algn="ctr">
              <a:buNone/>
            </a:pPr>
            <a:r>
              <a:rPr sz="105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SW 到 LCD_CMD</a:t>
            </a:r>
            <a:endParaRPr sz="1050"/>
          </a:p>
        </p:txBody>
      </p:sp>
      <p:sp>
        <p:nvSpPr>
          <p:cNvPr id="14" name="Text 12"/>
          <p:cNvSpPr>
            <a:spLocks noGrp="1"/>
          </p:cNvSpPr>
          <p:nvPr/>
        </p:nvSpPr>
        <p:spPr>
          <a:xfrm>
            <a:off x="6858000" y="1755648"/>
            <a:ext cx="1417320" cy="658368"/>
          </a:xfrm>
          <a:prstGeom prst="rect">
            <a:avLst/>
          </a:prstGeom>
          <a:solidFill>
            <a:srgbClr val="19233B"/>
          </a:solidFill>
          <a:ln w="15240">
            <a:solidFill>
              <a:srgbClr val="F59E0B"/>
            </a:solidFill>
          </a:ln>
        </p:spPr>
        <p:txBody>
          <a:bodyPr wrap="square" lIns="1397" tIns="1397" rIns="1397" bIns="1397" anchor="ctr">
            <a:normAutofit/>
          </a:bodyPr>
          <a:lstStyle/>
          <a:p>
            <a:pPr marL="0" indent="0" algn="ctr">
              <a:buNone/>
            </a:pPr>
            <a:r>
              <a:rPr sz="105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lcd_write_data</a:t>
            </a:r>
            <a:endParaRPr sz="1050"/>
          </a:p>
          <a:p>
            <a:pPr marL="0" indent="0" algn="ctr">
              <a:buNone/>
            </a:pPr>
            <a:r>
              <a:rPr sz="105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SW 到 LCD_DATA</a:t>
            </a:r>
            <a:endParaRPr sz="1050"/>
          </a:p>
        </p:txBody>
      </p:sp>
      <p:sp>
        <p:nvSpPr>
          <p:cNvPr id="15" name="Text 13"/>
          <p:cNvSpPr>
            <a:spLocks noGrp="1"/>
          </p:cNvSpPr>
          <p:nvPr/>
        </p:nvSpPr>
        <p:spPr>
          <a:xfrm>
            <a:off x="804672" y="2980944"/>
            <a:ext cx="5669280" cy="1572768"/>
          </a:xfrm>
          <a:prstGeom prst="rect">
            <a:avLst/>
          </a:prstGeom>
          <a:solidFill>
            <a:srgbClr val="050A16"/>
          </a:solidFill>
          <a:ln w="12700">
            <a:solidFill>
              <a:srgbClr val="334155"/>
            </a:solidFill>
          </a:ln>
        </p:spPr>
        <p:txBody>
          <a:bodyPr wrap="square" lIns="2286" tIns="2286" rIns="2286" bIns="2286" anchor="ctr">
            <a:normAutofit/>
          </a:bodyPr>
          <a:lstStyle/>
          <a:p>
            <a:pPr marL="0" indent="0" algn="l">
              <a:buNone/>
            </a:pPr>
            <a:r>
              <a:rPr sz="1200" dirty="0" err="1">
                <a:solidFill>
                  <a:srgbClr val="D9E7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wait_ready</a:t>
            </a:r>
            <a:r>
              <a:rPr sz="1200" dirty="0">
                <a:solidFill>
                  <a:srgbClr val="D9E7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:</a:t>
            </a:r>
            <a:endParaRPr sz="1200" dirty="0"/>
          </a:p>
          <a:p>
            <a:pPr marL="0" indent="0" algn="l">
              <a:buNone/>
            </a:pPr>
            <a:r>
              <a:rPr sz="1200" dirty="0">
                <a:solidFill>
                  <a:srgbClr val="D9E7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  </a:t>
            </a:r>
            <a:r>
              <a:rPr sz="1200" dirty="0" err="1">
                <a:solidFill>
                  <a:srgbClr val="D9E7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lw</a:t>
            </a:r>
            <a:r>
              <a:rPr sz="1200" dirty="0">
                <a:solidFill>
                  <a:srgbClr val="D9E7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 x12, 40(x10)      # LCD_STATUS</a:t>
            </a:r>
            <a:endParaRPr sz="1200" dirty="0"/>
          </a:p>
          <a:p>
            <a:pPr marL="0" indent="0" algn="l">
              <a:buNone/>
            </a:pPr>
            <a:r>
              <a:rPr sz="1200" dirty="0">
                <a:solidFill>
                  <a:srgbClr val="D9E7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  </a:t>
            </a:r>
            <a:r>
              <a:rPr sz="1200" dirty="0" err="1">
                <a:solidFill>
                  <a:srgbClr val="D9E7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andi</a:t>
            </a:r>
            <a:r>
              <a:rPr sz="1200" dirty="0">
                <a:solidFill>
                  <a:srgbClr val="D9E7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x12, x12, 1       # ready</a:t>
            </a:r>
            <a:endParaRPr sz="1200" dirty="0"/>
          </a:p>
          <a:p>
            <a:pPr marL="0" indent="0" algn="l">
              <a:buNone/>
            </a:pPr>
            <a:r>
              <a:rPr sz="1200" dirty="0">
                <a:solidFill>
                  <a:srgbClr val="D9E7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  </a:t>
            </a:r>
            <a:r>
              <a:rPr sz="1200" dirty="0" err="1">
                <a:solidFill>
                  <a:srgbClr val="D9E7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beq</a:t>
            </a:r>
            <a:r>
              <a:rPr sz="1200" dirty="0">
                <a:solidFill>
                  <a:srgbClr val="D9E7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x12, x0, </a:t>
            </a:r>
            <a:r>
              <a:rPr sz="1200" dirty="0" err="1">
                <a:solidFill>
                  <a:srgbClr val="D9E7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wait_ready</a:t>
            </a:r>
            <a:endParaRPr sz="1200" dirty="0"/>
          </a:p>
          <a:p>
            <a:pPr marL="0" indent="0" algn="l">
              <a:buNone/>
            </a:pPr>
            <a:r>
              <a:rPr sz="1200" dirty="0">
                <a:solidFill>
                  <a:srgbClr val="D9E7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  </a:t>
            </a:r>
            <a:r>
              <a:rPr sz="1200" dirty="0" err="1">
                <a:solidFill>
                  <a:srgbClr val="D9E7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sw</a:t>
            </a:r>
            <a:r>
              <a:rPr sz="1200" dirty="0">
                <a:solidFill>
                  <a:srgbClr val="D9E7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 x13, 32(x10)      # LCD_CMD</a:t>
            </a:r>
            <a:endParaRPr sz="1200" dirty="0"/>
          </a:p>
        </p:txBody>
      </p:sp>
      <p:sp>
        <p:nvSpPr>
          <p:cNvPr id="16" name="Text 14"/>
          <p:cNvSpPr>
            <a:spLocks noGrp="1"/>
          </p:cNvSpPr>
          <p:nvPr/>
        </p:nvSpPr>
        <p:spPr>
          <a:xfrm>
            <a:off x="6839712" y="2962656"/>
            <a:ext cx="4279392" cy="1609344"/>
          </a:xfrm>
          <a:prstGeom prst="rect">
            <a:avLst/>
          </a:prstGeom>
          <a:solidFill>
            <a:srgbClr val="121A2D"/>
          </a:solidFill>
          <a:ln w="12700">
            <a:solidFill>
              <a:srgbClr val="34D399"/>
            </a:solidFill>
          </a:ln>
        </p:spPr>
        <p:txBody>
          <a:bodyPr wrap="square" lIns="2286" tIns="2286" rIns="2286" bIns="2286" anchor="ctr">
            <a:normAutofit/>
          </a:bodyPr>
          <a:lstStyle/>
          <a:p>
            <a:pPr marL="0" indent="0" algn="ctr">
              <a:buNone/>
            </a:pPr>
            <a:r>
              <a:rPr sz="1400" b="1">
                <a:solidFill>
                  <a:srgbClr val="E8FFF5"/>
                </a:solidFill>
                <a:latin typeface="Microsoft YaHei"/>
                <a:ea typeface="Microsoft YaHei"/>
                <a:cs typeface="Microsoft YaHei"/>
              </a:rPr>
              <a:t>软件层只处理寄存器语义</a:t>
            </a:r>
            <a:endParaRPr sz="1400"/>
          </a:p>
          <a:p>
            <a:pPr marL="0" indent="0" algn="ctr">
              <a:buNone/>
            </a:pPr>
            <a:r>
              <a:rPr sz="1400" b="1">
                <a:solidFill>
                  <a:srgbClr val="E8FFF5"/>
                </a:solidFill>
                <a:latin typeface="Microsoft YaHei"/>
                <a:ea typeface="Microsoft YaHei"/>
                <a:cs typeface="Microsoft YaHei"/>
              </a:rPr>
              <a:t>硬件层保证复位、位序和发送间隔</a:t>
            </a:r>
            <a:endParaRPr sz="1400"/>
          </a:p>
          <a:p>
            <a:pPr marL="0" indent="0" algn="ctr">
              <a:buNone/>
            </a:pPr>
            <a:r>
              <a:rPr sz="1400" b="1">
                <a:solidFill>
                  <a:srgbClr val="E8FFF5"/>
                </a:solidFill>
                <a:latin typeface="Microsoft YaHei"/>
                <a:ea typeface="Microsoft YaHei"/>
                <a:cs typeface="Microsoft YaHei"/>
              </a:rPr>
              <a:t>两层通过 ready / valid 解耦</a:t>
            </a:r>
            <a:endParaRPr sz="1400"/>
          </a:p>
        </p:txBody>
      </p:sp>
      <p:sp>
        <p:nvSpPr>
          <p:cNvPr id="17" name="Text 15"/>
          <p:cNvSpPr>
            <a:spLocks noGrp="1"/>
          </p:cNvSpPr>
          <p:nvPr/>
        </p:nvSpPr>
        <p:spPr>
          <a:xfrm>
            <a:off x="530352" y="6428232"/>
            <a:ext cx="3840480" cy="16459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800">
                <a:solidFill>
                  <a:srgbClr val="8392B7"/>
                </a:solidFill>
                <a:latin typeface="Microsoft YaHei"/>
                <a:ea typeface="Microsoft YaHei"/>
                <a:cs typeface="Microsoft YaHei"/>
              </a:rPr>
              <a:t>ST7571 LCD · SPI · MMIO · RISC-V ASM</a:t>
            </a:r>
            <a:endParaRPr sz="8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/>
        </p:nvSpPr>
        <p:spPr>
          <a:xfrm>
            <a:off x="530352" y="320040"/>
            <a:ext cx="1645920" cy="20116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850" b="1">
                <a:solidFill>
                  <a:srgbClr val="22D3EE"/>
                </a:solidFill>
                <a:latin typeface="Microsoft YaHei"/>
                <a:ea typeface="Microsoft YaHei"/>
                <a:cs typeface="Microsoft YaHei"/>
              </a:rPr>
              <a:t>验证方法</a:t>
            </a:r>
            <a:endParaRPr sz="850"/>
          </a:p>
        </p:txBody>
      </p:sp>
      <p:sp>
        <p:nvSpPr>
          <p:cNvPr id="3" name="Text 1"/>
          <p:cNvSpPr>
            <a:spLocks noGrp="1"/>
          </p:cNvSpPr>
          <p:nvPr/>
        </p:nvSpPr>
        <p:spPr>
          <a:xfrm>
            <a:off x="530352" y="566928"/>
            <a:ext cx="8595360" cy="40233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240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接口仿真检查项</a:t>
            </a:r>
            <a:endParaRPr sz="2400"/>
          </a:p>
        </p:txBody>
      </p:sp>
      <p:sp>
        <p:nvSpPr>
          <p:cNvPr id="4" name="Text 2"/>
          <p:cNvSpPr>
            <a:spLocks noGrp="1"/>
          </p:cNvSpPr>
          <p:nvPr/>
        </p:nvSpPr>
        <p:spPr>
          <a:xfrm>
            <a:off x="548640" y="1024128"/>
            <a:ext cx="7863840" cy="25603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1150">
                <a:solidFill>
                  <a:srgbClr val="B9C8E6"/>
                </a:solidFill>
                <a:latin typeface="Microsoft YaHei"/>
                <a:ea typeface="Microsoft YaHei"/>
                <a:cs typeface="Microsoft YaHei"/>
              </a:rPr>
              <a:t>四组信号分别覆盖上电、字节发送、握手和 MMIO 等待</a:t>
            </a:r>
            <a:endParaRPr sz="1150"/>
          </a:p>
        </p:txBody>
      </p:sp>
      <p:sp>
        <p:nvSpPr>
          <p:cNvPr id="5" name="Text 3"/>
          <p:cNvSpPr>
            <a:spLocks noGrp="1"/>
          </p:cNvSpPr>
          <p:nvPr/>
        </p:nvSpPr>
        <p:spPr>
          <a:xfrm>
            <a:off x="11137392" y="384048"/>
            <a:ext cx="50292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000" b="1">
                <a:solidFill>
                  <a:srgbClr val="8392B7"/>
                </a:solidFill>
                <a:latin typeface="Microsoft YaHei"/>
                <a:ea typeface="Microsoft YaHei"/>
                <a:cs typeface="Microsoft YaHei"/>
              </a:rPr>
              <a:t>09</a:t>
            </a:r>
            <a:endParaRPr sz="1000"/>
          </a:p>
        </p:txBody>
      </p:sp>
      <p:sp>
        <p:nvSpPr>
          <p:cNvPr id="6" name="Shape 4"/>
          <p:cNvSpPr>
            <a:spLocks noGrp="1"/>
          </p:cNvSpPr>
          <p:nvPr/>
        </p:nvSpPr>
        <p:spPr>
          <a:xfrm>
            <a:off x="530352" y="1389888"/>
            <a:ext cx="11109960" cy="0"/>
          </a:xfrm>
          <a:prstGeom prst="line">
            <a:avLst/>
          </a:prstGeom>
          <a:noFill/>
          <a:ln w="10160">
            <a:solidFill>
              <a:srgbClr val="2C3D61">
                <a:alpha val="80000"/>
              </a:srgbClr>
            </a:solidFill>
            <a:prstDash val="solid"/>
          </a:ln>
        </p:spPr>
      </p:sp>
      <p:sp>
        <p:nvSpPr>
          <p:cNvPr id="7" name="Shape 5"/>
          <p:cNvSpPr>
            <a:spLocks noGrp="1"/>
          </p:cNvSpPr>
          <p:nvPr/>
        </p:nvSpPr>
        <p:spPr>
          <a:xfrm>
            <a:off x="530352" y="1389888"/>
            <a:ext cx="1508760" cy="0"/>
          </a:xfrm>
          <a:prstGeom prst="line">
            <a:avLst/>
          </a:prstGeom>
          <a:noFill/>
          <a:ln w="27940">
            <a:solidFill>
              <a:srgbClr val="22D3EE"/>
            </a:solidFill>
            <a:prstDash val="solid"/>
          </a:ln>
        </p:spPr>
      </p:sp>
      <p:sp>
        <p:nvSpPr>
          <p:cNvPr id="8" name="Text 6"/>
          <p:cNvSpPr>
            <a:spLocks noGrp="1"/>
          </p:cNvSpPr>
          <p:nvPr/>
        </p:nvSpPr>
        <p:spPr>
          <a:xfrm>
            <a:off x="731520" y="1874520"/>
            <a:ext cx="4937760" cy="960120"/>
          </a:xfrm>
          <a:prstGeom prst="rect">
            <a:avLst/>
          </a:prstGeom>
          <a:solidFill>
            <a:srgbClr val="121A2D"/>
          </a:solidFill>
          <a:ln w="14605">
            <a:solidFill>
              <a:srgbClr val="34D399"/>
            </a:solidFill>
          </a:ln>
        </p:spPr>
        <p:txBody>
          <a:bodyPr wrap="square" lIns="1651" tIns="1651" rIns="1651" bIns="1651" anchor="ctr">
            <a:normAutofit/>
          </a:bodyPr>
          <a:lstStyle/>
          <a:p>
            <a:pPr marL="0" indent="0" algn="l">
              <a:buNone/>
            </a:pPr>
            <a:r>
              <a:rPr lang="en-US" sz="1170" b="1" dirty="0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  </a:t>
            </a:r>
            <a:r>
              <a:rPr sz="1170" b="1" dirty="0" err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复位与初始化</a:t>
            </a:r>
            <a:endParaRPr sz="1170" dirty="0"/>
          </a:p>
          <a:p>
            <a:pPr marL="0" indent="0" algn="l">
              <a:buNone/>
            </a:pPr>
            <a:r>
              <a:rPr lang="en-US" sz="1170" b="1" dirty="0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  </a:t>
            </a:r>
            <a:r>
              <a:rPr sz="1170" b="1" dirty="0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reset / </a:t>
            </a:r>
            <a:r>
              <a:rPr sz="1170" b="1" dirty="0" err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lcd_rst_n</a:t>
            </a:r>
            <a:r>
              <a:rPr sz="1170" b="1" dirty="0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 / initialized</a:t>
            </a:r>
            <a:endParaRPr sz="1170" dirty="0"/>
          </a:p>
          <a:p>
            <a:pPr marL="0" indent="0" algn="l">
              <a:buNone/>
            </a:pPr>
            <a:r>
              <a:rPr lang="en-US" sz="1170" b="1" dirty="0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  </a:t>
            </a:r>
            <a:r>
              <a:rPr sz="1170" b="1" dirty="0" err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复位保持、上电等待和初始化完成</a:t>
            </a:r>
            <a:endParaRPr sz="1170" dirty="0"/>
          </a:p>
        </p:txBody>
      </p:sp>
      <p:sp>
        <p:nvSpPr>
          <p:cNvPr id="9" name="Text 7"/>
          <p:cNvSpPr>
            <a:spLocks noGrp="1"/>
          </p:cNvSpPr>
          <p:nvPr/>
        </p:nvSpPr>
        <p:spPr>
          <a:xfrm>
            <a:off x="6263640" y="1874520"/>
            <a:ext cx="4937760" cy="960120"/>
          </a:xfrm>
          <a:prstGeom prst="rect">
            <a:avLst/>
          </a:prstGeom>
          <a:solidFill>
            <a:srgbClr val="121A2D"/>
          </a:solidFill>
          <a:ln w="14605">
            <a:solidFill>
              <a:srgbClr val="22D3EE"/>
            </a:solidFill>
          </a:ln>
        </p:spPr>
        <p:txBody>
          <a:bodyPr wrap="square" lIns="1651" tIns="1651" rIns="1651" bIns="1651" anchor="ctr">
            <a:normAutofit/>
          </a:bodyPr>
          <a:lstStyle/>
          <a:p>
            <a:pPr marL="0" indent="0" algn="l">
              <a:buNone/>
            </a:pPr>
            <a:r>
              <a:rPr lang="en-US" sz="1170" b="1" dirty="0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  </a:t>
            </a:r>
            <a:r>
              <a:rPr sz="1170" b="1" dirty="0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SPI </a:t>
            </a:r>
            <a:r>
              <a:rPr sz="1170" b="1" dirty="0" err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字节</a:t>
            </a:r>
            <a:endParaRPr sz="1170" dirty="0"/>
          </a:p>
          <a:p>
            <a:pPr marL="0" indent="0" algn="l">
              <a:buNone/>
            </a:pPr>
            <a:r>
              <a:rPr lang="en-US" sz="1170" b="1" dirty="0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  </a:t>
            </a:r>
            <a:r>
              <a:rPr sz="1170" b="1" dirty="0" err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cs_n</a:t>
            </a:r>
            <a:r>
              <a:rPr sz="1170" b="1" dirty="0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1170" b="1" dirty="0" err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sck</a:t>
            </a:r>
            <a:r>
              <a:rPr sz="1170" b="1" dirty="0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1170" b="1" dirty="0" err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mosi</a:t>
            </a:r>
            <a:r>
              <a:rPr sz="1170" b="1" dirty="0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1170" b="1" dirty="0" err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rs</a:t>
            </a:r>
            <a:endParaRPr sz="1170" dirty="0"/>
          </a:p>
          <a:p>
            <a:pPr marL="0" indent="0" algn="l">
              <a:buNone/>
            </a:pPr>
            <a:r>
              <a:rPr lang="en-US" sz="1170" b="1" dirty="0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  </a:t>
            </a:r>
            <a:r>
              <a:rPr sz="1170" b="1" dirty="0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8 位 MSB </a:t>
            </a:r>
            <a:r>
              <a:rPr sz="1170" b="1" dirty="0" err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first，命令与数据区分</a:t>
            </a:r>
            <a:endParaRPr sz="1170" dirty="0"/>
          </a:p>
        </p:txBody>
      </p:sp>
      <p:sp>
        <p:nvSpPr>
          <p:cNvPr id="10" name="Text 8"/>
          <p:cNvSpPr>
            <a:spLocks noGrp="1"/>
          </p:cNvSpPr>
          <p:nvPr/>
        </p:nvSpPr>
        <p:spPr>
          <a:xfrm>
            <a:off x="731520" y="3246120"/>
            <a:ext cx="4937760" cy="960120"/>
          </a:xfrm>
          <a:prstGeom prst="rect">
            <a:avLst/>
          </a:prstGeom>
          <a:solidFill>
            <a:srgbClr val="121A2D"/>
          </a:solidFill>
          <a:ln w="14605">
            <a:solidFill>
              <a:srgbClr val="F59E0B"/>
            </a:solidFill>
          </a:ln>
        </p:spPr>
        <p:txBody>
          <a:bodyPr wrap="square" lIns="1651" tIns="1651" rIns="1651" bIns="1651" anchor="ctr">
            <a:normAutofit/>
          </a:bodyPr>
          <a:lstStyle/>
          <a:p>
            <a:pPr marL="0" indent="0" algn="l">
              <a:buNone/>
            </a:pPr>
            <a:r>
              <a:rPr lang="en-US" sz="1170" b="1" dirty="0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  </a:t>
            </a:r>
            <a:r>
              <a:rPr sz="1170" b="1" dirty="0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ready / valid</a:t>
            </a:r>
            <a:endParaRPr sz="1170" dirty="0"/>
          </a:p>
          <a:p>
            <a:pPr marL="0" indent="0" algn="l">
              <a:buNone/>
            </a:pPr>
            <a:r>
              <a:rPr lang="en-US" sz="1170" b="1" dirty="0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  </a:t>
            </a:r>
            <a:r>
              <a:rPr sz="1170" b="1" dirty="0" err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tx_valid</a:t>
            </a:r>
            <a:r>
              <a:rPr sz="1170" b="1" dirty="0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1170" b="1" dirty="0" err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tx_ready</a:t>
            </a:r>
            <a:r>
              <a:rPr sz="1170" b="1" dirty="0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 / state</a:t>
            </a:r>
            <a:endParaRPr sz="1170" dirty="0"/>
          </a:p>
          <a:p>
            <a:pPr marL="0" indent="0" algn="l">
              <a:buNone/>
            </a:pPr>
            <a:r>
              <a:rPr lang="en-US" sz="1170" b="1" dirty="0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  </a:t>
            </a:r>
            <a:r>
              <a:rPr sz="1170" b="1" dirty="0" err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忙时拒绝，完成后恢复</a:t>
            </a:r>
            <a:r>
              <a:rPr sz="1170" b="1" dirty="0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 ready</a:t>
            </a:r>
            <a:endParaRPr sz="1170" dirty="0"/>
          </a:p>
        </p:txBody>
      </p:sp>
      <p:sp>
        <p:nvSpPr>
          <p:cNvPr id="11" name="Text 9"/>
          <p:cNvSpPr>
            <a:spLocks noGrp="1"/>
          </p:cNvSpPr>
          <p:nvPr/>
        </p:nvSpPr>
        <p:spPr>
          <a:xfrm>
            <a:off x="6263640" y="3246120"/>
            <a:ext cx="4937760" cy="960120"/>
          </a:xfrm>
          <a:prstGeom prst="rect">
            <a:avLst/>
          </a:prstGeom>
          <a:solidFill>
            <a:srgbClr val="121A2D"/>
          </a:solidFill>
          <a:ln w="14605">
            <a:solidFill>
              <a:srgbClr val="A78BFA"/>
            </a:solidFill>
          </a:ln>
        </p:spPr>
        <p:txBody>
          <a:bodyPr wrap="square" lIns="1651" tIns="1651" rIns="1651" bIns="1651" anchor="ctr">
            <a:normAutofit/>
          </a:bodyPr>
          <a:lstStyle/>
          <a:p>
            <a:pPr marL="0" indent="0" algn="l">
              <a:buNone/>
            </a:pPr>
            <a:r>
              <a:rPr lang="en-US" sz="1170" b="1" dirty="0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  </a:t>
            </a:r>
            <a:r>
              <a:rPr sz="1170" b="1" dirty="0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MMIO </a:t>
            </a:r>
            <a:r>
              <a:rPr sz="1170" b="1" dirty="0" err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等待</a:t>
            </a:r>
            <a:endParaRPr sz="1170" dirty="0"/>
          </a:p>
          <a:p>
            <a:pPr marL="0" indent="0" algn="l">
              <a:buNone/>
            </a:pPr>
            <a:r>
              <a:rPr lang="en-US" sz="1170" b="1" dirty="0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  </a:t>
            </a:r>
            <a:r>
              <a:rPr sz="1170" b="1" dirty="0" err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dmem_req</a:t>
            </a:r>
            <a:r>
              <a:rPr sz="1170" b="1" dirty="0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 / ready / </a:t>
            </a:r>
            <a:r>
              <a:rPr sz="1170" b="1" dirty="0" err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写脉冲</a:t>
            </a:r>
            <a:endParaRPr sz="1170" dirty="0"/>
          </a:p>
          <a:p>
            <a:pPr marL="0" indent="0" algn="l">
              <a:buNone/>
            </a:pPr>
            <a:r>
              <a:rPr lang="en-US" sz="1170" b="1" dirty="0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  </a:t>
            </a:r>
            <a:r>
              <a:rPr sz="1170" b="1" dirty="0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CPU </a:t>
            </a:r>
            <a:r>
              <a:rPr sz="1170" b="1" dirty="0" err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等待且一次请求只发送一次</a:t>
            </a:r>
            <a:endParaRPr sz="1170" dirty="0"/>
          </a:p>
        </p:txBody>
      </p:sp>
      <p:sp>
        <p:nvSpPr>
          <p:cNvPr id="12" name="Text 10"/>
          <p:cNvSpPr>
            <a:spLocks noGrp="1"/>
          </p:cNvSpPr>
          <p:nvPr/>
        </p:nvSpPr>
        <p:spPr>
          <a:xfrm>
            <a:off x="1051560" y="5074920"/>
            <a:ext cx="4480560" cy="347472"/>
          </a:xfrm>
          <a:prstGeom prst="rect">
            <a:avLst/>
          </a:prstGeom>
          <a:solidFill>
            <a:srgbClr val="101E2D"/>
          </a:solidFill>
          <a:ln w="12700">
            <a:solidFill>
              <a:srgbClr val="1E5E62"/>
            </a:solidFill>
          </a:ln>
        </p:spPr>
        <p:txBody>
          <a:bodyPr wrap="square" lIns="508" tIns="508" rIns="508" bIns="508" anchor="ctr">
            <a:normAutofit/>
          </a:bodyPr>
          <a:lstStyle/>
          <a:p>
            <a:pPr marL="0" indent="0" algn="ctr">
              <a:buNone/>
            </a:pPr>
            <a:r>
              <a:rPr sz="1120" b="1">
                <a:solidFill>
                  <a:srgbClr val="E5FBFF"/>
                </a:solidFill>
                <a:latin typeface="Microsoft YaHei"/>
                <a:ea typeface="Microsoft YaHei"/>
                <a:cs typeface="Microsoft YaHei"/>
              </a:rPr>
              <a:t>tb_lcd_spi_master：自动核对位序</a:t>
            </a:r>
            <a:endParaRPr sz="1120"/>
          </a:p>
        </p:txBody>
      </p:sp>
      <p:sp>
        <p:nvSpPr>
          <p:cNvPr id="13" name="Text 11"/>
          <p:cNvSpPr>
            <a:spLocks noGrp="1"/>
          </p:cNvSpPr>
          <p:nvPr/>
        </p:nvSpPr>
        <p:spPr>
          <a:xfrm>
            <a:off x="6446520" y="5074920"/>
            <a:ext cx="4480560" cy="347472"/>
          </a:xfrm>
          <a:prstGeom prst="rect">
            <a:avLst/>
          </a:prstGeom>
          <a:solidFill>
            <a:srgbClr val="10271E"/>
          </a:solidFill>
          <a:ln w="12700">
            <a:solidFill>
              <a:srgbClr val="246E4B"/>
            </a:solidFill>
          </a:ln>
        </p:spPr>
        <p:txBody>
          <a:bodyPr wrap="square" lIns="508" tIns="508" rIns="508" bIns="508" anchor="ctr">
            <a:normAutofit/>
          </a:bodyPr>
          <a:lstStyle/>
          <a:p>
            <a:pPr marL="0" indent="0" algn="ctr">
              <a:buNone/>
            </a:pPr>
            <a:r>
              <a:rPr sz="1120" b="1">
                <a:solidFill>
                  <a:srgbClr val="DBFBEA"/>
                </a:solidFill>
                <a:latin typeface="Microsoft YaHei"/>
                <a:ea typeface="Microsoft YaHei"/>
                <a:cs typeface="Microsoft YaHei"/>
              </a:rPr>
              <a:t>tb_lcd_controller：自动核对初始化与请求</a:t>
            </a:r>
            <a:endParaRPr sz="1120"/>
          </a:p>
        </p:txBody>
      </p:sp>
      <p:sp>
        <p:nvSpPr>
          <p:cNvPr id="14" name="Text 12"/>
          <p:cNvSpPr>
            <a:spLocks noGrp="1"/>
          </p:cNvSpPr>
          <p:nvPr/>
        </p:nvSpPr>
        <p:spPr>
          <a:xfrm>
            <a:off x="4590288" y="5815584"/>
            <a:ext cx="2971800" cy="18288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ctr">
              <a:buNone/>
            </a:pPr>
            <a:r>
              <a:rPr sz="920">
                <a:solidFill>
                  <a:srgbClr val="8392B7"/>
                </a:solidFill>
                <a:latin typeface="Microsoft YaHei"/>
                <a:ea typeface="Microsoft YaHei"/>
                <a:cs typeface="Microsoft YaHei"/>
              </a:rPr>
              <a:t>本页为检查项；LCD 实测波形需由对应测试运行展示</a:t>
            </a:r>
            <a:endParaRPr sz="920"/>
          </a:p>
        </p:txBody>
      </p:sp>
      <p:sp>
        <p:nvSpPr>
          <p:cNvPr id="15" name="Text 13"/>
          <p:cNvSpPr>
            <a:spLocks noGrp="1"/>
          </p:cNvSpPr>
          <p:nvPr/>
        </p:nvSpPr>
        <p:spPr>
          <a:xfrm>
            <a:off x="530352" y="6428232"/>
            <a:ext cx="3840480" cy="16459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800">
                <a:solidFill>
                  <a:srgbClr val="8392B7"/>
                </a:solidFill>
                <a:latin typeface="Microsoft YaHei"/>
                <a:ea typeface="Microsoft YaHei"/>
                <a:cs typeface="Microsoft YaHei"/>
              </a:rPr>
              <a:t>ST7571 LCD · SPI · MMIO · RISC-V ASM</a:t>
            </a:r>
            <a:endParaRPr sz="8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Grp="1"/>
          </p:cNvSpPr>
          <p:nvPr/>
        </p:nvSpPr>
        <p:spPr>
          <a:xfrm>
            <a:off x="533400" y="323850"/>
            <a:ext cx="57150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900" b="1">
                <a:solidFill>
                  <a:srgbClr val="22D3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22D3EE"/>
                </a:solidFill>
                <a:latin typeface="Microsoft YaHei"/>
                <a:ea typeface="Microsoft YaHei"/>
                <a:cs typeface="Microsoft YaHei"/>
              </a:rPr>
              <a:t>中期答辩补充</a:t>
            </a: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33400" y="609600"/>
            <a:ext cx="10763250" cy="5334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0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LCD 单元测试与检查条件</a:t>
            </a: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533400" y="1143000"/>
            <a:ext cx="10953750" cy="3619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0">
                <a:solidFill>
                  <a:srgbClr val="BAC9E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BAC9E2"/>
                </a:solidFill>
                <a:latin typeface="Microsoft YaHei"/>
                <a:ea typeface="Microsoft YaHei"/>
                <a:cs typeface="Microsoft YaHei"/>
              </a:rPr>
              <a:t>依据现有 testbench 说明可复现检查项</a:t>
            </a: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590550" y="1876425"/>
            <a:ext cx="1066800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1">
                <a:solidFill>
                  <a:srgbClr val="22D3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2D3EE"/>
                </a:solidFill>
                <a:latin typeface="Microsoft YaHei"/>
                <a:ea typeface="Microsoft YaHei"/>
                <a:cs typeface="Microsoft YaHei"/>
              </a:rPr>
              <a:t>SPI 单元测试</a:t>
            </a: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590550" y="2219325"/>
            <a:ext cx="1066800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0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发送 0xA5，上升沿采集恰好 8 位，RS 保持为 1</a:t>
            </a: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590550" y="2819400"/>
            <a:ext cx="1066800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1">
                <a:solidFill>
                  <a:srgbClr val="22D3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2D3EE"/>
                </a:solidFill>
                <a:latin typeface="Microsoft YaHei"/>
                <a:ea typeface="Microsoft YaHei"/>
                <a:cs typeface="Microsoft YaHei"/>
              </a:rPr>
              <a:t>空闲恢复</a:t>
            </a: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590550" y="3162300"/>
            <a:ext cx="1066800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0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完成后 CS = 1、SCK = 0，ready 恢复为 1</a:t>
            </a: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590550" y="3762375"/>
            <a:ext cx="1066800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1">
                <a:solidFill>
                  <a:srgbClr val="22D3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2D3EE"/>
                </a:solidFill>
                <a:latin typeface="Microsoft YaHei"/>
                <a:ea typeface="Microsoft YaHei"/>
                <a:cs typeface="Microsoft YaHei"/>
              </a:rPr>
              <a:t>控制器测试</a:t>
            </a: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590550" y="4105275"/>
            <a:ext cx="1066800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0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缩短延时与清屏规模，初始化 36 次传输，用户字节后累计 37 次</a:t>
            </a: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590550" y="4705350"/>
            <a:ext cx="1066800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1">
                <a:solidFill>
                  <a:srgbClr val="22D3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2D3EE"/>
                </a:solidFill>
                <a:latin typeface="Microsoft YaHei"/>
                <a:ea typeface="Microsoft YaHei"/>
                <a:cs typeface="Microsoft YaHei"/>
              </a:rPr>
              <a:t>证据边界</a:t>
            </a: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590550" y="5048250"/>
            <a:ext cx="1066800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0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以上为源码断言条件。CPU 波形不替代 LCD 协议波形</a:t>
            </a:r>
          </a:p>
        </p:txBody>
      </p:sp>
      <p:sp>
        <p:nvSpPr>
          <p:cNvPr id="14" name="Text 3"/>
          <p:cNvSpPr>
            <a:spLocks noGrp="1"/>
          </p:cNvSpPr>
          <p:nvPr/>
        </p:nvSpPr>
        <p:spPr>
          <a:xfrm>
            <a:off x="11137392" y="384048"/>
            <a:ext cx="50292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000" b="1">
                <a:solidFill>
                  <a:srgbClr val="8392B7"/>
                </a:solidFill>
                <a:latin typeface="Microsoft YaHei"/>
                <a:ea typeface="Microsoft YaHei"/>
                <a:cs typeface="Microsoft YaHei"/>
              </a:rPr>
              <a:t>10</a:t>
            </a:r>
            <a:endParaRPr sz="1000"/>
          </a:p>
        </p:txBody>
      </p:sp>
      <p:sp>
        <p:nvSpPr>
          <p:cNvPr id="16" name="Text 16"/>
          <p:cNvSpPr>
            <a:spLocks noGrp="1"/>
          </p:cNvSpPr>
          <p:nvPr/>
        </p:nvSpPr>
        <p:spPr>
          <a:xfrm>
            <a:off x="530352" y="6428232"/>
            <a:ext cx="3840480" cy="16459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800" dirty="0">
                <a:solidFill>
                  <a:srgbClr val="8392B7"/>
                </a:solidFill>
                <a:latin typeface="Microsoft YaHei"/>
                <a:ea typeface="Microsoft YaHei"/>
                <a:cs typeface="Microsoft YaHei"/>
              </a:rPr>
              <a:t>ST7571 LCD · SPI · MMIO · RISC-V ASM</a:t>
            </a:r>
            <a:endParaRPr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/>
        </p:nvSpPr>
        <p:spPr>
          <a:xfrm>
            <a:off x="530352" y="320040"/>
            <a:ext cx="1645920" cy="20116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850" b="1">
                <a:solidFill>
                  <a:srgbClr val="22D3EE"/>
                </a:solidFill>
                <a:latin typeface="Microsoft YaHei"/>
                <a:ea typeface="Microsoft YaHei"/>
                <a:cs typeface="Microsoft YaHei"/>
              </a:rPr>
              <a:t>补充证据</a:t>
            </a:r>
            <a:endParaRPr sz="850"/>
          </a:p>
        </p:txBody>
      </p:sp>
      <p:sp>
        <p:nvSpPr>
          <p:cNvPr id="3" name="Text 1"/>
          <p:cNvSpPr>
            <a:spLocks noGrp="1"/>
          </p:cNvSpPr>
          <p:nvPr/>
        </p:nvSpPr>
        <p:spPr>
          <a:xfrm>
            <a:off x="530352" y="566928"/>
            <a:ext cx="8595360" cy="40233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lang="zh-CN" sz="240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模拟</a:t>
            </a:r>
            <a:r>
              <a:rPr sz="240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验证</a:t>
            </a:r>
            <a:endParaRPr sz="2400"/>
          </a:p>
        </p:txBody>
      </p:sp>
      <p:sp>
        <p:nvSpPr>
          <p:cNvPr id="4" name="Text 2"/>
          <p:cNvSpPr>
            <a:spLocks noGrp="1"/>
          </p:cNvSpPr>
          <p:nvPr/>
        </p:nvSpPr>
        <p:spPr>
          <a:xfrm>
            <a:off x="548640" y="1024128"/>
            <a:ext cx="7863840" cy="25603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1150">
                <a:solidFill>
                  <a:srgbClr val="B9C8E6"/>
                </a:solidFill>
                <a:latin typeface="Microsoft YaHei"/>
                <a:ea typeface="Microsoft YaHei"/>
                <a:cs typeface="Microsoft YaHei"/>
              </a:rPr>
              <a:t>相关处理定向仿真，为 MMIO 汇编程序提供可信执行基础</a:t>
            </a:r>
            <a:endParaRPr sz="1150"/>
          </a:p>
        </p:txBody>
      </p:sp>
      <p:sp>
        <p:nvSpPr>
          <p:cNvPr id="5" name="Text 3"/>
          <p:cNvSpPr>
            <a:spLocks noGrp="1"/>
          </p:cNvSpPr>
          <p:nvPr/>
        </p:nvSpPr>
        <p:spPr>
          <a:xfrm>
            <a:off x="11137392" y="384048"/>
            <a:ext cx="50292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000" b="1">
                <a:solidFill>
                  <a:srgbClr val="8392B7"/>
                </a:solidFill>
                <a:latin typeface="Microsoft YaHei"/>
                <a:ea typeface="Microsoft YaHei"/>
                <a:cs typeface="Microsoft YaHei"/>
              </a:rPr>
              <a:t>12</a:t>
            </a:r>
            <a:endParaRPr sz="1000"/>
          </a:p>
        </p:txBody>
      </p:sp>
      <p:sp>
        <p:nvSpPr>
          <p:cNvPr id="6" name="Shape 4"/>
          <p:cNvSpPr>
            <a:spLocks noGrp="1"/>
          </p:cNvSpPr>
          <p:nvPr/>
        </p:nvSpPr>
        <p:spPr>
          <a:xfrm>
            <a:off x="530352" y="1389888"/>
            <a:ext cx="11109960" cy="0"/>
          </a:xfrm>
          <a:prstGeom prst="line">
            <a:avLst/>
          </a:prstGeom>
          <a:noFill/>
          <a:ln w="10160">
            <a:solidFill>
              <a:srgbClr val="2C3D61">
                <a:alpha val="80000"/>
              </a:srgbClr>
            </a:solidFill>
            <a:prstDash val="solid"/>
          </a:ln>
        </p:spPr>
      </p:sp>
      <p:sp>
        <p:nvSpPr>
          <p:cNvPr id="7" name="Shape 5"/>
          <p:cNvSpPr>
            <a:spLocks noGrp="1"/>
          </p:cNvSpPr>
          <p:nvPr/>
        </p:nvSpPr>
        <p:spPr>
          <a:xfrm>
            <a:off x="530352" y="1389888"/>
            <a:ext cx="1508760" cy="0"/>
          </a:xfrm>
          <a:prstGeom prst="line">
            <a:avLst/>
          </a:prstGeom>
          <a:noFill/>
          <a:ln w="27940">
            <a:solidFill>
              <a:srgbClr val="22D3EE"/>
            </a:solidFill>
            <a:prstDash val="solid"/>
          </a:ln>
        </p:spPr>
      </p:sp>
      <p:sp>
        <p:nvSpPr>
          <p:cNvPr id="8" name="Text 6"/>
          <p:cNvSpPr>
            <a:spLocks noGrp="1"/>
          </p:cNvSpPr>
          <p:nvPr/>
        </p:nvSpPr>
        <p:spPr>
          <a:xfrm>
            <a:off x="731520" y="1874520"/>
            <a:ext cx="4937760" cy="960120"/>
          </a:xfrm>
          <a:prstGeom prst="rect">
            <a:avLst/>
          </a:prstGeom>
          <a:solidFill>
            <a:srgbClr val="121A2D"/>
          </a:solidFill>
          <a:ln w="14605">
            <a:solidFill>
              <a:srgbClr val="34D399"/>
            </a:solidFill>
          </a:ln>
        </p:spPr>
        <p:txBody>
          <a:bodyPr wrap="square" lIns="1651" tIns="1651" rIns="1651" bIns="1651" anchor="ctr">
            <a:normAutofit/>
          </a:bodyPr>
          <a:lstStyle/>
          <a:p>
            <a:pPr marL="0" indent="0" algn="l">
              <a:buNone/>
            </a:pPr>
            <a:r>
              <a:rPr sz="117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复位与初始化</a:t>
            </a:r>
            <a:endParaRPr sz="1170"/>
          </a:p>
          <a:p>
            <a:pPr marL="0" indent="0" algn="l">
              <a:buNone/>
            </a:pPr>
            <a:r>
              <a:rPr sz="117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reset / lcd_rst_n / initialized</a:t>
            </a:r>
            <a:endParaRPr sz="1170"/>
          </a:p>
          <a:p>
            <a:pPr marL="0" indent="0" algn="l">
              <a:buNone/>
            </a:pPr>
            <a:r>
              <a:rPr sz="117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复位保持、上电等待和初始化完成</a:t>
            </a:r>
            <a:endParaRPr sz="1170"/>
          </a:p>
        </p:txBody>
      </p:sp>
      <p:sp>
        <p:nvSpPr>
          <p:cNvPr id="9" name="Text 7"/>
          <p:cNvSpPr>
            <a:spLocks noGrp="1"/>
          </p:cNvSpPr>
          <p:nvPr/>
        </p:nvSpPr>
        <p:spPr>
          <a:xfrm>
            <a:off x="6263640" y="1874520"/>
            <a:ext cx="4937760" cy="960120"/>
          </a:xfrm>
          <a:prstGeom prst="rect">
            <a:avLst/>
          </a:prstGeom>
          <a:solidFill>
            <a:srgbClr val="121A2D"/>
          </a:solidFill>
          <a:ln w="14605">
            <a:solidFill>
              <a:srgbClr val="22D3EE"/>
            </a:solidFill>
          </a:ln>
        </p:spPr>
        <p:txBody>
          <a:bodyPr wrap="square" lIns="1651" tIns="1651" rIns="1651" bIns="1651" anchor="ctr">
            <a:normAutofit/>
          </a:bodyPr>
          <a:lstStyle/>
          <a:p>
            <a:pPr marL="0" indent="0" algn="l">
              <a:buNone/>
            </a:pPr>
            <a:r>
              <a:rPr sz="117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SPI 字节</a:t>
            </a:r>
            <a:endParaRPr sz="1170"/>
          </a:p>
          <a:p>
            <a:pPr marL="0" indent="0" algn="l">
              <a:buNone/>
            </a:pPr>
            <a:r>
              <a:rPr sz="117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cs_n / sck / mosi / rs</a:t>
            </a:r>
            <a:endParaRPr sz="1170"/>
          </a:p>
          <a:p>
            <a:pPr marL="0" indent="0" algn="l">
              <a:buNone/>
            </a:pPr>
            <a:r>
              <a:rPr sz="117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8 位 MSB first，命令与数据区分</a:t>
            </a:r>
            <a:endParaRPr sz="1170"/>
          </a:p>
        </p:txBody>
      </p:sp>
      <p:sp>
        <p:nvSpPr>
          <p:cNvPr id="10" name="Text 8"/>
          <p:cNvSpPr>
            <a:spLocks noGrp="1"/>
          </p:cNvSpPr>
          <p:nvPr/>
        </p:nvSpPr>
        <p:spPr>
          <a:xfrm>
            <a:off x="731520" y="3246120"/>
            <a:ext cx="4937760" cy="960120"/>
          </a:xfrm>
          <a:prstGeom prst="rect">
            <a:avLst/>
          </a:prstGeom>
          <a:solidFill>
            <a:srgbClr val="121A2D"/>
          </a:solidFill>
          <a:ln w="14605">
            <a:solidFill>
              <a:srgbClr val="F59E0B"/>
            </a:solidFill>
          </a:ln>
        </p:spPr>
        <p:txBody>
          <a:bodyPr wrap="square" lIns="1651" tIns="1651" rIns="1651" bIns="1651" anchor="ctr">
            <a:normAutofit/>
          </a:bodyPr>
          <a:lstStyle/>
          <a:p>
            <a:pPr marL="0" indent="0" algn="l">
              <a:buNone/>
            </a:pPr>
            <a:r>
              <a:rPr sz="117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ready / valid</a:t>
            </a:r>
            <a:endParaRPr sz="1170"/>
          </a:p>
          <a:p>
            <a:pPr marL="0" indent="0" algn="l">
              <a:buNone/>
            </a:pPr>
            <a:r>
              <a:rPr sz="117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tx_valid / tx_ready / state</a:t>
            </a:r>
            <a:endParaRPr sz="1170"/>
          </a:p>
          <a:p>
            <a:pPr marL="0" indent="0" algn="l">
              <a:buNone/>
            </a:pPr>
            <a:r>
              <a:rPr sz="117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忙时拒绝，完成后恢复 ready</a:t>
            </a:r>
            <a:endParaRPr sz="1170"/>
          </a:p>
        </p:txBody>
      </p:sp>
      <p:sp>
        <p:nvSpPr>
          <p:cNvPr id="11" name="Text 9"/>
          <p:cNvSpPr>
            <a:spLocks noGrp="1"/>
          </p:cNvSpPr>
          <p:nvPr/>
        </p:nvSpPr>
        <p:spPr>
          <a:xfrm>
            <a:off x="6263640" y="3246120"/>
            <a:ext cx="4937760" cy="960120"/>
          </a:xfrm>
          <a:prstGeom prst="rect">
            <a:avLst/>
          </a:prstGeom>
          <a:solidFill>
            <a:srgbClr val="121A2D"/>
          </a:solidFill>
          <a:ln w="14605">
            <a:solidFill>
              <a:srgbClr val="A78BFA"/>
            </a:solidFill>
          </a:ln>
        </p:spPr>
        <p:txBody>
          <a:bodyPr wrap="square" lIns="1651" tIns="1651" rIns="1651" bIns="1651" anchor="ctr">
            <a:normAutofit/>
          </a:bodyPr>
          <a:lstStyle/>
          <a:p>
            <a:pPr marL="0" indent="0" algn="l">
              <a:buNone/>
            </a:pPr>
            <a:r>
              <a:rPr sz="117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MMIO 等待</a:t>
            </a:r>
            <a:endParaRPr sz="1170"/>
          </a:p>
          <a:p>
            <a:pPr marL="0" indent="0" algn="l">
              <a:buNone/>
            </a:pPr>
            <a:r>
              <a:rPr sz="117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dmem_req / ready / 写脉冲</a:t>
            </a:r>
            <a:endParaRPr sz="1170"/>
          </a:p>
          <a:p>
            <a:pPr marL="0" indent="0" algn="l">
              <a:buNone/>
            </a:pPr>
            <a:r>
              <a:rPr sz="117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CPU 等待且一次请求只发送一次</a:t>
            </a:r>
            <a:endParaRPr sz="1170"/>
          </a:p>
        </p:txBody>
      </p:sp>
      <p:sp>
        <p:nvSpPr>
          <p:cNvPr id="12" name="Text 10"/>
          <p:cNvSpPr>
            <a:spLocks noGrp="1"/>
          </p:cNvSpPr>
          <p:nvPr/>
        </p:nvSpPr>
        <p:spPr>
          <a:xfrm>
            <a:off x="1051560" y="5074920"/>
            <a:ext cx="4480560" cy="347472"/>
          </a:xfrm>
          <a:prstGeom prst="rect">
            <a:avLst/>
          </a:prstGeom>
          <a:solidFill>
            <a:srgbClr val="101E2D"/>
          </a:solidFill>
          <a:ln w="12700">
            <a:solidFill>
              <a:srgbClr val="1E5E62"/>
            </a:solidFill>
          </a:ln>
        </p:spPr>
        <p:txBody>
          <a:bodyPr wrap="square" lIns="508" tIns="508" rIns="508" bIns="508" anchor="ctr">
            <a:normAutofit/>
          </a:bodyPr>
          <a:lstStyle/>
          <a:p>
            <a:pPr marL="0" indent="0" algn="ctr">
              <a:buNone/>
            </a:pPr>
            <a:r>
              <a:rPr sz="1120" b="1">
                <a:solidFill>
                  <a:srgbClr val="E5FBFF"/>
                </a:solidFill>
                <a:latin typeface="Microsoft YaHei"/>
                <a:ea typeface="Microsoft YaHei"/>
                <a:cs typeface="Microsoft YaHei"/>
              </a:rPr>
              <a:t>tb_lcd_spi_master：自动核对位序</a:t>
            </a:r>
            <a:endParaRPr sz="1120"/>
          </a:p>
        </p:txBody>
      </p:sp>
      <p:sp>
        <p:nvSpPr>
          <p:cNvPr id="13" name="Text 11"/>
          <p:cNvSpPr>
            <a:spLocks noGrp="1"/>
          </p:cNvSpPr>
          <p:nvPr/>
        </p:nvSpPr>
        <p:spPr>
          <a:xfrm>
            <a:off x="6446520" y="5074920"/>
            <a:ext cx="4480560" cy="347472"/>
          </a:xfrm>
          <a:prstGeom prst="rect">
            <a:avLst/>
          </a:prstGeom>
          <a:solidFill>
            <a:srgbClr val="10271E"/>
          </a:solidFill>
          <a:ln w="12700">
            <a:solidFill>
              <a:srgbClr val="246E4B"/>
            </a:solidFill>
          </a:ln>
        </p:spPr>
        <p:txBody>
          <a:bodyPr wrap="square" lIns="508" tIns="508" rIns="508" bIns="508" anchor="ctr">
            <a:normAutofit/>
          </a:bodyPr>
          <a:lstStyle/>
          <a:p>
            <a:pPr marL="0" indent="0" algn="ctr">
              <a:buNone/>
            </a:pPr>
            <a:r>
              <a:rPr sz="1120" b="1">
                <a:solidFill>
                  <a:srgbClr val="DBFBEA"/>
                </a:solidFill>
                <a:latin typeface="Microsoft YaHei"/>
                <a:ea typeface="Microsoft YaHei"/>
                <a:cs typeface="Microsoft YaHei"/>
              </a:rPr>
              <a:t>tb_lcd_controller：自动核对初始化与请求</a:t>
            </a:r>
            <a:endParaRPr sz="1120"/>
          </a:p>
        </p:txBody>
      </p:sp>
      <p:sp>
        <p:nvSpPr>
          <p:cNvPr id="14" name="Text 12"/>
          <p:cNvSpPr>
            <a:spLocks noGrp="1"/>
          </p:cNvSpPr>
          <p:nvPr/>
        </p:nvSpPr>
        <p:spPr>
          <a:xfrm>
            <a:off x="4590288" y="5815584"/>
            <a:ext cx="2971800" cy="18288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ctr">
              <a:buNone/>
            </a:pPr>
            <a:r>
              <a:rPr sz="920">
                <a:solidFill>
                  <a:srgbClr val="8392B7"/>
                </a:solidFill>
                <a:latin typeface="Microsoft YaHei"/>
                <a:ea typeface="Microsoft YaHei"/>
                <a:cs typeface="Microsoft YaHei"/>
              </a:rPr>
              <a:t>本页为检查项；LCD 实测波形需由对应测试运行展示</a:t>
            </a:r>
            <a:endParaRPr sz="920"/>
          </a:p>
        </p:txBody>
      </p:sp>
      <p:sp>
        <p:nvSpPr>
          <p:cNvPr id="15" name="Text 13"/>
          <p:cNvSpPr>
            <a:spLocks noGrp="1"/>
          </p:cNvSpPr>
          <p:nvPr/>
        </p:nvSpPr>
        <p:spPr>
          <a:xfrm>
            <a:off x="530352" y="6428232"/>
            <a:ext cx="3840480" cy="16459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800">
                <a:solidFill>
                  <a:srgbClr val="8392B7"/>
                </a:solidFill>
                <a:latin typeface="Microsoft YaHei"/>
                <a:ea typeface="Microsoft YaHei"/>
                <a:cs typeface="Microsoft YaHei"/>
              </a:rPr>
              <a:t>ST7571 LCD · SPI · MMIO · RISC-V ASM</a:t>
            </a:r>
            <a:endParaRPr sz="800"/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457200" y="1482725"/>
            <a:ext cx="11277600" cy="4743450"/>
          </a:xfrm>
          <a:prstGeom prst="rect">
            <a:avLst/>
          </a:prstGeom>
          <a:solidFill>
            <a:srgbClr val="080E20"/>
          </a:solidFill>
          <a:ln w="0">
            <a:solidFill>
              <a:srgbClr val="080E20"/>
            </a:solidFill>
            <a:prstDash val="solid"/>
          </a:ln>
        </p:spPr>
      </p:sp>
      <p:pic>
        <p:nvPicPr>
          <p:cNvPr id="16" name="Picture 15" descr="screenshot-2026-09-11_01.18.3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215" y="3652520"/>
            <a:ext cx="5346065" cy="1344930"/>
          </a:xfrm>
          <a:prstGeom prst="rect">
            <a:avLst/>
          </a:prstGeom>
        </p:spPr>
      </p:pic>
      <p:pic>
        <p:nvPicPr>
          <p:cNvPr id="27" name="Picture 26" descr="screenshot-2026-09-11_01.18.0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6310" y="3652520"/>
            <a:ext cx="6389370" cy="1339850"/>
          </a:xfrm>
          <a:prstGeom prst="rect">
            <a:avLst/>
          </a:prstGeom>
        </p:spPr>
      </p:pic>
      <p:pic>
        <p:nvPicPr>
          <p:cNvPr id="28" name="Picture 27" descr="screenshot-2026-09-11_01.17.2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6310" y="1945005"/>
            <a:ext cx="5698490" cy="1274445"/>
          </a:xfrm>
          <a:prstGeom prst="rect">
            <a:avLst/>
          </a:prstGeom>
        </p:spPr>
      </p:pic>
      <p:pic>
        <p:nvPicPr>
          <p:cNvPr id="29" name="Picture 28" descr="screenshot-2026-09-11_01.16.2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9565" y="1945005"/>
            <a:ext cx="5465445" cy="132588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/>
        </p:nvSpPr>
        <p:spPr>
          <a:xfrm>
            <a:off x="530352" y="320040"/>
            <a:ext cx="1645920" cy="20116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850" b="1">
                <a:solidFill>
                  <a:srgbClr val="22D3EE"/>
                </a:solidFill>
                <a:latin typeface="Microsoft YaHei"/>
                <a:ea typeface="Microsoft YaHei"/>
                <a:cs typeface="Microsoft YaHei"/>
              </a:rPr>
              <a:t>中期总结</a:t>
            </a:r>
            <a:endParaRPr sz="850"/>
          </a:p>
        </p:txBody>
      </p:sp>
      <p:sp>
        <p:nvSpPr>
          <p:cNvPr id="3" name="Text 1"/>
          <p:cNvSpPr>
            <a:spLocks noGrp="1"/>
          </p:cNvSpPr>
          <p:nvPr/>
        </p:nvSpPr>
        <p:spPr>
          <a:xfrm>
            <a:off x="530352" y="566928"/>
            <a:ext cx="8595360" cy="40233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240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阶段结论与下一步</a:t>
            </a:r>
            <a:endParaRPr sz="2400"/>
          </a:p>
        </p:txBody>
      </p:sp>
      <p:sp>
        <p:nvSpPr>
          <p:cNvPr id="4" name="Text 2"/>
          <p:cNvSpPr>
            <a:spLocks noGrp="1"/>
          </p:cNvSpPr>
          <p:nvPr/>
        </p:nvSpPr>
        <p:spPr>
          <a:xfrm>
            <a:off x="548640" y="1024128"/>
            <a:ext cx="7863840" cy="25603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1150">
                <a:solidFill>
                  <a:srgbClr val="B9C8E6"/>
                </a:solidFill>
                <a:latin typeface="Microsoft YaHei"/>
                <a:ea typeface="Microsoft YaHei"/>
                <a:cs typeface="Microsoft YaHei"/>
              </a:rPr>
              <a:t>LCD 接口控制器与最小驱动已经形成可验证闭环</a:t>
            </a:r>
            <a:endParaRPr sz="1150"/>
          </a:p>
        </p:txBody>
      </p:sp>
      <p:sp>
        <p:nvSpPr>
          <p:cNvPr id="5" name="Text 3"/>
          <p:cNvSpPr>
            <a:spLocks noGrp="1"/>
          </p:cNvSpPr>
          <p:nvPr/>
        </p:nvSpPr>
        <p:spPr>
          <a:xfrm>
            <a:off x="11137392" y="384048"/>
            <a:ext cx="50292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000" b="1">
                <a:solidFill>
                  <a:srgbClr val="8392B7"/>
                </a:solidFill>
                <a:latin typeface="Microsoft YaHei"/>
                <a:ea typeface="Microsoft YaHei"/>
                <a:cs typeface="Microsoft YaHei"/>
              </a:rPr>
              <a:t>15</a:t>
            </a:r>
            <a:endParaRPr sz="1000"/>
          </a:p>
        </p:txBody>
      </p:sp>
      <p:sp>
        <p:nvSpPr>
          <p:cNvPr id="6" name="Shape 4"/>
          <p:cNvSpPr>
            <a:spLocks noGrp="1"/>
          </p:cNvSpPr>
          <p:nvPr/>
        </p:nvSpPr>
        <p:spPr>
          <a:xfrm>
            <a:off x="530352" y="1389888"/>
            <a:ext cx="11109960" cy="0"/>
          </a:xfrm>
          <a:prstGeom prst="line">
            <a:avLst/>
          </a:prstGeom>
          <a:noFill/>
          <a:ln w="10160">
            <a:solidFill>
              <a:srgbClr val="2C3D61">
                <a:alpha val="80000"/>
              </a:srgbClr>
            </a:solidFill>
            <a:prstDash val="solid"/>
          </a:ln>
        </p:spPr>
      </p:sp>
      <p:sp>
        <p:nvSpPr>
          <p:cNvPr id="7" name="Shape 5"/>
          <p:cNvSpPr>
            <a:spLocks noGrp="1"/>
          </p:cNvSpPr>
          <p:nvPr/>
        </p:nvSpPr>
        <p:spPr>
          <a:xfrm>
            <a:off x="530352" y="1389888"/>
            <a:ext cx="1508760" cy="0"/>
          </a:xfrm>
          <a:prstGeom prst="line">
            <a:avLst/>
          </a:prstGeom>
          <a:noFill/>
          <a:ln w="27940">
            <a:solidFill>
              <a:srgbClr val="22D3EE"/>
            </a:solidFill>
            <a:prstDash val="solid"/>
          </a:ln>
        </p:spPr>
      </p:sp>
      <p:sp>
        <p:nvSpPr>
          <p:cNvPr id="8" name="Text 6"/>
          <p:cNvSpPr>
            <a:spLocks noGrp="1"/>
          </p:cNvSpPr>
          <p:nvPr/>
        </p:nvSpPr>
        <p:spPr>
          <a:xfrm>
            <a:off x="749808" y="1865376"/>
            <a:ext cx="3017520" cy="1207008"/>
          </a:xfrm>
          <a:prstGeom prst="rect">
            <a:avLst/>
          </a:prstGeom>
          <a:solidFill>
            <a:srgbClr val="121A2D"/>
          </a:solidFill>
          <a:ln w="15240">
            <a:solidFill>
              <a:srgbClr val="34D399"/>
            </a:solidFill>
          </a:ln>
        </p:spPr>
        <p:txBody>
          <a:bodyPr wrap="square" lIns="1778" tIns="1778" rIns="1778" bIns="1778" anchor="ctr">
            <a:normAutofit/>
          </a:bodyPr>
          <a:lstStyle/>
          <a:p>
            <a:pPr marL="0" indent="0" algn="ctr">
              <a:buNone/>
            </a:pPr>
            <a:r>
              <a:rPr sz="125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已完成</a:t>
            </a:r>
            <a:endParaRPr sz="1250"/>
          </a:p>
          <a:p>
            <a:pPr marL="0" indent="0" algn="ctr">
              <a:buNone/>
            </a:pPr>
            <a:r>
              <a:rPr sz="125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4 线 SPI master</a:t>
            </a:r>
            <a:endParaRPr sz="1250"/>
          </a:p>
          <a:p>
            <a:pPr marL="0" indent="0" algn="ctr">
              <a:buNone/>
            </a:pPr>
            <a:r>
              <a:rPr sz="125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复位、初始化与清屏状态机</a:t>
            </a:r>
            <a:endParaRPr sz="1250"/>
          </a:p>
          <a:p>
            <a:pPr marL="0" indent="0" algn="ctr">
              <a:buNone/>
            </a:pPr>
            <a:r>
              <a:rPr sz="125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命令 / 数据 RS 区分</a:t>
            </a:r>
            <a:endParaRPr sz="1250"/>
          </a:p>
        </p:txBody>
      </p:sp>
      <p:sp>
        <p:nvSpPr>
          <p:cNvPr id="9" name="Text 7"/>
          <p:cNvSpPr>
            <a:spLocks noGrp="1"/>
          </p:cNvSpPr>
          <p:nvPr/>
        </p:nvSpPr>
        <p:spPr>
          <a:xfrm>
            <a:off x="4471416" y="1865376"/>
            <a:ext cx="3017520" cy="1207008"/>
          </a:xfrm>
          <a:prstGeom prst="rect">
            <a:avLst/>
          </a:prstGeom>
          <a:solidFill>
            <a:srgbClr val="121A2D"/>
          </a:solidFill>
          <a:ln w="15240">
            <a:solidFill>
              <a:srgbClr val="22D3EE"/>
            </a:solidFill>
          </a:ln>
        </p:spPr>
        <p:txBody>
          <a:bodyPr wrap="square" lIns="1778" tIns="1778" rIns="1778" bIns="1778" anchor="ctr">
            <a:normAutofit/>
          </a:bodyPr>
          <a:lstStyle/>
          <a:p>
            <a:pPr marL="0" indent="0" algn="ctr">
              <a:buNone/>
            </a:pPr>
            <a:r>
              <a:rPr sz="125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已连接</a:t>
            </a:r>
            <a:endParaRPr sz="1250"/>
          </a:p>
          <a:p>
            <a:pPr marL="0" indent="0" algn="ctr">
              <a:buNone/>
            </a:pPr>
            <a:r>
              <a:rPr sz="125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LCD MMIO 地址译码</a:t>
            </a:r>
            <a:endParaRPr sz="1250"/>
          </a:p>
          <a:p>
            <a:pPr marL="0" indent="0" algn="ctr">
              <a:buNone/>
            </a:pPr>
            <a:r>
              <a:rPr sz="125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ready / valid 与总线等待</a:t>
            </a:r>
            <a:endParaRPr sz="1250"/>
          </a:p>
          <a:p>
            <a:pPr marL="0" indent="0" algn="ctr">
              <a:buNone/>
            </a:pPr>
            <a:r>
              <a:rPr sz="125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最小汇编轮询和写入流程</a:t>
            </a:r>
            <a:endParaRPr sz="1250"/>
          </a:p>
        </p:txBody>
      </p:sp>
      <p:sp>
        <p:nvSpPr>
          <p:cNvPr id="10" name="Text 8"/>
          <p:cNvSpPr>
            <a:spLocks noGrp="1"/>
          </p:cNvSpPr>
          <p:nvPr/>
        </p:nvSpPr>
        <p:spPr>
          <a:xfrm>
            <a:off x="8193024" y="1865376"/>
            <a:ext cx="3017520" cy="1207008"/>
          </a:xfrm>
          <a:prstGeom prst="rect">
            <a:avLst/>
          </a:prstGeom>
          <a:solidFill>
            <a:srgbClr val="121A2D"/>
          </a:solidFill>
          <a:ln w="15240">
            <a:solidFill>
              <a:srgbClr val="F59E0B"/>
            </a:solidFill>
          </a:ln>
        </p:spPr>
        <p:txBody>
          <a:bodyPr wrap="square" lIns="1778" tIns="1778" rIns="1778" bIns="1778" anchor="ctr">
            <a:normAutofit/>
          </a:bodyPr>
          <a:lstStyle/>
          <a:p>
            <a:pPr marL="0" indent="0" algn="ctr">
              <a:buNone/>
            </a:pPr>
            <a:r>
              <a:rPr sz="125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已验证</a:t>
            </a:r>
            <a:endParaRPr sz="1250"/>
          </a:p>
          <a:p>
            <a:pPr marL="0" indent="0" algn="ctr">
              <a:buNone/>
            </a:pPr>
            <a:r>
              <a:rPr sz="125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SPI 位序自检</a:t>
            </a:r>
            <a:endParaRPr sz="1250"/>
          </a:p>
          <a:p>
            <a:pPr marL="0" indent="0" algn="ctr">
              <a:buNone/>
            </a:pPr>
            <a:r>
              <a:rPr sz="125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控制器状态与请求自检</a:t>
            </a:r>
            <a:endParaRPr sz="1250"/>
          </a:p>
          <a:p>
            <a:pPr marL="0" indent="0" algn="ctr">
              <a:buNone/>
            </a:pPr>
            <a:r>
              <a:rPr sz="125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一次请求只产生一次发送</a:t>
            </a:r>
            <a:endParaRPr sz="1250"/>
          </a:p>
        </p:txBody>
      </p:sp>
      <p:sp>
        <p:nvSpPr>
          <p:cNvPr id="11" name="Text 9"/>
          <p:cNvSpPr>
            <a:spLocks noGrp="1"/>
          </p:cNvSpPr>
          <p:nvPr/>
        </p:nvSpPr>
        <p:spPr>
          <a:xfrm>
            <a:off x="749808" y="3785616"/>
            <a:ext cx="1097280" cy="21945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950" b="1">
                <a:solidFill>
                  <a:srgbClr val="22D3EE"/>
                </a:solidFill>
                <a:latin typeface="Microsoft YaHei"/>
                <a:ea typeface="Microsoft YaHei"/>
                <a:cs typeface="Microsoft YaHei"/>
              </a:rPr>
              <a:t>下一阶段</a:t>
            </a:r>
            <a:endParaRPr sz="950"/>
          </a:p>
        </p:txBody>
      </p:sp>
      <p:sp>
        <p:nvSpPr>
          <p:cNvPr id="12" name="Shape 10"/>
          <p:cNvSpPr>
            <a:spLocks noGrp="1"/>
          </p:cNvSpPr>
          <p:nvPr/>
        </p:nvSpPr>
        <p:spPr>
          <a:xfrm>
            <a:off x="3419856" y="4617720"/>
            <a:ext cx="768096" cy="0"/>
          </a:xfrm>
          <a:prstGeom prst="line">
            <a:avLst/>
          </a:prstGeom>
          <a:noFill/>
          <a:ln w="16510">
            <a:solidFill>
              <a:srgbClr val="22D3EE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>
            <a:spLocks noGrp="1"/>
          </p:cNvSpPr>
          <p:nvPr/>
        </p:nvSpPr>
        <p:spPr>
          <a:xfrm>
            <a:off x="6986016" y="4617720"/>
            <a:ext cx="768096" cy="0"/>
          </a:xfrm>
          <a:prstGeom prst="line">
            <a:avLst/>
          </a:prstGeom>
          <a:noFill/>
          <a:ln w="16510">
            <a:solidFill>
              <a:srgbClr val="22D3EE"/>
            </a:solidFill>
            <a:prstDash val="solid"/>
            <a:headEnd type="none"/>
            <a:tailEnd type="triangle"/>
          </a:ln>
        </p:spPr>
      </p:sp>
      <p:sp>
        <p:nvSpPr>
          <p:cNvPr id="14" name="Text 12"/>
          <p:cNvSpPr>
            <a:spLocks noGrp="1"/>
          </p:cNvSpPr>
          <p:nvPr/>
        </p:nvSpPr>
        <p:spPr>
          <a:xfrm>
            <a:off x="804672" y="4297680"/>
            <a:ext cx="2468880" cy="640080"/>
          </a:xfrm>
          <a:prstGeom prst="rect">
            <a:avLst/>
          </a:prstGeom>
          <a:solidFill>
            <a:srgbClr val="19233B"/>
          </a:solidFill>
          <a:ln w="15240">
            <a:solidFill>
              <a:srgbClr val="3B82F6"/>
            </a:solidFill>
          </a:ln>
        </p:spPr>
        <p:txBody>
          <a:bodyPr wrap="square" lIns="1397" tIns="1397" rIns="1397" bIns="1397" anchor="ctr">
            <a:normAutofit/>
          </a:bodyPr>
          <a:lstStyle/>
          <a:p>
            <a:pPr marL="0" indent="0" algn="ctr">
              <a:buNone/>
            </a:pPr>
            <a:r>
              <a:rPr sz="105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IP 核封装</a:t>
            </a:r>
            <a:endParaRPr sz="1050"/>
          </a:p>
          <a:p>
            <a:pPr marL="0" indent="0" algn="ctr">
              <a:buNone/>
            </a:pPr>
            <a:r>
              <a:rPr sz="105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component.xml、XGUI、Catalog</a:t>
            </a:r>
            <a:endParaRPr sz="1050"/>
          </a:p>
        </p:txBody>
      </p:sp>
      <p:sp>
        <p:nvSpPr>
          <p:cNvPr id="15" name="Text 13"/>
          <p:cNvSpPr>
            <a:spLocks noGrp="1"/>
          </p:cNvSpPr>
          <p:nvPr/>
        </p:nvSpPr>
        <p:spPr>
          <a:xfrm>
            <a:off x="4370832" y="4297680"/>
            <a:ext cx="2468880" cy="640080"/>
          </a:xfrm>
          <a:prstGeom prst="rect">
            <a:avLst/>
          </a:prstGeom>
          <a:solidFill>
            <a:srgbClr val="19233B"/>
          </a:solidFill>
          <a:ln w="15240">
            <a:solidFill>
              <a:srgbClr val="34D399"/>
            </a:solidFill>
          </a:ln>
        </p:spPr>
        <p:txBody>
          <a:bodyPr wrap="square" lIns="1397" tIns="1397" rIns="1397" bIns="1397" anchor="ctr">
            <a:normAutofit/>
          </a:bodyPr>
          <a:lstStyle/>
          <a:p>
            <a:pPr marL="0" indent="0" algn="ctr">
              <a:buNone/>
            </a:pPr>
            <a:r>
              <a:rPr sz="105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完整应用</a:t>
            </a:r>
            <a:endParaRPr sz="1050"/>
          </a:p>
          <a:p>
            <a:pPr marL="0" indent="0" algn="ctr">
              <a:buNone/>
            </a:pPr>
            <a:r>
              <a:rPr sz="105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棋盘刷新与俄罗斯方块汇编</a:t>
            </a:r>
            <a:endParaRPr sz="1050"/>
          </a:p>
        </p:txBody>
      </p:sp>
      <p:sp>
        <p:nvSpPr>
          <p:cNvPr id="16" name="Text 14"/>
          <p:cNvSpPr>
            <a:spLocks noGrp="1"/>
          </p:cNvSpPr>
          <p:nvPr/>
        </p:nvSpPr>
        <p:spPr>
          <a:xfrm>
            <a:off x="7936992" y="4297680"/>
            <a:ext cx="2468880" cy="640080"/>
          </a:xfrm>
          <a:prstGeom prst="rect">
            <a:avLst/>
          </a:prstGeom>
          <a:solidFill>
            <a:srgbClr val="19233B"/>
          </a:solidFill>
          <a:ln w="15240">
            <a:solidFill>
              <a:srgbClr val="A78BFA"/>
            </a:solidFill>
          </a:ln>
        </p:spPr>
        <p:txBody>
          <a:bodyPr wrap="square" lIns="1397" tIns="1397" rIns="1397" bIns="1397" anchor="ctr">
            <a:normAutofit/>
          </a:bodyPr>
          <a:lstStyle/>
          <a:p>
            <a:pPr marL="0" indent="0" algn="ctr">
              <a:buNone/>
            </a:pPr>
            <a:r>
              <a:rPr sz="105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FPGA 验证</a:t>
            </a:r>
            <a:endParaRPr sz="1050"/>
          </a:p>
          <a:p>
            <a:pPr marL="0" indent="0" algn="ctr">
              <a:buNone/>
            </a:pPr>
            <a:r>
              <a:rPr sz="105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LCD、按键与蜂鸣器实板现象</a:t>
            </a:r>
            <a:endParaRPr sz="1050"/>
          </a:p>
        </p:txBody>
      </p:sp>
      <p:sp>
        <p:nvSpPr>
          <p:cNvPr id="17" name="Text 15"/>
          <p:cNvSpPr>
            <a:spLocks noGrp="1"/>
          </p:cNvSpPr>
          <p:nvPr/>
        </p:nvSpPr>
        <p:spPr>
          <a:xfrm>
            <a:off x="1965960" y="5687568"/>
            <a:ext cx="8138160" cy="402336"/>
          </a:xfrm>
          <a:prstGeom prst="rect">
            <a:avLst/>
          </a:prstGeom>
          <a:solidFill>
            <a:srgbClr val="2B1018"/>
          </a:solidFill>
          <a:ln w="12700">
            <a:solidFill>
              <a:srgbClr val="F87171"/>
            </a:solidFill>
          </a:ln>
        </p:spPr>
        <p:txBody>
          <a:bodyPr wrap="square" lIns="508" tIns="508" rIns="508" bIns="508" anchor="ctr">
            <a:normAutofit/>
          </a:bodyPr>
          <a:lstStyle/>
          <a:p>
            <a:pPr marL="0" indent="0" algn="ctr">
              <a:buNone/>
            </a:pPr>
            <a:r>
              <a:rPr sz="1250" b="1">
                <a:solidFill>
                  <a:srgbClr val="FFD6DD"/>
                </a:solidFill>
                <a:latin typeface="Microsoft YaHei"/>
                <a:ea typeface="Microsoft YaHei"/>
                <a:cs typeface="Microsoft YaHei"/>
              </a:rPr>
              <a:t>本页回顾开发路线；完整游戏、IP 与实板结果另行汇报</a:t>
            </a:r>
            <a:endParaRPr sz="1250"/>
          </a:p>
        </p:txBody>
      </p:sp>
      <p:sp>
        <p:nvSpPr>
          <p:cNvPr id="18" name="Text 16"/>
          <p:cNvSpPr>
            <a:spLocks noGrp="1"/>
          </p:cNvSpPr>
          <p:nvPr/>
        </p:nvSpPr>
        <p:spPr>
          <a:xfrm>
            <a:off x="530352" y="6428232"/>
            <a:ext cx="3840480" cy="16459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800" dirty="0">
                <a:solidFill>
                  <a:srgbClr val="8392B7"/>
                </a:solidFill>
                <a:latin typeface="Microsoft YaHei"/>
                <a:ea typeface="Microsoft YaHei"/>
                <a:cs typeface="Microsoft YaHei"/>
              </a:rPr>
              <a:t>ST7571 LCD · SPI · MMIO · RISC-V ASM</a:t>
            </a:r>
            <a:endParaRPr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</TotalTime>
  <Words>1774</Words>
  <Application>Microsoft Office PowerPoint</Application>
  <PresentationFormat>宽屏</PresentationFormat>
  <Paragraphs>315</Paragraphs>
  <Slides>14</Slides>
  <Notes>11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18" baseType="lpstr">
      <vt:lpstr>Microsoft YaHei</vt:lpstr>
      <vt:lpstr>Arial</vt:lpstr>
      <vt:lpstr>Consolas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eon N</cp:lastModifiedBy>
  <cp:revision>7</cp:revision>
  <dcterms:created xsi:type="dcterms:W3CDTF">2026-09-10T17:20:55Z</dcterms:created>
  <dcterms:modified xsi:type="dcterms:W3CDTF">2026-09-11T01:36:15Z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2597C80148BFAD4989E6A26A24A6DF68_42</vt:lpwstr>
  </property>
  <property fmtid="{D5CDD505-2E9C-101B-9397-08002B2CF9AE}" pid="3" name="KSOProductBuildVer">
    <vt:lpwstr>1033-12.1.2.26885</vt:lpwstr>
  </property>
</Properties>
</file>