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1010" r:id="rId11"/>
    <p:sldId id="1011" r:id="rId12"/>
    <p:sldId id="265" r:id="rId13"/>
    <p:sldId id="1013" r:id="rId14"/>
    <p:sldId id="1014" r:id="rId15"/>
    <p:sldId id="266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各位老师好，这部分汇报面向汇编与接口技术课程。我们的中期题目是基于 ST7571 的 LCD SPI 接口控制器及 RISC-V 汇编驱动。本阶段要证明接口协议、硬件结构、MMIO 约定和最小驱动已经确定，并能在仿真中正确发送命令与显示数据。完整游戏和 IP 封装留到最终阶段。
内容依据：
- docs/中期与最终汇报范围划分.md §6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我们选择板载 ST7571 LCD 作为主要外设，因为它同时包含串行协议、初始化时序和持续数据传输，能体现接口控制器设计。采用 4 线 SPI，CS 选择器件，SCK 提供时钟，MOSI 发送数据，RS 区分命令与显示数据，RST 完成硬复位。当前实现空闲时 SCK 为低，按 MSB first 发送。
内容依据：
- rtl/peripheral/lcd_spi_master.sv
- docs/中期与最终汇报范围划分.md §6.2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系统中 CPU 通过 LW 和 SW 访问 MMIO。地址译码器把 LCD 地址转换为控制器请求，控制器负责复位、初始化、清屏和用户字节调度，底层 SPI master 只负责一个字节的串行移位。控制器输出 CS、SCK、MOSI、RS 和 RST 到 LCD。这样的分层让汇编程序不需要直接控制每一个 SPI 边沿。
内容依据：
- rtl/soc/soc_top.sv
- rtl/peripheral/lcd_controller.sv
- rtl/peripheral/lcd_spi_master.sv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发送一个字节时，控制器先在 SCK 为低时拉低 CS，并把最高位放到 MOSI。随后每个上升沿供 LCD 采样，每个下降沿切换到下一位，共发送 8 位。RS 等于零表示命令，等于一表示显示数据。最后一个下降沿后释放 CS，ready 恢复。答辩时可沿着 D7 到 D0 解释位序。
内容依据：
- rtl/peripheral/lcd_spi_master.sv
- sim/unit/tb_lcd_spi_master.sv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LCD 上电后不能立即接收普通显示数据。状态机先保持硬复位低电平，再等待约 120 毫秒，然后依次发送初始化命令。每个命令都经过等待 SPI 忙和等待完成两个阶段。初始化后清屏，最后进入 IDLE 并置 initialized。reinit 请求可以让状态机重新回到复位阶段。
内容依据：
- rtl/peripheral/lcd_controller.sv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ready 和 valid 用于跨越 CPU 与慢速 SPI 之间的速度差。只有控制器在 IDLE 且 SPI 空闲时，tx_ready 才有效。软件写 LCD_CMD 或 LCD_DATA 后，SoC 保持总线请求，直到 ready。握手成功只产生一次 tx_valid 脉冲，随后控制器拉低 ready，忙完再恢复，因此既不会丢字，也不会重复发送。
内容依据：
- rtl/soc/soc_top.sv:182-254
- rtl/peripheral/lcd_controller.sv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这页给出中期使用的 MMIO 接口。CMD 和 DATA 都写低 8 位，区别由 RS 自动产生。STATUS 的 bit0 表示 ready，bit1 表示 initialized。CTRL 可触发重新初始化、清屏和固定文字演示。后面三个寄存器已经为棋盘行、整屏刷新和蜂鸣器预留，但中期只作为后续扩展接口，不展开完整应用。
内容依据：
- rtl/memory/address_decoder.sv
- docs/中期与最终汇报范围划分.md §5.4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最小汇编驱动先轮询 LCD_STATUS 的 initialized 位，确认上电初始化结束。发送命令或数据前再等待 ready，然后使用 SW 写入相应 MMIO 地址。上层函数可以组合出设置页地址、设置列地址、发送测试字节和触发固定文字。软件只关心寄存器语义，具体 SPI 位序由硬件完成。
内容依据：
- firmware/bringup.S
- docs/中期与最终汇报范围划分.md §6.2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中期验证需要四类证据。第一类观察复位和 initialized，确认等待时间与状态迁移。第二类观察 CS、SCK、MOSI 和 RS，核对 8 位 MSB first。第三类观察 tx_valid 与 tx_ready，确认忙时拒绝新字节。第四类观察 CPU 的 dmem_req 和 ready，确认总线等待期间一次写请求只触发一次外设发送。页面中的条带是信号关系摘要，正式答辩可换成仿真截图。
内容依据：
- sim/unit/tb_lcd_spi_master.sv
- sim/unit/tb_lcd_controller.sv
- docs/中期与最终汇报范围划分.md §6.3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这页属于补充证据，不作为 LCD 协议本身的核心证明。三张波形说明运行汇编驱动的 CPU 能处理双源前递、load-use 停顿和分支冲刷，控制台显示联合自检通过。汇编与接口课程主讲仍应回到 SPI 位序、初始化状态机和 MMIO 握手。</a:t>
            </a:r>
          </a:p>
          <a:p>
            <a:r>
              <a:t>内容依据：</a:t>
            </a:r>
          </a:p>
          <a:p>
            <a:r>
              <a:t>- sim/system/tb_pipeline_hazard.sv</a:t>
            </a:r>
          </a:p>
          <a:p>
            <a:r>
              <a:t>- docs/仿真/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当前已经完成 SPI master、LCD 初始化控制器、ready/valid 握手、MMIO 地址约定和最小汇编驱动，相关 testbench 设置了自动 PASS 检查。下一阶段将把控制器封装为独立 IP，完成棋盘刷新接口和俄罗斯方块汇编程序，再进行 FPGA 实板验证。本次中期结论只评价接口和基础驱动。
内容依据：
- docs/中期与最终汇报范围划分.md §6.4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6B393A8-EF0A-44FA-A18E-E47DC89C8109}"/>
              </a:ext>
            </a:extLst>
          </p:cNvPr>
          <p:cNvSpPr>
            <a:spLocks noGrp="1"/>
          </p:cNvSpPr>
          <p:nvPr/>
        </p:nvSpPr>
        <p:spPr>
          <a:xfrm>
            <a:off x="713232" y="658368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汇编与接口技术课程设计</a:t>
            </a:r>
            <a:endParaRPr sz="11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A71F02D-F30A-4DB9-81D2-F9CD84D26A5D}"/>
              </a:ext>
            </a:extLst>
          </p:cNvPr>
          <p:cNvSpPr>
            <a:spLocks noGrp="1"/>
          </p:cNvSpPr>
          <p:nvPr/>
        </p:nvSpPr>
        <p:spPr>
          <a:xfrm>
            <a:off x="731520" y="1152144"/>
            <a:ext cx="0" cy="2999232"/>
          </a:xfrm>
          <a:prstGeom prst="line">
            <a:avLst/>
          </a:prstGeom>
          <a:noFill/>
          <a:ln w="44450">
            <a:solidFill>
              <a:srgbClr val="22D3EE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0206D78-D612-4611-B43E-658B675C9312}"/>
              </a:ext>
            </a:extLst>
          </p:cNvPr>
          <p:cNvSpPr>
            <a:spLocks noGrp="1"/>
          </p:cNvSpPr>
          <p:nvPr/>
        </p:nvSpPr>
        <p:spPr>
          <a:xfrm>
            <a:off x="1005840" y="1097280"/>
            <a:ext cx="6583680" cy="21762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3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基于 ST7571 的</a:t>
            </a:r>
            <a:endParaRPr sz="3300"/>
          </a:p>
          <a:p>
            <a:pPr marL="0" indent="0">
              <a:buNone/>
            </a:pPr>
            <a:r>
              <a:rPr sz="33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SPI 接口控制器</a:t>
            </a:r>
            <a:endParaRPr sz="3300"/>
          </a:p>
          <a:p>
            <a:pPr marL="0" indent="0">
              <a:buNone/>
            </a:pPr>
            <a:r>
              <a:rPr sz="33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及汇编驱动</a:t>
            </a:r>
            <a:endParaRPr sz="33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AE72E1B-1DA7-47CB-97FA-95AF1EF315AC}"/>
              </a:ext>
            </a:extLst>
          </p:cNvPr>
          <p:cNvSpPr>
            <a:spLocks noGrp="1"/>
          </p:cNvSpPr>
          <p:nvPr/>
        </p:nvSpPr>
        <p:spPr>
          <a:xfrm>
            <a:off x="1024128" y="3602736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主讲：王建乐</a:t>
            </a:r>
            <a:endParaRPr sz="16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E363CDA-A595-4337-87E6-87F1923D597C}"/>
              </a:ext>
            </a:extLst>
          </p:cNvPr>
          <p:cNvSpPr>
            <a:spLocks noGrp="1"/>
          </p:cNvSpPr>
          <p:nvPr/>
        </p:nvSpPr>
        <p:spPr>
          <a:xfrm>
            <a:off x="1005840" y="4187952"/>
            <a:ext cx="6492240" cy="502920"/>
          </a:xfrm>
          <a:prstGeom prst="rect">
            <a:avLst/>
          </a:prstGeom>
          <a:solidFill>
            <a:srgbClr val="121B31"/>
          </a:solidFill>
          <a:ln w="12700">
            <a:solidFill>
              <a:srgbClr val="27466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350" dirty="0" err="1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阶段目标：接口协议、控制器、MMIO</a:t>
            </a:r>
            <a:r>
              <a:rPr sz="1350" dirty="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50" dirty="0" err="1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与最小汇编驱动正确</a:t>
            </a:r>
            <a:endParaRPr sz="13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3C7F6B6-1CE3-4C5F-BDED-8DCCBDDAD65E}"/>
              </a:ext>
            </a:extLst>
          </p:cNvPr>
          <p:cNvSpPr>
            <a:spLocks noGrp="1"/>
          </p:cNvSpPr>
          <p:nvPr/>
        </p:nvSpPr>
        <p:spPr>
          <a:xfrm>
            <a:off x="1005840" y="5010912"/>
            <a:ext cx="6492240" cy="365760"/>
          </a:xfrm>
          <a:prstGeom prst="rect">
            <a:avLst/>
          </a:prstGeom>
          <a:solidFill>
            <a:srgbClr val="0F172A"/>
          </a:solidFill>
          <a:ln w="12700">
            <a:solidFill>
              <a:srgbClr val="263A5E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050" dirty="0" err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成员：王建乐、张晓行、钱博傲</a:t>
            </a:r>
            <a:r>
              <a:rPr sz="105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    日期：2026 年 9 月</a:t>
            </a:r>
            <a:endParaRPr sz="105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D790FF1-4067-4E65-B0C0-A16B6743073A}"/>
              </a:ext>
            </a:extLst>
          </p:cNvPr>
          <p:cNvSpPr>
            <a:spLocks noGrp="1"/>
          </p:cNvSpPr>
          <p:nvPr/>
        </p:nvSpPr>
        <p:spPr>
          <a:xfrm>
            <a:off x="8412480" y="960120"/>
            <a:ext cx="2606040" cy="4069080"/>
          </a:xfrm>
          <a:prstGeom prst="rect">
            <a:avLst/>
          </a:prstGeom>
          <a:solidFill>
            <a:srgbClr val="111A31"/>
          </a:solidFill>
          <a:ln w="15240">
            <a:solidFill>
              <a:srgbClr val="355479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C938AF2-F43E-463B-93AE-8A714C4085D4}"/>
              </a:ext>
            </a:extLst>
          </p:cNvPr>
          <p:cNvSpPr>
            <a:spLocks noGrp="1"/>
          </p:cNvSpPr>
          <p:nvPr/>
        </p:nvSpPr>
        <p:spPr>
          <a:xfrm>
            <a:off x="8915400" y="1234440"/>
            <a:ext cx="16002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0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LCD</a:t>
            </a:r>
            <a:endParaRPr sz="30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127B41C-0D64-4621-B25E-E01ABB286754}"/>
              </a:ext>
            </a:extLst>
          </p:cNvPr>
          <p:cNvSpPr>
            <a:spLocks noGrp="1"/>
          </p:cNvSpPr>
          <p:nvPr/>
        </p:nvSpPr>
        <p:spPr>
          <a:xfrm>
            <a:off x="8778240" y="1920240"/>
            <a:ext cx="1874520" cy="2286000"/>
          </a:xfrm>
          <a:prstGeom prst="rect">
            <a:avLst/>
          </a:prstGeom>
          <a:solidFill>
            <a:srgbClr val="0B102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F3ECAE9-AA90-4292-9B75-9F84ADC188A9}"/>
              </a:ext>
            </a:extLst>
          </p:cNvPr>
          <p:cNvSpPr>
            <a:spLocks noGrp="1"/>
          </p:cNvSpPr>
          <p:nvPr/>
        </p:nvSpPr>
        <p:spPr>
          <a:xfrm>
            <a:off x="7680960" y="1508760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3B82F6"/>
                </a:solidFill>
                <a:latin typeface="Microsoft YaHei"/>
                <a:ea typeface="Microsoft YaHei"/>
                <a:cs typeface="Microsoft YaHei"/>
              </a:rPr>
              <a:t>CS</a:t>
            </a:r>
            <a:endParaRPr sz="8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228FB9A8-14E3-4D43-96B5-EAE97872AFED}"/>
              </a:ext>
            </a:extLst>
          </p:cNvPr>
          <p:cNvSpPr>
            <a:spLocks noGrp="1"/>
          </p:cNvSpPr>
          <p:nvPr/>
        </p:nvSpPr>
        <p:spPr>
          <a:xfrm>
            <a:off x="8229600" y="1600200"/>
            <a:ext cx="530352" cy="0"/>
          </a:xfrm>
          <a:prstGeom prst="line">
            <a:avLst/>
          </a:prstGeom>
          <a:noFill/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52E1B79-EFDF-42ED-B6F9-C7C9A938D114}"/>
              </a:ext>
            </a:extLst>
          </p:cNvPr>
          <p:cNvSpPr>
            <a:spLocks noGrp="1"/>
          </p:cNvSpPr>
          <p:nvPr/>
        </p:nvSpPr>
        <p:spPr>
          <a:xfrm>
            <a:off x="7680960" y="2075688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SCK</a:t>
            </a:r>
            <a:endParaRPr sz="85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85F03247-0F1E-4EEC-91BB-6B1344E8A22D}"/>
              </a:ext>
            </a:extLst>
          </p:cNvPr>
          <p:cNvSpPr>
            <a:spLocks noGrp="1"/>
          </p:cNvSpPr>
          <p:nvPr/>
        </p:nvSpPr>
        <p:spPr>
          <a:xfrm>
            <a:off x="8229600" y="2167128"/>
            <a:ext cx="530352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09668A8-8C0F-42BD-A23E-2733ED4401B4}"/>
              </a:ext>
            </a:extLst>
          </p:cNvPr>
          <p:cNvSpPr>
            <a:spLocks noGrp="1"/>
          </p:cNvSpPr>
          <p:nvPr/>
        </p:nvSpPr>
        <p:spPr>
          <a:xfrm>
            <a:off x="7680960" y="2642616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MOSI</a:t>
            </a:r>
            <a:endParaRPr sz="85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890D6B74-C1DB-4E5E-836B-1CF28344A113}"/>
              </a:ext>
            </a:extLst>
          </p:cNvPr>
          <p:cNvSpPr>
            <a:spLocks noGrp="1"/>
          </p:cNvSpPr>
          <p:nvPr/>
        </p:nvSpPr>
        <p:spPr>
          <a:xfrm>
            <a:off x="8229600" y="2734056"/>
            <a:ext cx="530352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57F0DC-AB71-412F-AE64-9109F9E65A8B}"/>
              </a:ext>
            </a:extLst>
          </p:cNvPr>
          <p:cNvSpPr>
            <a:spLocks noGrp="1"/>
          </p:cNvSpPr>
          <p:nvPr/>
        </p:nvSpPr>
        <p:spPr>
          <a:xfrm>
            <a:off x="7680960" y="3209544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rPr>
              <a:t>RS</a:t>
            </a:r>
            <a:endParaRPr sz="8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4E950DB8-444C-4953-B625-09F2011DC306}"/>
              </a:ext>
            </a:extLst>
          </p:cNvPr>
          <p:cNvSpPr>
            <a:spLocks noGrp="1"/>
          </p:cNvSpPr>
          <p:nvPr/>
        </p:nvSpPr>
        <p:spPr>
          <a:xfrm>
            <a:off x="8229600" y="3300984"/>
            <a:ext cx="530352" cy="0"/>
          </a:xfrm>
          <a:prstGeom prst="line">
            <a:avLst/>
          </a:prstGeom>
          <a:noFill/>
          <a:ln w="19050">
            <a:solidFill>
              <a:srgbClr val="F87171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2331CCD-D5E8-40B3-9B82-E02E459D3C3C}"/>
              </a:ext>
            </a:extLst>
          </p:cNvPr>
          <p:cNvSpPr>
            <a:spLocks noGrp="1"/>
          </p:cNvSpPr>
          <p:nvPr/>
        </p:nvSpPr>
        <p:spPr>
          <a:xfrm>
            <a:off x="7680960" y="3776472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RST</a:t>
            </a:r>
            <a:endParaRPr sz="85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3097AC90-1F9F-414C-AF47-6137B0B4803F}"/>
              </a:ext>
            </a:extLst>
          </p:cNvPr>
          <p:cNvSpPr>
            <a:spLocks noGrp="1"/>
          </p:cNvSpPr>
          <p:nvPr/>
        </p:nvSpPr>
        <p:spPr>
          <a:xfrm>
            <a:off x="8229600" y="3867912"/>
            <a:ext cx="530352" cy="0"/>
          </a:xfrm>
          <a:prstGeom prst="line">
            <a:avLst/>
          </a:prstGeom>
          <a:noFill/>
          <a:ln w="19050">
            <a:solidFill>
              <a:srgbClr val="A78BFA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8596064C-28E5-47A7-BEC1-6C7E0324DC18}"/>
              </a:ext>
            </a:extLst>
          </p:cNvPr>
          <p:cNvSpPr>
            <a:spLocks noGrp="1"/>
          </p:cNvSpPr>
          <p:nvPr/>
        </p:nvSpPr>
        <p:spPr>
          <a:xfrm>
            <a:off x="8613648" y="4572000"/>
            <a:ext cx="21488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SPI · MMIO · ASM</a:t>
            </a:r>
            <a:endParaRPr sz="10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A43B492F-134C-48B5-80C1-F24429441DB2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345503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C37CF1B-9DD0-4127-8CF4-A156AE9ABD96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外设选型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D98CA64-212F-46C7-98E5-C7AD4561A75B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板载 LCD 与接口选择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DFA3F80-4474-4BD8-AF4A-BF6D381A16D0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ST7571 通过 4 线 SPI 接收命令和显示数据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09D77D8-44CF-4670-B207-CC326AA385DF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8C38BE8-D42D-4252-BF6B-D9B60682DE0B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1A2B711-79F2-4FC8-943C-4179A40E96E2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892A2F9-FF27-4858-B27F-AF834C142B8C}"/>
              </a:ext>
            </a:extLst>
          </p:cNvPr>
          <p:cNvSpPr>
            <a:spLocks noGrp="1"/>
          </p:cNvSpPr>
          <p:nvPr/>
        </p:nvSpPr>
        <p:spPr>
          <a:xfrm>
            <a:off x="658368" y="1783080"/>
            <a:ext cx="1874520" cy="950976"/>
          </a:xfrm>
          <a:prstGeom prst="rect">
            <a:avLst/>
          </a:prstGeom>
          <a:solidFill>
            <a:srgbClr val="121A2D"/>
          </a:solidFill>
          <a:ln w="15240">
            <a:solidFill>
              <a:srgbClr val="3B82F6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CS</a:t>
            </a:r>
            <a:endParaRPr sz="1150"/>
          </a:p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低有效片选</a:t>
            </a:r>
            <a:endParaRPr sz="11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1FD1969-D324-402D-9625-4329DAFBA303}"/>
              </a:ext>
            </a:extLst>
          </p:cNvPr>
          <p:cNvSpPr>
            <a:spLocks noGrp="1"/>
          </p:cNvSpPr>
          <p:nvPr/>
        </p:nvSpPr>
        <p:spPr>
          <a:xfrm>
            <a:off x="2907792" y="1783080"/>
            <a:ext cx="1874520" cy="950976"/>
          </a:xfrm>
          <a:prstGeom prst="rect">
            <a:avLst/>
          </a:prstGeom>
          <a:solidFill>
            <a:srgbClr val="121A2D"/>
          </a:solidFill>
          <a:ln w="15240">
            <a:solidFill>
              <a:srgbClr val="22D3EE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SCK</a:t>
            </a:r>
            <a:endParaRPr sz="1150"/>
          </a:p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空闲低；上升沿采样</a:t>
            </a:r>
            <a:endParaRPr sz="11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D17D552-3E1E-4D5C-A76C-0FF8DBFB5D20}"/>
              </a:ext>
            </a:extLst>
          </p:cNvPr>
          <p:cNvSpPr>
            <a:spLocks noGrp="1"/>
          </p:cNvSpPr>
          <p:nvPr/>
        </p:nvSpPr>
        <p:spPr>
          <a:xfrm>
            <a:off x="5157216" y="1783080"/>
            <a:ext cx="1874520" cy="950976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MOSI</a:t>
            </a:r>
            <a:endParaRPr sz="1150"/>
          </a:p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MSB first 串行数据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3B12CAA-476F-4D4A-A758-3E6970CBBC45}"/>
              </a:ext>
            </a:extLst>
          </p:cNvPr>
          <p:cNvSpPr>
            <a:spLocks noGrp="1"/>
          </p:cNvSpPr>
          <p:nvPr/>
        </p:nvSpPr>
        <p:spPr>
          <a:xfrm>
            <a:off x="7406640" y="1783080"/>
            <a:ext cx="1874520" cy="950976"/>
          </a:xfrm>
          <a:prstGeom prst="rect">
            <a:avLst/>
          </a:prstGeom>
          <a:solidFill>
            <a:srgbClr val="121A2D"/>
          </a:solidFill>
          <a:ln w="15240">
            <a:solidFill>
              <a:srgbClr val="F87171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RS</a:t>
            </a:r>
            <a:endParaRPr sz="1150"/>
          </a:p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0 命令；1 数据</a:t>
            </a:r>
            <a:endParaRPr sz="11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2348FFA-2FBF-44AB-9BCE-CC7AF075CE57}"/>
              </a:ext>
            </a:extLst>
          </p:cNvPr>
          <p:cNvSpPr>
            <a:spLocks noGrp="1"/>
          </p:cNvSpPr>
          <p:nvPr/>
        </p:nvSpPr>
        <p:spPr>
          <a:xfrm>
            <a:off x="9656064" y="1783080"/>
            <a:ext cx="1874520" cy="950976"/>
          </a:xfrm>
          <a:prstGeom prst="rect">
            <a:avLst/>
          </a:prstGeom>
          <a:solidFill>
            <a:srgbClr val="121A2D"/>
          </a:solidFill>
          <a:ln w="15240">
            <a:solidFill>
              <a:srgbClr val="A78BFA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RST</a:t>
            </a:r>
            <a:endParaRPr sz="1150"/>
          </a:p>
          <a:p>
            <a:pPr marL="0" indent="0" algn="ctr">
              <a:buNone/>
            </a:pPr>
            <a:r>
              <a:rPr sz="11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低有效硬复位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164C221-78B4-4152-86A6-16A2182E9E33}"/>
              </a:ext>
            </a:extLst>
          </p:cNvPr>
          <p:cNvSpPr>
            <a:spLocks noGrp="1"/>
          </p:cNvSpPr>
          <p:nvPr/>
        </p:nvSpPr>
        <p:spPr>
          <a:xfrm>
            <a:off x="713232" y="3273552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95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为什么选它</a:t>
            </a:r>
            <a:endParaRPr sz="9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8D68588-9E2D-4644-BE19-AEC84094B2AC}"/>
              </a:ext>
            </a:extLst>
          </p:cNvPr>
          <p:cNvSpPr>
            <a:spLocks noGrp="1"/>
          </p:cNvSpPr>
          <p:nvPr/>
        </p:nvSpPr>
        <p:spPr>
          <a:xfrm>
            <a:off x="713232" y="3611880"/>
            <a:ext cx="5166360" cy="749808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2032" tIns="2032" rIns="2032" bIns="2032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400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协议包含复位等待、命令序列和连续数据传输，能完整体现外设</a:t>
            </a:r>
            <a:r>
              <a:rPr lang="en-US" sz="1400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400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接口控制器的状态机与握手设计</a:t>
            </a:r>
            <a:r>
              <a:rPr sz="1400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sz="14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55963AE-58E4-46FA-A071-D981F3FFAAEA}"/>
              </a:ext>
            </a:extLst>
          </p:cNvPr>
          <p:cNvSpPr>
            <a:spLocks noGrp="1"/>
          </p:cNvSpPr>
          <p:nvPr/>
        </p:nvSpPr>
        <p:spPr>
          <a:xfrm>
            <a:off x="713232" y="4535424"/>
            <a:ext cx="5166360" cy="530352"/>
          </a:xfrm>
          <a:prstGeom prst="rect">
            <a:avLst/>
          </a:prstGeom>
          <a:solidFill>
            <a:srgbClr val="10271E"/>
          </a:solidFill>
          <a:ln w="12700">
            <a:solidFill>
              <a:srgbClr val="246E4B"/>
            </a:solidFill>
          </a:ln>
        </p:spPr>
        <p:txBody>
          <a:bodyPr wrap="square" lIns="2032" tIns="2032" rIns="2032" bIns="2032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BFBEA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300" dirty="0" err="1">
                <a:solidFill>
                  <a:srgbClr val="DBFBEA"/>
                </a:solidFill>
                <a:latin typeface="Microsoft YaHei"/>
                <a:ea typeface="Microsoft YaHei"/>
                <a:cs typeface="Microsoft YaHei"/>
              </a:rPr>
              <a:t>硬件处理精确时序，汇编软件通过寄存器接口发送高层操作</a:t>
            </a:r>
            <a:r>
              <a:rPr sz="1300" dirty="0">
                <a:solidFill>
                  <a:srgbClr val="DBFBEA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sz="13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35C0F09-607E-4A68-A937-BB876B622FFA}"/>
              </a:ext>
            </a:extLst>
          </p:cNvPr>
          <p:cNvSpPr>
            <a:spLocks noGrp="1"/>
          </p:cNvSpPr>
          <p:nvPr/>
        </p:nvSpPr>
        <p:spPr>
          <a:xfrm>
            <a:off x="6547104" y="3273552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9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接口抽象</a:t>
            </a:r>
            <a:endParaRPr sz="95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B2301EC3-4A86-464F-920F-5AD8812BCEB8}"/>
              </a:ext>
            </a:extLst>
          </p:cNvPr>
          <p:cNvSpPr>
            <a:spLocks noGrp="1"/>
          </p:cNvSpPr>
          <p:nvPr/>
        </p:nvSpPr>
        <p:spPr>
          <a:xfrm>
            <a:off x="6748272" y="4023360"/>
            <a:ext cx="950976" cy="0"/>
          </a:xfrm>
          <a:prstGeom prst="line">
            <a:avLst/>
          </a:prstGeom>
          <a:noFill/>
          <a:ln w="2032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2BAA8D22-A71E-457F-AFEC-5C8851C3F9BC}"/>
              </a:ext>
            </a:extLst>
          </p:cNvPr>
          <p:cNvSpPr>
            <a:spLocks noGrp="1"/>
          </p:cNvSpPr>
          <p:nvPr/>
        </p:nvSpPr>
        <p:spPr>
          <a:xfrm>
            <a:off x="8412480" y="4023360"/>
            <a:ext cx="987552" cy="0"/>
          </a:xfrm>
          <a:prstGeom prst="line">
            <a:avLst/>
          </a:prstGeom>
          <a:noFill/>
          <a:ln w="2032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D76B72A-8AA9-4F19-9A1C-685F6626C525}"/>
              </a:ext>
            </a:extLst>
          </p:cNvPr>
          <p:cNvSpPr>
            <a:spLocks noGrp="1"/>
          </p:cNvSpPr>
          <p:nvPr/>
        </p:nvSpPr>
        <p:spPr>
          <a:xfrm>
            <a:off x="6236208" y="3703320"/>
            <a:ext cx="128016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CPU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SW / LW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D904104-0429-4055-83EF-E5BA61F400B6}"/>
              </a:ext>
            </a:extLst>
          </p:cNvPr>
          <p:cNvSpPr>
            <a:spLocks noGrp="1"/>
          </p:cNvSpPr>
          <p:nvPr/>
        </p:nvSpPr>
        <p:spPr>
          <a:xfrm>
            <a:off x="7808976" y="3703320"/>
            <a:ext cx="1572768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MMIO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CMD · DATA · STATUS</a:t>
            </a:r>
            <a:endParaRPr sz="10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02EDB19-A65B-43C0-BE75-2850BC4DA18F}"/>
              </a:ext>
            </a:extLst>
          </p:cNvPr>
          <p:cNvSpPr>
            <a:spLocks noGrp="1"/>
          </p:cNvSpPr>
          <p:nvPr/>
        </p:nvSpPr>
        <p:spPr>
          <a:xfrm>
            <a:off x="9528048" y="3703320"/>
            <a:ext cx="182880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F59E0B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CS/SCK/MOSI/RS/RST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9EA1070-B971-4F25-9DEF-7794B4346717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943496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303AA25-DCB1-485E-A244-94468B7759F2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系统结构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ABA21CC-7CF1-40D9-B6C0-69DA10390D3F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CPU、MMIO 与 LCD 控制器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1238720-CCBD-4697-A04A-EE14C11D5D40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软件访问寄存器，硬件完成初始化与逐位发送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9299BA2-B99D-40A7-B2BA-A39BFE0DF3E8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6619B22-C404-46A3-8416-5F3A3AFA6B1B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5D1D8B3-1D75-4B9A-96FF-F4B65619EA4D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B63149E8-DE8F-4FB5-96D7-9AEFF41063BC}"/>
              </a:ext>
            </a:extLst>
          </p:cNvPr>
          <p:cNvSpPr>
            <a:spLocks noGrp="1"/>
          </p:cNvSpPr>
          <p:nvPr/>
        </p:nvSpPr>
        <p:spPr>
          <a:xfrm>
            <a:off x="2039112" y="2350008"/>
            <a:ext cx="338328" cy="0"/>
          </a:xfrm>
          <a:prstGeom prst="line">
            <a:avLst/>
          </a:prstGeom>
          <a:noFill/>
          <a:ln w="1778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033FFEF-56EA-44CE-8F3C-088825BE8BF5}"/>
              </a:ext>
            </a:extLst>
          </p:cNvPr>
          <p:cNvSpPr>
            <a:spLocks noGrp="1"/>
          </p:cNvSpPr>
          <p:nvPr/>
        </p:nvSpPr>
        <p:spPr>
          <a:xfrm>
            <a:off x="3867912" y="2350008"/>
            <a:ext cx="338328" cy="0"/>
          </a:xfrm>
          <a:prstGeom prst="line">
            <a:avLst/>
          </a:prstGeom>
          <a:noFill/>
          <a:ln w="1778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9757CF2-1800-40D4-A1E8-6B51C755ECC5}"/>
              </a:ext>
            </a:extLst>
          </p:cNvPr>
          <p:cNvSpPr>
            <a:spLocks noGrp="1"/>
          </p:cNvSpPr>
          <p:nvPr/>
        </p:nvSpPr>
        <p:spPr>
          <a:xfrm>
            <a:off x="5696712" y="2350008"/>
            <a:ext cx="338328" cy="0"/>
          </a:xfrm>
          <a:prstGeom prst="line">
            <a:avLst/>
          </a:prstGeom>
          <a:noFill/>
          <a:ln w="1778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4208618-91DA-4FE9-965E-455301EA11F0}"/>
              </a:ext>
            </a:extLst>
          </p:cNvPr>
          <p:cNvSpPr>
            <a:spLocks noGrp="1"/>
          </p:cNvSpPr>
          <p:nvPr/>
        </p:nvSpPr>
        <p:spPr>
          <a:xfrm>
            <a:off x="7525512" y="2350008"/>
            <a:ext cx="338328" cy="0"/>
          </a:xfrm>
          <a:prstGeom prst="line">
            <a:avLst/>
          </a:prstGeom>
          <a:noFill/>
          <a:ln w="1778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1EF83FB7-FF97-4BC2-9ED7-CDB86FFF76C8}"/>
              </a:ext>
            </a:extLst>
          </p:cNvPr>
          <p:cNvSpPr>
            <a:spLocks noGrp="1"/>
          </p:cNvSpPr>
          <p:nvPr/>
        </p:nvSpPr>
        <p:spPr>
          <a:xfrm>
            <a:off x="9354312" y="2350008"/>
            <a:ext cx="338328" cy="0"/>
          </a:xfrm>
          <a:prstGeom prst="line">
            <a:avLst/>
          </a:prstGeom>
          <a:noFill/>
          <a:ln w="1778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12687F9-4C93-4312-805C-77333D1D4FC4}"/>
              </a:ext>
            </a:extLst>
          </p:cNvPr>
          <p:cNvSpPr>
            <a:spLocks noGrp="1"/>
          </p:cNvSpPr>
          <p:nvPr/>
        </p:nvSpPr>
        <p:spPr>
          <a:xfrm>
            <a:off x="658368" y="2011680"/>
            <a:ext cx="1325880" cy="676656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RISC-V 汇编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LW / SW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69FBA43-B2B3-4C8C-9A7E-4D1EE51AB5C2}"/>
              </a:ext>
            </a:extLst>
          </p:cNvPr>
          <p:cNvSpPr>
            <a:spLocks noGrp="1"/>
          </p:cNvSpPr>
          <p:nvPr/>
        </p:nvSpPr>
        <p:spPr>
          <a:xfrm>
            <a:off x="2487168" y="2011680"/>
            <a:ext cx="1325880" cy="676656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地址译码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MMIO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AC7C21D-0F71-4DD6-909F-D6BD04ED0BBE}"/>
              </a:ext>
            </a:extLst>
          </p:cNvPr>
          <p:cNvSpPr>
            <a:spLocks noGrp="1"/>
          </p:cNvSpPr>
          <p:nvPr/>
        </p:nvSpPr>
        <p:spPr>
          <a:xfrm>
            <a:off x="4315968" y="2011680"/>
            <a:ext cx="1325880" cy="676656"/>
          </a:xfrm>
          <a:prstGeom prst="rect">
            <a:avLst/>
          </a:prstGeom>
          <a:solidFill>
            <a:srgbClr val="19233B"/>
          </a:solidFill>
          <a:ln w="15240">
            <a:solidFill>
              <a:srgbClr val="22D3EE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控制器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初始化 / 清屏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49126E9-4746-4A2F-9798-BA24149ED591}"/>
              </a:ext>
            </a:extLst>
          </p:cNvPr>
          <p:cNvSpPr>
            <a:spLocks noGrp="1"/>
          </p:cNvSpPr>
          <p:nvPr/>
        </p:nvSpPr>
        <p:spPr>
          <a:xfrm>
            <a:off x="6144768" y="2011680"/>
            <a:ext cx="1325880" cy="676656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调度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ready / valid</a:t>
            </a:r>
            <a:endParaRPr sz="10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1F0358B-6EBD-42EE-A239-A9371F727C4A}"/>
              </a:ext>
            </a:extLst>
          </p:cNvPr>
          <p:cNvSpPr>
            <a:spLocks noGrp="1"/>
          </p:cNvSpPr>
          <p:nvPr/>
        </p:nvSpPr>
        <p:spPr>
          <a:xfrm>
            <a:off x="7973568" y="2011680"/>
            <a:ext cx="1325880" cy="676656"/>
          </a:xfrm>
          <a:prstGeom prst="rect">
            <a:avLst/>
          </a:prstGeom>
          <a:solidFill>
            <a:srgbClr val="19233B"/>
          </a:solidFill>
          <a:ln w="15240">
            <a:solidFill>
              <a:srgbClr val="F59E0B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SPI master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8 位移位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27DD1E6-A43B-4FE9-89FC-69F2841155AF}"/>
              </a:ext>
            </a:extLst>
          </p:cNvPr>
          <p:cNvSpPr>
            <a:spLocks noGrp="1"/>
          </p:cNvSpPr>
          <p:nvPr/>
        </p:nvSpPr>
        <p:spPr>
          <a:xfrm>
            <a:off x="9802368" y="2011680"/>
            <a:ext cx="1325880" cy="676656"/>
          </a:xfrm>
          <a:prstGeom prst="rect">
            <a:avLst/>
          </a:prstGeom>
          <a:solidFill>
            <a:srgbClr val="19233B"/>
          </a:solidFill>
          <a:ln w="15240">
            <a:solidFill>
              <a:srgbClr val="F87171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ST7571</a:t>
            </a:r>
            <a:endParaRPr sz="10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CE7E5528-F794-48ED-AFF2-C9A5879F5A07}"/>
              </a:ext>
            </a:extLst>
          </p:cNvPr>
          <p:cNvSpPr>
            <a:spLocks noGrp="1"/>
          </p:cNvSpPr>
          <p:nvPr/>
        </p:nvSpPr>
        <p:spPr>
          <a:xfrm>
            <a:off x="786384" y="3931920"/>
            <a:ext cx="3154680" cy="914400"/>
          </a:xfrm>
          <a:prstGeom prst="rect">
            <a:avLst/>
          </a:prstGeom>
          <a:solidFill>
            <a:srgbClr val="121A2D"/>
          </a:solidFill>
          <a:ln w="14605">
            <a:solidFill>
              <a:srgbClr val="3B82F6"/>
            </a:solidFill>
          </a:ln>
        </p:spPr>
        <p:txBody>
          <a:bodyPr wrap="square" lIns="1778" tIns="1778" rIns="1778" bIns="177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软件职责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轮询状态并写命令或数据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组合出最小显示流程</a:t>
            </a:r>
            <a:endParaRPr sz="12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A55E0FB-3E40-486E-9F89-569A95BADDC3}"/>
              </a:ext>
            </a:extLst>
          </p:cNvPr>
          <p:cNvSpPr>
            <a:spLocks noGrp="1"/>
          </p:cNvSpPr>
          <p:nvPr/>
        </p:nvSpPr>
        <p:spPr>
          <a:xfrm>
            <a:off x="4553712" y="3931920"/>
            <a:ext cx="3154680" cy="914400"/>
          </a:xfrm>
          <a:prstGeom prst="rect">
            <a:avLst/>
          </a:prstGeom>
          <a:solidFill>
            <a:srgbClr val="121A2D"/>
          </a:solidFill>
          <a:ln w="14605">
            <a:solidFill>
              <a:srgbClr val="34D399"/>
            </a:solidFill>
          </a:ln>
        </p:spPr>
        <p:txBody>
          <a:bodyPr wrap="square" lIns="1778" tIns="1778" rIns="1778" bIns="177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控制器职责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上电时序、命令队列、清屏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把请求调度到 SPI master</a:t>
            </a:r>
            <a:endParaRPr sz="12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756DE6B-5B4A-456F-8EB3-FC557478A852}"/>
              </a:ext>
            </a:extLst>
          </p:cNvPr>
          <p:cNvSpPr>
            <a:spLocks noGrp="1"/>
          </p:cNvSpPr>
          <p:nvPr/>
        </p:nvSpPr>
        <p:spPr>
          <a:xfrm>
            <a:off x="8321040" y="3931920"/>
            <a:ext cx="3154680" cy="914400"/>
          </a:xfrm>
          <a:prstGeom prst="rect">
            <a:avLst/>
          </a:prstGeom>
          <a:solidFill>
            <a:srgbClr val="121A2D"/>
          </a:solidFill>
          <a:ln w="14605">
            <a:solidFill>
              <a:srgbClr val="F59E0B"/>
            </a:solidFill>
          </a:ln>
        </p:spPr>
        <p:txBody>
          <a:bodyPr wrap="square" lIns="1778" tIns="1778" rIns="1778" bIns="177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SPI 职责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锁存 RS 与 8 位数据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产生 CS、SCK 和 MOSI</a:t>
            </a:r>
            <a:endParaRPr sz="12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2F3D13A-24C8-4B3B-95AE-0F1F90BF3B3D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883589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0185906-D8E3-4B9A-BA7E-F8DDBFACD95D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串行协议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A768BD3-53AB-4796-B735-C117676B9E8D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SPI 单字节发送时序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1DE9311-761D-406E-90C7-7DC7A9A2A536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CS 拉低期间发送 8 位，LCD 在 SCK 上升沿采样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CE97A9F-8760-4388-88E7-E671B8EEBE7B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32BD06B-47E6-4D54-8E5B-1F2EEEA40206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8710B1B-05EE-4AAB-B993-AB3E0B939549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97CABDC-4853-4999-B9BD-5B1D2AA7A9A2}"/>
              </a:ext>
            </a:extLst>
          </p:cNvPr>
          <p:cNvSpPr>
            <a:spLocks noGrp="1"/>
          </p:cNvSpPr>
          <p:nvPr/>
        </p:nvSpPr>
        <p:spPr>
          <a:xfrm>
            <a:off x="603504" y="1920240"/>
            <a:ext cx="32004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bit</a:t>
            </a:r>
            <a:endParaRPr sz="8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A5FF8C3-D7D5-402D-8C42-8908BDCDA3F2}"/>
              </a:ext>
            </a:extLst>
          </p:cNvPr>
          <p:cNvSpPr>
            <a:spLocks noGrp="1"/>
          </p:cNvSpPr>
          <p:nvPr/>
        </p:nvSpPr>
        <p:spPr>
          <a:xfrm>
            <a:off x="1024128" y="1828800"/>
            <a:ext cx="58521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D7</a:t>
            </a:r>
            <a:endParaRPr sz="9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ED01602-5FCA-4F16-BAA3-035A2D180A4F}"/>
              </a:ext>
            </a:extLst>
          </p:cNvPr>
          <p:cNvSpPr>
            <a:spLocks noGrp="1"/>
          </p:cNvSpPr>
          <p:nvPr/>
        </p:nvSpPr>
        <p:spPr>
          <a:xfrm>
            <a:off x="2011680" y="1828800"/>
            <a:ext cx="58521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D6</a:t>
            </a:r>
            <a:endParaRPr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4F6D23B-564A-49AA-AE36-914814102E83}"/>
              </a:ext>
            </a:extLst>
          </p:cNvPr>
          <p:cNvSpPr>
            <a:spLocks noGrp="1"/>
          </p:cNvSpPr>
          <p:nvPr/>
        </p:nvSpPr>
        <p:spPr>
          <a:xfrm>
            <a:off x="2999232" y="1828800"/>
            <a:ext cx="58521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D5</a:t>
            </a:r>
            <a:endParaRPr sz="9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9B61225-585B-457A-B45C-ADA0C82AD624}"/>
              </a:ext>
            </a:extLst>
          </p:cNvPr>
          <p:cNvSpPr>
            <a:spLocks noGrp="1"/>
          </p:cNvSpPr>
          <p:nvPr/>
        </p:nvSpPr>
        <p:spPr>
          <a:xfrm>
            <a:off x="3986784" y="1828800"/>
            <a:ext cx="58521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D4</a:t>
            </a:r>
            <a:endParaRPr sz="9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054EC66-B6CF-46E9-B881-6B042551F074}"/>
              </a:ext>
            </a:extLst>
          </p:cNvPr>
          <p:cNvSpPr>
            <a:spLocks noGrp="1"/>
          </p:cNvSpPr>
          <p:nvPr/>
        </p:nvSpPr>
        <p:spPr>
          <a:xfrm>
            <a:off x="4974336" y="1828800"/>
            <a:ext cx="58521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D3</a:t>
            </a:r>
            <a:endParaRPr sz="9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8E2B95B-AE6D-4F06-A23D-B9EF11EF247F}"/>
              </a:ext>
            </a:extLst>
          </p:cNvPr>
          <p:cNvSpPr>
            <a:spLocks noGrp="1"/>
          </p:cNvSpPr>
          <p:nvPr/>
        </p:nvSpPr>
        <p:spPr>
          <a:xfrm>
            <a:off x="5961888" y="1828800"/>
            <a:ext cx="58521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D2</a:t>
            </a:r>
            <a:endParaRPr sz="9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09F3800-AF06-45B8-8C4B-2C4C057A2E08}"/>
              </a:ext>
            </a:extLst>
          </p:cNvPr>
          <p:cNvSpPr>
            <a:spLocks noGrp="1"/>
          </p:cNvSpPr>
          <p:nvPr/>
        </p:nvSpPr>
        <p:spPr>
          <a:xfrm>
            <a:off x="6949440" y="1828800"/>
            <a:ext cx="58521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D1</a:t>
            </a:r>
            <a:endParaRPr sz="9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B017D91-90B5-4A6C-B814-8ADD569F04F6}"/>
              </a:ext>
            </a:extLst>
          </p:cNvPr>
          <p:cNvSpPr>
            <a:spLocks noGrp="1"/>
          </p:cNvSpPr>
          <p:nvPr/>
        </p:nvSpPr>
        <p:spPr>
          <a:xfrm>
            <a:off x="7936992" y="1828800"/>
            <a:ext cx="58521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D0</a:t>
            </a:r>
            <a:endParaRPr sz="9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8122CC0-0AC9-469C-80D0-2B785A6F27E1}"/>
              </a:ext>
            </a:extLst>
          </p:cNvPr>
          <p:cNvSpPr>
            <a:spLocks noGrp="1"/>
          </p:cNvSpPr>
          <p:nvPr/>
        </p:nvSpPr>
        <p:spPr>
          <a:xfrm>
            <a:off x="603504" y="2788920"/>
            <a:ext cx="347472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9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SCK</a:t>
            </a:r>
            <a:endParaRPr sz="9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AE029D9-6A21-473A-AAE8-F155A41C6687}"/>
              </a:ext>
            </a:extLst>
          </p:cNvPr>
          <p:cNvSpPr>
            <a:spLocks noGrp="1"/>
          </p:cNvSpPr>
          <p:nvPr/>
        </p:nvSpPr>
        <p:spPr>
          <a:xfrm>
            <a:off x="1069848" y="2907792"/>
            <a:ext cx="18288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A5F75EEB-7754-4957-97A5-47BA35A78A72}"/>
              </a:ext>
            </a:extLst>
          </p:cNvPr>
          <p:cNvSpPr>
            <a:spLocks noGrp="1"/>
          </p:cNvSpPr>
          <p:nvPr/>
        </p:nvSpPr>
        <p:spPr>
          <a:xfrm>
            <a:off x="1252728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C54D73A-DA01-40F1-9775-E8DA92D81A26}"/>
              </a:ext>
            </a:extLst>
          </p:cNvPr>
          <p:cNvSpPr>
            <a:spLocks noGrp="1"/>
          </p:cNvSpPr>
          <p:nvPr/>
        </p:nvSpPr>
        <p:spPr>
          <a:xfrm>
            <a:off x="1252728" y="2633472"/>
            <a:ext cx="292608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CDA27CB-C903-4E1F-8969-7BC380EDDCF4}"/>
              </a:ext>
            </a:extLst>
          </p:cNvPr>
          <p:cNvSpPr>
            <a:spLocks noGrp="1"/>
          </p:cNvSpPr>
          <p:nvPr/>
        </p:nvSpPr>
        <p:spPr>
          <a:xfrm>
            <a:off x="1545336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2B1CF2D9-450D-4B3D-A4E6-6D3D6C818DB8}"/>
              </a:ext>
            </a:extLst>
          </p:cNvPr>
          <p:cNvSpPr>
            <a:spLocks noGrp="1"/>
          </p:cNvSpPr>
          <p:nvPr/>
        </p:nvSpPr>
        <p:spPr>
          <a:xfrm>
            <a:off x="1545336" y="2907792"/>
            <a:ext cx="27432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C6BC846D-3BE8-48F8-8069-2F4F078001FF}"/>
              </a:ext>
            </a:extLst>
          </p:cNvPr>
          <p:cNvSpPr>
            <a:spLocks noGrp="1"/>
          </p:cNvSpPr>
          <p:nvPr/>
        </p:nvSpPr>
        <p:spPr>
          <a:xfrm>
            <a:off x="2057400" y="2907792"/>
            <a:ext cx="18288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D933D53-1599-4930-A348-829D8ED647A2}"/>
              </a:ext>
            </a:extLst>
          </p:cNvPr>
          <p:cNvSpPr>
            <a:spLocks noGrp="1"/>
          </p:cNvSpPr>
          <p:nvPr/>
        </p:nvSpPr>
        <p:spPr>
          <a:xfrm>
            <a:off x="2240280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EC588F3-5B29-4E2A-ADB0-DB4A05DA275F}"/>
              </a:ext>
            </a:extLst>
          </p:cNvPr>
          <p:cNvSpPr>
            <a:spLocks noGrp="1"/>
          </p:cNvSpPr>
          <p:nvPr/>
        </p:nvSpPr>
        <p:spPr>
          <a:xfrm>
            <a:off x="2240280" y="2633472"/>
            <a:ext cx="292608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2B26AC7A-133E-4359-AC4C-7586AD95BB17}"/>
              </a:ext>
            </a:extLst>
          </p:cNvPr>
          <p:cNvSpPr>
            <a:spLocks noGrp="1"/>
          </p:cNvSpPr>
          <p:nvPr/>
        </p:nvSpPr>
        <p:spPr>
          <a:xfrm>
            <a:off x="2532888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8B718FFC-B231-4B3C-BFFC-FC21A06A2F93}"/>
              </a:ext>
            </a:extLst>
          </p:cNvPr>
          <p:cNvSpPr>
            <a:spLocks noGrp="1"/>
          </p:cNvSpPr>
          <p:nvPr/>
        </p:nvSpPr>
        <p:spPr>
          <a:xfrm>
            <a:off x="2532888" y="2907792"/>
            <a:ext cx="27432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AB2206EE-C52B-4866-BF2A-23F49CE3DD34}"/>
              </a:ext>
            </a:extLst>
          </p:cNvPr>
          <p:cNvSpPr>
            <a:spLocks noGrp="1"/>
          </p:cNvSpPr>
          <p:nvPr/>
        </p:nvSpPr>
        <p:spPr>
          <a:xfrm>
            <a:off x="3044952" y="2907792"/>
            <a:ext cx="18288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F6C935AD-0EA4-418A-8715-0F5D6E68A852}"/>
              </a:ext>
            </a:extLst>
          </p:cNvPr>
          <p:cNvSpPr>
            <a:spLocks noGrp="1"/>
          </p:cNvSpPr>
          <p:nvPr/>
        </p:nvSpPr>
        <p:spPr>
          <a:xfrm>
            <a:off x="3227832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EEDB3A9F-9B30-4B90-A17C-C41D6B67A510}"/>
              </a:ext>
            </a:extLst>
          </p:cNvPr>
          <p:cNvSpPr>
            <a:spLocks noGrp="1"/>
          </p:cNvSpPr>
          <p:nvPr/>
        </p:nvSpPr>
        <p:spPr>
          <a:xfrm>
            <a:off x="3227832" y="2633472"/>
            <a:ext cx="292608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D842E4A9-2462-4F58-9528-E9FD2E213B9A}"/>
              </a:ext>
            </a:extLst>
          </p:cNvPr>
          <p:cNvSpPr>
            <a:spLocks noGrp="1"/>
          </p:cNvSpPr>
          <p:nvPr/>
        </p:nvSpPr>
        <p:spPr>
          <a:xfrm>
            <a:off x="3520440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8AA182B7-AE6A-4F1F-8D29-625D903D0224}"/>
              </a:ext>
            </a:extLst>
          </p:cNvPr>
          <p:cNvSpPr>
            <a:spLocks noGrp="1"/>
          </p:cNvSpPr>
          <p:nvPr/>
        </p:nvSpPr>
        <p:spPr>
          <a:xfrm>
            <a:off x="3520440" y="2907792"/>
            <a:ext cx="27432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A648EF-8FC9-4F3C-8FC5-4FCC8655EF09}"/>
              </a:ext>
            </a:extLst>
          </p:cNvPr>
          <p:cNvSpPr>
            <a:spLocks noGrp="1"/>
          </p:cNvSpPr>
          <p:nvPr/>
        </p:nvSpPr>
        <p:spPr>
          <a:xfrm>
            <a:off x="4032504" y="2907792"/>
            <a:ext cx="18288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C2148BD8-5FAA-440B-A574-F19DF6411003}"/>
              </a:ext>
            </a:extLst>
          </p:cNvPr>
          <p:cNvSpPr>
            <a:spLocks noGrp="1"/>
          </p:cNvSpPr>
          <p:nvPr/>
        </p:nvSpPr>
        <p:spPr>
          <a:xfrm>
            <a:off x="4215384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9A34186F-301B-4DC9-A0AA-846BFB1619DA}"/>
              </a:ext>
            </a:extLst>
          </p:cNvPr>
          <p:cNvSpPr>
            <a:spLocks noGrp="1"/>
          </p:cNvSpPr>
          <p:nvPr/>
        </p:nvSpPr>
        <p:spPr>
          <a:xfrm>
            <a:off x="4215384" y="2633472"/>
            <a:ext cx="292608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CF1206AA-15C1-40E4-9C25-C5B448A79E43}"/>
              </a:ext>
            </a:extLst>
          </p:cNvPr>
          <p:cNvSpPr>
            <a:spLocks noGrp="1"/>
          </p:cNvSpPr>
          <p:nvPr/>
        </p:nvSpPr>
        <p:spPr>
          <a:xfrm>
            <a:off x="4507992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52F3E815-ACEA-4E98-82B5-B8D9FBA5DDE1}"/>
              </a:ext>
            </a:extLst>
          </p:cNvPr>
          <p:cNvSpPr>
            <a:spLocks noGrp="1"/>
          </p:cNvSpPr>
          <p:nvPr/>
        </p:nvSpPr>
        <p:spPr>
          <a:xfrm>
            <a:off x="4507992" y="2907792"/>
            <a:ext cx="27432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EB7DEB56-CD46-4233-871F-CEA9BD9E3F79}"/>
              </a:ext>
            </a:extLst>
          </p:cNvPr>
          <p:cNvSpPr>
            <a:spLocks noGrp="1"/>
          </p:cNvSpPr>
          <p:nvPr/>
        </p:nvSpPr>
        <p:spPr>
          <a:xfrm>
            <a:off x="5020056" y="2907792"/>
            <a:ext cx="18288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B483FF1B-2FBA-427B-9FAB-0305464E3DE5}"/>
              </a:ext>
            </a:extLst>
          </p:cNvPr>
          <p:cNvSpPr>
            <a:spLocks noGrp="1"/>
          </p:cNvSpPr>
          <p:nvPr/>
        </p:nvSpPr>
        <p:spPr>
          <a:xfrm>
            <a:off x="5202936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786509A5-D34D-4984-8925-6E1D8F497BCF}"/>
              </a:ext>
            </a:extLst>
          </p:cNvPr>
          <p:cNvSpPr>
            <a:spLocks noGrp="1"/>
          </p:cNvSpPr>
          <p:nvPr/>
        </p:nvSpPr>
        <p:spPr>
          <a:xfrm>
            <a:off x="5202936" y="2633472"/>
            <a:ext cx="292608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3BA0062E-9923-440E-A045-2E47FF5C0CC1}"/>
              </a:ext>
            </a:extLst>
          </p:cNvPr>
          <p:cNvSpPr>
            <a:spLocks noGrp="1"/>
          </p:cNvSpPr>
          <p:nvPr/>
        </p:nvSpPr>
        <p:spPr>
          <a:xfrm>
            <a:off x="5495544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E0DC2932-5081-470E-B4A0-CF8A110DFA1E}"/>
              </a:ext>
            </a:extLst>
          </p:cNvPr>
          <p:cNvSpPr>
            <a:spLocks noGrp="1"/>
          </p:cNvSpPr>
          <p:nvPr/>
        </p:nvSpPr>
        <p:spPr>
          <a:xfrm>
            <a:off x="5495544" y="2907792"/>
            <a:ext cx="27432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C4BDDC03-E62B-49E1-9905-BD448AAEF080}"/>
              </a:ext>
            </a:extLst>
          </p:cNvPr>
          <p:cNvSpPr>
            <a:spLocks noGrp="1"/>
          </p:cNvSpPr>
          <p:nvPr/>
        </p:nvSpPr>
        <p:spPr>
          <a:xfrm>
            <a:off x="6007608" y="2907792"/>
            <a:ext cx="18288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889F7B95-6DDC-4845-ADE6-86F27EE1734E}"/>
              </a:ext>
            </a:extLst>
          </p:cNvPr>
          <p:cNvSpPr>
            <a:spLocks noGrp="1"/>
          </p:cNvSpPr>
          <p:nvPr/>
        </p:nvSpPr>
        <p:spPr>
          <a:xfrm>
            <a:off x="6190488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37669C7E-F969-434F-9C96-C992662E101E}"/>
              </a:ext>
            </a:extLst>
          </p:cNvPr>
          <p:cNvSpPr>
            <a:spLocks noGrp="1"/>
          </p:cNvSpPr>
          <p:nvPr/>
        </p:nvSpPr>
        <p:spPr>
          <a:xfrm>
            <a:off x="6190488" y="2633472"/>
            <a:ext cx="292608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70AB4371-0CF9-4B14-9D4A-5A796D480852}"/>
              </a:ext>
            </a:extLst>
          </p:cNvPr>
          <p:cNvSpPr>
            <a:spLocks noGrp="1"/>
          </p:cNvSpPr>
          <p:nvPr/>
        </p:nvSpPr>
        <p:spPr>
          <a:xfrm>
            <a:off x="6483096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1D9C4A63-B2FD-4934-8D52-B4E9C111E3C4}"/>
              </a:ext>
            </a:extLst>
          </p:cNvPr>
          <p:cNvSpPr>
            <a:spLocks noGrp="1"/>
          </p:cNvSpPr>
          <p:nvPr/>
        </p:nvSpPr>
        <p:spPr>
          <a:xfrm>
            <a:off x="6483096" y="2907792"/>
            <a:ext cx="27432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F1E07F15-A280-4065-B0E1-8D43EF8FDDEB}"/>
              </a:ext>
            </a:extLst>
          </p:cNvPr>
          <p:cNvSpPr>
            <a:spLocks noGrp="1"/>
          </p:cNvSpPr>
          <p:nvPr/>
        </p:nvSpPr>
        <p:spPr>
          <a:xfrm>
            <a:off x="6995160" y="2907792"/>
            <a:ext cx="18288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25894E68-F622-444A-8B30-F6C346D7AA01}"/>
              </a:ext>
            </a:extLst>
          </p:cNvPr>
          <p:cNvSpPr>
            <a:spLocks noGrp="1"/>
          </p:cNvSpPr>
          <p:nvPr/>
        </p:nvSpPr>
        <p:spPr>
          <a:xfrm>
            <a:off x="7178040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367C6EB9-9CD0-49A1-AE6D-AB99D14A615A}"/>
              </a:ext>
            </a:extLst>
          </p:cNvPr>
          <p:cNvSpPr>
            <a:spLocks noGrp="1"/>
          </p:cNvSpPr>
          <p:nvPr/>
        </p:nvSpPr>
        <p:spPr>
          <a:xfrm>
            <a:off x="7178040" y="2633472"/>
            <a:ext cx="292608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20A668D9-05CE-4977-A55F-E235CEED0261}"/>
              </a:ext>
            </a:extLst>
          </p:cNvPr>
          <p:cNvSpPr>
            <a:spLocks noGrp="1"/>
          </p:cNvSpPr>
          <p:nvPr/>
        </p:nvSpPr>
        <p:spPr>
          <a:xfrm>
            <a:off x="7470648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27CF87C9-4963-4F91-B2CB-160336047747}"/>
              </a:ext>
            </a:extLst>
          </p:cNvPr>
          <p:cNvSpPr>
            <a:spLocks noGrp="1"/>
          </p:cNvSpPr>
          <p:nvPr/>
        </p:nvSpPr>
        <p:spPr>
          <a:xfrm>
            <a:off x="7470648" y="2907792"/>
            <a:ext cx="27432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018DEA65-A24C-4524-BDAD-2A565974C452}"/>
              </a:ext>
            </a:extLst>
          </p:cNvPr>
          <p:cNvSpPr>
            <a:spLocks noGrp="1"/>
          </p:cNvSpPr>
          <p:nvPr/>
        </p:nvSpPr>
        <p:spPr>
          <a:xfrm>
            <a:off x="7982712" y="2907792"/>
            <a:ext cx="18288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4" name="Shape 52">
            <a:extLst>
              <a:ext uri="{FF2B5EF4-FFF2-40B4-BE49-F238E27FC236}">
                <a16:creationId xmlns:a16="http://schemas.microsoft.com/office/drawing/2014/main" id="{38B1CC3A-EA1B-429B-9894-C1D92EB9BCD9}"/>
              </a:ext>
            </a:extLst>
          </p:cNvPr>
          <p:cNvSpPr>
            <a:spLocks noGrp="1"/>
          </p:cNvSpPr>
          <p:nvPr/>
        </p:nvSpPr>
        <p:spPr>
          <a:xfrm>
            <a:off x="8165592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3D2ED27F-4708-41E3-B6F2-FC637AB4632F}"/>
              </a:ext>
            </a:extLst>
          </p:cNvPr>
          <p:cNvSpPr>
            <a:spLocks noGrp="1"/>
          </p:cNvSpPr>
          <p:nvPr/>
        </p:nvSpPr>
        <p:spPr>
          <a:xfrm>
            <a:off x="8165592" y="2633472"/>
            <a:ext cx="292608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6" name="Shape 54">
            <a:extLst>
              <a:ext uri="{FF2B5EF4-FFF2-40B4-BE49-F238E27FC236}">
                <a16:creationId xmlns:a16="http://schemas.microsoft.com/office/drawing/2014/main" id="{CCB948B6-F712-4925-8D84-CA825B4228EB}"/>
              </a:ext>
            </a:extLst>
          </p:cNvPr>
          <p:cNvSpPr>
            <a:spLocks noGrp="1"/>
          </p:cNvSpPr>
          <p:nvPr/>
        </p:nvSpPr>
        <p:spPr>
          <a:xfrm>
            <a:off x="8458200" y="2633472"/>
            <a:ext cx="0" cy="27432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7" name="Shape 55">
            <a:extLst>
              <a:ext uri="{FF2B5EF4-FFF2-40B4-BE49-F238E27FC236}">
                <a16:creationId xmlns:a16="http://schemas.microsoft.com/office/drawing/2014/main" id="{88E7A153-1465-4D5F-A640-D10AE3268E3B}"/>
              </a:ext>
            </a:extLst>
          </p:cNvPr>
          <p:cNvSpPr>
            <a:spLocks noGrp="1"/>
          </p:cNvSpPr>
          <p:nvPr/>
        </p:nvSpPr>
        <p:spPr>
          <a:xfrm>
            <a:off x="8458200" y="2907792"/>
            <a:ext cx="27432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03836F8B-5F17-44AE-B604-9CAC559D575F}"/>
              </a:ext>
            </a:extLst>
          </p:cNvPr>
          <p:cNvSpPr>
            <a:spLocks noGrp="1"/>
          </p:cNvSpPr>
          <p:nvPr/>
        </p:nvSpPr>
        <p:spPr>
          <a:xfrm>
            <a:off x="539496" y="365760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9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MOSI</a:t>
            </a:r>
            <a:endParaRPr sz="920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36D9FBE6-B495-46C2-834F-8A760E93DBE0}"/>
              </a:ext>
            </a:extLst>
          </p:cNvPr>
          <p:cNvSpPr>
            <a:spLocks noGrp="1"/>
          </p:cNvSpPr>
          <p:nvPr/>
        </p:nvSpPr>
        <p:spPr>
          <a:xfrm>
            <a:off x="1024128" y="3511296"/>
            <a:ext cx="658368" cy="329184"/>
          </a:xfrm>
          <a:prstGeom prst="rect">
            <a:avLst/>
          </a:prstGeom>
          <a:solidFill>
            <a:srgbClr val="17223B"/>
          </a:solidFill>
          <a:ln w="12700">
            <a:solidFill>
              <a:srgbClr val="2C3D6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D7</a:t>
            </a:r>
            <a:endParaRPr sz="950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7A161DFA-6279-4272-ABD4-38A933C5602C}"/>
              </a:ext>
            </a:extLst>
          </p:cNvPr>
          <p:cNvSpPr>
            <a:spLocks noGrp="1"/>
          </p:cNvSpPr>
          <p:nvPr/>
        </p:nvSpPr>
        <p:spPr>
          <a:xfrm>
            <a:off x="2011680" y="3511296"/>
            <a:ext cx="658368" cy="329184"/>
          </a:xfrm>
          <a:prstGeom prst="rect">
            <a:avLst/>
          </a:prstGeom>
          <a:solidFill>
            <a:srgbClr val="17223B"/>
          </a:solidFill>
          <a:ln w="12700">
            <a:solidFill>
              <a:srgbClr val="2C3D6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D6</a:t>
            </a:r>
            <a:endParaRPr sz="950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96BD1C0B-6A68-43EF-9349-02D6339845C7}"/>
              </a:ext>
            </a:extLst>
          </p:cNvPr>
          <p:cNvSpPr>
            <a:spLocks noGrp="1"/>
          </p:cNvSpPr>
          <p:nvPr/>
        </p:nvSpPr>
        <p:spPr>
          <a:xfrm>
            <a:off x="2999232" y="3511296"/>
            <a:ext cx="658368" cy="329184"/>
          </a:xfrm>
          <a:prstGeom prst="rect">
            <a:avLst/>
          </a:prstGeom>
          <a:solidFill>
            <a:srgbClr val="17223B"/>
          </a:solidFill>
          <a:ln w="12700">
            <a:solidFill>
              <a:srgbClr val="2C3D6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D5</a:t>
            </a:r>
            <a:endParaRPr sz="950"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745C394C-D194-4B3C-A240-446F2EDB7D76}"/>
              </a:ext>
            </a:extLst>
          </p:cNvPr>
          <p:cNvSpPr>
            <a:spLocks noGrp="1"/>
          </p:cNvSpPr>
          <p:nvPr/>
        </p:nvSpPr>
        <p:spPr>
          <a:xfrm>
            <a:off x="3986784" y="3511296"/>
            <a:ext cx="658368" cy="329184"/>
          </a:xfrm>
          <a:prstGeom prst="rect">
            <a:avLst/>
          </a:prstGeom>
          <a:solidFill>
            <a:srgbClr val="17223B"/>
          </a:solidFill>
          <a:ln w="12700">
            <a:solidFill>
              <a:srgbClr val="2C3D6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D4</a:t>
            </a:r>
            <a:endParaRPr sz="950"/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AFACC300-03A1-46B8-BAE1-6079B9603F8C}"/>
              </a:ext>
            </a:extLst>
          </p:cNvPr>
          <p:cNvSpPr>
            <a:spLocks noGrp="1"/>
          </p:cNvSpPr>
          <p:nvPr/>
        </p:nvSpPr>
        <p:spPr>
          <a:xfrm>
            <a:off x="4974336" y="3511296"/>
            <a:ext cx="658368" cy="329184"/>
          </a:xfrm>
          <a:prstGeom prst="rect">
            <a:avLst/>
          </a:prstGeom>
          <a:solidFill>
            <a:srgbClr val="17223B"/>
          </a:solidFill>
          <a:ln w="12700">
            <a:solidFill>
              <a:srgbClr val="2C3D6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D3</a:t>
            </a:r>
            <a:endParaRPr sz="950"/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438468FB-70DB-4B65-93FA-BE4AFC6C9AF6}"/>
              </a:ext>
            </a:extLst>
          </p:cNvPr>
          <p:cNvSpPr>
            <a:spLocks noGrp="1"/>
          </p:cNvSpPr>
          <p:nvPr/>
        </p:nvSpPr>
        <p:spPr>
          <a:xfrm>
            <a:off x="5961888" y="3511296"/>
            <a:ext cx="658368" cy="329184"/>
          </a:xfrm>
          <a:prstGeom prst="rect">
            <a:avLst/>
          </a:prstGeom>
          <a:solidFill>
            <a:srgbClr val="17223B"/>
          </a:solidFill>
          <a:ln w="12700">
            <a:solidFill>
              <a:srgbClr val="2C3D6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D2</a:t>
            </a:r>
            <a:endParaRPr sz="950"/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7DDE1113-2074-43DC-8180-1D34AE78EE8A}"/>
              </a:ext>
            </a:extLst>
          </p:cNvPr>
          <p:cNvSpPr>
            <a:spLocks noGrp="1"/>
          </p:cNvSpPr>
          <p:nvPr/>
        </p:nvSpPr>
        <p:spPr>
          <a:xfrm>
            <a:off x="6949440" y="3511296"/>
            <a:ext cx="658368" cy="329184"/>
          </a:xfrm>
          <a:prstGeom prst="rect">
            <a:avLst/>
          </a:prstGeom>
          <a:solidFill>
            <a:srgbClr val="17223B"/>
          </a:solidFill>
          <a:ln w="12700">
            <a:solidFill>
              <a:srgbClr val="2C3D6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D1</a:t>
            </a:r>
            <a:endParaRPr sz="950"/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EDA37F72-4190-4FC5-8DAF-8A4053913B52}"/>
              </a:ext>
            </a:extLst>
          </p:cNvPr>
          <p:cNvSpPr>
            <a:spLocks noGrp="1"/>
          </p:cNvSpPr>
          <p:nvPr/>
        </p:nvSpPr>
        <p:spPr>
          <a:xfrm>
            <a:off x="7936992" y="3511296"/>
            <a:ext cx="658368" cy="329184"/>
          </a:xfrm>
          <a:prstGeom prst="rect">
            <a:avLst/>
          </a:prstGeom>
          <a:solidFill>
            <a:srgbClr val="17223B"/>
          </a:solidFill>
          <a:ln w="12700">
            <a:solidFill>
              <a:srgbClr val="2C3D6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D0</a:t>
            </a:r>
            <a:endParaRPr sz="950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CA1B6A80-9EC9-4073-A75E-31BF76772C11}"/>
              </a:ext>
            </a:extLst>
          </p:cNvPr>
          <p:cNvSpPr>
            <a:spLocks noGrp="1"/>
          </p:cNvSpPr>
          <p:nvPr/>
        </p:nvSpPr>
        <p:spPr>
          <a:xfrm>
            <a:off x="658368" y="4407408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9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CS</a:t>
            </a:r>
            <a:endParaRPr sz="920"/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92EA4E1D-C654-4A8F-93FF-E139B574253E}"/>
              </a:ext>
            </a:extLst>
          </p:cNvPr>
          <p:cNvSpPr>
            <a:spLocks noGrp="1"/>
          </p:cNvSpPr>
          <p:nvPr/>
        </p:nvSpPr>
        <p:spPr>
          <a:xfrm>
            <a:off x="932688" y="4535424"/>
            <a:ext cx="292608" cy="0"/>
          </a:xfrm>
          <a:prstGeom prst="line">
            <a:avLst/>
          </a:prstGeom>
          <a:noFill/>
          <a:ln w="15240">
            <a:solidFill>
              <a:srgbClr val="B9C8E6"/>
            </a:solidFill>
            <a:prstDash val="solid"/>
          </a:ln>
        </p:spPr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7B989140-4F94-4D3E-8F98-2982D4D29004}"/>
              </a:ext>
            </a:extLst>
          </p:cNvPr>
          <p:cNvSpPr>
            <a:spLocks noGrp="1"/>
          </p:cNvSpPr>
          <p:nvPr/>
        </p:nvSpPr>
        <p:spPr>
          <a:xfrm>
            <a:off x="1225296" y="4535424"/>
            <a:ext cx="0" cy="310896"/>
          </a:xfrm>
          <a:prstGeom prst="line">
            <a:avLst/>
          </a:prstGeom>
          <a:noFill/>
          <a:ln w="15240">
            <a:solidFill>
              <a:srgbClr val="B9C8E6"/>
            </a:solidFill>
            <a:prstDash val="solid"/>
          </a:ln>
        </p:spPr>
      </p:sp>
      <p:sp>
        <p:nvSpPr>
          <p:cNvPr id="70" name="Shape 68">
            <a:extLst>
              <a:ext uri="{FF2B5EF4-FFF2-40B4-BE49-F238E27FC236}">
                <a16:creationId xmlns:a16="http://schemas.microsoft.com/office/drawing/2014/main" id="{79E1A9DE-A710-4B5E-BC16-F2179AD0DCDB}"/>
              </a:ext>
            </a:extLst>
          </p:cNvPr>
          <p:cNvSpPr>
            <a:spLocks noGrp="1"/>
          </p:cNvSpPr>
          <p:nvPr/>
        </p:nvSpPr>
        <p:spPr>
          <a:xfrm>
            <a:off x="1225296" y="4846320"/>
            <a:ext cx="7388352" cy="0"/>
          </a:xfrm>
          <a:prstGeom prst="line">
            <a:avLst/>
          </a:prstGeom>
          <a:noFill/>
          <a:ln w="15240">
            <a:solidFill>
              <a:srgbClr val="B9C8E6"/>
            </a:solidFill>
            <a:prstDash val="solid"/>
          </a:ln>
        </p:spPr>
      </p:sp>
      <p:sp>
        <p:nvSpPr>
          <p:cNvPr id="71" name="Shape 69">
            <a:extLst>
              <a:ext uri="{FF2B5EF4-FFF2-40B4-BE49-F238E27FC236}">
                <a16:creationId xmlns:a16="http://schemas.microsoft.com/office/drawing/2014/main" id="{0327CE86-851C-4A0E-9EAE-67A2243B131A}"/>
              </a:ext>
            </a:extLst>
          </p:cNvPr>
          <p:cNvSpPr>
            <a:spLocks noGrp="1"/>
          </p:cNvSpPr>
          <p:nvPr/>
        </p:nvSpPr>
        <p:spPr>
          <a:xfrm>
            <a:off x="8613648" y="4535424"/>
            <a:ext cx="0" cy="310896"/>
          </a:xfrm>
          <a:prstGeom prst="line">
            <a:avLst/>
          </a:prstGeom>
          <a:noFill/>
          <a:ln w="15240">
            <a:solidFill>
              <a:srgbClr val="B9C8E6"/>
            </a:solidFill>
            <a:prstDash val="solid"/>
          </a:ln>
        </p:spPr>
      </p:sp>
      <p:sp>
        <p:nvSpPr>
          <p:cNvPr id="72" name="Shape 70">
            <a:extLst>
              <a:ext uri="{FF2B5EF4-FFF2-40B4-BE49-F238E27FC236}">
                <a16:creationId xmlns:a16="http://schemas.microsoft.com/office/drawing/2014/main" id="{33E7B928-1955-4014-96B4-205AA7BED154}"/>
              </a:ext>
            </a:extLst>
          </p:cNvPr>
          <p:cNvSpPr>
            <a:spLocks noGrp="1"/>
          </p:cNvSpPr>
          <p:nvPr/>
        </p:nvSpPr>
        <p:spPr>
          <a:xfrm>
            <a:off x="8613648" y="4535424"/>
            <a:ext cx="292608" cy="0"/>
          </a:xfrm>
          <a:prstGeom prst="line">
            <a:avLst/>
          </a:prstGeom>
          <a:noFill/>
          <a:ln w="15240">
            <a:solidFill>
              <a:srgbClr val="B9C8E6"/>
            </a:solidFill>
            <a:prstDash val="solid"/>
          </a:ln>
        </p:spPr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F003A360-1C56-4DF0-958D-97F5FC8AF3E1}"/>
              </a:ext>
            </a:extLst>
          </p:cNvPr>
          <p:cNvSpPr>
            <a:spLocks noGrp="1"/>
          </p:cNvSpPr>
          <p:nvPr/>
        </p:nvSpPr>
        <p:spPr>
          <a:xfrm>
            <a:off x="2148840" y="5486400"/>
            <a:ext cx="1600200" cy="329184"/>
          </a:xfrm>
          <a:prstGeom prst="rect">
            <a:avLst/>
          </a:prstGeom>
          <a:solidFill>
            <a:srgbClr val="3B1520"/>
          </a:solidFill>
          <a:ln w="12700">
            <a:solidFill>
              <a:srgbClr val="F87171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RS = 0：命令</a:t>
            </a:r>
            <a:endParaRPr sz="1050"/>
          </a:p>
        </p:txBody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40FEFC0C-7D83-4B47-87BA-128D1DF915FF}"/>
              </a:ext>
            </a:extLst>
          </p:cNvPr>
          <p:cNvSpPr>
            <a:spLocks noGrp="1"/>
          </p:cNvSpPr>
          <p:nvPr/>
        </p:nvSpPr>
        <p:spPr>
          <a:xfrm>
            <a:off x="4782312" y="5486400"/>
            <a:ext cx="1600200" cy="329184"/>
          </a:xfrm>
          <a:prstGeom prst="rect">
            <a:avLst/>
          </a:prstGeom>
          <a:solidFill>
            <a:srgbClr val="12301F"/>
          </a:solidFill>
          <a:ln w="12700">
            <a:solidFill>
              <a:srgbClr val="34D399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RS = 1：数据</a:t>
            </a:r>
            <a:endParaRPr sz="1050"/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EF46D5A6-D6AF-43F1-946B-F28760E8809D}"/>
              </a:ext>
            </a:extLst>
          </p:cNvPr>
          <p:cNvSpPr>
            <a:spLocks noGrp="1"/>
          </p:cNvSpPr>
          <p:nvPr/>
        </p:nvSpPr>
        <p:spPr>
          <a:xfrm>
            <a:off x="7589520" y="55412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2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空闲 SCK = 0，下降沿准备下一位</a:t>
            </a:r>
            <a:endParaRPr sz="920"/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36C755B7-B7F9-49D9-B13B-2982F172DB9C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84793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B832D8-0011-425C-BD2B-9536ACDCC218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硬件控制器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8C5525-0C36-454B-99D2-4902C2B608DA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初始化状态机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AB42D5A-50AC-4012-941F-CA34E4EA83C9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初始化完成前，控制器自动执行复位、等待、命令序列与清屏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52FA43A-C573-4BDE-8E10-4B3C083671CB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0060026-B155-4932-8A71-F17787CBCCEC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AD59A3A-950E-4C29-8901-DFF16BA22CF8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655F75D-B630-4CDA-94F7-3C718478D7BC}"/>
              </a:ext>
            </a:extLst>
          </p:cNvPr>
          <p:cNvSpPr>
            <a:spLocks noGrp="1"/>
          </p:cNvSpPr>
          <p:nvPr/>
        </p:nvSpPr>
        <p:spPr>
          <a:xfrm>
            <a:off x="1975104" y="2258568"/>
            <a:ext cx="73152" cy="0"/>
          </a:xfrm>
          <a:prstGeom prst="line">
            <a:avLst/>
          </a:prstGeom>
          <a:noFill/>
          <a:ln w="1460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81574F92-5A2A-4FF9-8251-E33B302D85CC}"/>
              </a:ext>
            </a:extLst>
          </p:cNvPr>
          <p:cNvSpPr>
            <a:spLocks noGrp="1"/>
          </p:cNvSpPr>
          <p:nvPr/>
        </p:nvSpPr>
        <p:spPr>
          <a:xfrm>
            <a:off x="3566160" y="2258568"/>
            <a:ext cx="73152" cy="0"/>
          </a:xfrm>
          <a:prstGeom prst="line">
            <a:avLst/>
          </a:prstGeom>
          <a:noFill/>
          <a:ln w="1460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17CC7E6-F77C-4BC7-A599-0E241CE82C73}"/>
              </a:ext>
            </a:extLst>
          </p:cNvPr>
          <p:cNvSpPr>
            <a:spLocks noGrp="1"/>
          </p:cNvSpPr>
          <p:nvPr/>
        </p:nvSpPr>
        <p:spPr>
          <a:xfrm>
            <a:off x="5157216" y="2258568"/>
            <a:ext cx="73152" cy="0"/>
          </a:xfrm>
          <a:prstGeom prst="line">
            <a:avLst/>
          </a:prstGeom>
          <a:noFill/>
          <a:ln w="1460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BEB8D5A-D0A9-406E-B53A-950A13597F61}"/>
              </a:ext>
            </a:extLst>
          </p:cNvPr>
          <p:cNvSpPr>
            <a:spLocks noGrp="1"/>
          </p:cNvSpPr>
          <p:nvPr/>
        </p:nvSpPr>
        <p:spPr>
          <a:xfrm>
            <a:off x="6748272" y="2258568"/>
            <a:ext cx="73152" cy="0"/>
          </a:xfrm>
          <a:prstGeom prst="line">
            <a:avLst/>
          </a:prstGeom>
          <a:noFill/>
          <a:ln w="1460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C36D60CE-72B1-4C26-A271-B1F55D38D125}"/>
              </a:ext>
            </a:extLst>
          </p:cNvPr>
          <p:cNvSpPr>
            <a:spLocks noGrp="1"/>
          </p:cNvSpPr>
          <p:nvPr/>
        </p:nvSpPr>
        <p:spPr>
          <a:xfrm>
            <a:off x="8339328" y="2258568"/>
            <a:ext cx="73152" cy="0"/>
          </a:xfrm>
          <a:prstGeom prst="line">
            <a:avLst/>
          </a:prstGeom>
          <a:noFill/>
          <a:ln w="1460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BFD50F2-38B0-4422-8445-59003F614F99}"/>
              </a:ext>
            </a:extLst>
          </p:cNvPr>
          <p:cNvSpPr>
            <a:spLocks noGrp="1"/>
          </p:cNvSpPr>
          <p:nvPr/>
        </p:nvSpPr>
        <p:spPr>
          <a:xfrm>
            <a:off x="9930384" y="2258568"/>
            <a:ext cx="73152" cy="0"/>
          </a:xfrm>
          <a:prstGeom prst="line">
            <a:avLst/>
          </a:prstGeom>
          <a:noFill/>
          <a:ln w="1460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FC8F7D8-8C9C-4D62-84C0-9A48A27CEAD3}"/>
              </a:ext>
            </a:extLst>
          </p:cNvPr>
          <p:cNvSpPr>
            <a:spLocks noGrp="1"/>
          </p:cNvSpPr>
          <p:nvPr/>
        </p:nvSpPr>
        <p:spPr>
          <a:xfrm>
            <a:off x="530352" y="1938528"/>
            <a:ext cx="1408176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F87171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RESET_LOW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硬复位低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BAD5BCA-4BF8-425B-9DA7-1D29D590A2EF}"/>
              </a:ext>
            </a:extLst>
          </p:cNvPr>
          <p:cNvSpPr>
            <a:spLocks noGrp="1"/>
          </p:cNvSpPr>
          <p:nvPr/>
        </p:nvSpPr>
        <p:spPr>
          <a:xfrm>
            <a:off x="2121408" y="1938528"/>
            <a:ext cx="1408176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POWER_WAIT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等待 120 ms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F022D6F-3188-44D9-9DC6-757FFC1DFBD6}"/>
              </a:ext>
            </a:extLst>
          </p:cNvPr>
          <p:cNvSpPr>
            <a:spLocks noGrp="1"/>
          </p:cNvSpPr>
          <p:nvPr/>
        </p:nvSpPr>
        <p:spPr>
          <a:xfrm>
            <a:off x="3712464" y="1938528"/>
            <a:ext cx="1408176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INIT_SEND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发送命令</a:t>
            </a:r>
            <a:endParaRPr sz="10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30E2178-479E-40C6-86E9-A2E6B702DEF3}"/>
              </a:ext>
            </a:extLst>
          </p:cNvPr>
          <p:cNvSpPr>
            <a:spLocks noGrp="1"/>
          </p:cNvSpPr>
          <p:nvPr/>
        </p:nvSpPr>
        <p:spPr>
          <a:xfrm>
            <a:off x="5303520" y="1938528"/>
            <a:ext cx="1408176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22D3EE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WAIT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等待 SPI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9DBEA8A4-7141-401A-B31D-043D6ECC58A9}"/>
              </a:ext>
            </a:extLst>
          </p:cNvPr>
          <p:cNvSpPr>
            <a:spLocks noGrp="1"/>
          </p:cNvSpPr>
          <p:nvPr/>
        </p:nvSpPr>
        <p:spPr>
          <a:xfrm>
            <a:off x="6894576" y="1938528"/>
            <a:ext cx="1408176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INIT_DELAY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命令间延时</a:t>
            </a:r>
            <a:endParaRPr sz="10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A40D50B-1DFE-4721-96DB-CAF21D00C15C}"/>
              </a:ext>
            </a:extLst>
          </p:cNvPr>
          <p:cNvSpPr>
            <a:spLocks noGrp="1"/>
          </p:cNvSpPr>
          <p:nvPr/>
        </p:nvSpPr>
        <p:spPr>
          <a:xfrm>
            <a:off x="8485632" y="1938528"/>
            <a:ext cx="1408176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F59E0B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CLEAR_SEND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清屏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D6128B20-404E-44C4-B620-2305E461EE66}"/>
              </a:ext>
            </a:extLst>
          </p:cNvPr>
          <p:cNvSpPr>
            <a:spLocks noGrp="1"/>
          </p:cNvSpPr>
          <p:nvPr/>
        </p:nvSpPr>
        <p:spPr>
          <a:xfrm>
            <a:off x="10076688" y="1938528"/>
            <a:ext cx="1408176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IDLE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接受软件请求</a:t>
            </a:r>
            <a:endParaRPr sz="10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58CB77B-5286-4020-AE19-102AFC6F3D63}"/>
              </a:ext>
            </a:extLst>
          </p:cNvPr>
          <p:cNvSpPr>
            <a:spLocks noGrp="1"/>
          </p:cNvSpPr>
          <p:nvPr/>
        </p:nvSpPr>
        <p:spPr>
          <a:xfrm>
            <a:off x="713232" y="3246120"/>
            <a:ext cx="164592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95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关键状态输出</a:t>
            </a:r>
            <a:endParaRPr sz="9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7B63739-C0BE-4507-A3D9-B4ECBCD8C3BF}"/>
              </a:ext>
            </a:extLst>
          </p:cNvPr>
          <p:cNvSpPr>
            <a:spLocks noGrp="1"/>
          </p:cNvSpPr>
          <p:nvPr/>
        </p:nvSpPr>
        <p:spPr>
          <a:xfrm>
            <a:off x="713232" y="3566160"/>
            <a:ext cx="10789920" cy="502920"/>
          </a:xfrm>
          <a:prstGeom prst="rect">
            <a:avLst/>
          </a:prstGeom>
          <a:solidFill>
            <a:srgbClr val="101E2D"/>
          </a:solidFill>
          <a:ln w="12700">
            <a:solidFill>
              <a:srgbClr val="1E5E62"/>
            </a:solidFill>
          </a:ln>
        </p:spPr>
        <p:txBody>
          <a:bodyPr wrap="square" lIns="1778" tIns="1778" rIns="1778" bIns="1778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300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lcd_rst_n</a:t>
            </a:r>
            <a:r>
              <a:rPr sz="1300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在 RESET_LOW </a:t>
            </a:r>
            <a:r>
              <a:rPr sz="1300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保持为</a:t>
            </a:r>
            <a:r>
              <a:rPr sz="1300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0；initialized </a:t>
            </a:r>
            <a:r>
              <a:rPr sz="1300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只在初始化和清屏完成后置</a:t>
            </a:r>
            <a:r>
              <a:rPr sz="1300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1</a:t>
            </a:r>
            <a:endParaRPr sz="13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912B654-8468-4A5C-896B-46E099FD859A}"/>
              </a:ext>
            </a:extLst>
          </p:cNvPr>
          <p:cNvSpPr>
            <a:spLocks noGrp="1"/>
          </p:cNvSpPr>
          <p:nvPr/>
        </p:nvSpPr>
        <p:spPr>
          <a:xfrm>
            <a:off x="713232" y="4480560"/>
            <a:ext cx="164592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95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优先级与接收条件</a:t>
            </a:r>
            <a:endParaRPr sz="95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4B9C424B-3DEB-4976-B38B-78843A6D7A30}"/>
              </a:ext>
            </a:extLst>
          </p:cNvPr>
          <p:cNvSpPr>
            <a:spLocks noGrp="1"/>
          </p:cNvSpPr>
          <p:nvPr/>
        </p:nvSpPr>
        <p:spPr>
          <a:xfrm>
            <a:off x="713232" y="4791456"/>
            <a:ext cx="10789920" cy="502920"/>
          </a:xfrm>
          <a:prstGeom prst="rect">
            <a:avLst/>
          </a:prstGeom>
          <a:solidFill>
            <a:srgbClr val="201B12"/>
          </a:solidFill>
          <a:ln w="12700">
            <a:solidFill>
              <a:srgbClr val="6C4B13"/>
            </a:solidFill>
          </a:ln>
        </p:spPr>
        <p:txBody>
          <a:bodyPr wrap="square" lIns="1778" tIns="1778" rIns="1778" bIns="1778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300" dirty="0" err="1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reinit_req</a:t>
            </a:r>
            <a:r>
              <a:rPr sz="1300" dirty="0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dirty="0" err="1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优先返回</a:t>
            </a:r>
            <a:r>
              <a:rPr sz="1300" dirty="0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dirty="0" err="1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RESET_LOW；用户字节、清屏与演示请求只在</a:t>
            </a:r>
            <a:r>
              <a:rPr sz="1300" dirty="0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 IDLE </a:t>
            </a:r>
            <a:r>
              <a:rPr sz="1300" dirty="0" err="1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接受</a:t>
            </a:r>
            <a:endParaRPr sz="13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D6194E83-D0EC-44C2-A991-CFBCEC66CBA2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480964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77BA8C4-1C8E-44C8-BB6D-714626B705A2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总线握手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1551097-54BE-4C1D-A0DF-BE2DC4930D03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ready / valid 发送握手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BD8B0A-BAB7-4A7D-A164-1BD619B4190F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一次 MMIO 写只触发一次 SPI 字节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B8B0D0-DC33-45AA-A8EB-E9813E18CEBD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06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B2DB7A6-3C02-4E04-89FA-C05D3DE807E0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0BFB2A4-7916-45AD-9F45-C003B4FDCF67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6C540D3-843A-4FDE-9CBE-CD1F7181EB6A}"/>
              </a:ext>
            </a:extLst>
          </p:cNvPr>
          <p:cNvSpPr>
            <a:spLocks noGrp="1"/>
          </p:cNvSpPr>
          <p:nvPr/>
        </p:nvSpPr>
        <p:spPr>
          <a:xfrm>
            <a:off x="2441448" y="2221992"/>
            <a:ext cx="329184" cy="0"/>
          </a:xfrm>
          <a:prstGeom prst="line">
            <a:avLst/>
          </a:prstGeom>
          <a:noFill/>
          <a:ln w="1524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66BC139-52AE-4534-957A-B6907551F4F5}"/>
              </a:ext>
            </a:extLst>
          </p:cNvPr>
          <p:cNvSpPr>
            <a:spLocks noGrp="1"/>
          </p:cNvSpPr>
          <p:nvPr/>
        </p:nvSpPr>
        <p:spPr>
          <a:xfrm>
            <a:off x="4617720" y="2221992"/>
            <a:ext cx="329184" cy="0"/>
          </a:xfrm>
          <a:prstGeom prst="line">
            <a:avLst/>
          </a:prstGeom>
          <a:noFill/>
          <a:ln w="1524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95398F4-44C8-4B6B-9894-2D2176FB4D73}"/>
              </a:ext>
            </a:extLst>
          </p:cNvPr>
          <p:cNvSpPr>
            <a:spLocks noGrp="1"/>
          </p:cNvSpPr>
          <p:nvPr/>
        </p:nvSpPr>
        <p:spPr>
          <a:xfrm>
            <a:off x="6793992" y="2221992"/>
            <a:ext cx="329184" cy="0"/>
          </a:xfrm>
          <a:prstGeom prst="line">
            <a:avLst/>
          </a:prstGeom>
          <a:noFill/>
          <a:ln w="1524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9868366-2765-457D-8325-E0E574574A8D}"/>
              </a:ext>
            </a:extLst>
          </p:cNvPr>
          <p:cNvSpPr>
            <a:spLocks noGrp="1"/>
          </p:cNvSpPr>
          <p:nvPr/>
        </p:nvSpPr>
        <p:spPr>
          <a:xfrm>
            <a:off x="8970264" y="2221992"/>
            <a:ext cx="329184" cy="0"/>
          </a:xfrm>
          <a:prstGeom prst="line">
            <a:avLst/>
          </a:prstGeom>
          <a:noFill/>
          <a:ln w="1524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7C806A0-01EB-45CD-B8B2-EC72BB9E37B7}"/>
              </a:ext>
            </a:extLst>
          </p:cNvPr>
          <p:cNvSpPr>
            <a:spLocks noGrp="1"/>
          </p:cNvSpPr>
          <p:nvPr/>
        </p:nvSpPr>
        <p:spPr>
          <a:xfrm>
            <a:off x="685800" y="1901952"/>
            <a:ext cx="1700784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CPU 请求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dmem_req = 1</a:t>
            </a:r>
            <a:endParaRPr sz="10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DFC448D-0E61-4AA2-9D3A-1072DF115C66}"/>
              </a:ext>
            </a:extLst>
          </p:cNvPr>
          <p:cNvSpPr>
            <a:spLocks noGrp="1"/>
          </p:cNvSpPr>
          <p:nvPr/>
        </p:nvSpPr>
        <p:spPr>
          <a:xfrm>
            <a:off x="2862072" y="1901952"/>
            <a:ext cx="1700784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地址译码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LCD_CMD / DATA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40A33F1-4D12-45EB-9620-5C2C3C9FF2B1}"/>
              </a:ext>
            </a:extLst>
          </p:cNvPr>
          <p:cNvSpPr>
            <a:spLocks noGrp="1"/>
          </p:cNvSpPr>
          <p:nvPr/>
        </p:nvSpPr>
        <p:spPr>
          <a:xfrm>
            <a:off x="5038344" y="1901952"/>
            <a:ext cx="1700784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22D3EE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握手成功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valid &amp;&amp; ready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FAD6ADB-ECAF-4D8C-B519-4F10593861C7}"/>
              </a:ext>
            </a:extLst>
          </p:cNvPr>
          <p:cNvSpPr>
            <a:spLocks noGrp="1"/>
          </p:cNvSpPr>
          <p:nvPr/>
        </p:nvSpPr>
        <p:spPr>
          <a:xfrm>
            <a:off x="7214616" y="1901952"/>
            <a:ext cx="1700784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F59E0B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SPI 忙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ready = 0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99B0ABF-E881-48F8-9070-8A4D500F10FA}"/>
              </a:ext>
            </a:extLst>
          </p:cNvPr>
          <p:cNvSpPr>
            <a:spLocks noGrp="1"/>
          </p:cNvSpPr>
          <p:nvPr/>
        </p:nvSpPr>
        <p:spPr>
          <a:xfrm>
            <a:off x="9390888" y="1901952"/>
            <a:ext cx="1700784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空闲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tx_ready = 1</a:t>
            </a:r>
            <a:endParaRPr sz="10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E8C3DDE-AC62-4035-A34E-B4810B759DB5}"/>
              </a:ext>
            </a:extLst>
          </p:cNvPr>
          <p:cNvSpPr>
            <a:spLocks noGrp="1"/>
          </p:cNvSpPr>
          <p:nvPr/>
        </p:nvSpPr>
        <p:spPr>
          <a:xfrm>
            <a:off x="804672" y="3721608"/>
            <a:ext cx="3044952" cy="1051560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空闲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控制器处于 IDLE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SPI ready = 1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tx_ready 对软件可见</a:t>
            </a:r>
            <a:endParaRPr sz="12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750F5AF9-3E66-4FC6-870B-352F3A67E130}"/>
              </a:ext>
            </a:extLst>
          </p:cNvPr>
          <p:cNvSpPr>
            <a:spLocks noGrp="1"/>
          </p:cNvSpPr>
          <p:nvPr/>
        </p:nvSpPr>
        <p:spPr>
          <a:xfrm>
            <a:off x="4507992" y="3721608"/>
            <a:ext cx="3044952" cy="1051560"/>
          </a:xfrm>
          <a:prstGeom prst="rect">
            <a:avLst/>
          </a:prstGeom>
          <a:solidFill>
            <a:srgbClr val="121A2D"/>
          </a:solidFill>
          <a:ln w="15240">
            <a:solidFill>
              <a:srgbClr val="22D3EE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发送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锁存 RS 与 data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产生一次 start 脉冲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随后拉低 ready</a:t>
            </a:r>
            <a:endParaRPr sz="12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44B4D5E-F91E-4103-A78A-26CF02B36D5B}"/>
              </a:ext>
            </a:extLst>
          </p:cNvPr>
          <p:cNvSpPr>
            <a:spLocks noGrp="1"/>
          </p:cNvSpPr>
          <p:nvPr/>
        </p:nvSpPr>
        <p:spPr>
          <a:xfrm>
            <a:off x="8211312" y="3721608"/>
            <a:ext cx="3044952" cy="1051560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等待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总线请求保持到完成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忙时不接受新字节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恢复后处理下一次写</a:t>
            </a:r>
            <a:endParaRPr sz="12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A8CC07A-2745-4A38-968C-67C1110BA0FE}"/>
              </a:ext>
            </a:extLst>
          </p:cNvPr>
          <p:cNvSpPr>
            <a:spLocks noGrp="1"/>
          </p:cNvSpPr>
          <p:nvPr/>
        </p:nvSpPr>
        <p:spPr>
          <a:xfrm>
            <a:off x="1042416" y="5513832"/>
            <a:ext cx="10104120" cy="384048"/>
          </a:xfrm>
          <a:prstGeom prst="rect">
            <a:avLst/>
          </a:prstGeom>
          <a:solidFill>
            <a:srgbClr val="2B1018"/>
          </a:solidFill>
          <a:ln w="12700">
            <a:solidFill>
              <a:srgbClr val="F87171"/>
            </a:solidFill>
          </a:ln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FD6DD"/>
                </a:solidFill>
                <a:latin typeface="Microsoft YaHei"/>
                <a:ea typeface="Microsoft YaHei"/>
                <a:cs typeface="Microsoft YaHei"/>
              </a:rPr>
              <a:t>关键约束：写副作用由 req &amp;&amp; ready 产生，避免慢外设导致重复发送</a:t>
            </a:r>
            <a:endParaRPr sz="12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6E1B892-10D0-488D-8EB9-58DF0992513E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468793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F6F91C6-C3E0-4198-B3E2-CC195CE45DC6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软件接口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709613B-8181-4CA5-885D-0B079A74AB55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MMIO 寄存器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BD7F3CA-0A91-41AC-B3D4-D44363D18D1F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所有地址位于不可缓存、强顺序的 MMIO 区域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56E9D22-C32C-4507-905E-894E35545D53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CC3BBBE-7485-4CD5-9022-B1E935A06ED4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A81CCCF-0622-4307-BB3A-AAA85A37E94B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94A11F5-F698-4381-874E-D2565779C3B3}"/>
              </a:ext>
            </a:extLst>
          </p:cNvPr>
          <p:cNvSpPr>
            <a:spLocks noGrp="1"/>
          </p:cNvSpPr>
          <p:nvPr/>
        </p:nvSpPr>
        <p:spPr>
          <a:xfrm>
            <a:off x="713232" y="1554480"/>
            <a:ext cx="77724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中期核心寄存器为 CMD、DATA、STATUS 与 CTRL，后三项只说明扩展方向</a:t>
            </a:r>
            <a:endParaRPr sz="10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E12D467-4FBE-4563-8165-E97BA829FFAD}"/>
              </a:ext>
            </a:extLst>
          </p:cNvPr>
          <p:cNvSpPr>
            <a:spLocks noGrp="1"/>
          </p:cNvSpPr>
          <p:nvPr/>
        </p:nvSpPr>
        <p:spPr>
          <a:xfrm>
            <a:off x="786384" y="1874520"/>
            <a:ext cx="2103120" cy="32918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地址</a:t>
            </a:r>
            <a:endParaRPr sz="113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DDEC913-82ED-48BB-9032-F9BD47FA80F4}"/>
              </a:ext>
            </a:extLst>
          </p:cNvPr>
          <p:cNvSpPr>
            <a:spLocks noGrp="1"/>
          </p:cNvSpPr>
          <p:nvPr/>
        </p:nvSpPr>
        <p:spPr>
          <a:xfrm>
            <a:off x="3182112" y="1874520"/>
            <a:ext cx="1783080" cy="32918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寄存器</a:t>
            </a:r>
            <a:endParaRPr sz="113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C4AA8BD-14F5-4FE8-9129-EB0203C847AF}"/>
              </a:ext>
            </a:extLst>
          </p:cNvPr>
          <p:cNvSpPr>
            <a:spLocks noGrp="1"/>
          </p:cNvSpPr>
          <p:nvPr/>
        </p:nvSpPr>
        <p:spPr>
          <a:xfrm>
            <a:off x="5303520" y="1874520"/>
            <a:ext cx="5989320" cy="32918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中期用途</a:t>
            </a:r>
            <a:endParaRPr sz="113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AD3EFC7-B7E3-4DC2-92BF-6737AEF7248B}"/>
              </a:ext>
            </a:extLst>
          </p:cNvPr>
          <p:cNvSpPr>
            <a:spLocks noGrp="1"/>
          </p:cNvSpPr>
          <p:nvPr/>
        </p:nvSpPr>
        <p:spPr>
          <a:xfrm>
            <a:off x="786384" y="2286000"/>
            <a:ext cx="210312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0x2000_0020</a:t>
            </a:r>
            <a:endParaRPr sz="102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131F02B-F5D2-489D-9266-B8E1E18010A7}"/>
              </a:ext>
            </a:extLst>
          </p:cNvPr>
          <p:cNvSpPr>
            <a:spLocks noGrp="1"/>
          </p:cNvSpPr>
          <p:nvPr/>
        </p:nvSpPr>
        <p:spPr>
          <a:xfrm>
            <a:off x="3182112" y="2286000"/>
            <a:ext cx="178308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LCD_CMD</a:t>
            </a:r>
            <a:endParaRPr sz="102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B195CAC-4153-41B8-B73A-CAC178A7602F}"/>
              </a:ext>
            </a:extLst>
          </p:cNvPr>
          <p:cNvSpPr>
            <a:spLocks noGrp="1"/>
          </p:cNvSpPr>
          <p:nvPr/>
        </p:nvSpPr>
        <p:spPr>
          <a:xfrm>
            <a:off x="5303520" y="2286000"/>
            <a:ext cx="598932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020" dirty="0" err="1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写低</a:t>
            </a:r>
            <a:r>
              <a:rPr sz="1020" dirty="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8 </a:t>
            </a:r>
            <a:r>
              <a:rPr sz="1020" dirty="0" err="1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位命令，RS</a:t>
            </a:r>
            <a:r>
              <a:rPr sz="1020" dirty="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= 0</a:t>
            </a:r>
            <a:endParaRPr sz="102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E485E96-64C1-4900-8F6D-19C91EC3A9C2}"/>
              </a:ext>
            </a:extLst>
          </p:cNvPr>
          <p:cNvSpPr>
            <a:spLocks noGrp="1"/>
          </p:cNvSpPr>
          <p:nvPr/>
        </p:nvSpPr>
        <p:spPr>
          <a:xfrm>
            <a:off x="786384" y="2734056"/>
            <a:ext cx="210312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0x2000_0024</a:t>
            </a:r>
            <a:endParaRPr sz="102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6A282ED-51F8-40DF-9F9F-A7DD47D4CCD0}"/>
              </a:ext>
            </a:extLst>
          </p:cNvPr>
          <p:cNvSpPr>
            <a:spLocks noGrp="1"/>
          </p:cNvSpPr>
          <p:nvPr/>
        </p:nvSpPr>
        <p:spPr>
          <a:xfrm>
            <a:off x="3182112" y="2734056"/>
            <a:ext cx="178308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LCD_DATA</a:t>
            </a:r>
            <a:endParaRPr sz="10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F5C6CEB-4FF9-4EA7-81CB-5D572C30AD6A}"/>
              </a:ext>
            </a:extLst>
          </p:cNvPr>
          <p:cNvSpPr>
            <a:spLocks noGrp="1"/>
          </p:cNvSpPr>
          <p:nvPr/>
        </p:nvSpPr>
        <p:spPr>
          <a:xfrm>
            <a:off x="5303520" y="2734056"/>
            <a:ext cx="598932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020" dirty="0" err="1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写低</a:t>
            </a:r>
            <a:r>
              <a:rPr sz="1020" dirty="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8 </a:t>
            </a:r>
            <a:r>
              <a:rPr sz="1020" dirty="0" err="1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位显示数据，RS</a:t>
            </a:r>
            <a:r>
              <a:rPr sz="1020" dirty="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= 1</a:t>
            </a:r>
            <a:endParaRPr sz="102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5B86B58-BA55-40AE-AC51-A76107B3F82A}"/>
              </a:ext>
            </a:extLst>
          </p:cNvPr>
          <p:cNvSpPr>
            <a:spLocks noGrp="1"/>
          </p:cNvSpPr>
          <p:nvPr/>
        </p:nvSpPr>
        <p:spPr>
          <a:xfrm>
            <a:off x="786384" y="3182112"/>
            <a:ext cx="210312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0x2000_0028</a:t>
            </a:r>
            <a:endParaRPr sz="102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966283F-0516-4120-A08B-04F10AAB2306}"/>
              </a:ext>
            </a:extLst>
          </p:cNvPr>
          <p:cNvSpPr>
            <a:spLocks noGrp="1"/>
          </p:cNvSpPr>
          <p:nvPr/>
        </p:nvSpPr>
        <p:spPr>
          <a:xfrm>
            <a:off x="3182112" y="3182112"/>
            <a:ext cx="178308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LCD_STATUS</a:t>
            </a:r>
            <a:endParaRPr sz="102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2AE5288-D1A3-48BD-9E5E-88AF5B2416E8}"/>
              </a:ext>
            </a:extLst>
          </p:cNvPr>
          <p:cNvSpPr>
            <a:spLocks noGrp="1"/>
          </p:cNvSpPr>
          <p:nvPr/>
        </p:nvSpPr>
        <p:spPr>
          <a:xfrm>
            <a:off x="5303520" y="3182112"/>
            <a:ext cx="598932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020" dirty="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bit0 ready，bit1 initialized</a:t>
            </a:r>
            <a:endParaRPr sz="102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66AB7CE-B7FE-471F-8DC1-65B7B5B880E5}"/>
              </a:ext>
            </a:extLst>
          </p:cNvPr>
          <p:cNvSpPr>
            <a:spLocks noGrp="1"/>
          </p:cNvSpPr>
          <p:nvPr/>
        </p:nvSpPr>
        <p:spPr>
          <a:xfrm>
            <a:off x="786384" y="3630168"/>
            <a:ext cx="210312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0x2000_002C</a:t>
            </a:r>
            <a:endParaRPr sz="102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55AE15F2-7CFA-43FC-9588-66B52FBCD2DA}"/>
              </a:ext>
            </a:extLst>
          </p:cNvPr>
          <p:cNvSpPr>
            <a:spLocks noGrp="1"/>
          </p:cNvSpPr>
          <p:nvPr/>
        </p:nvSpPr>
        <p:spPr>
          <a:xfrm>
            <a:off x="3182112" y="3630168"/>
            <a:ext cx="178308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LCD_CTRL</a:t>
            </a:r>
            <a:endParaRPr sz="102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95023D04-CF2B-4477-9DEF-ED89834A0523}"/>
              </a:ext>
            </a:extLst>
          </p:cNvPr>
          <p:cNvSpPr>
            <a:spLocks noGrp="1"/>
          </p:cNvSpPr>
          <p:nvPr/>
        </p:nvSpPr>
        <p:spPr>
          <a:xfrm>
            <a:off x="5303520" y="3630168"/>
            <a:ext cx="598932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020" dirty="0" err="1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重新初始化、清屏、固定文字</a:t>
            </a:r>
            <a:endParaRPr sz="102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724C391-F294-4E6D-AC89-B26297AF5881}"/>
              </a:ext>
            </a:extLst>
          </p:cNvPr>
          <p:cNvSpPr>
            <a:spLocks noGrp="1"/>
          </p:cNvSpPr>
          <p:nvPr/>
        </p:nvSpPr>
        <p:spPr>
          <a:xfrm>
            <a:off x="786384" y="4078224"/>
            <a:ext cx="210312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0x2000_0030</a:t>
            </a:r>
            <a:endParaRPr sz="102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0D8EDEC6-BA81-47C9-B7E9-E10145ACE0A4}"/>
              </a:ext>
            </a:extLst>
          </p:cNvPr>
          <p:cNvSpPr>
            <a:spLocks noGrp="1"/>
          </p:cNvSpPr>
          <p:nvPr/>
        </p:nvSpPr>
        <p:spPr>
          <a:xfrm>
            <a:off x="3182112" y="4078224"/>
            <a:ext cx="178308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LCD_GAME_ROW</a:t>
            </a:r>
            <a:endParaRPr sz="102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C4C1A3E-4DA3-424E-A43B-E6B2A551317B}"/>
              </a:ext>
            </a:extLst>
          </p:cNvPr>
          <p:cNvSpPr>
            <a:spLocks noGrp="1"/>
          </p:cNvSpPr>
          <p:nvPr/>
        </p:nvSpPr>
        <p:spPr>
          <a:xfrm>
            <a:off x="5303520" y="4078224"/>
            <a:ext cx="598932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020" dirty="0" err="1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后续棋盘行接口</a:t>
            </a:r>
            <a:endParaRPr sz="102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B1845018-D164-40BC-917D-9E5023BCA75D}"/>
              </a:ext>
            </a:extLst>
          </p:cNvPr>
          <p:cNvSpPr>
            <a:spLocks noGrp="1"/>
          </p:cNvSpPr>
          <p:nvPr/>
        </p:nvSpPr>
        <p:spPr>
          <a:xfrm>
            <a:off x="786384" y="4526280"/>
            <a:ext cx="210312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0x2000_0034</a:t>
            </a:r>
            <a:endParaRPr sz="102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EB757718-1B89-4299-85CD-9C9F017C0FA3}"/>
              </a:ext>
            </a:extLst>
          </p:cNvPr>
          <p:cNvSpPr>
            <a:spLocks noGrp="1"/>
          </p:cNvSpPr>
          <p:nvPr/>
        </p:nvSpPr>
        <p:spPr>
          <a:xfrm>
            <a:off x="3182112" y="4526280"/>
            <a:ext cx="178308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LCD_GAME_REFRESH</a:t>
            </a:r>
            <a:endParaRPr sz="102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A5959F00-CA80-400B-8517-4188DFC2ADAA}"/>
              </a:ext>
            </a:extLst>
          </p:cNvPr>
          <p:cNvSpPr>
            <a:spLocks noGrp="1"/>
          </p:cNvSpPr>
          <p:nvPr/>
        </p:nvSpPr>
        <p:spPr>
          <a:xfrm>
            <a:off x="5303520" y="4526280"/>
            <a:ext cx="5989320" cy="34747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020" dirty="0" err="1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后续整屏刷新接口</a:t>
            </a:r>
            <a:endParaRPr sz="102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2958F16D-877B-46BC-B6AC-5261E4D1E141}"/>
              </a:ext>
            </a:extLst>
          </p:cNvPr>
          <p:cNvSpPr>
            <a:spLocks noGrp="1"/>
          </p:cNvSpPr>
          <p:nvPr/>
        </p:nvSpPr>
        <p:spPr>
          <a:xfrm>
            <a:off x="786384" y="4974336"/>
            <a:ext cx="210312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0x2000_0038</a:t>
            </a:r>
            <a:endParaRPr sz="102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94A4E05C-3E55-4985-B041-4872B6D8DD9F}"/>
              </a:ext>
            </a:extLst>
          </p:cNvPr>
          <p:cNvSpPr>
            <a:spLocks noGrp="1"/>
          </p:cNvSpPr>
          <p:nvPr/>
        </p:nvSpPr>
        <p:spPr>
          <a:xfrm>
            <a:off x="3182112" y="4974336"/>
            <a:ext cx="178308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BUZZER_TRIGGER</a:t>
            </a:r>
            <a:endParaRPr sz="102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CC2EFB1E-0CE7-4681-B1BE-7874A815011C}"/>
              </a:ext>
            </a:extLst>
          </p:cNvPr>
          <p:cNvSpPr>
            <a:spLocks noGrp="1"/>
          </p:cNvSpPr>
          <p:nvPr/>
        </p:nvSpPr>
        <p:spPr>
          <a:xfrm>
            <a:off x="5303520" y="4974336"/>
            <a:ext cx="5989320" cy="34747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020" dirty="0" err="1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后续蜂鸣器预留</a:t>
            </a:r>
            <a:endParaRPr sz="102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A2A15E01-C9B5-45B9-BDE0-702EC97901D4}"/>
              </a:ext>
            </a:extLst>
          </p:cNvPr>
          <p:cNvSpPr>
            <a:spLocks noGrp="1"/>
          </p:cNvSpPr>
          <p:nvPr/>
        </p:nvSpPr>
        <p:spPr>
          <a:xfrm>
            <a:off x="2633472" y="5715000"/>
            <a:ext cx="6903720" cy="402336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寄存器语义把“软件意图”转换为“硬件时序”</a:t>
            </a:r>
            <a:endParaRPr sz="125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D7134499-ED6A-479D-B1DD-552A3D5119EB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379124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4FFD0F-4C9C-41A1-9535-473CCF89E597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软件流程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37C8FC-8B17-4AD1-9E17-0EE495646EC7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最小 RISC-V 汇编驱动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1764195-5FAB-47F9-9221-2CF008273790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驱动通过轮询状态，把 LCD 时序封装成简单函数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03D062C-DB19-4653-8E6A-5E30833B2516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08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6F30423-8B39-4C24-AC3E-77B1B864616F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9D4EC8E-805D-4DB1-B0CB-E0D97E3123C7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86D2DFF-C91E-4684-A4A9-72BEB27D21DA}"/>
              </a:ext>
            </a:extLst>
          </p:cNvPr>
          <p:cNvSpPr>
            <a:spLocks noGrp="1"/>
          </p:cNvSpPr>
          <p:nvPr/>
        </p:nvSpPr>
        <p:spPr>
          <a:xfrm>
            <a:off x="1993392" y="2084832"/>
            <a:ext cx="493776" cy="0"/>
          </a:xfrm>
          <a:prstGeom prst="line">
            <a:avLst/>
          </a:prstGeom>
          <a:noFill/>
          <a:ln w="1397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58903FA-7B6B-41AD-990A-AF1018E45313}"/>
              </a:ext>
            </a:extLst>
          </p:cNvPr>
          <p:cNvSpPr>
            <a:spLocks noGrp="1"/>
          </p:cNvSpPr>
          <p:nvPr/>
        </p:nvSpPr>
        <p:spPr>
          <a:xfrm>
            <a:off x="4050792" y="2084832"/>
            <a:ext cx="493776" cy="0"/>
          </a:xfrm>
          <a:prstGeom prst="line">
            <a:avLst/>
          </a:prstGeom>
          <a:noFill/>
          <a:ln w="1397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4DFBACA-2802-4969-B77B-8DE274A668B4}"/>
              </a:ext>
            </a:extLst>
          </p:cNvPr>
          <p:cNvSpPr>
            <a:spLocks noGrp="1"/>
          </p:cNvSpPr>
          <p:nvPr/>
        </p:nvSpPr>
        <p:spPr>
          <a:xfrm>
            <a:off x="6108192" y="2084832"/>
            <a:ext cx="493776" cy="0"/>
          </a:xfrm>
          <a:prstGeom prst="line">
            <a:avLst/>
          </a:prstGeom>
          <a:noFill/>
          <a:ln w="1397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7C5D779-C84A-4650-987A-41444819C0D3}"/>
              </a:ext>
            </a:extLst>
          </p:cNvPr>
          <p:cNvSpPr>
            <a:spLocks noGrp="1"/>
          </p:cNvSpPr>
          <p:nvPr/>
        </p:nvSpPr>
        <p:spPr>
          <a:xfrm>
            <a:off x="685800" y="1755648"/>
            <a:ext cx="14173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lcd_wait_init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等待 initialized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2086560-8F8A-47C5-B60D-A21914A686B3}"/>
              </a:ext>
            </a:extLst>
          </p:cNvPr>
          <p:cNvSpPr>
            <a:spLocks noGrp="1"/>
          </p:cNvSpPr>
          <p:nvPr/>
        </p:nvSpPr>
        <p:spPr>
          <a:xfrm>
            <a:off x="2743200" y="1755648"/>
            <a:ext cx="14173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22D3EE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lcd_wait_ready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等待 ready</a:t>
            </a:r>
            <a:endParaRPr sz="10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35F1F31-37C3-4A76-8AA4-A2D477D65ABA}"/>
              </a:ext>
            </a:extLst>
          </p:cNvPr>
          <p:cNvSpPr>
            <a:spLocks noGrp="1"/>
          </p:cNvSpPr>
          <p:nvPr/>
        </p:nvSpPr>
        <p:spPr>
          <a:xfrm>
            <a:off x="4800600" y="1755648"/>
            <a:ext cx="14173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lcd_write_cmd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SW 到 LCD_CMD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BA43C4D-B4DE-40CC-BE7A-3B4A5654AB57}"/>
              </a:ext>
            </a:extLst>
          </p:cNvPr>
          <p:cNvSpPr>
            <a:spLocks noGrp="1"/>
          </p:cNvSpPr>
          <p:nvPr/>
        </p:nvSpPr>
        <p:spPr>
          <a:xfrm>
            <a:off x="6858000" y="1755648"/>
            <a:ext cx="14173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F59E0B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lcd_write_data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SW 到 LCD_DATA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EB673EC-A79D-467E-9CD6-0300460EDE1C}"/>
              </a:ext>
            </a:extLst>
          </p:cNvPr>
          <p:cNvSpPr>
            <a:spLocks noGrp="1"/>
          </p:cNvSpPr>
          <p:nvPr/>
        </p:nvSpPr>
        <p:spPr>
          <a:xfrm>
            <a:off x="804672" y="2980944"/>
            <a:ext cx="5669280" cy="1572768"/>
          </a:xfrm>
          <a:prstGeom prst="rect">
            <a:avLst/>
          </a:prstGeom>
          <a:solidFill>
            <a:srgbClr val="050A16"/>
          </a:solidFill>
          <a:ln w="12700">
            <a:solidFill>
              <a:srgbClr val="334155"/>
            </a:solidFill>
          </a:ln>
        </p:spPr>
        <p:txBody>
          <a:bodyPr wrap="square" lIns="2286" tIns="2286" rIns="2286" bIns="2286" anchor="ctr">
            <a:normAutofit/>
          </a:bodyPr>
          <a:lstStyle/>
          <a:p>
            <a:pPr marL="0" indent="0" algn="l">
              <a:buNone/>
            </a:pPr>
            <a:r>
              <a:rPr sz="1200" dirty="0" err="1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wait_ready</a:t>
            </a:r>
            <a:r>
              <a:rPr sz="1200" dirty="0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:</a:t>
            </a:r>
            <a:endParaRPr sz="1200" dirty="0"/>
          </a:p>
          <a:p>
            <a:pPr marL="0" indent="0" algn="l">
              <a:buNone/>
            </a:pPr>
            <a:r>
              <a:rPr sz="1200" dirty="0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dirty="0" err="1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lw</a:t>
            </a:r>
            <a:r>
              <a:rPr sz="1200" dirty="0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   x12, 40(x10)      # LCD_STATUS</a:t>
            </a:r>
            <a:endParaRPr sz="1200" dirty="0"/>
          </a:p>
          <a:p>
            <a:pPr marL="0" indent="0" algn="l">
              <a:buNone/>
            </a:pPr>
            <a:r>
              <a:rPr sz="1200" dirty="0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dirty="0" err="1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andi</a:t>
            </a:r>
            <a:r>
              <a:rPr sz="1200" dirty="0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 x12, x12, 1       # ready</a:t>
            </a:r>
            <a:endParaRPr sz="1200" dirty="0"/>
          </a:p>
          <a:p>
            <a:pPr marL="0" indent="0" algn="l">
              <a:buNone/>
            </a:pPr>
            <a:r>
              <a:rPr sz="1200" dirty="0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dirty="0" err="1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beq</a:t>
            </a:r>
            <a:r>
              <a:rPr sz="1200" dirty="0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  x12, x0, </a:t>
            </a:r>
            <a:r>
              <a:rPr sz="1200" dirty="0" err="1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wait_ready</a:t>
            </a:r>
            <a:endParaRPr sz="1200" dirty="0"/>
          </a:p>
          <a:p>
            <a:pPr marL="0" indent="0" algn="l">
              <a:buNone/>
            </a:pPr>
            <a:r>
              <a:rPr sz="1200" dirty="0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dirty="0" err="1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sw</a:t>
            </a:r>
            <a:r>
              <a:rPr sz="1200" dirty="0">
                <a:solidFill>
                  <a:srgbClr val="D9E7FF"/>
                </a:solidFill>
                <a:latin typeface="Consolas"/>
                <a:ea typeface="Consolas"/>
                <a:cs typeface="Consolas"/>
              </a:rPr>
              <a:t>   x13, 32(x10)      # LCD_CMD</a:t>
            </a:r>
            <a:endParaRPr sz="12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6D51864-35EC-4B6E-844D-0A276479221A}"/>
              </a:ext>
            </a:extLst>
          </p:cNvPr>
          <p:cNvSpPr>
            <a:spLocks noGrp="1"/>
          </p:cNvSpPr>
          <p:nvPr/>
        </p:nvSpPr>
        <p:spPr>
          <a:xfrm>
            <a:off x="6839712" y="2962656"/>
            <a:ext cx="4279392" cy="1609344"/>
          </a:xfrm>
          <a:prstGeom prst="rect">
            <a:avLst/>
          </a:prstGeom>
          <a:solidFill>
            <a:srgbClr val="121A2D"/>
          </a:solidFill>
          <a:ln w="12700">
            <a:solidFill>
              <a:srgbClr val="34D399"/>
            </a:solidFill>
          </a:ln>
        </p:spPr>
        <p:txBody>
          <a:bodyPr wrap="square" lIns="2286" tIns="2286" rIns="2286" bIns="2286" anchor="ctr">
            <a:normAutofit/>
          </a:bodyPr>
          <a:lstStyle/>
          <a:p>
            <a:pPr marL="0" indent="0" algn="ctr">
              <a:buNone/>
            </a:pPr>
            <a:r>
              <a:rPr sz="1400" b="1">
                <a:solidFill>
                  <a:srgbClr val="E8FFF5"/>
                </a:solidFill>
                <a:latin typeface="Microsoft YaHei"/>
                <a:ea typeface="Microsoft YaHei"/>
                <a:cs typeface="Microsoft YaHei"/>
              </a:rPr>
              <a:t>软件层只处理寄存器语义</a:t>
            </a:r>
            <a:endParaRPr sz="1400"/>
          </a:p>
          <a:p>
            <a:pPr marL="0" indent="0" algn="ctr">
              <a:buNone/>
            </a:pPr>
            <a:r>
              <a:rPr sz="1400" b="1">
                <a:solidFill>
                  <a:srgbClr val="E8FFF5"/>
                </a:solidFill>
                <a:latin typeface="Microsoft YaHei"/>
                <a:ea typeface="Microsoft YaHei"/>
                <a:cs typeface="Microsoft YaHei"/>
              </a:rPr>
              <a:t>硬件层保证复位、位序和发送间隔</a:t>
            </a:r>
            <a:endParaRPr sz="1400"/>
          </a:p>
          <a:p>
            <a:pPr marL="0" indent="0" algn="ctr">
              <a:buNone/>
            </a:pPr>
            <a:r>
              <a:rPr sz="1400" b="1">
                <a:solidFill>
                  <a:srgbClr val="E8FFF5"/>
                </a:solidFill>
                <a:latin typeface="Microsoft YaHei"/>
                <a:ea typeface="Microsoft YaHei"/>
                <a:cs typeface="Microsoft YaHei"/>
              </a:rPr>
              <a:t>两层通过 ready / valid 解耦</a:t>
            </a:r>
            <a:endParaRPr sz="14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FCFE431-007E-4379-913A-E2D8AD0B09FB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0833972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8881682-785A-41C0-986A-0F75EB4A29E8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验证方法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9B06B46-F390-4FDB-A431-B021E0ACF9AE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接口仿真检查项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D94D53-8B19-45CB-9ECA-D6B68A1EA47A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四组信号分别覆盖上电、字节发送、握手和 MMIO 等待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AC68DFB-DE81-4171-9CFB-CEF2621350C9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09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D7F99D0-491B-4497-B077-85833D46BF1E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C313779-9D3F-4C0B-AFCA-E70D2A0CCC34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1BC5AC3-DD3E-4DCE-90DE-A7A30B0B1C22}"/>
              </a:ext>
            </a:extLst>
          </p:cNvPr>
          <p:cNvSpPr>
            <a:spLocks noGrp="1"/>
          </p:cNvSpPr>
          <p:nvPr/>
        </p:nvSpPr>
        <p:spPr>
          <a:xfrm>
            <a:off x="731520" y="1874520"/>
            <a:ext cx="4937760" cy="960120"/>
          </a:xfrm>
          <a:prstGeom prst="rect">
            <a:avLst/>
          </a:prstGeom>
          <a:solidFill>
            <a:srgbClr val="121A2D"/>
          </a:solidFill>
          <a:ln w="14605">
            <a:solidFill>
              <a:srgbClr val="34D399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lang="en-US"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170" b="1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复位与初始化</a:t>
            </a:r>
            <a:endParaRPr sz="1170" dirty="0"/>
          </a:p>
          <a:p>
            <a:pPr marL="0" indent="0" algn="l">
              <a:buNone/>
            </a:pPr>
            <a:r>
              <a:rPr lang="en-US"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reset / </a:t>
            </a:r>
            <a:r>
              <a:rPr sz="1170" b="1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lcd_rst_n</a:t>
            </a:r>
            <a:r>
              <a:rPr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/ initialized</a:t>
            </a:r>
            <a:endParaRPr sz="1170" dirty="0"/>
          </a:p>
          <a:p>
            <a:pPr marL="0" indent="0" algn="l">
              <a:buNone/>
            </a:pPr>
            <a:r>
              <a:rPr lang="en-US"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170" b="1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复位保持、上电等待和初始化完成</a:t>
            </a:r>
            <a:endParaRPr sz="117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5DE78C7-00C1-409A-A997-8C2FCD936F48}"/>
              </a:ext>
            </a:extLst>
          </p:cNvPr>
          <p:cNvSpPr>
            <a:spLocks noGrp="1"/>
          </p:cNvSpPr>
          <p:nvPr/>
        </p:nvSpPr>
        <p:spPr>
          <a:xfrm>
            <a:off x="6263640" y="1874520"/>
            <a:ext cx="4937760" cy="960120"/>
          </a:xfrm>
          <a:prstGeom prst="rect">
            <a:avLst/>
          </a:prstGeom>
          <a:solidFill>
            <a:srgbClr val="121A2D"/>
          </a:solidFill>
          <a:ln w="14605">
            <a:solidFill>
              <a:srgbClr val="22D3EE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lang="en-US"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SPI </a:t>
            </a:r>
            <a:r>
              <a:rPr sz="1170" b="1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字节</a:t>
            </a:r>
            <a:endParaRPr sz="1170" dirty="0"/>
          </a:p>
          <a:p>
            <a:pPr marL="0" indent="0" algn="l">
              <a:buNone/>
            </a:pPr>
            <a:r>
              <a:rPr lang="en-US"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170" b="1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cs_n</a:t>
            </a:r>
            <a:r>
              <a:rPr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170" b="1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sck</a:t>
            </a:r>
            <a:r>
              <a:rPr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170" b="1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mosi</a:t>
            </a:r>
            <a:r>
              <a:rPr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170" b="1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rs</a:t>
            </a:r>
            <a:endParaRPr sz="1170" dirty="0"/>
          </a:p>
          <a:p>
            <a:pPr marL="0" indent="0" algn="l">
              <a:buNone/>
            </a:pPr>
            <a:r>
              <a:rPr lang="en-US"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8 位 MSB </a:t>
            </a:r>
            <a:r>
              <a:rPr sz="1170" b="1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first，命令与数据区分</a:t>
            </a:r>
            <a:endParaRPr sz="117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618703C-38A2-49D4-8920-0AD93B663E1D}"/>
              </a:ext>
            </a:extLst>
          </p:cNvPr>
          <p:cNvSpPr>
            <a:spLocks noGrp="1"/>
          </p:cNvSpPr>
          <p:nvPr/>
        </p:nvSpPr>
        <p:spPr>
          <a:xfrm>
            <a:off x="731520" y="3246120"/>
            <a:ext cx="4937760" cy="960120"/>
          </a:xfrm>
          <a:prstGeom prst="rect">
            <a:avLst/>
          </a:prstGeom>
          <a:solidFill>
            <a:srgbClr val="121A2D"/>
          </a:solidFill>
          <a:ln w="14605">
            <a:solidFill>
              <a:srgbClr val="F59E0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lang="en-US"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ready / valid</a:t>
            </a:r>
            <a:endParaRPr sz="1170" dirty="0"/>
          </a:p>
          <a:p>
            <a:pPr marL="0" indent="0" algn="l">
              <a:buNone/>
            </a:pPr>
            <a:r>
              <a:rPr lang="en-US"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170" b="1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tx_valid</a:t>
            </a:r>
            <a:r>
              <a:rPr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170" b="1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tx_ready</a:t>
            </a:r>
            <a:r>
              <a:rPr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/ state</a:t>
            </a:r>
            <a:endParaRPr sz="1170" dirty="0"/>
          </a:p>
          <a:p>
            <a:pPr marL="0" indent="0" algn="l">
              <a:buNone/>
            </a:pPr>
            <a:r>
              <a:rPr lang="en-US"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170" b="1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忙时拒绝，完成后恢复</a:t>
            </a:r>
            <a:r>
              <a:rPr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ready</a:t>
            </a:r>
            <a:endParaRPr sz="117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2986177-20FE-40F1-82EC-E4DDC65F1692}"/>
              </a:ext>
            </a:extLst>
          </p:cNvPr>
          <p:cNvSpPr>
            <a:spLocks noGrp="1"/>
          </p:cNvSpPr>
          <p:nvPr/>
        </p:nvSpPr>
        <p:spPr>
          <a:xfrm>
            <a:off x="6263640" y="3246120"/>
            <a:ext cx="4937760" cy="960120"/>
          </a:xfrm>
          <a:prstGeom prst="rect">
            <a:avLst/>
          </a:prstGeom>
          <a:solidFill>
            <a:srgbClr val="121A2D"/>
          </a:solidFill>
          <a:ln w="14605">
            <a:solidFill>
              <a:srgbClr val="A78BFA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lang="en-US"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MMIO </a:t>
            </a:r>
            <a:r>
              <a:rPr sz="1170" b="1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等待</a:t>
            </a:r>
            <a:endParaRPr sz="1170" dirty="0"/>
          </a:p>
          <a:p>
            <a:pPr marL="0" indent="0" algn="l">
              <a:buNone/>
            </a:pPr>
            <a:r>
              <a:rPr lang="en-US"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170" b="1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dmem_req</a:t>
            </a:r>
            <a:r>
              <a:rPr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/ ready / </a:t>
            </a:r>
            <a:r>
              <a:rPr sz="1170" b="1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写脉冲</a:t>
            </a:r>
            <a:endParaRPr sz="1170" dirty="0"/>
          </a:p>
          <a:p>
            <a:pPr marL="0" indent="0" algn="l">
              <a:buNone/>
            </a:pPr>
            <a:r>
              <a:rPr lang="en-US"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170" b="1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CPU </a:t>
            </a:r>
            <a:r>
              <a:rPr sz="1170" b="1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等待且一次请求只发送一次</a:t>
            </a:r>
            <a:endParaRPr sz="117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76E0881-D40A-4AC3-8432-61176833A0A1}"/>
              </a:ext>
            </a:extLst>
          </p:cNvPr>
          <p:cNvSpPr>
            <a:spLocks noGrp="1"/>
          </p:cNvSpPr>
          <p:nvPr/>
        </p:nvSpPr>
        <p:spPr>
          <a:xfrm>
            <a:off x="1051560" y="5074920"/>
            <a:ext cx="4480560" cy="347472"/>
          </a:xfrm>
          <a:prstGeom prst="rect">
            <a:avLst/>
          </a:prstGeom>
          <a:solidFill>
            <a:srgbClr val="101E2D"/>
          </a:solidFill>
          <a:ln w="12700">
            <a:solidFill>
              <a:srgbClr val="1E5E62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12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tb_lcd_spi_master：自动核对位序</a:t>
            </a:r>
            <a:endParaRPr sz="112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305FBEC-747D-4797-9810-6BADF2F58B08}"/>
              </a:ext>
            </a:extLst>
          </p:cNvPr>
          <p:cNvSpPr>
            <a:spLocks noGrp="1"/>
          </p:cNvSpPr>
          <p:nvPr/>
        </p:nvSpPr>
        <p:spPr>
          <a:xfrm>
            <a:off x="6446520" y="5074920"/>
            <a:ext cx="4480560" cy="347472"/>
          </a:xfrm>
          <a:prstGeom prst="rect">
            <a:avLst/>
          </a:prstGeom>
          <a:solidFill>
            <a:srgbClr val="10271E"/>
          </a:solidFill>
          <a:ln w="12700">
            <a:solidFill>
              <a:srgbClr val="246E4B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120" b="1">
                <a:solidFill>
                  <a:srgbClr val="DBFBEA"/>
                </a:solidFill>
                <a:latin typeface="Microsoft YaHei"/>
                <a:ea typeface="Microsoft YaHei"/>
                <a:cs typeface="Microsoft YaHei"/>
              </a:rPr>
              <a:t>tb_lcd_controller：自动核对初始化与请求</a:t>
            </a:r>
            <a:endParaRPr sz="112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2ADC5CF-6EBF-46E3-AA8C-B8257FB32B64}"/>
              </a:ext>
            </a:extLst>
          </p:cNvPr>
          <p:cNvSpPr>
            <a:spLocks noGrp="1"/>
          </p:cNvSpPr>
          <p:nvPr/>
        </p:nvSpPr>
        <p:spPr>
          <a:xfrm>
            <a:off x="4590288" y="5815584"/>
            <a:ext cx="297180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92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本页为检查项；LCD 实测波形需由对应测试运行展示</a:t>
            </a:r>
            <a:endParaRPr sz="92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FAFEDCE-AE7A-4858-8438-7DF9C1806521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805117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9AE908F-3AC6-4CDC-BF13-4BE44375B57F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中期答辩补充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783D8FC-1059-4A4B-87BD-5997E868D506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1076325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单元测试与检查条件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5E0C0E8-829E-4DE9-9AE6-817D5B5AEEDA}"/>
              </a:ext>
            </a:extLst>
          </p:cNvPr>
          <p:cNvSpPr>
            <a:spLocks noGrp="1"/>
          </p:cNvSpPr>
          <p:nvPr/>
        </p:nvSpPr>
        <p:spPr>
          <a:xfrm>
            <a:off x="533400" y="114300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rPr>
              <a:t>依据现有 testbench 说明可复现检查项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10E2047-E572-4F4F-ACA3-BAF61B743F29}"/>
              </a:ext>
            </a:extLst>
          </p:cNvPr>
          <p:cNvSpPr>
            <a:spLocks noGrp="1"/>
          </p:cNvSpPr>
          <p:nvPr/>
        </p:nvSpPr>
        <p:spPr>
          <a:xfrm>
            <a:off x="590550" y="18764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SPI 单元测试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51394D8-14DE-4EFC-BDF8-60FD366DFE90}"/>
              </a:ext>
            </a:extLst>
          </p:cNvPr>
          <p:cNvSpPr>
            <a:spLocks noGrp="1"/>
          </p:cNvSpPr>
          <p:nvPr/>
        </p:nvSpPr>
        <p:spPr>
          <a:xfrm>
            <a:off x="590550" y="22193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发送 0xA5，上升沿采集恰好 8 位，RS 保持为 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A7BB2BA-0B79-4DE5-B408-8097162AEC94}"/>
              </a:ext>
            </a:extLst>
          </p:cNvPr>
          <p:cNvSpPr>
            <a:spLocks noGrp="1"/>
          </p:cNvSpPr>
          <p:nvPr/>
        </p:nvSpPr>
        <p:spPr>
          <a:xfrm>
            <a:off x="590550" y="28194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空闲恢复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C559AF1-00BF-4716-83E9-65DB1B566F28}"/>
              </a:ext>
            </a:extLst>
          </p:cNvPr>
          <p:cNvSpPr>
            <a:spLocks noGrp="1"/>
          </p:cNvSpPr>
          <p:nvPr/>
        </p:nvSpPr>
        <p:spPr>
          <a:xfrm>
            <a:off x="590550" y="31623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完成后 CS = 1、SCK = 0，ready 恢复为 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D4C1B93-BB8D-45DB-A9D8-E7C8415E4B02}"/>
              </a:ext>
            </a:extLst>
          </p:cNvPr>
          <p:cNvSpPr>
            <a:spLocks noGrp="1"/>
          </p:cNvSpPr>
          <p:nvPr/>
        </p:nvSpPr>
        <p:spPr>
          <a:xfrm>
            <a:off x="590550" y="37623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控制器测试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A8DC6E3-884A-4CC9-990E-98E8C034FD53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缩短延时与清屏规模，初始化 36 次传输，用户字节后累计 37 次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507B47B-AB05-4517-995F-B2F8CEE6C53F}"/>
              </a:ext>
            </a:extLst>
          </p:cNvPr>
          <p:cNvSpPr>
            <a:spLocks noGrp="1"/>
          </p:cNvSpPr>
          <p:nvPr/>
        </p:nvSpPr>
        <p:spPr>
          <a:xfrm>
            <a:off x="590550" y="470535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证据边界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274DCAE-A301-4F1C-A874-04CCCDB886BE}"/>
              </a:ext>
            </a:extLst>
          </p:cNvPr>
          <p:cNvSpPr>
            <a:spLocks noGrp="1"/>
          </p:cNvSpPr>
          <p:nvPr/>
        </p:nvSpPr>
        <p:spPr>
          <a:xfrm>
            <a:off x="590550" y="50482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以上为源码断言条件。CPU 波形不替代 LCD 协议波形</a:t>
            </a: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223BF5F1-EE61-4758-9100-06C1CBFE28A4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10</a:t>
            </a:r>
            <a:endParaRPr sz="1000"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043AE058-A566-474E-A1CD-89BFFA0E3340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618736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A8C8EFA-2F7D-4982-8194-792BB0A73DDA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中期答辩补充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24FADBB-9CDD-431F-B49A-F267B91C5693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1076325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MMIO 请求保持与单次接收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1E2BB05-C36C-4AF0-83F6-10E143F8B33C}"/>
              </a:ext>
            </a:extLst>
          </p:cNvPr>
          <p:cNvSpPr>
            <a:spLocks noGrp="1"/>
          </p:cNvSpPr>
          <p:nvPr/>
        </p:nvSpPr>
        <p:spPr>
          <a:xfrm>
            <a:off x="533400" y="114300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rPr>
              <a:t>CPU 和 LCD 通过 ready 协同，写操作在总线完成条件下生效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1C1FEB-CC0F-4651-A5BC-397109CA3332}"/>
              </a:ext>
            </a:extLst>
          </p:cNvPr>
          <p:cNvSpPr>
            <a:spLocks noGrp="1"/>
          </p:cNvSpPr>
          <p:nvPr/>
        </p:nvSpPr>
        <p:spPr>
          <a:xfrm>
            <a:off x="590550" y="18764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等待期间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BCC97BA-897A-466F-8792-271125FEB7AB}"/>
              </a:ext>
            </a:extLst>
          </p:cNvPr>
          <p:cNvSpPr>
            <a:spLocks noGrp="1"/>
          </p:cNvSpPr>
          <p:nvPr/>
        </p:nvSpPr>
        <p:spPr>
          <a:xfrm>
            <a:off x="590550" y="22193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bus_req 保持有效，地址与数据保持，bus_ready = 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D4A99A9-7691-437F-B36E-8F1C0D2AC8F3}"/>
              </a:ext>
            </a:extLst>
          </p:cNvPr>
          <p:cNvSpPr>
            <a:spLocks noGrp="1"/>
          </p:cNvSpPr>
          <p:nvPr/>
        </p:nvSpPr>
        <p:spPr>
          <a:xfrm>
            <a:off x="590550" y="28194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完成条件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8D3B2BE-1F57-4087-848C-A571EEB565E2}"/>
              </a:ext>
            </a:extLst>
          </p:cNvPr>
          <p:cNvSpPr>
            <a:spLocks noGrp="1"/>
          </p:cNvSpPr>
          <p:nvPr/>
        </p:nvSpPr>
        <p:spPr>
          <a:xfrm>
            <a:off x="590550" y="31623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bus_req &amp;&amp; bus_ready &amp;&amp; bus_write 才产生 LCD 写脉冲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59BDC22-8441-4F82-BDCD-CF5373672EA2}"/>
              </a:ext>
            </a:extLst>
          </p:cNvPr>
          <p:cNvSpPr>
            <a:spLocks noGrp="1"/>
          </p:cNvSpPr>
          <p:nvPr/>
        </p:nvSpPr>
        <p:spPr>
          <a:xfrm>
            <a:off x="590550" y="37623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LCD 接收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3F913A9-DB09-4DD2-8395-DB424F7F2BB7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lcd_tx_valid 携带 RS 与数据，控制器调度 SPI 发送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839E293-7725-4E5B-8B4E-4F5E71F82EA8}"/>
              </a:ext>
            </a:extLst>
          </p:cNvPr>
          <p:cNvSpPr>
            <a:spLocks noGrp="1"/>
          </p:cNvSpPr>
          <p:nvPr/>
        </p:nvSpPr>
        <p:spPr>
          <a:xfrm>
            <a:off x="590550" y="470535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联合检查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B64DF27-3D01-415F-9EF7-9F35DF7AFA24}"/>
              </a:ext>
            </a:extLst>
          </p:cNvPr>
          <p:cNvSpPr>
            <a:spLocks noGrp="1"/>
          </p:cNvSpPr>
          <p:nvPr/>
        </p:nvSpPr>
        <p:spPr>
          <a:xfrm>
            <a:off x="590550" y="50482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延长 busy，核对接受次数与有效写事务数一致，并检查字节顺序</a:t>
            </a: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23D0D95C-88CE-4CA9-851A-100B86279D40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11</a:t>
            </a:r>
            <a:endParaRPr sz="1000"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7102859C-5584-48B2-BCA5-ED1CC45632C8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179026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8881682-785A-41C0-986A-0F75EB4A29E8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补充证据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9B06B46-F390-4FDB-A431-B021E0ACF9AE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CPU 运行平台验证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D94D53-8B19-45CB-9ECA-D6B68A1EA47A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相关处理定向仿真，为 MMIO 汇编程序提供可信执行基础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AC68DFB-DE81-4171-9CFB-CEF2621350C9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12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D7F99D0-491B-4497-B077-85833D46BF1E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C313779-9D3F-4C0B-AFCA-E70D2A0CCC34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1BC5AC3-DD3E-4DCE-90DE-A7A30B0B1C22}"/>
              </a:ext>
            </a:extLst>
          </p:cNvPr>
          <p:cNvSpPr>
            <a:spLocks noGrp="1"/>
          </p:cNvSpPr>
          <p:nvPr/>
        </p:nvSpPr>
        <p:spPr>
          <a:xfrm>
            <a:off x="731520" y="1874520"/>
            <a:ext cx="4937760" cy="960120"/>
          </a:xfrm>
          <a:prstGeom prst="rect">
            <a:avLst/>
          </a:prstGeom>
          <a:solidFill>
            <a:srgbClr val="121A2D"/>
          </a:solidFill>
          <a:ln w="14605">
            <a:solidFill>
              <a:srgbClr val="34D399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复位与初始化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reset / lcd_rst_n / initialized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复位保持、上电等待和初始化完成</a:t>
            </a:r>
            <a:endParaRPr sz="117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5DE78C7-00C1-409A-A997-8C2FCD936F48}"/>
              </a:ext>
            </a:extLst>
          </p:cNvPr>
          <p:cNvSpPr>
            <a:spLocks noGrp="1"/>
          </p:cNvSpPr>
          <p:nvPr/>
        </p:nvSpPr>
        <p:spPr>
          <a:xfrm>
            <a:off x="6263640" y="1874520"/>
            <a:ext cx="4937760" cy="960120"/>
          </a:xfrm>
          <a:prstGeom prst="rect">
            <a:avLst/>
          </a:prstGeom>
          <a:solidFill>
            <a:srgbClr val="121A2D"/>
          </a:solidFill>
          <a:ln w="14605">
            <a:solidFill>
              <a:srgbClr val="22D3EE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SPI 字节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cs_n / sck / mosi / rs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8 位 MSB first，命令与数据区分</a:t>
            </a:r>
            <a:endParaRPr sz="117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618703C-38A2-49D4-8920-0AD93B663E1D}"/>
              </a:ext>
            </a:extLst>
          </p:cNvPr>
          <p:cNvSpPr>
            <a:spLocks noGrp="1"/>
          </p:cNvSpPr>
          <p:nvPr/>
        </p:nvSpPr>
        <p:spPr>
          <a:xfrm>
            <a:off x="731520" y="3246120"/>
            <a:ext cx="4937760" cy="960120"/>
          </a:xfrm>
          <a:prstGeom prst="rect">
            <a:avLst/>
          </a:prstGeom>
          <a:solidFill>
            <a:srgbClr val="121A2D"/>
          </a:solidFill>
          <a:ln w="14605">
            <a:solidFill>
              <a:srgbClr val="F59E0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ready / valid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tx_valid / tx_ready / state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忙时拒绝，完成后恢复 ready</a:t>
            </a:r>
            <a:endParaRPr sz="117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2986177-20FE-40F1-82EC-E4DDC65F1692}"/>
              </a:ext>
            </a:extLst>
          </p:cNvPr>
          <p:cNvSpPr>
            <a:spLocks noGrp="1"/>
          </p:cNvSpPr>
          <p:nvPr/>
        </p:nvSpPr>
        <p:spPr>
          <a:xfrm>
            <a:off x="6263640" y="3246120"/>
            <a:ext cx="4937760" cy="960120"/>
          </a:xfrm>
          <a:prstGeom prst="rect">
            <a:avLst/>
          </a:prstGeom>
          <a:solidFill>
            <a:srgbClr val="121A2D"/>
          </a:solidFill>
          <a:ln w="14605">
            <a:solidFill>
              <a:srgbClr val="A78BFA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MMIO 等待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dmem_req / ready / 写脉冲</a:t>
            </a:r>
            <a:endParaRPr sz="1170"/>
          </a:p>
          <a:p>
            <a:pPr marL="0" indent="0" algn="l">
              <a:buNone/>
            </a:pPr>
            <a:r>
              <a:rPr sz="11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CPU 等待且一次请求只发送一次</a:t>
            </a:r>
            <a:endParaRPr sz="117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76E0881-D40A-4AC3-8432-61176833A0A1}"/>
              </a:ext>
            </a:extLst>
          </p:cNvPr>
          <p:cNvSpPr>
            <a:spLocks noGrp="1"/>
          </p:cNvSpPr>
          <p:nvPr/>
        </p:nvSpPr>
        <p:spPr>
          <a:xfrm>
            <a:off x="1051560" y="5074920"/>
            <a:ext cx="4480560" cy="347472"/>
          </a:xfrm>
          <a:prstGeom prst="rect">
            <a:avLst/>
          </a:prstGeom>
          <a:solidFill>
            <a:srgbClr val="101E2D"/>
          </a:solidFill>
          <a:ln w="12700">
            <a:solidFill>
              <a:srgbClr val="1E5E62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12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tb_lcd_spi_master：自动核对位序</a:t>
            </a:r>
            <a:endParaRPr sz="112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305FBEC-747D-4797-9810-6BADF2F58B08}"/>
              </a:ext>
            </a:extLst>
          </p:cNvPr>
          <p:cNvSpPr>
            <a:spLocks noGrp="1"/>
          </p:cNvSpPr>
          <p:nvPr/>
        </p:nvSpPr>
        <p:spPr>
          <a:xfrm>
            <a:off x="6446520" y="5074920"/>
            <a:ext cx="4480560" cy="347472"/>
          </a:xfrm>
          <a:prstGeom prst="rect">
            <a:avLst/>
          </a:prstGeom>
          <a:solidFill>
            <a:srgbClr val="10271E"/>
          </a:solidFill>
          <a:ln w="12700">
            <a:solidFill>
              <a:srgbClr val="246E4B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120" b="1">
                <a:solidFill>
                  <a:srgbClr val="DBFBEA"/>
                </a:solidFill>
                <a:latin typeface="Microsoft YaHei"/>
                <a:ea typeface="Microsoft YaHei"/>
                <a:cs typeface="Microsoft YaHei"/>
              </a:rPr>
              <a:t>tb_lcd_controller：自动核对初始化与请求</a:t>
            </a:r>
            <a:endParaRPr sz="112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2ADC5CF-6EBF-46E3-AA8C-B8257FB32B64}"/>
              </a:ext>
            </a:extLst>
          </p:cNvPr>
          <p:cNvSpPr>
            <a:spLocks noGrp="1"/>
          </p:cNvSpPr>
          <p:nvPr/>
        </p:nvSpPr>
        <p:spPr>
          <a:xfrm>
            <a:off x="4590288" y="5815584"/>
            <a:ext cx="297180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92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本页为检查项；LCD 实测波形需由对应测试运行展示</a:t>
            </a:r>
            <a:endParaRPr sz="92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FAFEDCE-AE7A-4858-8438-7DF9C1806521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B1DB9E1-243E-4DE9-B2C5-66A02BC4CC8B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11277600" cy="4743450"/>
          </a:xfrm>
          <a:prstGeom prst="rect">
            <a:avLst/>
          </a:prstGeom>
          <a:solidFill>
            <a:srgbClr val="080E20"/>
          </a:solidFill>
          <a:ln w="0">
            <a:solidFill>
              <a:srgbClr val="080E20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C641B4E-E625-4F58-9203-4E9AC41D36F7}"/>
              </a:ext>
            </a:extLst>
          </p:cNvPr>
          <p:cNvSpPr>
            <a:spLocks noGrp="1"/>
          </p:cNvSpPr>
          <p:nvPr/>
        </p:nvSpPr>
        <p:spPr>
          <a:xfrm>
            <a:off x="514350" y="1581150"/>
            <a:ext cx="36385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0625"/>
          </a:bodyPr>
          <a:lstStyle/>
          <a:p>
            <a:pPr algn="ctr">
              <a:defRPr sz="1200" b="1">
                <a:solidFill>
                  <a:srgbClr val="38D3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8D39F"/>
                </a:solidFill>
                <a:latin typeface="Microsoft YaHei"/>
                <a:ea typeface="Microsoft YaHei"/>
                <a:cs typeface="Microsoft YaHei"/>
              </a:rPr>
              <a:t>双源前递</a:t>
            </a: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6183" y="1866900"/>
            <a:ext cx="3514885" cy="2076450"/>
          </a:xfrm>
          <a:prstGeom prst="rect">
            <a:avLst/>
          </a:prstGeom>
        </p:spPr>
      </p:pic>
      <p:sp>
        <p:nvSpPr>
          <p:cNvPr id="20" name="矩形 19">
            <a:extLst>
              <a:ext uri="{FF2B5EF4-FFF2-40B4-BE49-F238E27FC236}">
                <a16:creationId xmlns:a16="http://schemas.microsoft.com/office/drawing/2014/main" id="{9599A282-80E1-4FA3-9E44-FF2EF5BE40CB}"/>
              </a:ext>
            </a:extLst>
          </p:cNvPr>
          <p:cNvSpPr>
            <a:spLocks noGrp="1"/>
          </p:cNvSpPr>
          <p:nvPr/>
        </p:nvSpPr>
        <p:spPr>
          <a:xfrm>
            <a:off x="4400550" y="1581150"/>
            <a:ext cx="36385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0625"/>
          </a:bodyPr>
          <a:lstStyle/>
          <a:p>
            <a:pPr algn="ctr">
              <a:defRPr sz="1200" b="1">
                <a:solidFill>
                  <a:srgbClr val="FFA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AA00"/>
                </a:solidFill>
                <a:latin typeface="Microsoft YaHei"/>
                <a:ea typeface="Microsoft YaHei"/>
                <a:cs typeface="Microsoft YaHei"/>
              </a:rPr>
              <a:t>load-use 停顿</a:t>
            </a:r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400550" y="1895376"/>
            <a:ext cx="3638550" cy="2019499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8B3FBFFB-DBE6-48E4-87A8-8FFBDA26524F}"/>
              </a:ext>
            </a:extLst>
          </p:cNvPr>
          <p:cNvSpPr>
            <a:spLocks noGrp="1"/>
          </p:cNvSpPr>
          <p:nvPr/>
        </p:nvSpPr>
        <p:spPr>
          <a:xfrm>
            <a:off x="8286750" y="1581150"/>
            <a:ext cx="36385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0625"/>
          </a:bodyPr>
          <a:lstStyle/>
          <a:p>
            <a:pPr algn="ctr">
              <a:defRPr sz="1200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rPr>
              <a:t>分支冲刷</a:t>
            </a: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360438" y="1866900"/>
            <a:ext cx="3491174" cy="2076450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635508" y="4171950"/>
            <a:ext cx="4920983" cy="1381125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F7019026-687A-442E-8278-09B63CD3B977}"/>
              </a:ext>
            </a:extLst>
          </p:cNvPr>
          <p:cNvSpPr>
            <a:spLocks noGrp="1"/>
          </p:cNvSpPr>
          <p:nvPr/>
        </p:nvSpPr>
        <p:spPr>
          <a:xfrm>
            <a:off x="876300" y="5657850"/>
            <a:ext cx="10439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 algn="ctr">
              <a:defRPr sz="1200" b="0">
                <a:solidFill>
                  <a:srgbClr val="A9B6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9B6D1"/>
                </a:solidFill>
                <a:latin typeface="Microsoft YaHei"/>
                <a:ea typeface="Microsoft YaHei"/>
                <a:cs typeface="Microsoft YaHei"/>
              </a:rPr>
              <a:t>讲解定位：证明承载 MMIO 汇编程序的 CPU 能正确处理相关；LCD 协议证据仍以 SPI、初始化和握手波形为主</a:t>
            </a:r>
          </a:p>
        </p:txBody>
      </p:sp>
    </p:spTree>
    <p:extLst>
      <p:ext uri="{BB962C8B-B14F-4D97-AF65-F5344CB8AC3E}">
        <p14:creationId xmlns:p14="http://schemas.microsoft.com/office/powerpoint/2010/main" val="1805117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02E8259-1432-430F-B08E-63707AC479E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中期答辩补充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7039E47-66E1-434F-AE00-408391CB59E1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1076325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三人分工与接口协作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F4A7856-A61A-49FF-884C-0117ED9A7487}"/>
              </a:ext>
            </a:extLst>
          </p:cNvPr>
          <p:cNvSpPr>
            <a:spLocks noGrp="1"/>
          </p:cNvSpPr>
          <p:nvPr/>
        </p:nvSpPr>
        <p:spPr>
          <a:xfrm>
            <a:off x="533400" y="114300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rPr>
              <a:t>每人承担模块设计、实现与验证，组长维护系统接口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AD1B3DF-42F0-4049-939A-A7D38E0AC1F9}"/>
              </a:ext>
            </a:extLst>
          </p:cNvPr>
          <p:cNvSpPr>
            <a:spLocks noGrp="1"/>
          </p:cNvSpPr>
          <p:nvPr/>
        </p:nvSpPr>
        <p:spPr>
          <a:xfrm>
            <a:off x="590550" y="18764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王建乐</a:t>
            </a:r>
            <a:r>
              <a:rPr lang="en-US"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（A</a:t>
            </a:r>
            <a:r>
              <a:rPr lang="en-US"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，</a:t>
            </a:r>
            <a:r>
              <a:rPr lang="zh-CN" altLang="en-US"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组长）</a:t>
            </a:r>
            <a:endParaRPr sz="1650" b="1" dirty="0">
              <a:solidFill>
                <a:srgbClr val="22D3E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79313DB-BCBD-41FA-A858-A99EA9B26C79}"/>
              </a:ext>
            </a:extLst>
          </p:cNvPr>
          <p:cNvSpPr>
            <a:spLocks noGrp="1"/>
          </p:cNvSpPr>
          <p:nvPr/>
        </p:nvSpPr>
        <p:spPr>
          <a:xfrm>
            <a:off x="590550" y="22193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ISA、水平微码、CPU / SoC 集成，维护控制字与接口文档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F03568-0D0F-40EE-87C3-5C13371F3903}"/>
              </a:ext>
            </a:extLst>
          </p:cNvPr>
          <p:cNvSpPr>
            <a:spLocks noGrp="1"/>
          </p:cNvSpPr>
          <p:nvPr/>
        </p:nvSpPr>
        <p:spPr>
          <a:xfrm>
            <a:off x="590550" y="28194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张晓行</a:t>
            </a:r>
            <a:r>
              <a:rPr lang="en-US"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（B</a:t>
            </a:r>
            <a:r>
              <a:rPr lang="en-US"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）</a:t>
            </a:r>
            <a:endParaRPr sz="1650" b="1" dirty="0">
              <a:solidFill>
                <a:srgbClr val="22D3E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59C222-8044-40E9-9D77-C6489694F408}"/>
              </a:ext>
            </a:extLst>
          </p:cNvPr>
          <p:cNvSpPr>
            <a:spLocks noGrp="1"/>
          </p:cNvSpPr>
          <p:nvPr/>
        </p:nvSpPr>
        <p:spPr>
          <a:xfrm>
            <a:off x="590550" y="31623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前递、load-use、分支冲刷、存储等待及 CPU 自检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5B11FA1-B181-4EAC-918A-4BE825744FD0}"/>
              </a:ext>
            </a:extLst>
          </p:cNvPr>
          <p:cNvSpPr>
            <a:spLocks noGrp="1"/>
          </p:cNvSpPr>
          <p:nvPr/>
        </p:nvSpPr>
        <p:spPr>
          <a:xfrm>
            <a:off x="590550" y="37623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钱博傲</a:t>
            </a:r>
            <a:r>
              <a:rPr lang="en-US" sz="1650" b="1" dirty="0" err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（C</a:t>
            </a:r>
            <a:r>
              <a:rPr lang="en-US" sz="1650" b="1" dirty="0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）</a:t>
            </a:r>
            <a:endParaRPr sz="1650" b="1" dirty="0">
              <a:solidFill>
                <a:srgbClr val="22D3E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A8FED82-2CDF-45B9-A300-BC57B21A2BBE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SPI、初始化、MMIO、汇编驱动及接口单元测试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20444B3-9182-411A-A21B-58AC83BB753C}"/>
              </a:ext>
            </a:extLst>
          </p:cNvPr>
          <p:cNvSpPr>
            <a:spLocks noGrp="1"/>
          </p:cNvSpPr>
          <p:nvPr/>
        </p:nvSpPr>
        <p:spPr>
          <a:xfrm>
            <a:off x="590550" y="470535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联调方式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03F666B-CAB0-433F-9066-D9B9D4BBAD80}"/>
              </a:ext>
            </a:extLst>
          </p:cNvPr>
          <p:cNvSpPr>
            <a:spLocks noGrp="1"/>
          </p:cNvSpPr>
          <p:nvPr/>
        </p:nvSpPr>
        <p:spPr>
          <a:xfrm>
            <a:off x="590550" y="50482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 统一规格与基线，B/C 分别验证 CPU 请求和外设接收</a:t>
            </a: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D36023B3-8F7B-417A-98FE-D48EA0D75A91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13</a:t>
            </a:r>
            <a:endParaRPr sz="1000"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E4843210-7FA5-056B-19EB-F89466AC23E8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7702809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DA6B5F2-DA83-4AE1-889C-AF02090C33AE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中期答辩补充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661F4DC-1A71-474A-8084-2B3B25B67BD9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1076325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阶段安排与验收标准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6B9B230-D21A-40F9-88A3-E4E08DE0C961}"/>
              </a:ext>
            </a:extLst>
          </p:cNvPr>
          <p:cNvSpPr>
            <a:spLocks noGrp="1"/>
          </p:cNvSpPr>
          <p:nvPr/>
        </p:nvSpPr>
        <p:spPr>
          <a:xfrm>
            <a:off x="533400" y="114300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rPr>
              <a:t>按开发阶段回顾交付物，当前状态与汇报范围分开说明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60C0480-A16F-466B-B705-C4E7C284B2C5}"/>
              </a:ext>
            </a:extLst>
          </p:cNvPr>
          <p:cNvSpPr>
            <a:spLocks noGrp="1"/>
          </p:cNvSpPr>
          <p:nvPr/>
        </p:nvSpPr>
        <p:spPr>
          <a:xfrm>
            <a:off x="590550" y="18764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阶段一：规格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125962A-E2D4-488C-B2DF-EE4E4DF99431}"/>
              </a:ext>
            </a:extLst>
          </p:cNvPr>
          <p:cNvSpPr>
            <a:spLocks noGrp="1"/>
          </p:cNvSpPr>
          <p:nvPr/>
        </p:nvSpPr>
        <p:spPr>
          <a:xfrm>
            <a:off x="590550" y="22193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指令表、控制字、流水寄存器、MMIO 约定完成并评审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E1E8C6C-2847-4AF2-BFA6-00C02EE9895C}"/>
              </a:ext>
            </a:extLst>
          </p:cNvPr>
          <p:cNvSpPr>
            <a:spLocks noGrp="1"/>
          </p:cNvSpPr>
          <p:nvPr/>
        </p:nvSpPr>
        <p:spPr>
          <a:xfrm>
            <a:off x="590550" y="28194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阶段二：模块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59745EF-345D-4642-9971-35F4CE3A726A}"/>
              </a:ext>
            </a:extLst>
          </p:cNvPr>
          <p:cNvSpPr>
            <a:spLocks noGrp="1"/>
          </p:cNvSpPr>
          <p:nvPr/>
        </p:nvSpPr>
        <p:spPr>
          <a:xfrm>
            <a:off x="590550" y="31623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三人并行实现各自 RTL，单元测试通过后进入集成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CE88A26-A070-4604-A9DF-30A83E3ACD7B}"/>
              </a:ext>
            </a:extLst>
          </p:cNvPr>
          <p:cNvSpPr>
            <a:spLocks noGrp="1"/>
          </p:cNvSpPr>
          <p:nvPr/>
        </p:nvSpPr>
        <p:spPr>
          <a:xfrm>
            <a:off x="590550" y="37623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阶段三：联调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844F9ED-BB7C-451E-839B-A62BF53E2EFE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核对架构结果、退休序列、等待与外设单次副作用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4C276EB-0034-44FB-8B36-C3FD65CA46F0}"/>
              </a:ext>
            </a:extLst>
          </p:cNvPr>
          <p:cNvSpPr>
            <a:spLocks noGrp="1"/>
          </p:cNvSpPr>
          <p:nvPr/>
        </p:nvSpPr>
        <p:spPr>
          <a:xfrm>
            <a:off x="590550" y="470535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阶段四：交付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9DE7226-E114-4FBC-A780-19E1555AD0CB}"/>
              </a:ext>
            </a:extLst>
          </p:cNvPr>
          <p:cNvSpPr>
            <a:spLocks noGrp="1"/>
          </p:cNvSpPr>
          <p:nvPr/>
        </p:nvSpPr>
        <p:spPr>
          <a:xfrm>
            <a:off x="590550" y="50482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复核测试结果，整理文档、波形与答辩材料</a:t>
            </a: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4D6D8058-470E-4119-8998-3A52D585992F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14</a:t>
            </a:r>
            <a:endParaRPr sz="1000"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A5066672-5247-606F-19D7-F418F67F2E4E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19103114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FB8B271-E01D-4B09-8914-95CF8EFBC40F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中期总结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770C655-275D-40AA-BE9D-73E737C8C46C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阶段结论与下一步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C6DEFC5-51B3-43B1-BF39-C5B3471ECB50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LCD 接口控制器与最小驱动已经形成可验证闭环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6311D23-D46B-464D-838F-B7CD5E2C4891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15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31D346D-802D-4EFA-BD6D-2567D5BCE96C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199FC26-DF40-4E77-9984-C5042738CB5B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A8F3072-6F70-4D18-BE87-C60ED2468489}"/>
              </a:ext>
            </a:extLst>
          </p:cNvPr>
          <p:cNvSpPr>
            <a:spLocks noGrp="1"/>
          </p:cNvSpPr>
          <p:nvPr/>
        </p:nvSpPr>
        <p:spPr>
          <a:xfrm>
            <a:off x="749808" y="1865376"/>
            <a:ext cx="3017520" cy="1207008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778" tIns="1778" rIns="1778" bIns="177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已完成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4 线 SPI master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复位、初始化与清屏状态机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命令 / 数据 RS 区分</a:t>
            </a:r>
            <a:endParaRPr sz="12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204BA65-F399-45C5-8A07-AD426240EB8F}"/>
              </a:ext>
            </a:extLst>
          </p:cNvPr>
          <p:cNvSpPr>
            <a:spLocks noGrp="1"/>
          </p:cNvSpPr>
          <p:nvPr/>
        </p:nvSpPr>
        <p:spPr>
          <a:xfrm>
            <a:off x="4471416" y="1865376"/>
            <a:ext cx="3017520" cy="1207008"/>
          </a:xfrm>
          <a:prstGeom prst="rect">
            <a:avLst/>
          </a:prstGeom>
          <a:solidFill>
            <a:srgbClr val="121A2D"/>
          </a:solidFill>
          <a:ln w="15240">
            <a:solidFill>
              <a:srgbClr val="22D3EE"/>
            </a:solidFill>
          </a:ln>
        </p:spPr>
        <p:txBody>
          <a:bodyPr wrap="square" lIns="1778" tIns="1778" rIns="1778" bIns="177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已连接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MMIO 地址译码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ready / valid 与总线等待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最小汇编轮询和写入流程</a:t>
            </a:r>
            <a:endParaRPr sz="12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6AD2A5F-9580-466C-8D91-DD48F07A5FC8}"/>
              </a:ext>
            </a:extLst>
          </p:cNvPr>
          <p:cNvSpPr>
            <a:spLocks noGrp="1"/>
          </p:cNvSpPr>
          <p:nvPr/>
        </p:nvSpPr>
        <p:spPr>
          <a:xfrm>
            <a:off x="8193024" y="1865376"/>
            <a:ext cx="3017520" cy="1207008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778" tIns="1778" rIns="1778" bIns="177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已验证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SPI 位序自检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控制器状态与请求自检</a:t>
            </a:r>
            <a:endParaRPr sz="1250"/>
          </a:p>
          <a:p>
            <a:pPr marL="0" indent="0" algn="ctr">
              <a:buNone/>
            </a:pPr>
            <a:r>
              <a:rPr sz="12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一次请求只产生一次发送</a:t>
            </a:r>
            <a:endParaRPr sz="12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411F031-68A6-410E-A1A3-5FC77BA894F0}"/>
              </a:ext>
            </a:extLst>
          </p:cNvPr>
          <p:cNvSpPr>
            <a:spLocks noGrp="1"/>
          </p:cNvSpPr>
          <p:nvPr/>
        </p:nvSpPr>
        <p:spPr>
          <a:xfrm>
            <a:off x="749808" y="3785616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9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下一阶段</a:t>
            </a:r>
            <a:endParaRPr sz="9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DF4EDD0-329B-4B7E-9F58-1D67BA0BCBD8}"/>
              </a:ext>
            </a:extLst>
          </p:cNvPr>
          <p:cNvSpPr>
            <a:spLocks noGrp="1"/>
          </p:cNvSpPr>
          <p:nvPr/>
        </p:nvSpPr>
        <p:spPr>
          <a:xfrm>
            <a:off x="3419856" y="4617720"/>
            <a:ext cx="768096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B46D986-3468-4550-A36D-0B23C482E91E}"/>
              </a:ext>
            </a:extLst>
          </p:cNvPr>
          <p:cNvSpPr>
            <a:spLocks noGrp="1"/>
          </p:cNvSpPr>
          <p:nvPr/>
        </p:nvSpPr>
        <p:spPr>
          <a:xfrm>
            <a:off x="6986016" y="4617720"/>
            <a:ext cx="768096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62F91C2-A98D-4AE4-BB5B-5C8D87FE17EC}"/>
              </a:ext>
            </a:extLst>
          </p:cNvPr>
          <p:cNvSpPr>
            <a:spLocks noGrp="1"/>
          </p:cNvSpPr>
          <p:nvPr/>
        </p:nvSpPr>
        <p:spPr>
          <a:xfrm>
            <a:off x="804672" y="4297680"/>
            <a:ext cx="2468880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IP 核封装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component.xml、XGUI、Catalog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3903A9C-8860-4BD0-B798-95ACAD7D1E7B}"/>
              </a:ext>
            </a:extLst>
          </p:cNvPr>
          <p:cNvSpPr>
            <a:spLocks noGrp="1"/>
          </p:cNvSpPr>
          <p:nvPr/>
        </p:nvSpPr>
        <p:spPr>
          <a:xfrm>
            <a:off x="4370832" y="4297680"/>
            <a:ext cx="2468880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完整应用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棋盘刷新与俄罗斯方块汇编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D809E4B-8CBD-4EA2-9273-C3E393C15FB7}"/>
              </a:ext>
            </a:extLst>
          </p:cNvPr>
          <p:cNvSpPr>
            <a:spLocks noGrp="1"/>
          </p:cNvSpPr>
          <p:nvPr/>
        </p:nvSpPr>
        <p:spPr>
          <a:xfrm>
            <a:off x="7936992" y="4297680"/>
            <a:ext cx="2468880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FPGA 验证</a:t>
            </a:r>
            <a:endParaRPr sz="1050"/>
          </a:p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LCD、按键与蜂鸣器实板现象</a:t>
            </a:r>
            <a:endParaRPr sz="10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50C6DB2-F0ED-4E11-B1E0-AB0712EC718F}"/>
              </a:ext>
            </a:extLst>
          </p:cNvPr>
          <p:cNvSpPr>
            <a:spLocks noGrp="1"/>
          </p:cNvSpPr>
          <p:nvPr/>
        </p:nvSpPr>
        <p:spPr>
          <a:xfrm>
            <a:off x="1965960" y="5687568"/>
            <a:ext cx="8138160" cy="402336"/>
          </a:xfrm>
          <a:prstGeom prst="rect">
            <a:avLst/>
          </a:prstGeom>
          <a:solidFill>
            <a:srgbClr val="2B1018"/>
          </a:solidFill>
          <a:ln w="12700">
            <a:solidFill>
              <a:srgbClr val="F8717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FD6DD"/>
                </a:solidFill>
                <a:latin typeface="Microsoft YaHei"/>
                <a:ea typeface="Microsoft YaHei"/>
                <a:cs typeface="Microsoft YaHei"/>
              </a:rPr>
              <a:t>本页回顾开发路线；完整游戏、IP 与实板结果另行汇报</a:t>
            </a:r>
            <a:endParaRPr sz="12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0045B4C8-7E1A-4D35-A5D0-B8427CF5EBE7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ST7571 LCD · SPI · MMIO · RISC-V ASM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304622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1842</Words>
  <Application>Microsoft Office PowerPoint</Application>
  <DocSecurity>0</DocSecurity>
  <PresentationFormat>宽屏</PresentationFormat>
  <Paragraphs>333</Paragraphs>
  <Slides>15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Microsoft YaHei</vt:lpstr>
      <vt:lpstr>Arial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eon N</cp:lastModifiedBy>
  <cp:revision>2</cp:revision>
  <dcterms:created xsi:type="dcterms:W3CDTF">2026-09-10T07:21:54Z</dcterms:created>
  <dcterms:modified xsi:type="dcterms:W3CDTF">2026-09-10T10:31:10Z</dcterms:modified>
</cp:coreProperties>
</file>