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101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6" r:id="rId12"/>
    <p:sldId id="264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2" autoAdjust="0"/>
    <p:restoredTop sz="94676" autoAdjust="0"/>
  </p:normalViewPr>
  <p:slideViewPr>
    <p:cSldViewPr snapToGrid="0" snapToObjects="1">
      <p:cViewPr varScale="1">
        <p:scale>
          <a:sx n="104" d="100"/>
          <a:sy n="104" d="100"/>
        </p:scale>
        <p:origin x="96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各位老师好，我们汇报的题目是基于水平微码控制的 RV32I 五级流水 CPU。本次中期汇报只聚焦基础 CPU：它能否执行 27 条基础指令，能否正确处理流水线相关，以及验证是否形成闭环。成员和班级信息请在正式答辩前补全。
内容依据：
- docs/中期与最终汇报范围划分.md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课程要求处理器至少支持 16 条指令，并覆盖运算、传送和控制三类操作。我们的基础实现支持 27 条 RV32I 指令，采用 IF、ID、EX、MEM、WB 五级流水。控制上由水平微码描述指令行为，由硬布线仲裁器处理暂停和冲刷。指令和数据接口分离，慢存储器通过 ready 握手。
内容依据：
- docs/中期与最终汇报范围划分.md §3.2
- docs/核心设计文档/01-指令编码与语义表.md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这页按功能展示基础指令集。算术逻辑和移位比较主要使用 ALU，加载存储在 EX 级计算地址并在 MEM 级访问，分支与跳转在 EX 级确认目标。指令宽度固定为 32 位，x0 始终为零，当前测试程序使用自然对齐访存。这里不逐条朗读控制字，只说明覆盖范围和代表行为。
内容依据：
- docs/核心设计文档/01-指令编码与语义表.md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数据通路采用经典五级结构。IF 负责 PC 和取指，ID 完成译码、寄存器读取、立即数生成和微码查询，EX 完成前递、ALU 与分支判断，MEM 处理访存握手，WB 选择结果并退休。四组流水寄存器让多条指令同时处于不同阶段，valid 位决定一条指令是否有资格产生架构副作用。
内容依据：
- docs/核心设计文档/06-五级流水完整数据通路图.md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微码控制器位于 ID 级。opcode 和 funct 字段先映射为微地址，微码 ROM 再输出 ALU、访存、写回和控制流字段。这些字段随指令进入后续流水寄存器。需要强调的是，微码回答这条指令要做什么，流水线仲裁器回答当前周期是否推进、保持或清除。非法编码会关闭写寄存器和写存储器。
内容依据：
- docs/核心设计文档/01-指令编码与语义表.md
- docs/核心设计文档/02-微控制字字段及每条指令取值表.md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每组流水寄存器都有 valid。正常推进时，字段和 valid 一起进入下一级。发生存储等待时保持有关寄存器。load-use 需要插入气泡时，只清 ID/EX 的 valid。发生分支冲刷时，清除年轻指令的 valid。统一使用 valid 可以保证无效指令不会写寄存器、存储器或改变控制流。
内容依据：
- docs/核心设计文档/03-流水寄存器字段表.md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数据相关主要通过前递解决。EX/MEM 和 MEM/WB 都可能提供最新值，同时命中时优先选择更近的 EX/MEM。只有 reg_write 有效且 rd 不是 x0 时才允许前递。store 的写数据也有独立前递路径，否则地址虽然正确，写入的数据仍可能是旧值。
内容依据：
- rtl/execute/forwarding_unit.sv
- docs/核心设计文档/07-核心功能测试用例清单.md §3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程序先写入 x1=5、x2=7，随后立即执行 add x3,x1,x2。波形中 forward_a 为 01，表示从 MEM/WB 取得 x1；forward_b 为 10，表示从 EX/MEM 取得 x2。ALU 同周期得到 5 和 7，输出 12，说明两路源操作数能够同时前递。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docs/仿真/tb_pipeline_hazard_双源前递.png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load-use 不能只靠普通 EX 前递，因为加载数据要到 MEM 之后才产生。检测到相邻消费者后，PC 和 IF/ID 保持一个周期，同时向 ID/EX 插入气泡。存储器等待则冻结后端并保持请求，MEM/WB 插入气泡，避免同一条旧指令重复退休。ready 到达后请求只提交一次。
内容依据：
- docs/核心设计文档/06-五级流水完整数据通路图.md §4
- rtl/core/pipeline_ctrl.sv
- rtl/core/cpu_core.sv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这段程序让 lw x5 后立即执行 addi x6,x5,1。检测到 load-use 后，hold_frontend 保持 PC 与 IF/ID，bubble_id_ex 向执行级插入气泡。数据可用后流水线继续，最终 x6 等于 43。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docs/仿真/tb_pipeline_hazard_load_use.png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分支和跳转在 EX 级得到真实方向与目标。若需要重定向，控制器把 PC 切到目标地址，并清除 IF/ID 与 ID/EX 中两条年轻指令。分支本身继续向后完成。图中的 XX 表示被作废的错误路径指令，它们的 valid 已清零，因此不能产生寄存器、存储器或 MMIO 副作用。
内容依据：
- docs/核心设计文档/06-五级流水完整数据通路图.md §4
- rtl/core/pipeline_ctrl.sv
- sim/system/tb_cpu_core.sv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程序包含一次 taken BEQ 和一次 JAL。两次 redirect_accept 都同时拉高 flush_if_id 与 flush_id_ex，清除两条年轻错误路径指令。控制台自检进一步确认错误路径目标寄存器 x9 保持为 0。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docs/仿真/tb_pipeline_hazard_分支冲刷.png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控制台显示该定向测试在 26 个周期内退休 17 条指令，出现 7 次前递事件、1 次 load-use 停顿和 2 次控制重定向。PASS 还表示最终寄存器和存储器断言全部通过。该测试采用当拍响应存储器模型，作用是定向触发流水线相关，不代表同步 BRAM 或 FPGA 实测性能。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docs/仿真/tb_pipeline_hazard_TCLconsole.png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验证采用分层方法。模块级覆盖 ALU、立即数、译码、前递和 LSU，指令级覆盖 27 条基础指令，流水线级专门构造 RAW、load-use、store-data 和分支冲刷，系统级运行综合程序并加入存储等待。通过条件不仅是看到波形，还要求 TOHOST 等于 1、退休序列完整、错误路径无副作用，并且改变等待周期后架构结果保持一致。
内容依据：
- docs/核心设计文档/07-核心功能测试用例清单.md
- sim/system/tb_cpu_core.sv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中期阶段已经完成 27 条基础指令、水平微码控制、五级数据通路和三类相关处理，并建立模块与 CPU 自检框架。下一阶段将增加异常与中断、I/D Cache 和动态分支预测，再进行单周期 CPU 性能对比和 FPGA 下板。本次中期汇报只把这些列为计划，不提前使用最终阶段成果。
内容依据：
- docs/中期与最终汇报范围划分.md §3.5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051004-3AE6-471B-B6F7-BBB8068C9750}"/>
              </a:ext>
            </a:extLst>
          </p:cNvPr>
          <p:cNvSpPr>
            <a:spLocks noGrp="1"/>
          </p:cNvSpPr>
          <p:nvPr/>
        </p:nvSpPr>
        <p:spPr>
          <a:xfrm>
            <a:off x="713232" y="658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计算机组成原理课程设计</a:t>
            </a:r>
            <a:endParaRPr sz="11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10AC97-D299-46F8-8252-A72EBEEF3D90}"/>
              </a:ext>
            </a:extLst>
          </p:cNvPr>
          <p:cNvSpPr>
            <a:spLocks noGrp="1"/>
          </p:cNvSpPr>
          <p:nvPr/>
        </p:nvSpPr>
        <p:spPr>
          <a:xfrm>
            <a:off x="731520" y="1152144"/>
            <a:ext cx="0" cy="1481328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9D4331-14BF-4903-A21E-289EA47915A8}"/>
              </a:ext>
            </a:extLst>
          </p:cNvPr>
          <p:cNvSpPr>
            <a:spLocks noGrp="1"/>
          </p:cNvSpPr>
          <p:nvPr/>
        </p:nvSpPr>
        <p:spPr>
          <a:xfrm>
            <a:off x="1005840" y="1298448"/>
            <a:ext cx="6583680" cy="14813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基于水平微码控制的</a:t>
            </a:r>
            <a:endParaRPr sz="3500"/>
          </a:p>
          <a:p>
            <a:pPr marL="0" indent="0">
              <a:buNone/>
            </a:pPr>
            <a:r>
              <a:rPr sz="3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RV32I 五级流水 CPU</a:t>
            </a:r>
            <a:endParaRPr sz="3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23894C-96A3-4AC0-93AF-B84B74A8DAB8}"/>
              </a:ext>
            </a:extLst>
          </p:cNvPr>
          <p:cNvSpPr>
            <a:spLocks noGrp="1"/>
          </p:cNvSpPr>
          <p:nvPr/>
        </p:nvSpPr>
        <p:spPr>
          <a:xfrm>
            <a:off x="1005840" y="3163824"/>
            <a:ext cx="6492240" cy="502920"/>
          </a:xfrm>
          <a:prstGeom prst="rect">
            <a:avLst/>
          </a:prstGeom>
          <a:solidFill>
            <a:srgbClr val="121B31"/>
          </a:solidFill>
          <a:ln w="12700">
            <a:solidFill>
              <a:srgbClr val="27466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3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阶段目标：完成基础流水线、三类相关处理与自检验证</a:t>
            </a:r>
            <a:endParaRPr sz="13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3E411A-F116-4DB8-B60A-FCC3AFC16C33}"/>
              </a:ext>
            </a:extLst>
          </p:cNvPr>
          <p:cNvSpPr>
            <a:spLocks noGrp="1"/>
          </p:cNvSpPr>
          <p:nvPr/>
        </p:nvSpPr>
        <p:spPr>
          <a:xfrm>
            <a:off x="1005840" y="4005072"/>
            <a:ext cx="6492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263A5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  成员：王建乐、钱博傲、张晓行</a:t>
            </a:r>
            <a:endParaRPr sz="10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475E43-FC08-4C43-9E24-CB9E7D496F71}"/>
              </a:ext>
            </a:extLst>
          </p:cNvPr>
          <p:cNvSpPr>
            <a:spLocks noGrp="1"/>
          </p:cNvSpPr>
          <p:nvPr/>
        </p:nvSpPr>
        <p:spPr>
          <a:xfrm>
            <a:off x="8302752" y="1060704"/>
            <a:ext cx="2743200" cy="3977640"/>
          </a:xfrm>
          <a:prstGeom prst="rect">
            <a:avLst/>
          </a:prstGeom>
          <a:solidFill>
            <a:srgbClr val="111A31"/>
          </a:solidFill>
          <a:ln w="15240">
            <a:solidFill>
              <a:srgbClr val="355479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9B207EE-6338-4EA3-9C8A-E90D4F3C8835}"/>
              </a:ext>
            </a:extLst>
          </p:cNvPr>
          <p:cNvSpPr>
            <a:spLocks noGrp="1"/>
          </p:cNvSpPr>
          <p:nvPr/>
        </p:nvSpPr>
        <p:spPr>
          <a:xfrm>
            <a:off x="8650224" y="1444752"/>
            <a:ext cx="2048256" cy="3209544"/>
          </a:xfrm>
          <a:prstGeom prst="rect">
            <a:avLst/>
          </a:prstGeom>
          <a:solidFill>
            <a:srgbClr val="0B10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58AD50-F5E2-4C6B-A5BE-B9BAEBAABC73}"/>
              </a:ext>
            </a:extLst>
          </p:cNvPr>
          <p:cNvSpPr>
            <a:spLocks noGrp="1"/>
          </p:cNvSpPr>
          <p:nvPr/>
        </p:nvSpPr>
        <p:spPr>
          <a:xfrm>
            <a:off x="8869680" y="1929384"/>
            <a:ext cx="1609344" cy="10607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RV32I</a:t>
            </a:r>
            <a:endParaRPr sz="2400"/>
          </a:p>
          <a:p>
            <a:pPr marL="0" indent="0" algn="ctr">
              <a:buNone/>
            </a:pPr>
            <a:r>
              <a:rPr sz="24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CPU</a:t>
            </a:r>
            <a:endParaRPr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8337D3-D6C0-466E-98EF-8DE9CAAEC68F}"/>
              </a:ext>
            </a:extLst>
          </p:cNvPr>
          <p:cNvSpPr>
            <a:spLocks noGrp="1"/>
          </p:cNvSpPr>
          <p:nvPr/>
        </p:nvSpPr>
        <p:spPr>
          <a:xfrm>
            <a:off x="7790688" y="1645920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8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1971984-35C3-4E4D-B28A-1364E03F6A10}"/>
              </a:ext>
            </a:extLst>
          </p:cNvPr>
          <p:cNvSpPr>
            <a:spLocks noGrp="1"/>
          </p:cNvSpPr>
          <p:nvPr/>
        </p:nvSpPr>
        <p:spPr>
          <a:xfrm>
            <a:off x="8284464" y="1737360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4FCFA63-E433-41CE-8A7E-6F9511ED1F02}"/>
              </a:ext>
            </a:extLst>
          </p:cNvPr>
          <p:cNvSpPr>
            <a:spLocks noGrp="1"/>
          </p:cNvSpPr>
          <p:nvPr/>
        </p:nvSpPr>
        <p:spPr>
          <a:xfrm>
            <a:off x="7790688" y="2157984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8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DA7A732-49C6-459B-9E3A-F58BC96971B8}"/>
              </a:ext>
            </a:extLst>
          </p:cNvPr>
          <p:cNvSpPr>
            <a:spLocks noGrp="1"/>
          </p:cNvSpPr>
          <p:nvPr/>
        </p:nvSpPr>
        <p:spPr>
          <a:xfrm>
            <a:off x="8284464" y="2249424"/>
            <a:ext cx="36576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89E5E45-6C9A-45BB-801E-C5E35581F66F}"/>
              </a:ext>
            </a:extLst>
          </p:cNvPr>
          <p:cNvSpPr>
            <a:spLocks noGrp="1"/>
          </p:cNvSpPr>
          <p:nvPr/>
        </p:nvSpPr>
        <p:spPr>
          <a:xfrm>
            <a:off x="7790688" y="2670048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8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653C6C0-CA1A-4BA9-9480-58282E75E6E7}"/>
              </a:ext>
            </a:extLst>
          </p:cNvPr>
          <p:cNvSpPr>
            <a:spLocks noGrp="1"/>
          </p:cNvSpPr>
          <p:nvPr/>
        </p:nvSpPr>
        <p:spPr>
          <a:xfrm>
            <a:off x="8284464" y="2761488"/>
            <a:ext cx="3657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4D18AB-F47A-40B2-AC16-3256647253DB}"/>
              </a:ext>
            </a:extLst>
          </p:cNvPr>
          <p:cNvSpPr>
            <a:spLocks noGrp="1"/>
          </p:cNvSpPr>
          <p:nvPr/>
        </p:nvSpPr>
        <p:spPr>
          <a:xfrm>
            <a:off x="7790688" y="3182112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8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9684228-7CBE-4957-A382-AE27653BD7F2}"/>
              </a:ext>
            </a:extLst>
          </p:cNvPr>
          <p:cNvSpPr>
            <a:spLocks noGrp="1"/>
          </p:cNvSpPr>
          <p:nvPr/>
        </p:nvSpPr>
        <p:spPr>
          <a:xfrm>
            <a:off x="8284464" y="3273552"/>
            <a:ext cx="36576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7F7A96D-A987-4446-B30D-A901894A267D}"/>
              </a:ext>
            </a:extLst>
          </p:cNvPr>
          <p:cNvSpPr>
            <a:spLocks noGrp="1"/>
          </p:cNvSpPr>
          <p:nvPr/>
        </p:nvSpPr>
        <p:spPr>
          <a:xfrm>
            <a:off x="7790688" y="3694176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8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BD861EA-1127-41E3-8641-D0BC66AF428B}"/>
              </a:ext>
            </a:extLst>
          </p:cNvPr>
          <p:cNvSpPr>
            <a:spLocks noGrp="1"/>
          </p:cNvSpPr>
          <p:nvPr/>
        </p:nvSpPr>
        <p:spPr>
          <a:xfrm>
            <a:off x="8284464" y="3785616"/>
            <a:ext cx="36576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19C244A-9A9F-42F9-84DB-8735746ADEEC}"/>
              </a:ext>
            </a:extLst>
          </p:cNvPr>
          <p:cNvSpPr>
            <a:spLocks noGrp="1"/>
          </p:cNvSpPr>
          <p:nvPr/>
        </p:nvSpPr>
        <p:spPr>
          <a:xfrm>
            <a:off x="87965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163FF81-BB39-4846-80F2-FBF2DFE6E35B}"/>
              </a:ext>
            </a:extLst>
          </p:cNvPr>
          <p:cNvSpPr>
            <a:spLocks noGrp="1"/>
          </p:cNvSpPr>
          <p:nvPr/>
        </p:nvSpPr>
        <p:spPr>
          <a:xfrm>
            <a:off x="90251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B2E0703-1179-497F-BB47-2E6A6B99615E}"/>
              </a:ext>
            </a:extLst>
          </p:cNvPr>
          <p:cNvSpPr>
            <a:spLocks noGrp="1"/>
          </p:cNvSpPr>
          <p:nvPr/>
        </p:nvSpPr>
        <p:spPr>
          <a:xfrm>
            <a:off x="92537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7DA44F0-C084-4E2A-A71F-F38AB9C2BEF8}"/>
              </a:ext>
            </a:extLst>
          </p:cNvPr>
          <p:cNvSpPr>
            <a:spLocks noGrp="1"/>
          </p:cNvSpPr>
          <p:nvPr/>
        </p:nvSpPr>
        <p:spPr>
          <a:xfrm>
            <a:off x="94823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E3BE08E-6205-4B97-997F-5C943B1A9DBC}"/>
              </a:ext>
            </a:extLst>
          </p:cNvPr>
          <p:cNvSpPr>
            <a:spLocks noGrp="1"/>
          </p:cNvSpPr>
          <p:nvPr/>
        </p:nvSpPr>
        <p:spPr>
          <a:xfrm>
            <a:off x="97109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3FC1871-C5F5-4C5D-870C-F16F5AF65535}"/>
              </a:ext>
            </a:extLst>
          </p:cNvPr>
          <p:cNvSpPr>
            <a:spLocks noGrp="1"/>
          </p:cNvSpPr>
          <p:nvPr/>
        </p:nvSpPr>
        <p:spPr>
          <a:xfrm>
            <a:off x="99395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0D7BF21-4BE2-453A-9DA9-85EDF1E509E9}"/>
              </a:ext>
            </a:extLst>
          </p:cNvPr>
          <p:cNvSpPr>
            <a:spLocks noGrp="1"/>
          </p:cNvSpPr>
          <p:nvPr/>
        </p:nvSpPr>
        <p:spPr>
          <a:xfrm>
            <a:off x="101681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EFC09E9-96FE-43F3-B091-6FA946696DEB}"/>
              </a:ext>
            </a:extLst>
          </p:cNvPr>
          <p:cNvSpPr>
            <a:spLocks noGrp="1"/>
          </p:cNvSpPr>
          <p:nvPr/>
        </p:nvSpPr>
        <p:spPr>
          <a:xfrm>
            <a:off x="103967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DCA5DE3-E25D-4927-A591-6101A5FAB774}"/>
              </a:ext>
            </a:extLst>
          </p:cNvPr>
          <p:cNvSpPr>
            <a:spLocks noGrp="1"/>
          </p:cNvSpPr>
          <p:nvPr/>
        </p:nvSpPr>
        <p:spPr>
          <a:xfrm>
            <a:off x="8558784" y="5138928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IF · ID · EX · MEM · WB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8FE3F52-9488-46BE-A296-A1DCAF1095CA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83273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7D88844-E3E9-4E1C-9C92-CFF26783AD3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3EB328-8759-457C-A742-1CE160DD876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三人分工与接口协作</a:t>
            </a:r>
            <a:endParaRPr sz="2400" b="1" dirty="0">
              <a:solidFill>
                <a:srgbClr val="F7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8DC0C2-5FF6-42AD-94BF-5C033B83694C}"/>
              </a:ext>
            </a:extLst>
          </p:cNvPr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每人承担模块设计、实现与验证，组长维护系统接口</a:t>
            </a:r>
            <a:endParaRPr sz="1275" b="0" dirty="0">
              <a:solidFill>
                <a:srgbClr val="BAC9E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3B21C3-0AE5-4D76-BA94-B64A5D762277}"/>
              </a:ext>
            </a:extLst>
          </p:cNvPr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王建乐（A，组长）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0A2666-6A06-4577-9BFE-F25E019333EE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ISA、水平微码、CPU / SoC 集成，维护控制字与接口文档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A315FA-BA47-434E-8B85-5B4A027319EC}"/>
              </a:ext>
            </a:extLst>
          </p:cNvPr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张晓行（B）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89DCBE-48AB-4D03-BC9B-122B76563161}"/>
              </a:ext>
            </a:extLst>
          </p:cNvPr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前递、load-use、分支冲刷、存储等待及 CPU 自检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A1399F-8560-4A91-9A54-4589D11A52DD}"/>
              </a:ext>
            </a:extLst>
          </p:cNvPr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钱博傲（C）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08247B-4E71-4918-A230-61BBD0D39F15}"/>
              </a:ext>
            </a:extLst>
          </p:cNvPr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SPI、初始化、MMIO、汇编驱动及接口单元测试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BBD8D-8077-494D-9CC0-D1892DC6725E}"/>
              </a:ext>
            </a:extLst>
          </p:cNvPr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联调方式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F58492-0593-4E5D-9808-8EBB4E9442C2}"/>
              </a:ext>
            </a:extLst>
          </p:cNvPr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 统一规格与基线，B/C 分别验证 CPU 请求和外设接收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C8F2681-5D44-4BAB-85B2-C9F97C865D92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00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B157A014-638E-875C-3716-8695D2F8C926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112110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4A021B-1273-415C-BD60-8D094CCA14F0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项目范围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FA46DB-5D45-4DB1-8C11-88A1C90AA58C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实训要求与总体方案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6FFE6D-2A88-4243-95BE-756BD753925B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基础 CPU 聚焦 ISA、流水线控制与可验证闭环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D3D9A3-6AA4-4840-943D-9FFC9104E3CD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51AFCA5-153D-4BB2-BFDF-8977EEB6F58B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8A5BC1C-BD88-44D9-9045-E657A220402C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9E18EC-8DDA-4DCD-A5DB-1F961C1A8FD1}"/>
              </a:ext>
            </a:extLst>
          </p:cNvPr>
          <p:cNvSpPr>
            <a:spLocks noGrp="1"/>
          </p:cNvSpPr>
          <p:nvPr/>
        </p:nvSpPr>
        <p:spPr>
          <a:xfrm>
            <a:off x="713232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3B82F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≥16</a:t>
            </a:r>
            <a:endParaRPr sz="1600"/>
          </a:p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指令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317B887-F070-447B-90F9-AF70B5F77FAC}"/>
              </a:ext>
            </a:extLst>
          </p:cNvPr>
          <p:cNvSpPr>
            <a:spLocks noGrp="1"/>
          </p:cNvSpPr>
          <p:nvPr/>
        </p:nvSpPr>
        <p:spPr>
          <a:xfrm>
            <a:off x="3529584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3 类</a:t>
            </a:r>
            <a:endParaRPr sz="1600"/>
          </a:p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运算 / 传送 / 控制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E636F6-293D-4A1E-8579-683BC17B7711}"/>
              </a:ext>
            </a:extLst>
          </p:cNvPr>
          <p:cNvSpPr>
            <a:spLocks noGrp="1"/>
          </p:cNvSpPr>
          <p:nvPr/>
        </p:nvSpPr>
        <p:spPr>
          <a:xfrm>
            <a:off x="6345936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5 级</a:t>
            </a:r>
            <a:endParaRPr sz="1600"/>
          </a:p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经典流水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BCE97BF-2A85-4DBB-9716-79439F2A46AC}"/>
              </a:ext>
            </a:extLst>
          </p:cNvPr>
          <p:cNvSpPr>
            <a:spLocks noGrp="1"/>
          </p:cNvSpPr>
          <p:nvPr/>
        </p:nvSpPr>
        <p:spPr>
          <a:xfrm>
            <a:off x="9162288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自检</a:t>
            </a:r>
            <a:endParaRPr sz="1600"/>
          </a:p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仿真闭环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99816E2-1B2F-474E-B998-59462848617A}"/>
              </a:ext>
            </a:extLst>
          </p:cNvPr>
          <p:cNvSpPr>
            <a:spLocks noGrp="1"/>
          </p:cNvSpPr>
          <p:nvPr/>
        </p:nvSpPr>
        <p:spPr>
          <a:xfrm>
            <a:off x="768096" y="329184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当前基础方案</a:t>
            </a:r>
            <a:endParaRPr sz="9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5E8C415-8728-4687-ABF5-714785A441DB}"/>
              </a:ext>
            </a:extLst>
          </p:cNvPr>
          <p:cNvSpPr>
            <a:spLocks noGrp="1"/>
          </p:cNvSpPr>
          <p:nvPr/>
        </p:nvSpPr>
        <p:spPr>
          <a:xfrm>
            <a:off x="768096" y="3621024"/>
            <a:ext cx="10652760" cy="475488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32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RV32I 子集：27 </a:t>
            </a:r>
            <a:r>
              <a:rPr sz="132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条基础指令，覆盖算术逻辑、访存和控制转移</a:t>
            </a:r>
            <a:endParaRPr sz="132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C3BB7D9-9EAD-4D95-A2F9-C680A5481E91}"/>
              </a:ext>
            </a:extLst>
          </p:cNvPr>
          <p:cNvSpPr>
            <a:spLocks noGrp="1"/>
          </p:cNvSpPr>
          <p:nvPr/>
        </p:nvSpPr>
        <p:spPr>
          <a:xfrm>
            <a:off x="768096" y="4242816"/>
            <a:ext cx="10652760" cy="475488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3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控制结构：ID 级水平微码决定指令行为，硬布线仲裁器控制推进、暂停与清除</a:t>
            </a:r>
            <a:endParaRPr sz="13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ECD7838-319A-435C-A18F-0FD17712F96E}"/>
              </a:ext>
            </a:extLst>
          </p:cNvPr>
          <p:cNvSpPr>
            <a:spLocks noGrp="1"/>
          </p:cNvSpPr>
          <p:nvPr/>
        </p:nvSpPr>
        <p:spPr>
          <a:xfrm>
            <a:off x="768096" y="4864608"/>
            <a:ext cx="10652760" cy="475488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320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  存储结构：Harvard 指令 / 数据接口分离，并以 ready 握手处理慢响应</a:t>
            </a:r>
            <a:endParaRPr sz="132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332C14-1A64-44F0-9624-7B750BACD43F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27921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24475E-08E0-4011-9BD6-7B9CFCDB51B7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ISA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5CBF9A-14AB-4288-83E0-1697094F65D9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基础指令集设计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5810E5-1AE3-4987-A131-2DA43EDABA51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27 条基础指令覆盖课程要求的三类操作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165531-0F54-4CAA-B329-9163C4907C78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BA2A71D-0578-4CF6-9331-2E13F45EAC1C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B1772-05F9-46CD-BDC5-5B80EB0574FB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FE8D02-BEBB-468A-8BDD-40FEE01BF51B}"/>
              </a:ext>
            </a:extLst>
          </p:cNvPr>
          <p:cNvSpPr>
            <a:spLocks noGrp="1"/>
          </p:cNvSpPr>
          <p:nvPr/>
        </p:nvSpPr>
        <p:spPr>
          <a:xfrm>
            <a:off x="749808" y="1792224"/>
            <a:ext cx="1335024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类别</a:t>
            </a:r>
            <a:endParaRPr sz="11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479E95-989C-46BE-8AA5-8763409EEE87}"/>
              </a:ext>
            </a:extLst>
          </p:cNvPr>
          <p:cNvSpPr>
            <a:spLocks noGrp="1"/>
          </p:cNvSpPr>
          <p:nvPr/>
        </p:nvSpPr>
        <p:spPr>
          <a:xfrm>
            <a:off x="2377440" y="1792224"/>
            <a:ext cx="5193792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代表指令</a:t>
            </a:r>
            <a:endParaRPr sz="11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5D71A32-1044-4E4A-B98B-39C278F25C0F}"/>
              </a:ext>
            </a:extLst>
          </p:cNvPr>
          <p:cNvSpPr>
            <a:spLocks noGrp="1"/>
          </p:cNvSpPr>
          <p:nvPr/>
        </p:nvSpPr>
        <p:spPr>
          <a:xfrm>
            <a:off x="7863840" y="1792224"/>
            <a:ext cx="3566160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典型控制行为</a:t>
            </a:r>
            <a:endParaRPr sz="11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5C8738C-E84E-4730-83DC-67A28750A449}"/>
              </a:ext>
            </a:extLst>
          </p:cNvPr>
          <p:cNvSpPr>
            <a:spLocks noGrp="1"/>
          </p:cNvSpPr>
          <p:nvPr/>
        </p:nvSpPr>
        <p:spPr>
          <a:xfrm>
            <a:off x="749808" y="2267712"/>
            <a:ext cx="1335024" cy="530352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算术 / 逻辑</a:t>
            </a:r>
            <a:endParaRPr sz="10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36B26FB-64E2-4B4C-987F-96AE8E032918}"/>
              </a:ext>
            </a:extLst>
          </p:cNvPr>
          <p:cNvSpPr>
            <a:spLocks noGrp="1"/>
          </p:cNvSpPr>
          <p:nvPr/>
        </p:nvSpPr>
        <p:spPr>
          <a:xfrm>
            <a:off x="2377440" y="2267712"/>
            <a:ext cx="5193792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ADD · SUB · ADDI · AND · OR · XOR</a:t>
            </a:r>
            <a:endParaRPr sz="103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93F49AE-5D8D-4441-BBF0-1938A82E030C}"/>
              </a:ext>
            </a:extLst>
          </p:cNvPr>
          <p:cNvSpPr>
            <a:spLocks noGrp="1"/>
          </p:cNvSpPr>
          <p:nvPr/>
        </p:nvSpPr>
        <p:spPr>
          <a:xfrm>
            <a:off x="7863840" y="2267712"/>
            <a:ext cx="3566160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ALU 计算，结果写回 rd</a:t>
            </a:r>
            <a:endParaRPr sz="103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8B1DB8E-15BB-4A37-A436-A8B4DE89B8CD}"/>
              </a:ext>
            </a:extLst>
          </p:cNvPr>
          <p:cNvSpPr>
            <a:spLocks noGrp="1"/>
          </p:cNvSpPr>
          <p:nvPr/>
        </p:nvSpPr>
        <p:spPr>
          <a:xfrm>
            <a:off x="749808" y="2962656"/>
            <a:ext cx="1335024" cy="530352"/>
          </a:xfrm>
          <a:prstGeom prst="rect">
            <a:avLst/>
          </a:prstGeom>
          <a:solidFill>
            <a:srgbClr val="10172A"/>
          </a:solidFill>
          <a:ln w="15240">
            <a:solidFill>
              <a:srgbClr val="22D3E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移位 / 比较</a:t>
            </a:r>
            <a:endParaRPr sz="10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381826-97EF-4F22-BBCD-6C884FF9811F}"/>
              </a:ext>
            </a:extLst>
          </p:cNvPr>
          <p:cNvSpPr>
            <a:spLocks noGrp="1"/>
          </p:cNvSpPr>
          <p:nvPr/>
        </p:nvSpPr>
        <p:spPr>
          <a:xfrm>
            <a:off x="2377440" y="2962656"/>
            <a:ext cx="5193792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SLL · SRL · SRA · SLT · SLTU</a:t>
            </a:r>
            <a:endParaRPr sz="103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A9D33E-FBE6-4EC9-9A90-FE00D1ADE39D}"/>
              </a:ext>
            </a:extLst>
          </p:cNvPr>
          <p:cNvSpPr>
            <a:spLocks noGrp="1"/>
          </p:cNvSpPr>
          <p:nvPr/>
        </p:nvSpPr>
        <p:spPr>
          <a:xfrm>
            <a:off x="7863840" y="2962656"/>
            <a:ext cx="3566160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移位结果或 0/1 比较结果写回</a:t>
            </a:r>
            <a:endParaRPr sz="103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2262FC7-615C-4A46-8961-1E7F32F191FF}"/>
              </a:ext>
            </a:extLst>
          </p:cNvPr>
          <p:cNvSpPr>
            <a:spLocks noGrp="1"/>
          </p:cNvSpPr>
          <p:nvPr/>
        </p:nvSpPr>
        <p:spPr>
          <a:xfrm>
            <a:off x="749808" y="3657600"/>
            <a:ext cx="1335024" cy="530352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传送 / 访存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9F515A5-EB82-48F4-A87F-74439BFC1FF4}"/>
              </a:ext>
            </a:extLst>
          </p:cNvPr>
          <p:cNvSpPr>
            <a:spLocks noGrp="1"/>
          </p:cNvSpPr>
          <p:nvPr/>
        </p:nvSpPr>
        <p:spPr>
          <a:xfrm>
            <a:off x="2377440" y="3657600"/>
            <a:ext cx="5193792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LUI · AUIPC · LW · SW · LB · LBU · SB</a:t>
            </a:r>
            <a:endParaRPr sz="103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C6041A7-9A94-44B7-A1A9-42AF7B96139D}"/>
              </a:ext>
            </a:extLst>
          </p:cNvPr>
          <p:cNvSpPr>
            <a:spLocks noGrp="1"/>
          </p:cNvSpPr>
          <p:nvPr/>
        </p:nvSpPr>
        <p:spPr>
          <a:xfrm>
            <a:off x="7863840" y="3657600"/>
            <a:ext cx="3566160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EX 计算地址，MEM 完成读写</a:t>
            </a:r>
            <a:endParaRPr sz="103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63F11BC-7417-414A-A6A3-C97D6EAB2436}"/>
              </a:ext>
            </a:extLst>
          </p:cNvPr>
          <p:cNvSpPr>
            <a:spLocks noGrp="1"/>
          </p:cNvSpPr>
          <p:nvPr/>
        </p:nvSpPr>
        <p:spPr>
          <a:xfrm>
            <a:off x="749808" y="4352544"/>
            <a:ext cx="1335024" cy="530352"/>
          </a:xfrm>
          <a:prstGeom prst="rect">
            <a:avLst/>
          </a:prstGeom>
          <a:solidFill>
            <a:srgbClr val="10172A"/>
          </a:solidFill>
          <a:ln w="15240">
            <a:solidFill>
              <a:srgbClr val="F59E0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控制转移</a:t>
            </a:r>
            <a:endParaRPr sz="10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4D8F07E-95A4-40E0-8C1E-F0BF50772B75}"/>
              </a:ext>
            </a:extLst>
          </p:cNvPr>
          <p:cNvSpPr>
            <a:spLocks noGrp="1"/>
          </p:cNvSpPr>
          <p:nvPr/>
        </p:nvSpPr>
        <p:spPr>
          <a:xfrm>
            <a:off x="2377440" y="4352544"/>
            <a:ext cx="5193792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BEQ · BNE · BLT · BGE · JAL · JALR</a:t>
            </a:r>
            <a:endParaRPr sz="103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500D952-942B-4DAF-9592-C6C21DADE8E4}"/>
              </a:ext>
            </a:extLst>
          </p:cNvPr>
          <p:cNvSpPr>
            <a:spLocks noGrp="1"/>
          </p:cNvSpPr>
          <p:nvPr/>
        </p:nvSpPr>
        <p:spPr>
          <a:xfrm>
            <a:off x="7863840" y="4352544"/>
            <a:ext cx="3566160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EX 判定并重定向 PC</a:t>
            </a:r>
            <a:endParaRPr sz="103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0E81454-8DA4-4835-AC3B-3AD8BD550AFA}"/>
              </a:ext>
            </a:extLst>
          </p:cNvPr>
          <p:cNvSpPr>
            <a:spLocks noGrp="1"/>
          </p:cNvSpPr>
          <p:nvPr/>
        </p:nvSpPr>
        <p:spPr>
          <a:xfrm>
            <a:off x="868680" y="5394960"/>
            <a:ext cx="1417320" cy="29260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固定 32 位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F0DC951-2BC0-4E73-B710-105AF58877C9}"/>
              </a:ext>
            </a:extLst>
          </p:cNvPr>
          <p:cNvSpPr>
            <a:spLocks noGrp="1"/>
          </p:cNvSpPr>
          <p:nvPr/>
        </p:nvSpPr>
        <p:spPr>
          <a:xfrm>
            <a:off x="2697480" y="5394960"/>
            <a:ext cx="1417320" cy="29260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x0 恒为 0</a:t>
            </a:r>
            <a:endParaRPr sz="9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0F6C072-E975-4150-AF4A-C0F4D45B7F8F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1756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0BB755-A3C4-408F-851E-383EF7A84F66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数据通路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6289F6-016C-4AE6-84EF-E565B9B1F324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五级流水总体结构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4B5551-587B-4C79-8971-A5DCCDBEC6E8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指令与控制字段沿四组流水寄存器同步向后传递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614C3F-BC55-4001-B6B3-5FBA5F39D3DA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99C99B6-5DC9-4615-8984-87C2514D830B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B1FB95-FEE3-4C2D-BCCC-0DD2205D23BF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B525158-4A16-4E70-A462-C60028D67047}"/>
              </a:ext>
            </a:extLst>
          </p:cNvPr>
          <p:cNvSpPr>
            <a:spLocks noGrp="1"/>
          </p:cNvSpPr>
          <p:nvPr/>
        </p:nvSpPr>
        <p:spPr>
          <a:xfrm>
            <a:off x="2359152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0F93A0B-8631-4BEA-9348-E9F0FEF4FE99}"/>
              </a:ext>
            </a:extLst>
          </p:cNvPr>
          <p:cNvSpPr>
            <a:spLocks noGrp="1"/>
          </p:cNvSpPr>
          <p:nvPr/>
        </p:nvSpPr>
        <p:spPr>
          <a:xfrm>
            <a:off x="4498848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94B4CD1-91FE-403F-9ED7-0BE95F458C70}"/>
              </a:ext>
            </a:extLst>
          </p:cNvPr>
          <p:cNvSpPr>
            <a:spLocks noGrp="1"/>
          </p:cNvSpPr>
          <p:nvPr/>
        </p:nvSpPr>
        <p:spPr>
          <a:xfrm>
            <a:off x="6638544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BE72137-22D6-4DA6-BC2A-27B48F9A49B7}"/>
              </a:ext>
            </a:extLst>
          </p:cNvPr>
          <p:cNvSpPr>
            <a:spLocks noGrp="1"/>
          </p:cNvSpPr>
          <p:nvPr/>
        </p:nvSpPr>
        <p:spPr>
          <a:xfrm>
            <a:off x="8778240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D53EDE-0593-4B3A-8F6E-0508B5308064}"/>
              </a:ext>
            </a:extLst>
          </p:cNvPr>
          <p:cNvSpPr>
            <a:spLocks noGrp="1"/>
          </p:cNvSpPr>
          <p:nvPr/>
        </p:nvSpPr>
        <p:spPr>
          <a:xfrm>
            <a:off x="713232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1080"/>
          </a:p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取指 / PC+4</a:t>
            </a:r>
            <a:endParaRPr sz="108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6A3C746-DCE3-4BC5-890E-1F283DDD7B6D}"/>
              </a:ext>
            </a:extLst>
          </p:cNvPr>
          <p:cNvSpPr>
            <a:spLocks noGrp="1"/>
          </p:cNvSpPr>
          <p:nvPr/>
        </p:nvSpPr>
        <p:spPr>
          <a:xfrm>
            <a:off x="2852928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1080"/>
          </a:p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译码 / 读寄存器</a:t>
            </a:r>
            <a:endParaRPr sz="108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33061C9-8D0D-4C01-AE31-219DDFF4486E}"/>
              </a:ext>
            </a:extLst>
          </p:cNvPr>
          <p:cNvSpPr>
            <a:spLocks noGrp="1"/>
          </p:cNvSpPr>
          <p:nvPr/>
        </p:nvSpPr>
        <p:spPr>
          <a:xfrm>
            <a:off x="4992624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1080"/>
          </a:p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/ 分支判定</a:t>
            </a:r>
            <a:endParaRPr sz="108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EBA71AF-B041-41A6-864C-FF0858EC9484}"/>
              </a:ext>
            </a:extLst>
          </p:cNvPr>
          <p:cNvSpPr>
            <a:spLocks noGrp="1"/>
          </p:cNvSpPr>
          <p:nvPr/>
        </p:nvSpPr>
        <p:spPr>
          <a:xfrm>
            <a:off x="7132320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1080"/>
          </a:p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访存 / 握手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9EB1C12-E851-4FC1-A1D5-AB9D12B6E36C}"/>
              </a:ext>
            </a:extLst>
          </p:cNvPr>
          <p:cNvSpPr>
            <a:spLocks noGrp="1"/>
          </p:cNvSpPr>
          <p:nvPr/>
        </p:nvSpPr>
        <p:spPr>
          <a:xfrm>
            <a:off x="9272016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1080" dirty="0"/>
          </a:p>
          <a:p>
            <a:pPr marL="0" indent="0" algn="ctr">
              <a:buNone/>
            </a:pPr>
            <a:r>
              <a:rPr sz="108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选择结果</a:t>
            </a:r>
            <a:r>
              <a:rPr sz="108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108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0B57FEA-285E-49E6-B341-A04B24B60CBA}"/>
              </a:ext>
            </a:extLst>
          </p:cNvPr>
          <p:cNvSpPr>
            <a:spLocks noGrp="1"/>
          </p:cNvSpPr>
          <p:nvPr/>
        </p:nvSpPr>
        <p:spPr>
          <a:xfrm>
            <a:off x="2125431" y="269748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IF/ID</a:t>
            </a:r>
            <a:endParaRPr sz="8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087F189-CF4B-4CB6-A501-55CF7D5F9762}"/>
              </a:ext>
            </a:extLst>
          </p:cNvPr>
          <p:cNvSpPr>
            <a:spLocks noGrp="1"/>
          </p:cNvSpPr>
          <p:nvPr/>
        </p:nvSpPr>
        <p:spPr>
          <a:xfrm>
            <a:off x="4265127" y="269748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ID/EX</a:t>
            </a:r>
            <a:endParaRPr sz="8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326DDA2-69A3-4B80-A273-5F17B789311D}"/>
              </a:ext>
            </a:extLst>
          </p:cNvPr>
          <p:cNvSpPr>
            <a:spLocks noGrp="1"/>
          </p:cNvSpPr>
          <p:nvPr/>
        </p:nvSpPr>
        <p:spPr>
          <a:xfrm>
            <a:off x="6404823" y="269748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EX/MEM</a:t>
            </a:r>
            <a:endParaRPr sz="8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67EB993-F2D0-4802-BE3C-A7D0F1F3A85C}"/>
              </a:ext>
            </a:extLst>
          </p:cNvPr>
          <p:cNvSpPr>
            <a:spLocks noGrp="1"/>
          </p:cNvSpPr>
          <p:nvPr/>
        </p:nvSpPr>
        <p:spPr>
          <a:xfrm>
            <a:off x="8544519" y="269748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MEM/WB</a:t>
            </a:r>
            <a:endParaRPr sz="8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67E9B72-3CA0-4C9E-9FE4-099CAA1D2F93}"/>
              </a:ext>
            </a:extLst>
          </p:cNvPr>
          <p:cNvSpPr>
            <a:spLocks noGrp="1"/>
          </p:cNvSpPr>
          <p:nvPr/>
        </p:nvSpPr>
        <p:spPr>
          <a:xfrm>
            <a:off x="804672" y="3694176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关键组合逻辑边界</a:t>
            </a:r>
            <a:endParaRPr sz="9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452314E-60B9-47FE-8A1A-C12F7D620D85}"/>
              </a:ext>
            </a:extLst>
          </p:cNvPr>
          <p:cNvSpPr>
            <a:spLocks noGrp="1"/>
          </p:cNvSpPr>
          <p:nvPr/>
        </p:nvSpPr>
        <p:spPr>
          <a:xfrm>
            <a:off x="804672" y="405993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B82F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>
              <a:buNone/>
            </a:pPr>
            <a:r>
              <a:rPr sz="11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IF：下一 PC 选择与取指请求</a:t>
            </a:r>
            <a:endParaRPr sz="112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249A8D-81FD-4E70-BEBC-B973ED96487F}"/>
              </a:ext>
            </a:extLst>
          </p:cNvPr>
          <p:cNvSpPr>
            <a:spLocks noGrp="1"/>
          </p:cNvSpPr>
          <p:nvPr/>
        </p:nvSpPr>
        <p:spPr>
          <a:xfrm>
            <a:off x="6291072" y="405993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B82F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l">
              <a:buNone/>
            </a:pPr>
            <a:r>
              <a:rPr sz="11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ID：微码查询、立即数与冒险检测</a:t>
            </a:r>
            <a:endParaRPr sz="112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D4A465F-6F2A-4BE1-8925-1EE97FE0AA68}"/>
              </a:ext>
            </a:extLst>
          </p:cNvPr>
          <p:cNvSpPr>
            <a:spLocks noGrp="1"/>
          </p:cNvSpPr>
          <p:nvPr/>
        </p:nvSpPr>
        <p:spPr>
          <a:xfrm>
            <a:off x="804672" y="470001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l">
              <a:buNone/>
            </a:pPr>
            <a:r>
              <a:rPr sz="11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EX：前递、ALU、分支目标与重定向</a:t>
            </a:r>
            <a:endParaRPr sz="112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8840D2E-81A6-4137-9D98-5979C8305C86}"/>
              </a:ext>
            </a:extLst>
          </p:cNvPr>
          <p:cNvSpPr>
            <a:spLocks noGrp="1"/>
          </p:cNvSpPr>
          <p:nvPr/>
        </p:nvSpPr>
        <p:spPr>
          <a:xfrm>
            <a:off x="6291072" y="470001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l">
              <a:buNone/>
            </a:pPr>
            <a:r>
              <a:rPr sz="1120" dirty="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MEM/</a:t>
            </a:r>
            <a:r>
              <a:rPr sz="112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WB：握手完成后写回</a:t>
            </a:r>
            <a:endParaRPr sz="112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2BEABC3-568C-43DF-940C-B7E05A403EDE}"/>
              </a:ext>
            </a:extLst>
          </p:cNvPr>
          <p:cNvSpPr>
            <a:spLocks noGrp="1"/>
          </p:cNvSpPr>
          <p:nvPr/>
        </p:nvSpPr>
        <p:spPr>
          <a:xfrm>
            <a:off x="2212848" y="5623560"/>
            <a:ext cx="7772400" cy="402336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valid 位统一约束写寄存器、写存储器和控制重定向</a:t>
            </a:r>
            <a:endParaRPr sz="12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9A9D533-5AB9-4D3B-8031-D48B8AA1FE43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4454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01C128-6A7A-44D5-BA8E-B201E810D027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控制结构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ACEB67-7828-405A-8E8A-47575538098B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水平微码控制器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998C64-9F8B-4905-838F-FCE5DB210C40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微码决定“做什么”，流水线仲裁器决定“何时做”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CC0A8D-5A2F-4198-AC26-4DC11BE03D4D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6F8A76-86DE-415D-A208-56657FB3B62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0403E0-6A29-47D8-81A2-BD53B7E3F015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92575EF-9699-4B15-8B39-73DA104FEC15}"/>
              </a:ext>
            </a:extLst>
          </p:cNvPr>
          <p:cNvSpPr>
            <a:spLocks noGrp="1"/>
          </p:cNvSpPr>
          <p:nvPr/>
        </p:nvSpPr>
        <p:spPr>
          <a:xfrm>
            <a:off x="2880360" y="2176272"/>
            <a:ext cx="621792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8B82D27-1BF3-49C6-8308-E53D71A5F829}"/>
              </a:ext>
            </a:extLst>
          </p:cNvPr>
          <p:cNvSpPr>
            <a:spLocks noGrp="1"/>
          </p:cNvSpPr>
          <p:nvPr/>
        </p:nvSpPr>
        <p:spPr>
          <a:xfrm>
            <a:off x="5532120" y="2176272"/>
            <a:ext cx="621792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DBC8577-B60E-4EB1-AF96-1F6BF11BF798}"/>
              </a:ext>
            </a:extLst>
          </p:cNvPr>
          <p:cNvSpPr>
            <a:spLocks noGrp="1"/>
          </p:cNvSpPr>
          <p:nvPr/>
        </p:nvSpPr>
        <p:spPr>
          <a:xfrm>
            <a:off x="8183880" y="2176272"/>
            <a:ext cx="621792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8035BE2-2310-4A3E-A4B8-3E2AC8B307C5}"/>
              </a:ext>
            </a:extLst>
          </p:cNvPr>
          <p:cNvSpPr>
            <a:spLocks noGrp="1"/>
          </p:cNvSpPr>
          <p:nvPr/>
        </p:nvSpPr>
        <p:spPr>
          <a:xfrm>
            <a:off x="96012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opcode / funct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 级字段译码</a:t>
            </a:r>
            <a:endParaRPr sz="102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8DD7EEB-B357-47B4-A56B-16A63B85275F}"/>
              </a:ext>
            </a:extLst>
          </p:cNvPr>
          <p:cNvSpPr>
            <a:spLocks noGrp="1"/>
          </p:cNvSpPr>
          <p:nvPr/>
        </p:nvSpPr>
        <p:spPr>
          <a:xfrm>
            <a:off x="361188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微地址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合法指令映射 0x00–0x1F</a:t>
            </a:r>
            <a:endParaRPr sz="102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D0F2B68-F255-49CB-933E-F9A5EEF39D18}"/>
              </a:ext>
            </a:extLst>
          </p:cNvPr>
          <p:cNvSpPr>
            <a:spLocks noGrp="1"/>
          </p:cNvSpPr>
          <p:nvPr/>
        </p:nvSpPr>
        <p:spPr>
          <a:xfrm>
            <a:off x="626364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微码 ROM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输出水平控制字</a:t>
            </a:r>
            <a:endParaRPr sz="102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C879E42-D2F9-4F20-AE71-FAACC043FD91}"/>
              </a:ext>
            </a:extLst>
          </p:cNvPr>
          <p:cNvSpPr>
            <a:spLocks noGrp="1"/>
          </p:cNvSpPr>
          <p:nvPr/>
        </p:nvSpPr>
        <p:spPr>
          <a:xfrm>
            <a:off x="891540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ID/EX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控制字段随指令流动</a:t>
            </a:r>
            <a:endParaRPr sz="10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495348D-12F8-494D-B3F5-F1FB76CA58C1}"/>
              </a:ext>
            </a:extLst>
          </p:cNvPr>
          <p:cNvSpPr>
            <a:spLocks noGrp="1"/>
          </p:cNvSpPr>
          <p:nvPr/>
        </p:nvSpPr>
        <p:spPr>
          <a:xfrm>
            <a:off x="804672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</a:t>
            </a:r>
            <a:endParaRPr sz="1120"/>
          </a:p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alu_op / op_a_sel / op_b_sel</a:t>
            </a:r>
            <a:endParaRPr sz="112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AF2B05B-4A94-47CF-AA0F-7F35596FD7CB}"/>
              </a:ext>
            </a:extLst>
          </p:cNvPr>
          <p:cNvSpPr>
            <a:spLocks noGrp="1"/>
          </p:cNvSpPr>
          <p:nvPr/>
        </p:nvSpPr>
        <p:spPr>
          <a:xfrm>
            <a:off x="3621024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访存</a:t>
            </a:r>
            <a:endParaRPr sz="1120"/>
          </a:p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mem_read / mem_write / mem_size</a:t>
            </a:r>
            <a:endParaRPr sz="112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5DD2BC0-3184-4FD6-97DF-4525B136636A}"/>
              </a:ext>
            </a:extLst>
          </p:cNvPr>
          <p:cNvSpPr>
            <a:spLocks noGrp="1"/>
          </p:cNvSpPr>
          <p:nvPr/>
        </p:nvSpPr>
        <p:spPr>
          <a:xfrm>
            <a:off x="6437376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写回</a:t>
            </a:r>
            <a:endParaRPr sz="1120"/>
          </a:p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reg_write / wb_sel</a:t>
            </a:r>
            <a:endParaRPr sz="112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05DA681-AD50-472E-B2C4-1C65CBBE64EF}"/>
              </a:ext>
            </a:extLst>
          </p:cNvPr>
          <p:cNvSpPr>
            <a:spLocks noGrp="1"/>
          </p:cNvSpPr>
          <p:nvPr/>
        </p:nvSpPr>
        <p:spPr>
          <a:xfrm>
            <a:off x="9253728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F87171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控制流</a:t>
            </a:r>
            <a:endParaRPr sz="1120"/>
          </a:p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branch_type / jump_type</a:t>
            </a:r>
            <a:endParaRPr sz="112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DF60CF8-030D-4BA9-988D-58C0A8D99970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800715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9D55DD-40D3-42B5-A924-7FB551DB15C3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流水控制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804FBD-0F25-4289-A303-57090D0EB34A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流水寄存器与 valid 机制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076812-A7B3-4C59-A6A6-4504F53A4548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正常推进、保持、气泡与冲刷都只改变有效性和推进关系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BDBFE1-631E-48FB-BEEE-8D6661D561DC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C1C55D8-0010-43FD-904B-A040C6AC8E16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2ECD37-31E8-4BB3-B4BD-882D53CB0A67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367824-01DB-4FFD-9EE5-77CEF2DEFFD8}"/>
              </a:ext>
            </a:extLst>
          </p:cNvPr>
          <p:cNvSpPr>
            <a:spLocks noGrp="1"/>
          </p:cNvSpPr>
          <p:nvPr/>
        </p:nvSpPr>
        <p:spPr>
          <a:xfrm>
            <a:off x="71323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34D399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正常推进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enable = 1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字段与 valid 同步进入下一级</a:t>
            </a:r>
            <a:endParaRPr sz="113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B3F7983-D0E2-451A-AF22-16A2500D7272}"/>
              </a:ext>
            </a:extLst>
          </p:cNvPr>
          <p:cNvSpPr>
            <a:spLocks noGrp="1"/>
          </p:cNvSpPr>
          <p:nvPr/>
        </p:nvSpPr>
        <p:spPr>
          <a:xfrm>
            <a:off x="350215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F59E0B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保持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enable = 0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PC 与相关流水寄存器保持</a:t>
            </a:r>
            <a:endParaRPr sz="113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3B850C-03CF-46C8-AF04-7BAE2D1FB91A}"/>
              </a:ext>
            </a:extLst>
          </p:cNvPr>
          <p:cNvSpPr>
            <a:spLocks noGrp="1"/>
          </p:cNvSpPr>
          <p:nvPr/>
        </p:nvSpPr>
        <p:spPr>
          <a:xfrm>
            <a:off x="629107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3B82F6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插入气泡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清目标级 valid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数据字段无需产生副作用</a:t>
            </a:r>
            <a:endParaRPr sz="113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CEB3EB-C1D3-4E64-9975-7353D980F234}"/>
              </a:ext>
            </a:extLst>
          </p:cNvPr>
          <p:cNvSpPr>
            <a:spLocks noGrp="1"/>
          </p:cNvSpPr>
          <p:nvPr/>
        </p:nvSpPr>
        <p:spPr>
          <a:xfrm>
            <a:off x="907999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F87171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冲刷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清年轻指令 valid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错误路径不能写回或访存</a:t>
            </a:r>
            <a:endParaRPr sz="113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63B5D11-1CFE-4C79-A17E-AEDF52BFCCD3}"/>
              </a:ext>
            </a:extLst>
          </p:cNvPr>
          <p:cNvSpPr>
            <a:spLocks noGrp="1"/>
          </p:cNvSpPr>
          <p:nvPr/>
        </p:nvSpPr>
        <p:spPr>
          <a:xfrm>
            <a:off x="749808" y="343814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四组寄存器保留各级所需的数据与控制字段</a:t>
            </a:r>
            <a:endParaRPr sz="9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ECA4423-2148-42A0-AD42-104A7BB9226D}"/>
              </a:ext>
            </a:extLst>
          </p:cNvPr>
          <p:cNvSpPr>
            <a:spLocks noGrp="1"/>
          </p:cNvSpPr>
          <p:nvPr/>
        </p:nvSpPr>
        <p:spPr>
          <a:xfrm>
            <a:off x="85953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IF/ID</a:t>
            </a:r>
            <a:endParaRPr sz="1010"/>
          </a:p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pc · instr · valid</a:t>
            </a:r>
            <a:endParaRPr sz="101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F5783B1-F9E0-4060-90EC-9FB8F433020C}"/>
              </a:ext>
            </a:extLst>
          </p:cNvPr>
          <p:cNvSpPr>
            <a:spLocks noGrp="1"/>
          </p:cNvSpPr>
          <p:nvPr/>
        </p:nvSpPr>
        <p:spPr>
          <a:xfrm>
            <a:off x="364845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ID/EX</a:t>
            </a:r>
            <a:endParaRPr sz="1010"/>
          </a:p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源操作数 · imm · 控制字</a:t>
            </a:r>
            <a:endParaRPr sz="101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4F2DD4E-B26E-4AB3-94A1-6783089CBB86}"/>
              </a:ext>
            </a:extLst>
          </p:cNvPr>
          <p:cNvSpPr>
            <a:spLocks noGrp="1"/>
          </p:cNvSpPr>
          <p:nvPr/>
        </p:nvSpPr>
        <p:spPr>
          <a:xfrm>
            <a:off x="643737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EX/MEM</a:t>
            </a:r>
            <a:endParaRPr sz="1010"/>
          </a:p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alu_result · store_data</a:t>
            </a:r>
            <a:endParaRPr sz="101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4F91D8F-D044-495D-9628-8CB1FCBF7CB7}"/>
              </a:ext>
            </a:extLst>
          </p:cNvPr>
          <p:cNvSpPr>
            <a:spLocks noGrp="1"/>
          </p:cNvSpPr>
          <p:nvPr/>
        </p:nvSpPr>
        <p:spPr>
          <a:xfrm>
            <a:off x="922629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MEM/WB</a:t>
            </a:r>
            <a:endParaRPr sz="1010"/>
          </a:p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load_data · wb_sel · rd</a:t>
            </a:r>
            <a:endParaRPr sz="101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3F9B57A-987E-4267-9131-209D3E3E74E5}"/>
              </a:ext>
            </a:extLst>
          </p:cNvPr>
          <p:cNvSpPr>
            <a:spLocks noGrp="1"/>
          </p:cNvSpPr>
          <p:nvPr/>
        </p:nvSpPr>
        <p:spPr>
          <a:xfrm>
            <a:off x="1481328" y="5440680"/>
            <a:ext cx="92354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8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统一安全条件：只有 valid = 1 的指令才允许产生架构副作用</a:t>
            </a:r>
            <a:endParaRPr sz="128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A0487A5-34AA-4F77-A747-D06B6BBCD6A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065570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CDC286-B783-45E8-9D9B-28BBAEEE4A67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前递网络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5C5BAA-1DB5-4D14-9026-6A9445969371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数据相关解决方案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31D96A-31E4-4E8F-BC95-23EBDCF985EB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后继指令优先取得最近的尚未写回结果</a:t>
            </a:r>
            <a:endParaRPr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18C3EF-9A14-46AC-B0E4-A43CEC1B5400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A5FF782-3D02-4629-9C92-DE06BFE2920D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409F810-E9B6-443F-9E88-93BC37E7D7DE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4528F0E-D853-41EB-9ACD-9BE842EC64E7}"/>
              </a:ext>
            </a:extLst>
          </p:cNvPr>
          <p:cNvSpPr>
            <a:spLocks noGrp="1"/>
          </p:cNvSpPr>
          <p:nvPr/>
        </p:nvSpPr>
        <p:spPr>
          <a:xfrm>
            <a:off x="2148840" y="2377440"/>
            <a:ext cx="11887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E0FB57A-D8C4-4567-9A89-47BD8536F1AA}"/>
              </a:ext>
            </a:extLst>
          </p:cNvPr>
          <p:cNvSpPr>
            <a:spLocks noGrp="1"/>
          </p:cNvSpPr>
          <p:nvPr/>
        </p:nvSpPr>
        <p:spPr>
          <a:xfrm>
            <a:off x="4663440" y="2377440"/>
            <a:ext cx="160020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C2D5105-DBAD-4623-B887-6C7B9C52C761}"/>
              </a:ext>
            </a:extLst>
          </p:cNvPr>
          <p:cNvSpPr>
            <a:spLocks noGrp="1"/>
          </p:cNvSpPr>
          <p:nvPr/>
        </p:nvSpPr>
        <p:spPr>
          <a:xfrm>
            <a:off x="8229600" y="2377440"/>
            <a:ext cx="100584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0375733-031B-4312-80E1-A713DFFB799B}"/>
              </a:ext>
            </a:extLst>
          </p:cNvPr>
          <p:cNvSpPr>
            <a:spLocks noGrp="1"/>
          </p:cNvSpPr>
          <p:nvPr/>
        </p:nvSpPr>
        <p:spPr>
          <a:xfrm>
            <a:off x="749808" y="2048256"/>
            <a:ext cx="155448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ID/EX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rs1 / rs2 原值</a:t>
            </a:r>
            <a:endParaRPr sz="102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527A96A-3CC2-4EC4-9107-40A2F6E0C464}"/>
              </a:ext>
            </a:extLst>
          </p:cNvPr>
          <p:cNvSpPr>
            <a:spLocks noGrp="1"/>
          </p:cNvSpPr>
          <p:nvPr/>
        </p:nvSpPr>
        <p:spPr>
          <a:xfrm>
            <a:off x="3456432" y="2048256"/>
            <a:ext cx="1408176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前递 MUX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选择最新操作数</a:t>
            </a:r>
            <a:endParaRPr sz="102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8783325-1E5B-4BAE-B781-FD31061D02AE}"/>
              </a:ext>
            </a:extLst>
          </p:cNvPr>
          <p:cNvSpPr>
            <a:spLocks noGrp="1"/>
          </p:cNvSpPr>
          <p:nvPr/>
        </p:nvSpPr>
        <p:spPr>
          <a:xfrm>
            <a:off x="6382512" y="2048256"/>
            <a:ext cx="16459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EX/MEM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或 PC+4</a:t>
            </a:r>
            <a:endParaRPr sz="102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30AD3A-46B6-4B5B-8AEC-225492A879DE}"/>
              </a:ext>
            </a:extLst>
          </p:cNvPr>
          <p:cNvSpPr>
            <a:spLocks noGrp="1"/>
          </p:cNvSpPr>
          <p:nvPr/>
        </p:nvSpPr>
        <p:spPr>
          <a:xfrm>
            <a:off x="9363456" y="2048256"/>
            <a:ext cx="155448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MEM/WB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最终写回值</a:t>
            </a:r>
            <a:endParaRPr sz="10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7A19A97-C49E-43B8-80C5-DE3CC21EBFC1}"/>
              </a:ext>
            </a:extLst>
          </p:cNvPr>
          <p:cNvSpPr>
            <a:spLocks noGrp="1"/>
          </p:cNvSpPr>
          <p:nvPr/>
        </p:nvSpPr>
        <p:spPr>
          <a:xfrm>
            <a:off x="786384" y="3968496"/>
            <a:ext cx="315468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优先级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EX/MEM 命中优先于 MEM/WB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保证连续写同一 rd 后读取最新值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3ACFFFC-CB1E-4998-813B-611AD6A07F32}"/>
              </a:ext>
            </a:extLst>
          </p:cNvPr>
          <p:cNvSpPr>
            <a:spLocks noGrp="1"/>
          </p:cNvSpPr>
          <p:nvPr/>
        </p:nvSpPr>
        <p:spPr>
          <a:xfrm>
            <a:off x="4553712" y="3968496"/>
            <a:ext cx="315468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过滤条件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reg_write = 1 且 rd ≠ x0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只对指令真实使用的源寄存器比较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743D46-F643-471D-9DDD-7B8A5CEF1D28}"/>
              </a:ext>
            </a:extLst>
          </p:cNvPr>
          <p:cNvSpPr>
            <a:spLocks noGrp="1"/>
          </p:cNvSpPr>
          <p:nvPr/>
        </p:nvSpPr>
        <p:spPr>
          <a:xfrm>
            <a:off x="8321040" y="3968496"/>
            <a:ext cx="315468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Store 数据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rs2 独立经过前递路径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避免把旧值写入数据存储器</a:t>
            </a:r>
            <a:endParaRPr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A16084-B47E-4E8B-ACBF-771A785ADD4E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01383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3C7D6-B64A-473B-8BDA-180C12B2A20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定向仿真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3C0FCF-7925-45EB-A8F7-F4C4FC448EF0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双源前递仿真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D3FA3F-F9AE-4568-8F4D-1E5E777B740A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两个源操作数分别从 MEM/WB 与 EX/MEM 取得最新值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0759C2-1DA8-464B-A5FB-2A6E87F706DF}"/>
              </a:ext>
            </a:extLst>
          </p:cNvPr>
          <p:cNvSpPr>
            <a:spLocks noGrp="1"/>
          </p:cNvSpPr>
          <p:nvPr/>
        </p:nvSpPr>
        <p:spPr>
          <a:xfrm>
            <a:off x="11137392" y="390185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45F7127-82E6-4DA2-9752-6B981C7A870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9B6E9C-8A40-46B8-AF3D-DA35A1311E8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AE9773-8BB2-49A2-9F86-1E224F0CA7AA}"/>
              </a:ext>
            </a:extLst>
          </p:cNvPr>
          <p:cNvSpPr>
            <a:spLocks noGrp="1"/>
          </p:cNvSpPr>
          <p:nvPr/>
        </p:nvSpPr>
        <p:spPr>
          <a:xfrm>
            <a:off x="786384" y="1783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前递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forward_a / forward_b</a:t>
            </a:r>
            <a:endParaRPr sz="10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FC4BE2-ABE8-4EE0-8EDE-482C67C56F06}"/>
              </a:ext>
            </a:extLst>
          </p:cNvPr>
          <p:cNvSpPr>
            <a:spLocks noGrp="1"/>
          </p:cNvSpPr>
          <p:nvPr/>
        </p:nvSpPr>
        <p:spPr>
          <a:xfrm>
            <a:off x="2962656" y="1783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EX/MEM 命中时直接送入 ALU，后继指令无需等待写回</a:t>
            </a:r>
            <a:endParaRPr sz="108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04DBFD-CC5C-4CEA-8034-149795372FA3}"/>
              </a:ext>
            </a:extLst>
          </p:cNvPr>
          <p:cNvSpPr>
            <a:spLocks noGrp="1"/>
          </p:cNvSpPr>
          <p:nvPr/>
        </p:nvSpPr>
        <p:spPr>
          <a:xfrm>
            <a:off x="699516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REG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A9D26B-42FB-4A96-BC57-FC528FD89A2D}"/>
              </a:ext>
            </a:extLst>
          </p:cNvPr>
          <p:cNvSpPr>
            <a:spLocks noGrp="1"/>
          </p:cNvSpPr>
          <p:nvPr/>
        </p:nvSpPr>
        <p:spPr>
          <a:xfrm>
            <a:off x="800100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17BCE3-72D9-482D-9409-7DCA3E56CFAB}"/>
              </a:ext>
            </a:extLst>
          </p:cNvPr>
          <p:cNvSpPr>
            <a:spLocks noGrp="1"/>
          </p:cNvSpPr>
          <p:nvPr/>
        </p:nvSpPr>
        <p:spPr>
          <a:xfrm>
            <a:off x="900684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E20DAE-B9FC-4557-81C0-30CBACA09C43}"/>
              </a:ext>
            </a:extLst>
          </p:cNvPr>
          <p:cNvSpPr>
            <a:spLocks noGrp="1"/>
          </p:cNvSpPr>
          <p:nvPr/>
        </p:nvSpPr>
        <p:spPr>
          <a:xfrm>
            <a:off x="1001268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78237-1F4B-4A22-AD2B-E9D2747D3803}"/>
              </a:ext>
            </a:extLst>
          </p:cNvPr>
          <p:cNvSpPr>
            <a:spLocks noGrp="1"/>
          </p:cNvSpPr>
          <p:nvPr/>
        </p:nvSpPr>
        <p:spPr>
          <a:xfrm>
            <a:off x="786384" y="2926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stall_data / valid</a:t>
            </a:r>
            <a:endParaRPr sz="107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F6B7C8-135A-4FD2-A274-1D063E086486}"/>
              </a:ext>
            </a:extLst>
          </p:cNvPr>
          <p:cNvSpPr>
            <a:spLocks noGrp="1"/>
          </p:cNvSpPr>
          <p:nvPr/>
        </p:nvSpPr>
        <p:spPr>
          <a:xfrm>
            <a:off x="2962656" y="2926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PC 与 IF/ID 保持，ID/EX 插入气泡，最终写回值正确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F4942B-D88B-411F-8337-FAA216CDC1DC}"/>
              </a:ext>
            </a:extLst>
          </p:cNvPr>
          <p:cNvSpPr>
            <a:spLocks noGrp="1"/>
          </p:cNvSpPr>
          <p:nvPr/>
        </p:nvSpPr>
        <p:spPr>
          <a:xfrm>
            <a:off x="699516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0F5B33-10F9-4831-B2BC-51712A497DEE}"/>
              </a:ext>
            </a:extLst>
          </p:cNvPr>
          <p:cNvSpPr>
            <a:spLocks noGrp="1"/>
          </p:cNvSpPr>
          <p:nvPr/>
        </p:nvSpPr>
        <p:spPr>
          <a:xfrm>
            <a:off x="800100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HOLD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9998CAA-6AFF-4574-B223-C79384276B49}"/>
              </a:ext>
            </a:extLst>
          </p:cNvPr>
          <p:cNvSpPr>
            <a:spLocks noGrp="1"/>
          </p:cNvSpPr>
          <p:nvPr/>
        </p:nvSpPr>
        <p:spPr>
          <a:xfrm>
            <a:off x="9006840" y="3127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BUBBLE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61CC61-1ECE-4354-B469-E1E7CCF5DC79}"/>
              </a:ext>
            </a:extLst>
          </p:cNvPr>
          <p:cNvSpPr>
            <a:spLocks noGrp="1"/>
          </p:cNvSpPr>
          <p:nvPr/>
        </p:nvSpPr>
        <p:spPr>
          <a:xfrm>
            <a:off x="1001268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9E00A5-6481-4668-BCA4-46CF6DBD932C}"/>
              </a:ext>
            </a:extLst>
          </p:cNvPr>
          <p:cNvSpPr>
            <a:spLocks noGrp="1"/>
          </p:cNvSpPr>
          <p:nvPr/>
        </p:nvSpPr>
        <p:spPr>
          <a:xfrm>
            <a:off x="786384" y="4069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</a:t>
            </a:r>
            <a:endParaRPr sz="1070" dirty="0"/>
          </a:p>
          <a:p>
            <a:pPr marL="0" indent="0" algn="ctr">
              <a:buNone/>
            </a:pPr>
            <a:r>
              <a:rPr sz="10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</a:t>
            </a:r>
            <a:r>
              <a:rPr lang="zh-CN" altLang="en-US" sz="10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0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0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flush</a:t>
            </a:r>
            <a:endParaRPr sz="107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6924D1-56B7-44AC-8D3F-D93906639DB5}"/>
              </a:ext>
            </a:extLst>
          </p:cNvPr>
          <p:cNvSpPr>
            <a:spLocks noGrp="1"/>
          </p:cNvSpPr>
          <p:nvPr/>
        </p:nvSpPr>
        <p:spPr>
          <a:xfrm>
            <a:off x="2962656" y="4069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taken 后清除两条年轻指令，错误路径无副作用</a:t>
            </a:r>
            <a:endParaRPr sz="108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F51870-53BD-40FD-8228-F8AF78172B74}"/>
              </a:ext>
            </a:extLst>
          </p:cNvPr>
          <p:cNvSpPr>
            <a:spLocks noGrp="1"/>
          </p:cNvSpPr>
          <p:nvPr/>
        </p:nvSpPr>
        <p:spPr>
          <a:xfrm>
            <a:off x="699516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SEQ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5B253-2863-4D4A-B798-0B3247160663}"/>
              </a:ext>
            </a:extLst>
          </p:cNvPr>
          <p:cNvSpPr>
            <a:spLocks noGrp="1"/>
          </p:cNvSpPr>
          <p:nvPr/>
        </p:nvSpPr>
        <p:spPr>
          <a:xfrm>
            <a:off x="800100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TAKEN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E53AD3-B0A9-444C-9E8F-E45D60682F25}"/>
              </a:ext>
            </a:extLst>
          </p:cNvPr>
          <p:cNvSpPr>
            <a:spLocks noGrp="1"/>
          </p:cNvSpPr>
          <p:nvPr/>
        </p:nvSpPr>
        <p:spPr>
          <a:xfrm>
            <a:off x="9006840" y="4270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14E617-6263-477C-9C7D-B94F496DDE74}"/>
              </a:ext>
            </a:extLst>
          </p:cNvPr>
          <p:cNvSpPr>
            <a:spLocks noGrp="1"/>
          </p:cNvSpPr>
          <p:nvPr/>
        </p:nvSpPr>
        <p:spPr>
          <a:xfrm>
            <a:off x="1001268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TARGET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AE7CF1-AAA1-4AF9-AB55-F2AC9CA9C4D2}"/>
              </a:ext>
            </a:extLst>
          </p:cNvPr>
          <p:cNvSpPr>
            <a:spLocks noGrp="1"/>
          </p:cNvSpPr>
          <p:nvPr/>
        </p:nvSpPr>
        <p:spPr>
          <a:xfrm>
            <a:off x="1243584" y="5413248"/>
            <a:ext cx="96926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仓库中的 trace.csv 记录退休 PC、指令、rd 与写回值，可用于核对退休序列</a:t>
            </a:r>
            <a:endParaRPr sz="122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106898-CD53-47BD-9EB3-7B12D6F0C82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2B28248-3DC5-4CB6-9CA0-ABDA643B88D3}"/>
              </a:ext>
            </a:extLst>
          </p:cNvPr>
          <p:cNvSpPr>
            <a:spLocks noGrp="1"/>
          </p:cNvSpPr>
          <p:nvPr/>
        </p:nvSpPr>
        <p:spPr>
          <a:xfrm>
            <a:off x="446532" y="1358646"/>
            <a:ext cx="10912894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3E8607B-9AEE-408B-8F5F-1C8ECC8E72A7}"/>
              </a:ext>
            </a:extLst>
          </p:cNvPr>
          <p:cNvSpPr>
            <a:spLocks noGrp="1"/>
          </p:cNvSpPr>
          <p:nvPr/>
        </p:nvSpPr>
        <p:spPr>
          <a:xfrm>
            <a:off x="9247325" y="1278933"/>
            <a:ext cx="2630731" cy="474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r>
              <a:rPr lang="zh-CN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addi x1, x0, 5     </a:t>
            </a:r>
          </a:p>
          <a:p>
            <a:pPr lvl="1"/>
            <a:r>
              <a:rPr lang="zh-CN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addi x2, x0, 7    </a:t>
            </a:r>
          </a:p>
          <a:p>
            <a:pPr lvl="1"/>
            <a:r>
              <a:rPr lang="zh-CN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add 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 </a:t>
            </a:r>
            <a:r>
              <a:rPr lang="zh-CN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x3, x1, x2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forward_a</a:t>
            </a:r>
            <a:r>
              <a:rPr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=01，forward_b=10，</a:t>
            </a: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ALU </a:t>
            </a:r>
            <a:r>
              <a:rPr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输入为</a:t>
            </a:r>
            <a:r>
              <a:rPr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5 和 7结果为 12</a:t>
            </a: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相关指令无需等待写回</a:t>
            </a:r>
            <a:endParaRPr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1495AE5-E2DD-74ED-2165-16A94623B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07674"/>
            <a:ext cx="8680704" cy="504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1F8209-DAE2-446A-8BDD-54ED53E5F2E4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停顿机制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F4A80C-1C22-4829-A2A9-17A2FA077A39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 与存储等待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9318E5-98CF-45EB-AF8C-0A411FE0DAEF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数据未产生时插入气泡，存储未响应时冻结后端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7391D6-140C-480F-BD0A-A79BA17F4E49}"/>
              </a:ext>
            </a:extLst>
          </p:cNvPr>
          <p:cNvSpPr>
            <a:spLocks noGrp="1"/>
          </p:cNvSpPr>
          <p:nvPr/>
        </p:nvSpPr>
        <p:spPr>
          <a:xfrm>
            <a:off x="11158728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67B4B92-5938-4051-9510-2B72DDF6310E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6A7EA47-53EF-4FBF-BB3B-B6BD9BA215F2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C5EC19-2365-4CAA-9C04-829AF143104E}"/>
              </a:ext>
            </a:extLst>
          </p:cNvPr>
          <p:cNvSpPr>
            <a:spLocks noGrp="1"/>
          </p:cNvSpPr>
          <p:nvPr/>
        </p:nvSpPr>
        <p:spPr>
          <a:xfrm>
            <a:off x="786384" y="1755648"/>
            <a:ext cx="5120640" cy="1005840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4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load-use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保持 PC 与 IF/ID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向 ID/EX 插入 1 个气泡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数据到 MEM/WB 后前递给消费者  </a:t>
            </a:r>
            <a:endParaRPr sz="114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43C63C-AC8E-4BDE-8C2A-165A20D3BA4B}"/>
              </a:ext>
            </a:extLst>
          </p:cNvPr>
          <p:cNvSpPr>
            <a:spLocks noGrp="1"/>
          </p:cNvSpPr>
          <p:nvPr/>
        </p:nvSpPr>
        <p:spPr>
          <a:xfrm>
            <a:off x="6291072" y="1755648"/>
            <a:ext cx="5120640" cy="1005840"/>
          </a:xfrm>
          <a:prstGeom prst="rect">
            <a:avLst/>
          </a:prstGeom>
          <a:solidFill>
            <a:srgbClr val="201B12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4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存储器等待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保持 EX/MEM 和请求信息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MEM/WB 注入气泡，避免重复退休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ready 到达后只提交一次</a:t>
            </a:r>
            <a:endParaRPr sz="114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E869CA9-29B0-45E8-A3D5-158523B848C8}"/>
              </a:ext>
            </a:extLst>
          </p:cNvPr>
          <p:cNvSpPr>
            <a:spLocks noGrp="1"/>
          </p:cNvSpPr>
          <p:nvPr/>
        </p:nvSpPr>
        <p:spPr>
          <a:xfrm>
            <a:off x="841248" y="331012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endParaRPr sz="88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83C6AA2-FB52-46C4-8306-81BDBAD84D18}"/>
              </a:ext>
            </a:extLst>
          </p:cNvPr>
          <p:cNvSpPr>
            <a:spLocks noGrp="1"/>
          </p:cNvSpPr>
          <p:nvPr/>
        </p:nvSpPr>
        <p:spPr>
          <a:xfrm>
            <a:off x="187452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88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96249A5-0C74-4E1A-9254-A03C07A9A17A}"/>
              </a:ext>
            </a:extLst>
          </p:cNvPr>
          <p:cNvSpPr>
            <a:spLocks noGrp="1"/>
          </p:cNvSpPr>
          <p:nvPr/>
        </p:nvSpPr>
        <p:spPr>
          <a:xfrm>
            <a:off x="297180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88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CBFEF2C-B6D9-46F2-A4AA-0A33AB2EAEF6}"/>
              </a:ext>
            </a:extLst>
          </p:cNvPr>
          <p:cNvSpPr>
            <a:spLocks noGrp="1"/>
          </p:cNvSpPr>
          <p:nvPr/>
        </p:nvSpPr>
        <p:spPr>
          <a:xfrm>
            <a:off x="406908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88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B2B9F0D-AFBE-4111-9E1F-D06EE42943FA}"/>
              </a:ext>
            </a:extLst>
          </p:cNvPr>
          <p:cNvSpPr>
            <a:spLocks noGrp="1"/>
          </p:cNvSpPr>
          <p:nvPr/>
        </p:nvSpPr>
        <p:spPr>
          <a:xfrm>
            <a:off x="516636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88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E89C862-A5C3-4C39-8937-C9C406CCEFE5}"/>
              </a:ext>
            </a:extLst>
          </p:cNvPr>
          <p:cNvSpPr>
            <a:spLocks noGrp="1"/>
          </p:cNvSpPr>
          <p:nvPr/>
        </p:nvSpPr>
        <p:spPr>
          <a:xfrm>
            <a:off x="626364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8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5EC5D6D-487A-4335-AC2B-2577F6AF5C2F}"/>
              </a:ext>
            </a:extLst>
          </p:cNvPr>
          <p:cNvSpPr>
            <a:spLocks noGrp="1"/>
          </p:cNvSpPr>
          <p:nvPr/>
        </p:nvSpPr>
        <p:spPr>
          <a:xfrm>
            <a:off x="736092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88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5CEE3A-3FF3-41B4-90DD-2D40B07CC68D}"/>
              </a:ext>
            </a:extLst>
          </p:cNvPr>
          <p:cNvSpPr>
            <a:spLocks noGrp="1"/>
          </p:cNvSpPr>
          <p:nvPr/>
        </p:nvSpPr>
        <p:spPr>
          <a:xfrm>
            <a:off x="845820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88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4B7998-36A6-4E94-B7A2-E070F98B8733}"/>
              </a:ext>
            </a:extLst>
          </p:cNvPr>
          <p:cNvSpPr>
            <a:spLocks noGrp="1"/>
          </p:cNvSpPr>
          <p:nvPr/>
        </p:nvSpPr>
        <p:spPr>
          <a:xfrm>
            <a:off x="841248" y="367588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LW x1</a:t>
            </a:r>
            <a:endParaRPr sz="92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1793C1A-64C5-4558-8DD3-7847BFB29D15}"/>
              </a:ext>
            </a:extLst>
          </p:cNvPr>
          <p:cNvSpPr>
            <a:spLocks noGrp="1"/>
          </p:cNvSpPr>
          <p:nvPr/>
        </p:nvSpPr>
        <p:spPr>
          <a:xfrm>
            <a:off x="1737360" y="3639312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390164D-80B3-4123-A8DF-5C87232B59A0}"/>
              </a:ext>
            </a:extLst>
          </p:cNvPr>
          <p:cNvSpPr>
            <a:spLocks noGrp="1"/>
          </p:cNvSpPr>
          <p:nvPr/>
        </p:nvSpPr>
        <p:spPr>
          <a:xfrm>
            <a:off x="2834640" y="3639312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5809595-0EA3-4B34-B20F-1FC046213552}"/>
              </a:ext>
            </a:extLst>
          </p:cNvPr>
          <p:cNvSpPr>
            <a:spLocks noGrp="1"/>
          </p:cNvSpPr>
          <p:nvPr/>
        </p:nvSpPr>
        <p:spPr>
          <a:xfrm>
            <a:off x="3931920" y="3639312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9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0106406-E44C-420C-BD08-F69945F07634}"/>
              </a:ext>
            </a:extLst>
          </p:cNvPr>
          <p:cNvSpPr>
            <a:spLocks noGrp="1"/>
          </p:cNvSpPr>
          <p:nvPr/>
        </p:nvSpPr>
        <p:spPr>
          <a:xfrm>
            <a:off x="5029200" y="3639312"/>
            <a:ext cx="640080" cy="2377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13A0D00-0A4D-4351-84D8-8D83EB605017}"/>
              </a:ext>
            </a:extLst>
          </p:cNvPr>
          <p:cNvSpPr>
            <a:spLocks noGrp="1"/>
          </p:cNvSpPr>
          <p:nvPr/>
        </p:nvSpPr>
        <p:spPr>
          <a:xfrm>
            <a:off x="6126480" y="3639312"/>
            <a:ext cx="640080" cy="2377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199976C-B6A0-4156-8254-673C4839AEF7}"/>
              </a:ext>
            </a:extLst>
          </p:cNvPr>
          <p:cNvSpPr>
            <a:spLocks noGrp="1"/>
          </p:cNvSpPr>
          <p:nvPr/>
        </p:nvSpPr>
        <p:spPr>
          <a:xfrm>
            <a:off x="749808" y="4206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ADD x2,x1</a:t>
            </a:r>
            <a:endParaRPr sz="92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D356109-818D-4AC7-A253-3D2751C0028B}"/>
              </a:ext>
            </a:extLst>
          </p:cNvPr>
          <p:cNvSpPr>
            <a:spLocks noGrp="1"/>
          </p:cNvSpPr>
          <p:nvPr/>
        </p:nvSpPr>
        <p:spPr>
          <a:xfrm>
            <a:off x="2834640" y="417880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CC1B1FE-242C-4666-8723-0062A6F06309}"/>
              </a:ext>
            </a:extLst>
          </p:cNvPr>
          <p:cNvSpPr>
            <a:spLocks noGrp="1"/>
          </p:cNvSpPr>
          <p:nvPr/>
        </p:nvSpPr>
        <p:spPr>
          <a:xfrm>
            <a:off x="3931920" y="4178808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F996091-748C-477E-AD00-9859AAF218C9}"/>
              </a:ext>
            </a:extLst>
          </p:cNvPr>
          <p:cNvSpPr>
            <a:spLocks noGrp="1"/>
          </p:cNvSpPr>
          <p:nvPr/>
        </p:nvSpPr>
        <p:spPr>
          <a:xfrm>
            <a:off x="5029200" y="4178808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气泡</a:t>
            </a:r>
            <a:endParaRPr sz="9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A72A9CE-050D-4C2A-BD20-69F3A32B40BE}"/>
              </a:ext>
            </a:extLst>
          </p:cNvPr>
          <p:cNvSpPr>
            <a:spLocks noGrp="1"/>
          </p:cNvSpPr>
          <p:nvPr/>
        </p:nvSpPr>
        <p:spPr>
          <a:xfrm>
            <a:off x="6126480" y="4178808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9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22CDF23-C06F-41B0-99D5-F3DB7D83270B}"/>
              </a:ext>
            </a:extLst>
          </p:cNvPr>
          <p:cNvSpPr>
            <a:spLocks noGrp="1"/>
          </p:cNvSpPr>
          <p:nvPr/>
        </p:nvSpPr>
        <p:spPr>
          <a:xfrm>
            <a:off x="7223760" y="4178808"/>
            <a:ext cx="640080" cy="2377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647198A-CCDA-41C2-96C9-8184C5A6A7FE}"/>
              </a:ext>
            </a:extLst>
          </p:cNvPr>
          <p:cNvSpPr>
            <a:spLocks noGrp="1"/>
          </p:cNvSpPr>
          <p:nvPr/>
        </p:nvSpPr>
        <p:spPr>
          <a:xfrm>
            <a:off x="8321040" y="4178808"/>
            <a:ext cx="640080" cy="2377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0AAF364-8203-4E35-B988-BE4EC79195C8}"/>
              </a:ext>
            </a:extLst>
          </p:cNvPr>
          <p:cNvSpPr>
            <a:spLocks noGrp="1"/>
          </p:cNvSpPr>
          <p:nvPr/>
        </p:nvSpPr>
        <p:spPr>
          <a:xfrm>
            <a:off x="1280160" y="5010912"/>
            <a:ext cx="6858000" cy="384048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6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时序示意：第 4 周期保持前端，并让消费者延后进入 EX</a:t>
            </a:r>
            <a:endParaRPr sz="116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C677FEF-BA03-48AC-B1E1-DED978D6B5BD}"/>
              </a:ext>
            </a:extLst>
          </p:cNvPr>
          <p:cNvSpPr>
            <a:spLocks noGrp="1"/>
          </p:cNvSpPr>
          <p:nvPr/>
        </p:nvSpPr>
        <p:spPr>
          <a:xfrm>
            <a:off x="8458200" y="5010912"/>
            <a:ext cx="1234440" cy="310896"/>
          </a:xfrm>
          <a:prstGeom prst="rect">
            <a:avLst/>
          </a:prstGeom>
          <a:solidFill>
            <a:srgbClr val="2C1D0C"/>
          </a:solidFill>
          <a:ln w="12700">
            <a:solidFill>
              <a:srgbClr val="F59E0B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请求保持</a:t>
            </a:r>
            <a:endParaRPr sz="98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10A4EE0-FAF3-4E28-B5D8-8263BD9BD627}"/>
              </a:ext>
            </a:extLst>
          </p:cNvPr>
          <p:cNvSpPr>
            <a:spLocks noGrp="1"/>
          </p:cNvSpPr>
          <p:nvPr/>
        </p:nvSpPr>
        <p:spPr>
          <a:xfrm>
            <a:off x="9875520" y="5010912"/>
            <a:ext cx="1234440" cy="310896"/>
          </a:xfrm>
          <a:prstGeom prst="rect">
            <a:avLst/>
          </a:prstGeom>
          <a:solidFill>
            <a:srgbClr val="0F2C20"/>
          </a:solidFill>
          <a:ln w="12700">
            <a:solidFill>
              <a:srgbClr val="34D399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单次提交</a:t>
            </a:r>
            <a:endParaRPr sz="98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9F1BD46-A0C9-412B-87F1-CDCD56487DC6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2109804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3C7D6-B64A-473B-8BDA-180C12B2A20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定向仿真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3C0FCF-7925-45EB-A8F7-F4C4FC448EF0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 停顿仿真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D3FA3F-F9AE-4568-8F4D-1E5E777B740A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加载结果尚未可用时，保持前端并向 ID/EX 插入一个气泡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0759C2-1DA8-464B-A5FB-2A6E87F706DF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45F7127-82E6-4DA2-9752-6B981C7A870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9B6E9C-8A40-46B8-AF3D-DA35A1311E8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AE9773-8BB2-49A2-9F86-1E224F0CA7AA}"/>
              </a:ext>
            </a:extLst>
          </p:cNvPr>
          <p:cNvSpPr>
            <a:spLocks noGrp="1"/>
          </p:cNvSpPr>
          <p:nvPr/>
        </p:nvSpPr>
        <p:spPr>
          <a:xfrm>
            <a:off x="786384" y="1783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前递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forward_a / forward_b</a:t>
            </a:r>
            <a:endParaRPr sz="10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FC4BE2-ABE8-4EE0-8EDE-482C67C56F06}"/>
              </a:ext>
            </a:extLst>
          </p:cNvPr>
          <p:cNvSpPr>
            <a:spLocks noGrp="1"/>
          </p:cNvSpPr>
          <p:nvPr/>
        </p:nvSpPr>
        <p:spPr>
          <a:xfrm>
            <a:off x="2962656" y="1783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EX/MEM 命中时直接送入 ALU，后继指令无需等待写回</a:t>
            </a:r>
            <a:endParaRPr sz="108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04DBFD-CC5C-4CEA-8034-149795372FA3}"/>
              </a:ext>
            </a:extLst>
          </p:cNvPr>
          <p:cNvSpPr>
            <a:spLocks noGrp="1"/>
          </p:cNvSpPr>
          <p:nvPr/>
        </p:nvSpPr>
        <p:spPr>
          <a:xfrm>
            <a:off x="699516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REG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A9D26B-42FB-4A96-BC57-FC528FD89A2D}"/>
              </a:ext>
            </a:extLst>
          </p:cNvPr>
          <p:cNvSpPr>
            <a:spLocks noGrp="1"/>
          </p:cNvSpPr>
          <p:nvPr/>
        </p:nvSpPr>
        <p:spPr>
          <a:xfrm>
            <a:off x="800100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17BCE3-72D9-482D-9409-7DCA3E56CFAB}"/>
              </a:ext>
            </a:extLst>
          </p:cNvPr>
          <p:cNvSpPr>
            <a:spLocks noGrp="1"/>
          </p:cNvSpPr>
          <p:nvPr/>
        </p:nvSpPr>
        <p:spPr>
          <a:xfrm>
            <a:off x="900684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E20DAE-B9FC-4557-81C0-30CBACA09C43}"/>
              </a:ext>
            </a:extLst>
          </p:cNvPr>
          <p:cNvSpPr>
            <a:spLocks noGrp="1"/>
          </p:cNvSpPr>
          <p:nvPr/>
        </p:nvSpPr>
        <p:spPr>
          <a:xfrm>
            <a:off x="1001268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78237-1F4B-4A22-AD2B-E9D2747D3803}"/>
              </a:ext>
            </a:extLst>
          </p:cNvPr>
          <p:cNvSpPr>
            <a:spLocks noGrp="1"/>
          </p:cNvSpPr>
          <p:nvPr/>
        </p:nvSpPr>
        <p:spPr>
          <a:xfrm>
            <a:off x="786384" y="2926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stall_data / valid</a:t>
            </a:r>
            <a:endParaRPr sz="107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F6B7C8-135A-4FD2-A274-1D063E086486}"/>
              </a:ext>
            </a:extLst>
          </p:cNvPr>
          <p:cNvSpPr>
            <a:spLocks noGrp="1"/>
          </p:cNvSpPr>
          <p:nvPr/>
        </p:nvSpPr>
        <p:spPr>
          <a:xfrm>
            <a:off x="2962656" y="2926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PC 与 IF/ID 保持，ID/EX 插入气泡，最终写回值正确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F4942B-D88B-411F-8337-FAA216CDC1DC}"/>
              </a:ext>
            </a:extLst>
          </p:cNvPr>
          <p:cNvSpPr>
            <a:spLocks noGrp="1"/>
          </p:cNvSpPr>
          <p:nvPr/>
        </p:nvSpPr>
        <p:spPr>
          <a:xfrm>
            <a:off x="699516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0F5B33-10F9-4831-B2BC-51712A497DEE}"/>
              </a:ext>
            </a:extLst>
          </p:cNvPr>
          <p:cNvSpPr>
            <a:spLocks noGrp="1"/>
          </p:cNvSpPr>
          <p:nvPr/>
        </p:nvSpPr>
        <p:spPr>
          <a:xfrm>
            <a:off x="800100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HOLD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9998CAA-6AFF-4574-B223-C79384276B49}"/>
              </a:ext>
            </a:extLst>
          </p:cNvPr>
          <p:cNvSpPr>
            <a:spLocks noGrp="1"/>
          </p:cNvSpPr>
          <p:nvPr/>
        </p:nvSpPr>
        <p:spPr>
          <a:xfrm>
            <a:off x="9006840" y="3127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BUBBLE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61CC61-1ECE-4354-B469-E1E7CCF5DC79}"/>
              </a:ext>
            </a:extLst>
          </p:cNvPr>
          <p:cNvSpPr>
            <a:spLocks noGrp="1"/>
          </p:cNvSpPr>
          <p:nvPr/>
        </p:nvSpPr>
        <p:spPr>
          <a:xfrm>
            <a:off x="1001268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9E00A5-6481-4668-BCA4-46CF6DBD932C}"/>
              </a:ext>
            </a:extLst>
          </p:cNvPr>
          <p:cNvSpPr>
            <a:spLocks noGrp="1"/>
          </p:cNvSpPr>
          <p:nvPr/>
        </p:nvSpPr>
        <p:spPr>
          <a:xfrm>
            <a:off x="786384" y="4069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 / flush</a:t>
            </a:r>
            <a:endParaRPr sz="107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6924D1-56B7-44AC-8D3F-D93906639DB5}"/>
              </a:ext>
            </a:extLst>
          </p:cNvPr>
          <p:cNvSpPr>
            <a:spLocks noGrp="1"/>
          </p:cNvSpPr>
          <p:nvPr/>
        </p:nvSpPr>
        <p:spPr>
          <a:xfrm>
            <a:off x="2962656" y="4069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taken 后清除两条年轻指令，错误路径无副作用</a:t>
            </a:r>
            <a:endParaRPr sz="108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F51870-53BD-40FD-8228-F8AF78172B74}"/>
              </a:ext>
            </a:extLst>
          </p:cNvPr>
          <p:cNvSpPr>
            <a:spLocks noGrp="1"/>
          </p:cNvSpPr>
          <p:nvPr/>
        </p:nvSpPr>
        <p:spPr>
          <a:xfrm>
            <a:off x="699516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SEQ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5B253-2863-4D4A-B798-0B3247160663}"/>
              </a:ext>
            </a:extLst>
          </p:cNvPr>
          <p:cNvSpPr>
            <a:spLocks noGrp="1"/>
          </p:cNvSpPr>
          <p:nvPr/>
        </p:nvSpPr>
        <p:spPr>
          <a:xfrm>
            <a:off x="800100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TAKEN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E53AD3-B0A9-444C-9E8F-E45D60682F25}"/>
              </a:ext>
            </a:extLst>
          </p:cNvPr>
          <p:cNvSpPr>
            <a:spLocks noGrp="1"/>
          </p:cNvSpPr>
          <p:nvPr/>
        </p:nvSpPr>
        <p:spPr>
          <a:xfrm>
            <a:off x="9006840" y="4270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14E617-6263-477C-9C7D-B94F496DDE74}"/>
              </a:ext>
            </a:extLst>
          </p:cNvPr>
          <p:cNvSpPr>
            <a:spLocks noGrp="1"/>
          </p:cNvSpPr>
          <p:nvPr/>
        </p:nvSpPr>
        <p:spPr>
          <a:xfrm>
            <a:off x="1001268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TARGET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AE7CF1-AAA1-4AF9-AB55-F2AC9CA9C4D2}"/>
              </a:ext>
            </a:extLst>
          </p:cNvPr>
          <p:cNvSpPr>
            <a:spLocks noGrp="1"/>
          </p:cNvSpPr>
          <p:nvPr/>
        </p:nvSpPr>
        <p:spPr>
          <a:xfrm>
            <a:off x="1243584" y="5413248"/>
            <a:ext cx="96926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仓库中的 trace.csv 记录退休 PC、指令、rd 与写回值，可用于核对退休序列</a:t>
            </a:r>
            <a:endParaRPr sz="122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106898-CD53-47BD-9EB3-7B12D6F0C82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A319F5-D857-4334-B0DB-90583DE68CF9}"/>
              </a:ext>
            </a:extLst>
          </p:cNvPr>
          <p:cNvSpPr>
            <a:spLocks noGrp="1"/>
          </p:cNvSpPr>
          <p:nvPr/>
        </p:nvSpPr>
        <p:spPr>
          <a:xfrm>
            <a:off x="457200" y="1447800"/>
            <a:ext cx="11277600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</p:sp>
      <p:sp>
        <p:nvSpPr>
          <p:cNvPr id="31" name="矩形 31">
            <a:extLst>
              <a:ext uri="{FF2B5EF4-FFF2-40B4-BE49-F238E27FC236}">
                <a16:creationId xmlns:a16="http://schemas.microsoft.com/office/drawing/2014/main" id="{9C758A0C-10DE-4D31-A85C-FF5A91A9E24D}"/>
              </a:ext>
            </a:extLst>
          </p:cNvPr>
          <p:cNvSpPr>
            <a:spLocks noGrp="1"/>
          </p:cNvSpPr>
          <p:nvPr/>
        </p:nvSpPr>
        <p:spPr>
          <a:xfrm>
            <a:off x="-1172070" y="6042745"/>
            <a:ext cx="994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load_use、hold_frontend、bubble_id_ex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同时有效；停顿计数增加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1，恢复后 x6=43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6135C26E-0952-E985-D78F-453E373C7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389888"/>
            <a:ext cx="8241678" cy="4683546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5545A370-7E78-757B-4235-4F5B569DBD2B}"/>
              </a:ext>
            </a:extLst>
          </p:cNvPr>
          <p:cNvSpPr>
            <a:spLocks noGrp="1"/>
          </p:cNvSpPr>
          <p:nvPr/>
        </p:nvSpPr>
        <p:spPr>
          <a:xfrm>
            <a:off x="8845183" y="1389887"/>
            <a:ext cx="3032874" cy="4632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r>
              <a:rPr lang="en-US" altLang="zh-CN" sz="1400" b="1" dirty="0" err="1">
                <a:solidFill>
                  <a:srgbClr val="F4F7FF"/>
                </a:solidFill>
                <a:ea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ea typeface="Microsoft YaHei"/>
              </a:rPr>
              <a:t> x4, x0, 42     </a:t>
            </a:r>
          </a:p>
          <a:p>
            <a:pPr lvl="1"/>
            <a:r>
              <a:rPr lang="en-US" altLang="zh-CN" sz="1400" b="1" dirty="0" err="1">
                <a:solidFill>
                  <a:srgbClr val="F4F7FF"/>
                </a:solidFill>
                <a:ea typeface="Microsoft YaHei"/>
              </a:rPr>
              <a:t>sw</a:t>
            </a:r>
            <a:r>
              <a:rPr lang="en-US" altLang="zh-CN" sz="1400" b="1" dirty="0">
                <a:solidFill>
                  <a:srgbClr val="F4F7FF"/>
                </a:solidFill>
                <a:ea typeface="Microsoft YaHei"/>
              </a:rPr>
              <a:t>    x4, 0(x10) </a:t>
            </a:r>
          </a:p>
          <a:p>
            <a:pPr lvl="1"/>
            <a:r>
              <a:rPr lang="en-US" altLang="zh-CN" sz="1400" b="1" dirty="0" err="1">
                <a:solidFill>
                  <a:srgbClr val="F4F7FF"/>
                </a:solidFill>
                <a:ea typeface="Microsoft YaHei"/>
              </a:rPr>
              <a:t>lw</a:t>
            </a:r>
            <a:r>
              <a:rPr lang="en-US" altLang="zh-CN" sz="1400" b="1" dirty="0">
                <a:solidFill>
                  <a:srgbClr val="F4F7FF"/>
                </a:solidFill>
                <a:ea typeface="Microsoft YaHei"/>
              </a:rPr>
              <a:t>     x5, 0(x10) </a:t>
            </a:r>
          </a:p>
          <a:p>
            <a:pPr lvl="1"/>
            <a:r>
              <a:rPr lang="en-US" altLang="zh-CN" sz="1400" b="1" dirty="0" err="1">
                <a:solidFill>
                  <a:srgbClr val="F4F7FF"/>
                </a:solidFill>
                <a:ea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ea typeface="Microsoft YaHei"/>
              </a:rPr>
              <a:t> x6, x5, 1</a:t>
            </a: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AEC3B8-BD3E-4655-926F-46FF73DA662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分支与跳转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042E01-CC49-42F1-A892-39CC9B6B5B7D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控制相关解决方案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5958F3-3CD7-439E-8914-8A4EB22ED94D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EX 级确认方向后，PC 重定向并作废两条年轻错误路径指令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73DDF9-5B65-4AD8-A36C-AF0C97C9AC87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88BDE7-D686-42F5-B49A-4A621D48B30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BE6A8E9-3863-484D-A274-AD03EB8815DF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2B2B9E-3622-41B5-BCC0-61391E74DECC}"/>
              </a:ext>
            </a:extLst>
          </p:cNvPr>
          <p:cNvSpPr>
            <a:spLocks noGrp="1"/>
          </p:cNvSpPr>
          <p:nvPr/>
        </p:nvSpPr>
        <p:spPr>
          <a:xfrm>
            <a:off x="2743200" y="2176272"/>
            <a:ext cx="713232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7C8501A-4AFF-4E57-A2BB-D2B23A78EA68}"/>
              </a:ext>
            </a:extLst>
          </p:cNvPr>
          <p:cNvSpPr>
            <a:spLocks noGrp="1"/>
          </p:cNvSpPr>
          <p:nvPr/>
        </p:nvSpPr>
        <p:spPr>
          <a:xfrm>
            <a:off x="5440680" y="2176272"/>
            <a:ext cx="713232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6DB3879-99F0-4D11-A0F6-87565EAE1D6D}"/>
              </a:ext>
            </a:extLst>
          </p:cNvPr>
          <p:cNvSpPr>
            <a:spLocks noGrp="1"/>
          </p:cNvSpPr>
          <p:nvPr/>
        </p:nvSpPr>
        <p:spPr>
          <a:xfrm>
            <a:off x="8138160" y="2176272"/>
            <a:ext cx="713232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B5FC59-E8FB-4D7D-ADA6-B50570B27A68}"/>
              </a:ext>
            </a:extLst>
          </p:cNvPr>
          <p:cNvSpPr>
            <a:spLocks noGrp="1"/>
          </p:cNvSpPr>
          <p:nvPr/>
        </p:nvSpPr>
        <p:spPr>
          <a:xfrm>
            <a:off x="86868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BEQ / JAL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 判定 taken</a:t>
            </a:r>
            <a:endParaRPr sz="102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A1302F8-245B-436C-B954-7206B97D9202}"/>
              </a:ext>
            </a:extLst>
          </p:cNvPr>
          <p:cNvSpPr>
            <a:spLocks noGrp="1"/>
          </p:cNvSpPr>
          <p:nvPr/>
        </p:nvSpPr>
        <p:spPr>
          <a:xfrm>
            <a:off x="356616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计算真实目标 PC</a:t>
            </a:r>
            <a:endParaRPr sz="102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B3358AB-44F7-4966-87EB-36957E66A8EF}"/>
              </a:ext>
            </a:extLst>
          </p:cNvPr>
          <p:cNvSpPr>
            <a:spLocks noGrp="1"/>
          </p:cNvSpPr>
          <p:nvPr/>
        </p:nvSpPr>
        <p:spPr>
          <a:xfrm>
            <a:off x="626364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IF/ID 与 ID/EX 清 valid</a:t>
            </a:r>
            <a:endParaRPr sz="102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2EC0468-6FC9-4901-96FC-0287A3E93F73}"/>
              </a:ext>
            </a:extLst>
          </p:cNvPr>
          <p:cNvSpPr>
            <a:spLocks noGrp="1"/>
          </p:cNvSpPr>
          <p:nvPr/>
        </p:nvSpPr>
        <p:spPr>
          <a:xfrm>
            <a:off x="896112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目标取指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下一周期重新填充</a:t>
            </a:r>
            <a:endParaRPr sz="10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A68C36D-400D-43EE-A7CA-A55AD4F252B8}"/>
              </a:ext>
            </a:extLst>
          </p:cNvPr>
          <p:cNvSpPr>
            <a:spLocks noGrp="1"/>
          </p:cNvSpPr>
          <p:nvPr/>
        </p:nvSpPr>
        <p:spPr>
          <a:xfrm>
            <a:off x="841248" y="3218688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分支冲刷时序示意</a:t>
            </a:r>
            <a:endParaRPr sz="9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09A2EA1-B6B4-4002-BED5-161B4F97374E}"/>
              </a:ext>
            </a:extLst>
          </p:cNvPr>
          <p:cNvSpPr>
            <a:spLocks noGrp="1"/>
          </p:cNvSpPr>
          <p:nvPr/>
        </p:nvSpPr>
        <p:spPr>
          <a:xfrm>
            <a:off x="822960" y="361188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0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BEQ(taken)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C77CC2-0CC2-42A8-A9A9-6F01EF69686C}"/>
              </a:ext>
            </a:extLst>
          </p:cNvPr>
          <p:cNvSpPr>
            <a:spLocks noGrp="1"/>
          </p:cNvSpPr>
          <p:nvPr/>
        </p:nvSpPr>
        <p:spPr>
          <a:xfrm>
            <a:off x="1920240" y="3566160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CC47474-B16D-40C3-B46D-797097001621}"/>
              </a:ext>
            </a:extLst>
          </p:cNvPr>
          <p:cNvSpPr>
            <a:spLocks noGrp="1"/>
          </p:cNvSpPr>
          <p:nvPr/>
        </p:nvSpPr>
        <p:spPr>
          <a:xfrm>
            <a:off x="3154680" y="3566160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713BA38-DE5A-432F-B4DB-CE027E925CE8}"/>
              </a:ext>
            </a:extLst>
          </p:cNvPr>
          <p:cNvSpPr>
            <a:spLocks noGrp="1"/>
          </p:cNvSpPr>
          <p:nvPr/>
        </p:nvSpPr>
        <p:spPr>
          <a:xfrm>
            <a:off x="4389120" y="3566160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67A8C8B-9CB5-43DE-9798-2A6C94609AEC}"/>
              </a:ext>
            </a:extLst>
          </p:cNvPr>
          <p:cNvSpPr>
            <a:spLocks noGrp="1"/>
          </p:cNvSpPr>
          <p:nvPr/>
        </p:nvSpPr>
        <p:spPr>
          <a:xfrm>
            <a:off x="5623560" y="3566160"/>
            <a:ext cx="640080" cy="2377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3613C2C-15A5-471E-96FD-A61643A9C2FB}"/>
              </a:ext>
            </a:extLst>
          </p:cNvPr>
          <p:cNvSpPr>
            <a:spLocks noGrp="1"/>
          </p:cNvSpPr>
          <p:nvPr/>
        </p:nvSpPr>
        <p:spPr>
          <a:xfrm>
            <a:off x="6858000" y="3566160"/>
            <a:ext cx="640080" cy="2377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90F5FD0-B801-4F09-8B12-14CBEE14DCF7}"/>
              </a:ext>
            </a:extLst>
          </p:cNvPr>
          <p:cNvSpPr>
            <a:spLocks noGrp="1"/>
          </p:cNvSpPr>
          <p:nvPr/>
        </p:nvSpPr>
        <p:spPr>
          <a:xfrm>
            <a:off x="822960" y="405079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0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顺序指令 1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537890B-75B4-4ED8-9FC5-CFC7949B03E9}"/>
              </a:ext>
            </a:extLst>
          </p:cNvPr>
          <p:cNvSpPr>
            <a:spLocks noGrp="1"/>
          </p:cNvSpPr>
          <p:nvPr/>
        </p:nvSpPr>
        <p:spPr>
          <a:xfrm>
            <a:off x="3154680" y="4037076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0BB64CF-DDB3-4DC6-BCE7-21FCAE34DA49}"/>
              </a:ext>
            </a:extLst>
          </p:cNvPr>
          <p:cNvSpPr>
            <a:spLocks noGrp="1"/>
          </p:cNvSpPr>
          <p:nvPr/>
        </p:nvSpPr>
        <p:spPr>
          <a:xfrm>
            <a:off x="4389120" y="4037076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B784BC1-9C2B-47A7-B0F2-59A4B84C917E}"/>
              </a:ext>
            </a:extLst>
          </p:cNvPr>
          <p:cNvSpPr>
            <a:spLocks noGrp="1"/>
          </p:cNvSpPr>
          <p:nvPr/>
        </p:nvSpPr>
        <p:spPr>
          <a:xfrm>
            <a:off x="5623560" y="4037076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XX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B504534-32F6-4817-9A92-DABF0FBB8D08}"/>
              </a:ext>
            </a:extLst>
          </p:cNvPr>
          <p:cNvSpPr>
            <a:spLocks noGrp="1"/>
          </p:cNvSpPr>
          <p:nvPr/>
        </p:nvSpPr>
        <p:spPr>
          <a:xfrm>
            <a:off x="822960" y="448970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0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顺序指令 2</a:t>
            </a:r>
            <a:endParaRPr sz="9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CBFE09-C1AE-4090-BB92-5AC1193C9FDE}"/>
              </a:ext>
            </a:extLst>
          </p:cNvPr>
          <p:cNvSpPr>
            <a:spLocks noGrp="1"/>
          </p:cNvSpPr>
          <p:nvPr/>
        </p:nvSpPr>
        <p:spPr>
          <a:xfrm>
            <a:off x="4389120" y="4489704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A565CC3-C114-42C8-B4A6-FB60CB1A161A}"/>
              </a:ext>
            </a:extLst>
          </p:cNvPr>
          <p:cNvSpPr>
            <a:spLocks noGrp="1"/>
          </p:cNvSpPr>
          <p:nvPr/>
        </p:nvSpPr>
        <p:spPr>
          <a:xfrm>
            <a:off x="5623560" y="4489704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XX</a:t>
            </a:r>
            <a:endParaRPr sz="9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E35B574-E95D-4A86-880D-C8BEB5DF03C9}"/>
              </a:ext>
            </a:extLst>
          </p:cNvPr>
          <p:cNvSpPr>
            <a:spLocks noGrp="1"/>
          </p:cNvSpPr>
          <p:nvPr/>
        </p:nvSpPr>
        <p:spPr>
          <a:xfrm>
            <a:off x="822960" y="49286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0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目标指令</a:t>
            </a:r>
            <a:endParaRPr sz="9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843B6C6-8654-44E6-B0F8-5788A4B0D8B1}"/>
              </a:ext>
            </a:extLst>
          </p:cNvPr>
          <p:cNvSpPr>
            <a:spLocks noGrp="1"/>
          </p:cNvSpPr>
          <p:nvPr/>
        </p:nvSpPr>
        <p:spPr>
          <a:xfrm>
            <a:off x="5623560" y="4892715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A1718B8-A3E0-45EE-936E-3B15F80E3992}"/>
              </a:ext>
            </a:extLst>
          </p:cNvPr>
          <p:cNvSpPr>
            <a:spLocks noGrp="1"/>
          </p:cNvSpPr>
          <p:nvPr/>
        </p:nvSpPr>
        <p:spPr>
          <a:xfrm>
            <a:off x="6858000" y="4892715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7E4DC29-45D2-4DBC-94B0-73D6244D2379}"/>
              </a:ext>
            </a:extLst>
          </p:cNvPr>
          <p:cNvSpPr>
            <a:spLocks noGrp="1"/>
          </p:cNvSpPr>
          <p:nvPr/>
        </p:nvSpPr>
        <p:spPr>
          <a:xfrm>
            <a:off x="8092440" y="4892715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9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CEC96D7-C93F-4B2E-AA22-9B13E2FC5848}"/>
              </a:ext>
            </a:extLst>
          </p:cNvPr>
          <p:cNvSpPr>
            <a:spLocks noGrp="1"/>
          </p:cNvSpPr>
          <p:nvPr/>
        </p:nvSpPr>
        <p:spPr>
          <a:xfrm>
            <a:off x="1828800" y="5559552"/>
            <a:ext cx="8503920" cy="402336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30" b="1">
                <a:solidFill>
                  <a:srgbClr val="FFD6DD"/>
                </a:solidFill>
                <a:latin typeface="Microsoft YaHei"/>
                <a:ea typeface="Microsoft YaHei"/>
                <a:cs typeface="Microsoft YaHei"/>
              </a:rPr>
              <a:t>错误路径指令 valid 清零，因此不能写寄存器、存储器或 MMIO</a:t>
            </a:r>
            <a:endParaRPr sz="123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3D0AD5C-23D9-42F2-B7A1-C1013E7D4539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076890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3C7D6-B64A-473B-8BDA-180C12B2A20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定向仿真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3C0FCF-7925-45EB-A8F7-F4C4FC448EF0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分支冲刷仿真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D3FA3F-F9AE-4568-8F4D-1E5E777B740A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BEQ 与 JAL 重定向时同时清除 IF/ID 和 ID/EX 的错误路径指令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0759C2-1DA8-464B-A5FB-2A6E87F706DF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45F7127-82E6-4DA2-9752-6B981C7A870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9B6E9C-8A40-46B8-AF3D-DA35A1311E8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AE9773-8BB2-49A2-9F86-1E224F0CA7AA}"/>
              </a:ext>
            </a:extLst>
          </p:cNvPr>
          <p:cNvSpPr>
            <a:spLocks noGrp="1"/>
          </p:cNvSpPr>
          <p:nvPr/>
        </p:nvSpPr>
        <p:spPr>
          <a:xfrm>
            <a:off x="786384" y="1783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前递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forward_a / forward_b</a:t>
            </a:r>
            <a:endParaRPr sz="10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FC4BE2-ABE8-4EE0-8EDE-482C67C56F06}"/>
              </a:ext>
            </a:extLst>
          </p:cNvPr>
          <p:cNvSpPr>
            <a:spLocks noGrp="1"/>
          </p:cNvSpPr>
          <p:nvPr/>
        </p:nvSpPr>
        <p:spPr>
          <a:xfrm>
            <a:off x="2962656" y="1783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EX/MEM 命中时直接送入 ALU，后继指令无需等待写回</a:t>
            </a:r>
            <a:endParaRPr sz="108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04DBFD-CC5C-4CEA-8034-149795372FA3}"/>
              </a:ext>
            </a:extLst>
          </p:cNvPr>
          <p:cNvSpPr>
            <a:spLocks noGrp="1"/>
          </p:cNvSpPr>
          <p:nvPr/>
        </p:nvSpPr>
        <p:spPr>
          <a:xfrm>
            <a:off x="699516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REG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A9D26B-42FB-4A96-BC57-FC528FD89A2D}"/>
              </a:ext>
            </a:extLst>
          </p:cNvPr>
          <p:cNvSpPr>
            <a:spLocks noGrp="1"/>
          </p:cNvSpPr>
          <p:nvPr/>
        </p:nvSpPr>
        <p:spPr>
          <a:xfrm>
            <a:off x="800100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17BCE3-72D9-482D-9409-7DCA3E56CFAB}"/>
              </a:ext>
            </a:extLst>
          </p:cNvPr>
          <p:cNvSpPr>
            <a:spLocks noGrp="1"/>
          </p:cNvSpPr>
          <p:nvPr/>
        </p:nvSpPr>
        <p:spPr>
          <a:xfrm>
            <a:off x="900684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E20DAE-B9FC-4557-81C0-30CBACA09C43}"/>
              </a:ext>
            </a:extLst>
          </p:cNvPr>
          <p:cNvSpPr>
            <a:spLocks noGrp="1"/>
          </p:cNvSpPr>
          <p:nvPr/>
        </p:nvSpPr>
        <p:spPr>
          <a:xfrm>
            <a:off x="1001268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78237-1F4B-4A22-AD2B-E9D2747D3803}"/>
              </a:ext>
            </a:extLst>
          </p:cNvPr>
          <p:cNvSpPr>
            <a:spLocks noGrp="1"/>
          </p:cNvSpPr>
          <p:nvPr/>
        </p:nvSpPr>
        <p:spPr>
          <a:xfrm>
            <a:off x="786384" y="2926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stall_data / valid</a:t>
            </a:r>
            <a:endParaRPr sz="107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F6B7C8-135A-4FD2-A274-1D063E086486}"/>
              </a:ext>
            </a:extLst>
          </p:cNvPr>
          <p:cNvSpPr>
            <a:spLocks noGrp="1"/>
          </p:cNvSpPr>
          <p:nvPr/>
        </p:nvSpPr>
        <p:spPr>
          <a:xfrm>
            <a:off x="2962656" y="2926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PC 与 IF/ID 保持，ID/EX 插入气泡，最终写回值正确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F4942B-D88B-411F-8337-FAA216CDC1DC}"/>
              </a:ext>
            </a:extLst>
          </p:cNvPr>
          <p:cNvSpPr>
            <a:spLocks noGrp="1"/>
          </p:cNvSpPr>
          <p:nvPr/>
        </p:nvSpPr>
        <p:spPr>
          <a:xfrm>
            <a:off x="699516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0F5B33-10F9-4831-B2BC-51712A497DEE}"/>
              </a:ext>
            </a:extLst>
          </p:cNvPr>
          <p:cNvSpPr>
            <a:spLocks noGrp="1"/>
          </p:cNvSpPr>
          <p:nvPr/>
        </p:nvSpPr>
        <p:spPr>
          <a:xfrm>
            <a:off x="800100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HOLD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9998CAA-6AFF-4574-B223-C79384276B49}"/>
              </a:ext>
            </a:extLst>
          </p:cNvPr>
          <p:cNvSpPr>
            <a:spLocks noGrp="1"/>
          </p:cNvSpPr>
          <p:nvPr/>
        </p:nvSpPr>
        <p:spPr>
          <a:xfrm>
            <a:off x="9006840" y="3127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BUBBLE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61CC61-1ECE-4354-B469-E1E7CCF5DC79}"/>
              </a:ext>
            </a:extLst>
          </p:cNvPr>
          <p:cNvSpPr>
            <a:spLocks noGrp="1"/>
          </p:cNvSpPr>
          <p:nvPr/>
        </p:nvSpPr>
        <p:spPr>
          <a:xfrm>
            <a:off x="1001268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9E00A5-6481-4668-BCA4-46CF6DBD932C}"/>
              </a:ext>
            </a:extLst>
          </p:cNvPr>
          <p:cNvSpPr>
            <a:spLocks noGrp="1"/>
          </p:cNvSpPr>
          <p:nvPr/>
        </p:nvSpPr>
        <p:spPr>
          <a:xfrm>
            <a:off x="786384" y="4069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 / flush</a:t>
            </a:r>
            <a:endParaRPr sz="107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6924D1-56B7-44AC-8D3F-D93906639DB5}"/>
              </a:ext>
            </a:extLst>
          </p:cNvPr>
          <p:cNvSpPr>
            <a:spLocks noGrp="1"/>
          </p:cNvSpPr>
          <p:nvPr/>
        </p:nvSpPr>
        <p:spPr>
          <a:xfrm>
            <a:off x="2962656" y="4069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taken 后清除两条年轻指令，错误路径无副作用</a:t>
            </a:r>
            <a:endParaRPr sz="108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F51870-53BD-40FD-8228-F8AF78172B74}"/>
              </a:ext>
            </a:extLst>
          </p:cNvPr>
          <p:cNvSpPr>
            <a:spLocks noGrp="1"/>
          </p:cNvSpPr>
          <p:nvPr/>
        </p:nvSpPr>
        <p:spPr>
          <a:xfrm>
            <a:off x="699516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SEQ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5B253-2863-4D4A-B798-0B3247160663}"/>
              </a:ext>
            </a:extLst>
          </p:cNvPr>
          <p:cNvSpPr>
            <a:spLocks noGrp="1"/>
          </p:cNvSpPr>
          <p:nvPr/>
        </p:nvSpPr>
        <p:spPr>
          <a:xfrm>
            <a:off x="800100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TAKEN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E53AD3-B0A9-444C-9E8F-E45D60682F25}"/>
              </a:ext>
            </a:extLst>
          </p:cNvPr>
          <p:cNvSpPr>
            <a:spLocks noGrp="1"/>
          </p:cNvSpPr>
          <p:nvPr/>
        </p:nvSpPr>
        <p:spPr>
          <a:xfrm>
            <a:off x="9006840" y="4270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14E617-6263-477C-9C7D-B94F496DDE74}"/>
              </a:ext>
            </a:extLst>
          </p:cNvPr>
          <p:cNvSpPr>
            <a:spLocks noGrp="1"/>
          </p:cNvSpPr>
          <p:nvPr/>
        </p:nvSpPr>
        <p:spPr>
          <a:xfrm>
            <a:off x="1001268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TARGET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AE7CF1-AAA1-4AF9-AB55-F2AC9CA9C4D2}"/>
              </a:ext>
            </a:extLst>
          </p:cNvPr>
          <p:cNvSpPr>
            <a:spLocks noGrp="1"/>
          </p:cNvSpPr>
          <p:nvPr/>
        </p:nvSpPr>
        <p:spPr>
          <a:xfrm>
            <a:off x="1243584" y="5413248"/>
            <a:ext cx="96926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仓库中的 trace.csv 记录退休 PC、指令、rd 与写回值，可用于核对退休序列</a:t>
            </a:r>
            <a:endParaRPr sz="122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106898-CD53-47BD-9EB3-7B12D6F0C82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B6325D0-A465-4B99-AB61-A58080604B1C}"/>
              </a:ext>
            </a:extLst>
          </p:cNvPr>
          <p:cNvSpPr>
            <a:spLocks noGrp="1"/>
          </p:cNvSpPr>
          <p:nvPr/>
        </p:nvSpPr>
        <p:spPr>
          <a:xfrm>
            <a:off x="423979" y="1475528"/>
            <a:ext cx="11277600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矩形 31">
            <a:extLst>
              <a:ext uri="{FF2B5EF4-FFF2-40B4-BE49-F238E27FC236}">
                <a16:creationId xmlns:a16="http://schemas.microsoft.com/office/drawing/2014/main" id="{C9369BE9-6A51-44EC-BDBF-8271AECB40BD}"/>
              </a:ext>
            </a:extLst>
          </p:cNvPr>
          <p:cNvSpPr>
            <a:spLocks noGrp="1"/>
          </p:cNvSpPr>
          <p:nvPr/>
        </p:nvSpPr>
        <p:spPr>
          <a:xfrm>
            <a:off x="1123950" y="5715000"/>
            <a:ext cx="994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两次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redirect_accept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均伴随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flush_if_id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flush_id_ex；错误路径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valid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被清零</a:t>
            </a:r>
            <a:endParaRPr sz="1275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B33F6BA-27B8-4E2C-AA3E-5EAAF35C7DB4}"/>
              </a:ext>
            </a:extLst>
          </p:cNvPr>
          <p:cNvSpPr>
            <a:spLocks noGrp="1"/>
          </p:cNvSpPr>
          <p:nvPr/>
        </p:nvSpPr>
        <p:spPr>
          <a:xfrm>
            <a:off x="8845183" y="1389887"/>
            <a:ext cx="3032874" cy="4632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beq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 x6, x6, L1     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x9, x0, 99     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       L1:     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jal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 x8, L2         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x9, x0, 99     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       L2:     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x7, x0, 1</a:t>
            </a: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278A7078-761A-38F3-4473-288039785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21" y="1280160"/>
            <a:ext cx="8123227" cy="439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3C7D6-B64A-473B-8BDA-180C12B2A20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基础仿真证据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3C0FCF-7925-45EB-A8F7-F4C4FC448EF0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定向仿真汇总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D3FA3F-F9AE-4568-8F4D-1E5E777B740A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波形事件与最终架构状态联合自检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0759C2-1DA8-464B-A5FB-2A6E87F706DF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45F7127-82E6-4DA2-9752-6B981C7A870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9B6E9C-8A40-46B8-AF3D-DA35A1311E8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AE9773-8BB2-49A2-9F86-1E224F0CA7AA}"/>
              </a:ext>
            </a:extLst>
          </p:cNvPr>
          <p:cNvSpPr>
            <a:spLocks noGrp="1"/>
          </p:cNvSpPr>
          <p:nvPr/>
        </p:nvSpPr>
        <p:spPr>
          <a:xfrm>
            <a:off x="786384" y="1783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前递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forward_a / forward_b</a:t>
            </a:r>
            <a:endParaRPr sz="10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FC4BE2-ABE8-4EE0-8EDE-482C67C56F06}"/>
              </a:ext>
            </a:extLst>
          </p:cNvPr>
          <p:cNvSpPr>
            <a:spLocks noGrp="1"/>
          </p:cNvSpPr>
          <p:nvPr/>
        </p:nvSpPr>
        <p:spPr>
          <a:xfrm>
            <a:off x="2962656" y="1783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EX/MEM 命中时直接送入 ALU，后继指令无需等待写回</a:t>
            </a:r>
            <a:endParaRPr sz="108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04DBFD-CC5C-4CEA-8034-149795372FA3}"/>
              </a:ext>
            </a:extLst>
          </p:cNvPr>
          <p:cNvSpPr>
            <a:spLocks noGrp="1"/>
          </p:cNvSpPr>
          <p:nvPr/>
        </p:nvSpPr>
        <p:spPr>
          <a:xfrm>
            <a:off x="699516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REG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A9D26B-42FB-4A96-BC57-FC528FD89A2D}"/>
              </a:ext>
            </a:extLst>
          </p:cNvPr>
          <p:cNvSpPr>
            <a:spLocks noGrp="1"/>
          </p:cNvSpPr>
          <p:nvPr/>
        </p:nvSpPr>
        <p:spPr>
          <a:xfrm>
            <a:off x="800100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17BCE3-72D9-482D-9409-7DCA3E56CFAB}"/>
              </a:ext>
            </a:extLst>
          </p:cNvPr>
          <p:cNvSpPr>
            <a:spLocks noGrp="1"/>
          </p:cNvSpPr>
          <p:nvPr/>
        </p:nvSpPr>
        <p:spPr>
          <a:xfrm>
            <a:off x="900684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E20DAE-B9FC-4557-81C0-30CBACA09C43}"/>
              </a:ext>
            </a:extLst>
          </p:cNvPr>
          <p:cNvSpPr>
            <a:spLocks noGrp="1"/>
          </p:cNvSpPr>
          <p:nvPr/>
        </p:nvSpPr>
        <p:spPr>
          <a:xfrm>
            <a:off x="1001268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78237-1F4B-4A22-AD2B-E9D2747D3803}"/>
              </a:ext>
            </a:extLst>
          </p:cNvPr>
          <p:cNvSpPr>
            <a:spLocks noGrp="1"/>
          </p:cNvSpPr>
          <p:nvPr/>
        </p:nvSpPr>
        <p:spPr>
          <a:xfrm>
            <a:off x="786384" y="2926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stall_data / valid</a:t>
            </a:r>
            <a:endParaRPr sz="107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F6B7C8-135A-4FD2-A274-1D063E086486}"/>
              </a:ext>
            </a:extLst>
          </p:cNvPr>
          <p:cNvSpPr>
            <a:spLocks noGrp="1"/>
          </p:cNvSpPr>
          <p:nvPr/>
        </p:nvSpPr>
        <p:spPr>
          <a:xfrm>
            <a:off x="2962656" y="2926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PC 与 IF/ID 保持，ID/EX 插入气泡，最终写回值正确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F4942B-D88B-411F-8337-FAA216CDC1DC}"/>
              </a:ext>
            </a:extLst>
          </p:cNvPr>
          <p:cNvSpPr>
            <a:spLocks noGrp="1"/>
          </p:cNvSpPr>
          <p:nvPr/>
        </p:nvSpPr>
        <p:spPr>
          <a:xfrm>
            <a:off x="699516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0F5B33-10F9-4831-B2BC-51712A497DEE}"/>
              </a:ext>
            </a:extLst>
          </p:cNvPr>
          <p:cNvSpPr>
            <a:spLocks noGrp="1"/>
          </p:cNvSpPr>
          <p:nvPr/>
        </p:nvSpPr>
        <p:spPr>
          <a:xfrm>
            <a:off x="800100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HOLD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9998CAA-6AFF-4574-B223-C79384276B49}"/>
              </a:ext>
            </a:extLst>
          </p:cNvPr>
          <p:cNvSpPr>
            <a:spLocks noGrp="1"/>
          </p:cNvSpPr>
          <p:nvPr/>
        </p:nvSpPr>
        <p:spPr>
          <a:xfrm>
            <a:off x="9006840" y="3127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BUBBLE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61CC61-1ECE-4354-B469-E1E7CCF5DC79}"/>
              </a:ext>
            </a:extLst>
          </p:cNvPr>
          <p:cNvSpPr>
            <a:spLocks noGrp="1"/>
          </p:cNvSpPr>
          <p:nvPr/>
        </p:nvSpPr>
        <p:spPr>
          <a:xfrm>
            <a:off x="1001268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9E00A5-6481-4668-BCA4-46CF6DBD932C}"/>
              </a:ext>
            </a:extLst>
          </p:cNvPr>
          <p:cNvSpPr>
            <a:spLocks noGrp="1"/>
          </p:cNvSpPr>
          <p:nvPr/>
        </p:nvSpPr>
        <p:spPr>
          <a:xfrm>
            <a:off x="786384" y="4069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 / flush</a:t>
            </a:r>
            <a:endParaRPr sz="107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6924D1-56B7-44AC-8D3F-D93906639DB5}"/>
              </a:ext>
            </a:extLst>
          </p:cNvPr>
          <p:cNvSpPr>
            <a:spLocks noGrp="1"/>
          </p:cNvSpPr>
          <p:nvPr/>
        </p:nvSpPr>
        <p:spPr>
          <a:xfrm>
            <a:off x="2962656" y="4069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taken 后清除两条年轻指令，错误路径无副作用</a:t>
            </a:r>
            <a:endParaRPr sz="108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F51870-53BD-40FD-8228-F8AF78172B74}"/>
              </a:ext>
            </a:extLst>
          </p:cNvPr>
          <p:cNvSpPr>
            <a:spLocks noGrp="1"/>
          </p:cNvSpPr>
          <p:nvPr/>
        </p:nvSpPr>
        <p:spPr>
          <a:xfrm>
            <a:off x="699516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SEQ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5B253-2863-4D4A-B798-0B3247160663}"/>
              </a:ext>
            </a:extLst>
          </p:cNvPr>
          <p:cNvSpPr>
            <a:spLocks noGrp="1"/>
          </p:cNvSpPr>
          <p:nvPr/>
        </p:nvSpPr>
        <p:spPr>
          <a:xfrm>
            <a:off x="800100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TAKEN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E53AD3-B0A9-444C-9E8F-E45D60682F25}"/>
              </a:ext>
            </a:extLst>
          </p:cNvPr>
          <p:cNvSpPr>
            <a:spLocks noGrp="1"/>
          </p:cNvSpPr>
          <p:nvPr/>
        </p:nvSpPr>
        <p:spPr>
          <a:xfrm>
            <a:off x="9006840" y="4270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14E617-6263-477C-9C7D-B94F496DDE74}"/>
              </a:ext>
            </a:extLst>
          </p:cNvPr>
          <p:cNvSpPr>
            <a:spLocks noGrp="1"/>
          </p:cNvSpPr>
          <p:nvPr/>
        </p:nvSpPr>
        <p:spPr>
          <a:xfrm>
            <a:off x="1001268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TARGET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AE7CF1-AAA1-4AF9-AB55-F2AC9CA9C4D2}"/>
              </a:ext>
            </a:extLst>
          </p:cNvPr>
          <p:cNvSpPr>
            <a:spLocks noGrp="1"/>
          </p:cNvSpPr>
          <p:nvPr/>
        </p:nvSpPr>
        <p:spPr>
          <a:xfrm>
            <a:off x="1243584" y="5413248"/>
            <a:ext cx="96926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仓库中的 trace.csv 记录退休 PC、指令、rd 与写回值，可用于核对退休序列</a:t>
            </a:r>
            <a:endParaRPr sz="122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106898-CD53-47BD-9EB3-7B12D6F0C82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5A1A3B-FED8-4EB3-9CA8-8CE9A78AA970}"/>
              </a:ext>
            </a:extLst>
          </p:cNvPr>
          <p:cNvSpPr>
            <a:spLocks noGrp="1"/>
          </p:cNvSpPr>
          <p:nvPr/>
        </p:nvSpPr>
        <p:spPr>
          <a:xfrm>
            <a:off x="457200" y="1447800"/>
            <a:ext cx="11277600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</p:sp>
      <p:pic>
        <p:nvPicPr>
          <p:cNvPr id="30" name="图片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62840" y="1809750"/>
            <a:ext cx="7466319" cy="20955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1E40E499-50A8-4A69-90AB-C94D662081DD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1043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2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D6E8"/>
                </a:solidFill>
                <a:latin typeface="Microsoft YaHei"/>
                <a:ea typeface="Microsoft YaHei"/>
                <a:cs typeface="Microsoft YaHei"/>
              </a:rPr>
              <a:t>PASS  cycles=26   instret=17   data_stall=1   flush=2   forward=7   load-use=1   redirect=2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DCF47C-5878-429F-8B1D-4ECB67A6AC40}"/>
              </a:ext>
            </a:extLst>
          </p:cNvPr>
          <p:cNvSpPr>
            <a:spLocks noGrp="1"/>
          </p:cNvSpPr>
          <p:nvPr/>
        </p:nvSpPr>
        <p:spPr>
          <a:xfrm>
            <a:off x="1381125" y="4810125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断言同时检查 x3=12、x6=43、x9=0、JAL 链接地址和 dmem[0]=42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0805F3-158B-4384-88E0-26BD602E494F}"/>
              </a:ext>
            </a:extLst>
          </p:cNvPr>
          <p:cNvSpPr>
            <a:spLocks noGrp="1"/>
          </p:cNvSpPr>
          <p:nvPr/>
        </p:nvSpPr>
        <p:spPr>
          <a:xfrm>
            <a:off x="1381125" y="5381625"/>
            <a:ext cx="942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00" b="0">
                <a:solidFill>
                  <a:srgbClr val="A9B6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A9B6D1"/>
                </a:solidFill>
                <a:latin typeface="Microsoft YaHei"/>
                <a:ea typeface="Microsoft YaHei"/>
                <a:cs typeface="Microsoft YaHei"/>
              </a:rPr>
              <a:t>实验边界：cpu_core</a:t>
            </a:r>
            <a:r>
              <a:rPr sz="1200" b="0" dirty="0">
                <a:solidFill>
                  <a:srgbClr val="A9B6D1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A9B6D1"/>
                </a:solidFill>
                <a:latin typeface="Microsoft YaHei"/>
                <a:ea typeface="Microsoft YaHei"/>
                <a:cs typeface="Microsoft YaHei"/>
              </a:rPr>
              <a:t>当拍响应存储器模型，用于定向触发流水线相关</a:t>
            </a:r>
            <a:endParaRPr sz="1200" b="0" dirty="0">
              <a:solidFill>
                <a:srgbClr val="A9B6D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ACD546-D0E0-48E6-A7D1-85F48540C169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验证闭环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A3D6C4-19ED-4C2E-B6E1-8870EDEE8E2B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基础验证方法与通过标准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6C6A49-DFDB-47EA-BC4B-A389DDDAF814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验证不只观察波形，还自动检查最终架构状态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10B4A5-97F5-4B39-BA7C-22BD6C1E6683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41C13E5-274B-4E3B-94ED-83E55E4B08D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67044B-B7ED-46F4-9018-CB101B5ACC72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34DA9E-F67D-413F-AAF6-BD7CF90C1C25}"/>
              </a:ext>
            </a:extLst>
          </p:cNvPr>
          <p:cNvSpPr>
            <a:spLocks noGrp="1"/>
          </p:cNvSpPr>
          <p:nvPr/>
        </p:nvSpPr>
        <p:spPr>
          <a:xfrm>
            <a:off x="768096" y="178308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模块级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ALU、立即数、译码、前递、冒险、LSU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3C243A-E2F4-4249-8B05-750E8D5DAA70}"/>
              </a:ext>
            </a:extLst>
          </p:cNvPr>
          <p:cNvSpPr>
            <a:spLocks noGrp="1"/>
          </p:cNvSpPr>
          <p:nvPr/>
        </p:nvSpPr>
        <p:spPr>
          <a:xfrm>
            <a:off x="6300216" y="178308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指令级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27 条指令的边界值与合法组合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0D334D-DE87-4E45-A26E-A30BE705E4BB}"/>
              </a:ext>
            </a:extLst>
          </p:cNvPr>
          <p:cNvSpPr>
            <a:spLocks noGrp="1"/>
          </p:cNvSpPr>
          <p:nvPr/>
        </p:nvSpPr>
        <p:spPr>
          <a:xfrm>
            <a:off x="768096" y="301752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流水线级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RAW、load-use、store-data、分支冲刷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E5D4A1C-3C95-44B5-809E-8F72BD43361E}"/>
              </a:ext>
            </a:extLst>
          </p:cNvPr>
          <p:cNvSpPr>
            <a:spLocks noGrp="1"/>
          </p:cNvSpPr>
          <p:nvPr/>
        </p:nvSpPr>
        <p:spPr>
          <a:xfrm>
            <a:off x="6300216" y="301752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系统级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综合程序、随机等待、TOHOST 与超时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7F2830D-09F5-4DF8-8D67-126E719A6975}"/>
              </a:ext>
            </a:extLst>
          </p:cNvPr>
          <p:cNvSpPr>
            <a:spLocks noGrp="1"/>
          </p:cNvSpPr>
          <p:nvPr/>
        </p:nvSpPr>
        <p:spPr>
          <a:xfrm>
            <a:off x="786384" y="46634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统一通过标准</a:t>
            </a:r>
            <a:endParaRPr sz="9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7F08D5A-EC96-423A-904E-5A38D9117885}"/>
              </a:ext>
            </a:extLst>
          </p:cNvPr>
          <p:cNvSpPr>
            <a:spLocks noGrp="1"/>
          </p:cNvSpPr>
          <p:nvPr/>
        </p:nvSpPr>
        <p:spPr>
          <a:xfrm>
            <a:off x="1417320" y="5010912"/>
            <a:ext cx="9418320" cy="512064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TOHOST = 1；退休 PC / 指令无重复遗漏；冲刷指令无副作用；改变存储等待后结果一致</a:t>
            </a:r>
            <a:endParaRPr sz="12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0542FC-E0E3-4D8A-B505-FEA7C514FC81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722807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90C2EE-6A3E-42FA-9D6F-951AA7523BB9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阶段总结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05FE99-0388-47EC-96D7-EFBFAA3229E2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当前结论与下一阶段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27833D-4990-4BC6-B174-87ADBCDAA1F1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基础五级流水 CPU 已形成完整设计与验证闭环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59B3BC-34EC-4126-9BB7-CF14AF483C77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87B61DB-2A88-454F-B57A-14C1E553D24E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A3EA394-672C-4377-B4BA-2B5CD9F26C94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02F6A2-4A78-48B3-8720-A9D267D668CE}"/>
              </a:ext>
            </a:extLst>
          </p:cNvPr>
          <p:cNvSpPr>
            <a:spLocks noGrp="1"/>
          </p:cNvSpPr>
          <p:nvPr/>
        </p:nvSpPr>
        <p:spPr>
          <a:xfrm>
            <a:off x="749808" y="1792224"/>
            <a:ext cx="3017520" cy="1216152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27 条基础 RV32I 指令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水平微码控制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五级数据通路与 valid 机制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76B366-9F01-4891-9E9E-346B463C3C3A}"/>
              </a:ext>
            </a:extLst>
          </p:cNvPr>
          <p:cNvSpPr>
            <a:spLocks noGrp="1"/>
          </p:cNvSpPr>
          <p:nvPr/>
        </p:nvSpPr>
        <p:spPr>
          <a:xfrm>
            <a:off x="4471416" y="1792224"/>
            <a:ext cx="3017520" cy="1216152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已解决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EX/MEM 与 MEM/WB 前递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 气泡与存储握手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 分支判定和两级冲刷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1D1596-6581-4BAC-BED6-85F04581000B}"/>
              </a:ext>
            </a:extLst>
          </p:cNvPr>
          <p:cNvSpPr>
            <a:spLocks noGrp="1"/>
          </p:cNvSpPr>
          <p:nvPr/>
        </p:nvSpPr>
        <p:spPr>
          <a:xfrm>
            <a:off x="8193024" y="1792224"/>
            <a:ext cx="3017520" cy="1216152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已验证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模块与 CPU 自检 testbench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退休序列、寄存器和内存检查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综合程序级时序闭环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DC8DF74-97D0-4D34-A2C8-DCEE96E73CDD}"/>
              </a:ext>
            </a:extLst>
          </p:cNvPr>
          <p:cNvSpPr>
            <a:spLocks noGrp="1"/>
          </p:cNvSpPr>
          <p:nvPr/>
        </p:nvSpPr>
        <p:spPr>
          <a:xfrm>
            <a:off x="749808" y="3803904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  <a:endParaRPr sz="9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B16B4E6-EAC1-4FFD-B29F-66BD5A892E52}"/>
              </a:ext>
            </a:extLst>
          </p:cNvPr>
          <p:cNvSpPr>
            <a:spLocks noGrp="1"/>
          </p:cNvSpPr>
          <p:nvPr/>
        </p:nvSpPr>
        <p:spPr>
          <a:xfrm>
            <a:off x="3419856" y="4636008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F70D757-3B2D-4D33-BDB1-DDE5FE7B5724}"/>
              </a:ext>
            </a:extLst>
          </p:cNvPr>
          <p:cNvSpPr>
            <a:spLocks noGrp="1"/>
          </p:cNvSpPr>
          <p:nvPr/>
        </p:nvSpPr>
        <p:spPr>
          <a:xfrm>
            <a:off x="6986016" y="4636008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40845D-4A04-4142-AE34-A04D5A1B3C67}"/>
              </a:ext>
            </a:extLst>
          </p:cNvPr>
          <p:cNvSpPr>
            <a:spLocks noGrp="1"/>
          </p:cNvSpPr>
          <p:nvPr/>
        </p:nvSpPr>
        <p:spPr>
          <a:xfrm>
            <a:off x="804672" y="4315968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异常与中断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溢出、ECALL、外部中断</a:t>
            </a:r>
            <a:endParaRPr sz="10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80A3D6F-3093-45E6-9FE1-988F2D276B8E}"/>
              </a:ext>
            </a:extLst>
          </p:cNvPr>
          <p:cNvSpPr>
            <a:spLocks noGrp="1"/>
          </p:cNvSpPr>
          <p:nvPr/>
        </p:nvSpPr>
        <p:spPr>
          <a:xfrm>
            <a:off x="4370832" y="4315968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Cache 与预测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I/D Cache、BTB + BHT</a:t>
            </a:r>
            <a:endParaRPr sz="102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098034-C135-4003-A996-C80B0E0BF6F4}"/>
              </a:ext>
            </a:extLst>
          </p:cNvPr>
          <p:cNvSpPr>
            <a:spLocks noGrp="1"/>
          </p:cNvSpPr>
          <p:nvPr/>
        </p:nvSpPr>
        <p:spPr>
          <a:xfrm>
            <a:off x="7936992" y="4315968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性能与 FPGA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单周期对比、时序、下板</a:t>
            </a:r>
            <a:endParaRPr sz="102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F48CC5C-17FC-48A5-A981-758AF9DD069C}"/>
              </a:ext>
            </a:extLst>
          </p:cNvPr>
          <p:cNvSpPr>
            <a:spLocks noGrp="1"/>
          </p:cNvSpPr>
          <p:nvPr/>
        </p:nvSpPr>
        <p:spPr>
          <a:xfrm>
            <a:off x="1627632" y="5650992"/>
            <a:ext cx="8961120" cy="420624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3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本页回顾开发路线；扩展成果按最终汇报范围另行说明</a:t>
            </a:r>
            <a:endParaRPr sz="123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AF05A2F-9798-44EF-A57D-4D5C2167A5B3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95715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2301</Words>
  <Application>Microsoft Office PowerPoint</Application>
  <DocSecurity>0</DocSecurity>
  <PresentationFormat>宽屏</PresentationFormat>
  <Paragraphs>441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eon N</cp:lastModifiedBy>
  <cp:revision>18</cp:revision>
  <dcterms:created xsi:type="dcterms:W3CDTF">2026-09-10T07:20:34Z</dcterms:created>
  <dcterms:modified xsi:type="dcterms:W3CDTF">2026-09-11T01:53:14Z</dcterms:modified>
</cp:coreProperties>
</file>