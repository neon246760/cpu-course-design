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e0f2789f842b9" /><Relationship Type="http://schemas.openxmlformats.org/officeDocument/2006/relationships/extended-properties" Target="/docProps/app.xml" Id="R6afb1cc74294441a" /><Relationship Type="http://schemas.openxmlformats.org/officeDocument/2006/relationships/officeDocument" Target="/ppt/presentation.xml" Id="Re82de80c7ab54bd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a754f147d6143df"/>
  </p:sldMasterIdLst>
  <p:notesMasterIdLst>
    <p:notesMasterId xmlns:r="http://schemas.openxmlformats.org/officeDocument/2006/relationships" r:id="R80988252c65c4fcd"/>
  </p:notesMasterIdLst>
  <p:sldIdLst>
    <p:sldId xmlns:r="http://schemas.openxmlformats.org/officeDocument/2006/relationships" id="256" r:id="R4c9926d22fec495e"/>
    <p:sldId xmlns:r="http://schemas.openxmlformats.org/officeDocument/2006/relationships" id="257" r:id="Rdbbe0ee0a1054296"/>
    <p:sldId xmlns:r="http://schemas.openxmlformats.org/officeDocument/2006/relationships" id="258" r:id="R57e584c0a9fe4428"/>
    <p:sldId xmlns:r="http://schemas.openxmlformats.org/officeDocument/2006/relationships" id="259" r:id="R6804ed7aa92d495a"/>
    <p:sldId xmlns:r="http://schemas.openxmlformats.org/officeDocument/2006/relationships" id="260" r:id="R47765956ecb24055"/>
    <p:sldId xmlns:r="http://schemas.openxmlformats.org/officeDocument/2006/relationships" id="261" r:id="R50347e914385487f"/>
    <p:sldId xmlns:r="http://schemas.openxmlformats.org/officeDocument/2006/relationships" id="262" r:id="Re2691ad3913440b4"/>
    <p:sldId xmlns:r="http://schemas.openxmlformats.org/officeDocument/2006/relationships" id="263" r:id="R3c6c4e55a3914e8d"/>
    <p:sldId xmlns:r="http://schemas.openxmlformats.org/officeDocument/2006/relationships" id="264" r:id="R7e15b02057fa4dac"/>
    <p:sldId xmlns:r="http://schemas.openxmlformats.org/officeDocument/2006/relationships" id="265" r:id="R8e3ca8c658044ea3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6c07773278a84940"/>
      <p:italic xmlns:r="http://schemas.openxmlformats.org/officeDocument/2006/relationships" r:id="Rfee0bdff2ac94e39"/>
    </p:embeddedFont>
    <p:embeddedFont>
      <p:font typeface="Lora SemiBold"/>
      <p:regular xmlns:r="http://schemas.openxmlformats.org/officeDocument/2006/relationships" r:id="Rbdf56c39ddd842f2"/>
      <p:bold xmlns:r="http://schemas.openxmlformats.org/officeDocument/2006/relationships" r:id="R8949c9392b434c65"/>
      <p:italic xmlns:r="http://schemas.openxmlformats.org/officeDocument/2006/relationships" r:id="Rb74b025f4e144f4c"/>
      <p:boldItalic xmlns:r="http://schemas.openxmlformats.org/officeDocument/2006/relationships" r:id="Rcfe2dbb91f5d4825"/>
    </p:embeddedFont>
    <p:embeddedFont>
      <p:font typeface="OpenAI Sans"/>
      <p:regular xmlns:r="http://schemas.openxmlformats.org/officeDocument/2006/relationships" r:id="Rd61815f6d6334af0"/>
      <p:bold xmlns:r="http://schemas.openxmlformats.org/officeDocument/2006/relationships" r:id="Re341c2e5c81947c2"/>
      <p:italic xmlns:r="http://schemas.openxmlformats.org/officeDocument/2006/relationships" r:id="R8cf21c00c7ff41db"/>
      <p:boldItalic xmlns:r="http://schemas.openxmlformats.org/officeDocument/2006/relationships" r:id="R42518cab5aa946ca"/>
    </p:embeddedFont>
    <p:embeddedFont>
      <p:font typeface="Roboto"/>
      <p:regular xmlns:r="http://schemas.openxmlformats.org/officeDocument/2006/relationships" r:id="R175e32ff22b241d7"/>
      <p:bold xmlns:r="http://schemas.openxmlformats.org/officeDocument/2006/relationships" r:id="R930cfd96da5e493e"/>
      <p:italic xmlns:r="http://schemas.openxmlformats.org/officeDocument/2006/relationships" r:id="R96c4d0099bf74373"/>
      <p:boldItalic xmlns:r="http://schemas.openxmlformats.org/officeDocument/2006/relationships" r:id="R6ecbd2fc84c141df"/>
    </p:embeddedFont>
    <p:embeddedFont>
      <p:font typeface="Roboto Medium"/>
      <p:regular xmlns:r="http://schemas.openxmlformats.org/officeDocument/2006/relationships" r:id="Rffdf9b1bf86b494c"/>
      <p:italic xmlns:r="http://schemas.openxmlformats.org/officeDocument/2006/relationships" r:id="R2d9e8379a26248ec"/>
    </p:embeddedFont>
    <p:embeddedFont>
      <p:font typeface="Roboto SemiBold"/>
      <p:regular xmlns:r="http://schemas.openxmlformats.org/officeDocument/2006/relationships" r:id="R947a9c4f81414202"/>
      <p:bold xmlns:r="http://schemas.openxmlformats.org/officeDocument/2006/relationships" r:id="R64b7e6add1ee4ef6"/>
      <p:italic xmlns:r="http://schemas.openxmlformats.org/officeDocument/2006/relationships" r:id="Rb829c13a06434ac4"/>
      <p:boldItalic xmlns:r="http://schemas.openxmlformats.org/officeDocument/2006/relationships" r:id="R9aa095d3cce24051"/>
    </p:embeddedFont>
    <p:embeddedFont>
      <p:font typeface="Roboto Serif 14pt"/>
      <p:regular xmlns:r="http://schemas.openxmlformats.org/officeDocument/2006/relationships" r:id="Rf449a26a44f34b2e"/>
      <p:bold xmlns:r="http://schemas.openxmlformats.org/officeDocument/2006/relationships" r:id="R63610baa5d8d4fe6"/>
      <p:italic xmlns:r="http://schemas.openxmlformats.org/officeDocument/2006/relationships" r:id="R8543d9bc90024cdb"/>
      <p:boldItalic xmlns:r="http://schemas.openxmlformats.org/officeDocument/2006/relationships" r:id="R7db117c3e33542a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e004196624f96" /><Relationship Type="http://schemas.openxmlformats.org/officeDocument/2006/relationships/slideMaster" Target="/ppt/slideMasters/slideMaster1.xml" Id="R7a754f147d6143df" /><Relationship Type="http://schemas.openxmlformats.org/officeDocument/2006/relationships/notesMaster" Target="/ppt/notesMasters/notesMaster1.xml" Id="R80988252c65c4fcd" /><Relationship Type="http://schemas.openxmlformats.org/officeDocument/2006/relationships/presProps" Target="/ppt/presProps.xml" Id="Rb45a4af6e94d49e2" /><Relationship Type="http://schemas.openxmlformats.org/officeDocument/2006/relationships/viewProps" Target="/ppt/viewProps.xml" Id="R7349d32b05164d4c" /><Relationship Type="http://schemas.openxmlformats.org/officeDocument/2006/relationships/tableStyles" Target="/ppt/tableStyles.xml" Id="R87fe4cf9de89451b" /><Relationship Type="http://schemas.openxmlformats.org/officeDocument/2006/relationships/font" Target="/ppt/fonts/font.dat" Id="R6c07773278a84940" /><Relationship Type="http://schemas.openxmlformats.org/officeDocument/2006/relationships/font" Target="/ppt/fonts/font2.dat" Id="Rfee0bdff2ac94e39" /><Relationship Type="http://schemas.openxmlformats.org/officeDocument/2006/relationships/font" Target="/ppt/fonts/font3.dat" Id="Rbdf56c39ddd842f2" /><Relationship Type="http://schemas.openxmlformats.org/officeDocument/2006/relationships/font" Target="/ppt/fonts/font4.dat" Id="R8949c9392b434c65" /><Relationship Type="http://schemas.openxmlformats.org/officeDocument/2006/relationships/font" Target="/ppt/fonts/font5.dat" Id="Rb74b025f4e144f4c" /><Relationship Type="http://schemas.openxmlformats.org/officeDocument/2006/relationships/font" Target="/ppt/fonts/font6.dat" Id="Rcfe2dbb91f5d4825" /><Relationship Type="http://schemas.openxmlformats.org/officeDocument/2006/relationships/font" Target="/ppt/fonts/font7.dat" Id="Rd61815f6d6334af0" /><Relationship Type="http://schemas.openxmlformats.org/officeDocument/2006/relationships/font" Target="/ppt/fonts/font8.dat" Id="Re341c2e5c81947c2" /><Relationship Type="http://schemas.openxmlformats.org/officeDocument/2006/relationships/font" Target="/ppt/fonts/font9.dat" Id="R8cf21c00c7ff41db" /><Relationship Type="http://schemas.openxmlformats.org/officeDocument/2006/relationships/font" Target="/ppt/fonts/font10.dat" Id="R42518cab5aa946ca" /><Relationship Type="http://schemas.openxmlformats.org/officeDocument/2006/relationships/font" Target="/ppt/fonts/font11.dat" Id="R175e32ff22b241d7" /><Relationship Type="http://schemas.openxmlformats.org/officeDocument/2006/relationships/font" Target="/ppt/fonts/font12.dat" Id="R930cfd96da5e493e" /><Relationship Type="http://schemas.openxmlformats.org/officeDocument/2006/relationships/font" Target="/ppt/fonts/font13.dat" Id="R96c4d0099bf74373" /><Relationship Type="http://schemas.openxmlformats.org/officeDocument/2006/relationships/font" Target="/ppt/fonts/font14.dat" Id="R6ecbd2fc84c141df" /><Relationship Type="http://schemas.openxmlformats.org/officeDocument/2006/relationships/font" Target="/ppt/fonts/font15.dat" Id="Rffdf9b1bf86b494c" /><Relationship Type="http://schemas.openxmlformats.org/officeDocument/2006/relationships/font" Target="/ppt/fonts/font16.dat" Id="R2d9e8379a26248ec" /><Relationship Type="http://schemas.openxmlformats.org/officeDocument/2006/relationships/font" Target="/ppt/fonts/font17.dat" Id="R947a9c4f81414202" /><Relationship Type="http://schemas.openxmlformats.org/officeDocument/2006/relationships/font" Target="/ppt/fonts/font18.dat" Id="R64b7e6add1ee4ef6" /><Relationship Type="http://schemas.openxmlformats.org/officeDocument/2006/relationships/font" Target="/ppt/fonts/font19.dat" Id="Rb829c13a06434ac4" /><Relationship Type="http://schemas.openxmlformats.org/officeDocument/2006/relationships/font" Target="/ppt/fonts/font20.dat" Id="R9aa095d3cce24051" /><Relationship Type="http://schemas.openxmlformats.org/officeDocument/2006/relationships/font" Target="/ppt/fonts/font21.dat" Id="Rf449a26a44f34b2e" /><Relationship Type="http://schemas.openxmlformats.org/officeDocument/2006/relationships/font" Target="/ppt/fonts/font22.dat" Id="R63610baa5d8d4fe6" /><Relationship Type="http://schemas.openxmlformats.org/officeDocument/2006/relationships/font" Target="/ppt/fonts/font23.dat" Id="R8543d9bc90024cdb" /><Relationship Type="http://schemas.openxmlformats.org/officeDocument/2006/relationships/font" Target="/ppt/fonts/font24.dat" Id="R7db117c3e33542ac" /><Relationship Type="http://schemas.openxmlformats.org/officeDocument/2006/relationships/slide" Target="/ppt/slides/slide1.xml" Id="R4c9926d22fec495e" /><Relationship Type="http://schemas.openxmlformats.org/officeDocument/2006/relationships/slide" Target="/ppt/slides/slide2.xml" Id="Rdbbe0ee0a1054296" /><Relationship Type="http://schemas.openxmlformats.org/officeDocument/2006/relationships/slide" Target="/ppt/slides/slide3.xml" Id="R57e584c0a9fe4428" /><Relationship Type="http://schemas.openxmlformats.org/officeDocument/2006/relationships/slide" Target="/ppt/slides/slide4.xml" Id="R6804ed7aa92d495a" /><Relationship Type="http://schemas.openxmlformats.org/officeDocument/2006/relationships/slide" Target="/ppt/slides/slide5.xml" Id="R47765956ecb24055" /><Relationship Type="http://schemas.openxmlformats.org/officeDocument/2006/relationships/slide" Target="/ppt/slides/slide6.xml" Id="R50347e914385487f" /><Relationship Type="http://schemas.openxmlformats.org/officeDocument/2006/relationships/slide" Target="/ppt/slides/slide7.xml" Id="Re2691ad3913440b4" /><Relationship Type="http://schemas.openxmlformats.org/officeDocument/2006/relationships/slide" Target="/ppt/slides/slide8.xml" Id="R3c6c4e55a3914e8d" /><Relationship Type="http://schemas.openxmlformats.org/officeDocument/2006/relationships/slide" Target="/ppt/slides/slide9.xml" Id="R7e15b02057fa4dac" /><Relationship Type="http://schemas.openxmlformats.org/officeDocument/2006/relationships/slide" Target="/ppt/slides/slide10.xml" Id="R8e3ca8c65804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c8f90bb1ed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1e534ffee4ae1" /><Relationship Type="http://schemas.openxmlformats.org/officeDocument/2006/relationships/notesMaster" Target="/ppt/notesMasters/notesMaster1.xml" Id="R25d295b97c49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128805cb649c9" /><Relationship Type="http://schemas.openxmlformats.org/officeDocument/2006/relationships/notesMaster" Target="/ppt/notesMasters/notesMaster1.xml" Id="Rd312e59d6aeb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1458e99e04b42" /><Relationship Type="http://schemas.openxmlformats.org/officeDocument/2006/relationships/notesMaster" Target="/ppt/notesMasters/notesMaster1.xml" Id="Rbc002a1e414e44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9461b6e8045f0" /><Relationship Type="http://schemas.openxmlformats.org/officeDocument/2006/relationships/notesMaster" Target="/ppt/notesMasters/notesMaster1.xml" Id="R31c8ef22c2d1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ffaf7f40164b6f" /><Relationship Type="http://schemas.openxmlformats.org/officeDocument/2006/relationships/notesMaster" Target="/ppt/notesMasters/notesMaster1.xml" Id="Rebf4197c90bc4d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233c7984448d1" /><Relationship Type="http://schemas.openxmlformats.org/officeDocument/2006/relationships/notesMaster" Target="/ppt/notesMasters/notesMaster1.xml" Id="R7e5bf500d39345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b0b1cc57cc4c5e" /><Relationship Type="http://schemas.openxmlformats.org/officeDocument/2006/relationships/notesMaster" Target="/ppt/notesMasters/notesMaster1.xml" Id="R88f687019c7442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99c5c2ec245bd" /><Relationship Type="http://schemas.openxmlformats.org/officeDocument/2006/relationships/notesMaster" Target="/ppt/notesMasters/notesMaster1.xml" Id="R4fe95121d6a6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1edde135894cde" /><Relationship Type="http://schemas.openxmlformats.org/officeDocument/2006/relationships/notesMaster" Target="/ppt/notesMasters/notesMaster1.xml" Id="R034ea63970c240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8c0f0264046a4" /><Relationship Type="http://schemas.openxmlformats.org/officeDocument/2006/relationships/notesMaster" Target="/ppt/notesMasters/notesMaster1.xml" Id="R67700ba5ca5541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  <a:endParaRPr/>
          </a:p>
          <a:p xmlns:a="http://schemas.openxmlformats.org/drawingml/2006/main">
            <a:r>
              <a:t>各位老师好，这部分汇报面向汇编与接口技术课程。我们的中期题目是基于 ST7571 的 LCD SPI 接口控制器及 RISC-V 汇编驱动。本阶段要证明接口协议、硬件结构、MMIO 约定和最小驱动已经确定，并能在仿真中正确发送命令与显示数据。完整游戏和 IP 封装留到最终阶段。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内容依据：</a:t>
            </a:r>
            <a:endParaRPr/>
          </a:p>
          <a:p xmlns:a="http://schemas.openxmlformats.org/drawingml/2006/main">
            <a:r>
              <a:t>- docs/中期与最终汇报范围划分.md §6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  <a:endParaRPr/>
          </a:p>
          <a:p xmlns:a="http://schemas.openxmlformats.org/drawingml/2006/main">
            <a:r>
              <a:t>我们选择板载 ST7571 LCD 作为主要外设，因为它同时包含串行协议、初始化时序和持续数据传输，能体现接口控制器设计。采用 4 线 SPI，CS 选择器件，SCK 提供时钟，MOSI 发送数据，RS 区分命令与显示数据，RST 完成硬复位。当前实现空闲时 SCK 为低，按 MSB first 发送。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内容依据：</a:t>
            </a:r>
            <a:endParaRPr/>
          </a:p>
          <a:p xmlns:a="http://schemas.openxmlformats.org/drawingml/2006/main">
            <a:r>
              <a:t>- rtl/peripheral/lcd_spi_master.sv</a:t>
            </a:r>
            <a:endParaRPr/>
          </a:p>
          <a:p xmlns:a="http://schemas.openxmlformats.org/drawingml/2006/main">
            <a:r>
              <a:t>- docs/中期与最终汇报范围划分.md §6.2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系统中 CPU 通过 LW 和 SW 访问 MMIO。地址译码器把 LCD 地址转换为控制器请求，控制器负责复位、初始化、清屏和用户字节调度，底层 SPI master 只负责一个字节的串行移位。控制器输出 CS、SCK、MOSI、RS 和 RST 到 LCD。这样的分层让汇编程序不需要直接控制每一个 SPI 边沿。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rtl/soc/soc_top.sv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rtl/peripheral/lcd_controller.sv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rtl/peripheral/lcd_spi_master.sv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发送一个字节时，控制器先在 SCK 为低时拉低 CS，并把最高位放到 MOSI。随后每个上升沿供 LCD 采样，每个下降沿切换到下一位，共发送 8 位。RS 等于零表示命令，等于一表示显示数据。最后一个下降沿后释放 CS，ready 恢复。答辩时可沿着 D7 到 D0 解释位序。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rtl/peripheral/lcd_spi_master.sv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sim/unit/tb_lcd_spi_master.sv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LCD 上电后不能立即接收普通显示数据。状态机先保持硬复位低电平，再等待约 120 毫秒，然后依次发送初始化命令。每个命令都经过等待 SPI 忙和等待完成两个阶段。初始化后清屏，最后进入 IDLE 并置 initialized。reinit 请求可以让状态机重新回到复位阶段。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rtl/peripheral/lcd_controller.sv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ready 和 valid 用于跨越 CPU 与慢速 SPI 之间的速度差。只有控制器在 IDLE 且 SPI 空闲时，tx_ready 才有效。软件写 LCD_CMD 或 LCD_DATA 后，SoC 保持总线请求，直到 ready。握手成功只产生一次 tx_valid 脉冲，随后控制器拉低 ready，忙完再恢复，因此既不会丢字，也不会重复发送。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rtl/soc/soc_top.sv:182-254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rtl/peripheral/lcd_controller.sv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这页给出中期使用的 MMIO 接口。CMD 和 DATA 都写低 8 位，区别由 RS 自动产生。STATUS 的 bit0 表示 ready，bit1 表示 initialized。CTRL 可触发重新初始化、清屏和固定文字演示。后面三个寄存器已经为棋盘行、整屏刷新和蜂鸣器预留，但中期只作为后续扩展接口，不展开完整应用。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rtl/memory/address_decoder.sv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docs/中期与最终汇报范围划分.md §5.4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最小汇编驱动先轮询 LCD_STATUS 的 initialized 位，确认上电初始化结束。发送命令或数据前再等待 ready，然后使用 SW 写入相应 MMIO 地址。上层函数可以组合出设置页地址、设置列地址、发送测试字节和触发固定文字。软件只关心寄存器语义，具体 SPI 位序由硬件完成。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firmware/bringup.S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docs/中期与最终汇报范围划分.md §6.2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中期验证需要四类证据。第一类观察复位和 initialized，确认等待时间与状态迁移。第二类观察 CS、SCK、MOSI 和 RS，核对 8 位 MSB first。第三类观察 tx_valid 与 tx_ready，确认忙时拒绝新字节。第四类观察 CPU 的 dmem_req 和 ready，确认总线等待期间一次写请求只触发一次外设发送。页面中的条带是信号关系摘要，正式答辩可换成仿真截图。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sim/unit/tb_lcd_spi_master.sv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sim/unit/tb_lcd_controller.sv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docs/中期与最终汇报范围划分.md §6.3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逐页讲稿：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当前已经完成 SPI master、LCD 初始化控制器、ready/valid 握手、MMIO 地址约定和最小汇编驱动，相关 testbench 设置了自动 PASS 检查。下一阶段将把控制器封装为独立 IP，完成棋盘刷新接口和俄罗斯方块汇编程序，再进行 FPGA 实板验证。本次中期结论只评价接口和基础驱动。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docs/中期与最终汇报范围划分.md §6.4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348c1ef5940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b2b61baf64e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068ec490b4e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7ca5255014a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31722bc5c44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101c2260d46a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1b63f186f45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9f8227a63492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8c758ee06f4eb7" /><Relationship Type="http://schemas.openxmlformats.org/officeDocument/2006/relationships/slideLayout" Target="/ppt/slideLayouts/slideLayout1.xml" Id="R83994a3083e041e2" /><Relationship Type="http://schemas.openxmlformats.org/officeDocument/2006/relationships/slideLayout" Target="/ppt/slideLayouts/slideLayout2.xml" Id="Rb9d061ad9ad54b39" /><Relationship Type="http://schemas.openxmlformats.org/officeDocument/2006/relationships/slideLayout" Target="/ppt/slideLayouts/slideLayout3.xml" Id="R00f1e666b03f49c6" /><Relationship Type="http://schemas.openxmlformats.org/officeDocument/2006/relationships/slideLayout" Target="/ppt/slideLayouts/slideLayout4.xml" Id="R172519bb586e4ff8" /><Relationship Type="http://schemas.openxmlformats.org/officeDocument/2006/relationships/slideLayout" Target="/ppt/slideLayouts/slideLayout5.xml" Id="R329f1790c6c44010" /><Relationship Type="http://schemas.openxmlformats.org/officeDocument/2006/relationships/slideLayout" Target="/ppt/slideLayouts/slideLayout6.xml" Id="R64a8ffff2fbf460b" /><Relationship Type="http://schemas.openxmlformats.org/officeDocument/2006/relationships/slideLayout" Target="/ppt/slideLayouts/slideLayout7.xml" Id="R80ebfc7647734de4" /><Relationship Type="http://schemas.openxmlformats.org/officeDocument/2006/relationships/slideLayout" Target="/ppt/slideLayouts/slideLayout8.xml" Id="R2dcf74fab94f439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94a3083e041e2"/>
    <p:sldLayoutId xmlns:r="http://schemas.openxmlformats.org/officeDocument/2006/relationships" id="2147483650" r:id="Rb9d061ad9ad54b39"/>
    <p:sldLayoutId xmlns:r="http://schemas.openxmlformats.org/officeDocument/2006/relationships" id="2147483651" r:id="R00f1e666b03f49c6"/>
    <p:sldLayoutId xmlns:r="http://schemas.openxmlformats.org/officeDocument/2006/relationships" id="2147483652" r:id="R172519bb586e4ff8"/>
    <p:sldLayoutId xmlns:r="http://schemas.openxmlformats.org/officeDocument/2006/relationships" id="2147483653" r:id="R329f1790c6c44010"/>
    <p:sldLayoutId xmlns:r="http://schemas.openxmlformats.org/officeDocument/2006/relationships" id="2147483654" r:id="R64a8ffff2fbf460b"/>
    <p:sldLayoutId xmlns:r="http://schemas.openxmlformats.org/officeDocument/2006/relationships" id="2147483655" r:id="R80ebfc7647734de4"/>
    <p:sldLayoutId xmlns:r="http://schemas.openxmlformats.org/officeDocument/2006/relationships" id="2147483656" r:id="R2dcf74fab94f439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0b79b5dbb4d67" /><Relationship Type="http://schemas.openxmlformats.org/officeDocument/2006/relationships/notesSlide" Target="/ppt/notesSlides/notesSlide1.xml" Id="Rf5e313069d1c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4c0b00c27484a" /><Relationship Type="http://schemas.openxmlformats.org/officeDocument/2006/relationships/notesSlide" Target="/ppt/notesSlides/notesSlide2.xml" Id="R09f81da20d96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603e30636e49e4" /><Relationship Type="http://schemas.openxmlformats.org/officeDocument/2006/relationships/notesSlide" Target="/ppt/notesSlides/notesSlide3.xml" Id="Rcd1c7fdd230c4f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9300f71364bb2" /><Relationship Type="http://schemas.openxmlformats.org/officeDocument/2006/relationships/notesSlide" Target="/ppt/notesSlides/notesSlide4.xml" Id="Rd29d355581bd41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0c36db9a24bfb" /><Relationship Type="http://schemas.openxmlformats.org/officeDocument/2006/relationships/notesSlide" Target="/ppt/notesSlides/notesSlide5.xml" Id="R072a8a72600d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6d8c098ad49d2" /><Relationship Type="http://schemas.openxmlformats.org/officeDocument/2006/relationships/notesSlide" Target="/ppt/notesSlides/notesSlide6.xml" Id="R4f4bdfd9dfae43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5d71fcf8cf4c1f" /><Relationship Type="http://schemas.openxmlformats.org/officeDocument/2006/relationships/notesSlide" Target="/ppt/notesSlides/notesSlide7.xml" Id="Ra26358d6f6b1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aa1d862674fb6" /><Relationship Type="http://schemas.openxmlformats.org/officeDocument/2006/relationships/notesSlide" Target="/ppt/notesSlides/notesSlide8.xml" Id="Ra51b416328e344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935a1573c4809" /><Relationship Type="http://schemas.openxmlformats.org/officeDocument/2006/relationships/notesSlide" Target="/ppt/notesSlides/notesSlide9.xml" Id="R1eaa2a8388424f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4a31eafdd47e9" /><Relationship Type="http://schemas.openxmlformats.org/officeDocument/2006/relationships/notesSlide" Target="/ppt/notesSlides/notesSlide10.xml" Id="Rbe1c19f5609845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1D6BD-478F-4322-8ECA-99BA1A0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汇编与接口技术课程设计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7F098-5ABC-4C79-8558-2F054F15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基于 ST7571 的 LCD SPI</a:t>
            </a:r>
          </a:p>
          <a:p xmlns:a="http://schemas.openxmlformats.org/drawingml/2006/main">
            <a:pPr>
              <a:defRPr sz="36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接口控制器及汇编驱动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74F25-1284-41FA-8A3E-47476A6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8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9286F-70E5-480F-B598-55341D4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中期项目汇报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10284-6B60-4FBD-AB4B-60DCEC0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阶段目标：接口协议、控制器、MMIO 与最小汇编驱动正确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8937E-EE47-4B00-A950-ECE72E66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成员：__________    班级：__________    日期：2026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5DF1F-ACBD-4DB7-8C3F-75821CB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外设选型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0F576-7547-450E-BCEE-4644625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板载 LCD 与接口选择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15FF1-4E04-4C2F-A92A-03C6D31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ACA60-F7EF-4A40-BA57-E736D0E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E01D-4434-4D7C-B3F8-78D689F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ST7571 通过 4 线 SPI 接收命令和显示数据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04FCB-40D0-468E-AAC5-05DEC2F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DDF87-3729-4726-A82C-B2B8131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B338A-46F0-40B6-A346-731C3BE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26C8E-E18C-4043-B120-53793CE8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59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低有效片选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67FA7-0116-4848-8314-9DB450D3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0025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791A0-9587-40C1-B24B-24C6FFD9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002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25A24-A2C6-44A4-BC8C-F8A9BD8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717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SCK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9B597-19A8-47C6-8FAD-63816B0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67000"/>
            <a:ext cx="159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空闲低，时钟上升沿采样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E3AB-FA0A-4703-9D9F-0F54087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BC602-A88E-4089-B91B-5AFD31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7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DF963-4BED-44F0-A993-84827FB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717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MOSI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385DF-E408-4A2E-A6A4-D2F2A50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59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MSB first 串行数据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7C2C8-9992-4BCF-B951-2D50DED6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025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AC7CA-7070-449E-A78B-FBC67D8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02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82AA6-444E-4949-94E1-F1078BD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4D5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B64D55"/>
                </a:solidFill>
                <a:latin typeface="Noto Sans SC"/>
                <a:ea typeface="Noto Sans SC"/>
                <a:cs typeface="Noto Sans SC"/>
              </a:rPr>
              <a:t>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714AD-E2CE-40C5-ACB3-21EB4D16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67000"/>
            <a:ext cx="159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0 命令，1 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FA2C1-29A5-4CA9-82EA-1B5562F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F41E0-0326-4F6E-B6C3-B48755E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A286E-3934-4114-A284-8EC3784A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717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8B6E4-741F-4837-B439-59E3AA5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0"/>
            <a:ext cx="159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低有效硬复位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BD9AD-D7AC-42BD-BB87-F16C06B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55C85-82B4-48C7-942B-4E7020FD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选择理由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00478-DCD1-4F11-92D9-E3A400EA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协议包含复位等待、命令序列和连续数据传输，能完整体现外设接口控制器的状态机与握手设计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69036-0447-4DE5-8A7B-F24280CC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硬件处理精确时序，汇编软件通过寄存器接口发送高层操作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B6F582-1218-492C-A402-3D3511AC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系统结构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16D2-7653-452B-A893-E6D8772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CPU、MMIO 与 LCD 控制器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C8CB1-75A3-47A8-8B71-EB28A5A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647C1-1A90-474C-B7DC-64A3759E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306A-C801-4EAD-AF6E-F38A73F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软件访问寄存器，硬件完成初始化与逐位发送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A796-E99A-40FD-9DA9-71FBE89E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FD5D9-5FA0-421A-9D0B-8FE00F5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RISC-V 汇编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ED0FA-27D9-4190-A5E8-C4574E8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LW / SW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E6849-6087-417D-A349-FC0DA49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99630-CB0A-4A7E-8BED-10829BCE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地址译码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04D3B-4B2A-49CA-95D0-32FC410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860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LCD MMIO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38BC0-445C-4817-A986-37DE9A1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9C83F-EC83-4843-9497-CCDD80E3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24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 控制器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4F011-3C09-43B4-8D04-50E7AB7C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86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初始化 / 清屏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488C2-C247-43C9-B0E2-B29A9E71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5D684-5116-42BF-9F09-53E2D34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SPI master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495B-2E33-489D-9292-2D9E660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8 位移位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AA93D-2C57-4F05-A48F-AB8C5CE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81250"/>
            <a:ext cx="1104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39032-CFC1-44B9-9AE2-A1559FB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LCD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DA023-2E8D-4A27-B66B-82A6EAC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86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ST7571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86000" y="2819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38700" y="2819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81900" y="2819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44100" y="2819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86D8F-7377-4D02-B199-2E46939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D0ED9-2B4E-4D79-A97C-7CAD790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1CDE2-829F-48CE-BA4B-54DDC89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软件职责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AD082-A7E7-4C86-B464-381B1AD4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轮询状态并写命令或数据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组合出最小显示流程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A6030-4343-4319-B784-12231ECB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F0A96-839C-441B-9BA3-830D3E1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AFF9F-4B90-49F5-925D-D37707BD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控制器职责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00062-F37A-4812-8E94-47A6DD7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上电时序、命令队列、清屏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把请求调度到 SPI master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20753-0388-4107-BCD0-F3DD6D0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429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6A569F-04DA-4B21-8895-D03AD7F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7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79EDDD-1901-4F31-ABE6-DBCFF97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SPI 职责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DC1CF0-475C-4D17-8675-8B1674AF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锁存 RS 与 8 位数据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产生 CS、SCK 和 MOSI</a:t>
            </a:r>
          </a:p>
        </p:txBody>
      </p:sp>
    </p:spTree>
    <p:extLst>
      <p:ext uri="{BB962C8B-B14F-4D97-AF65-F5344CB8AC3E}">
        <p14:creationId xmlns:p14="http://schemas.microsoft.com/office/powerpoint/2010/main" val="10630191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F8AA2F-44C3-4F11-B31F-3EC4472B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串行协议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44AA-4B26-437A-B21A-DBF19254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SPI 单字节发送时序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1BD72-9E0D-402B-85C6-A760387A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8DCDF-8FE1-4BBF-9B8F-3496FFB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2100C-40FF-4BCC-A92A-1C3C46E2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CS 拉低期间发送 8 位，LCD 在 SCK 上升沿采样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F46F7-4EEF-49C0-8F67-7A9B9B48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bit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328F8-D914-42DB-9DCE-052094D3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33111-3E54-47EE-8B00-22A93FA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FC0D3-96E7-4EA2-BD56-E2AA603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CEB50-B8D7-4D6B-9E72-AFB6383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1D2E1-67AD-406C-A132-0862AA0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6C08E-D78F-4345-9DEF-4E194F61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ADBBE-AC5F-48BC-8C2B-E307CCF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2921B-0BA4-4582-8432-E439CC5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67014-F28D-4AFF-8553-E7929FF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1A64E-0259-4277-ABF6-CBB80B56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12A51-D2AA-4652-BD1D-EBB874FB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B7E26-33F8-4DA8-8FF3-3B993D6F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0143F-7A3F-400B-8D1E-8457941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5DAA4-6336-4FD6-9517-317D284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BDD4A-E4F6-422C-B7B0-5B6F6DC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5AFEA-4EB4-436B-AC49-EE433F80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20E63-21A6-43DE-BCDF-88514570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SCK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8F529-F466-474B-A154-47ABB4F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0A89D-BE32-4688-AFAF-AF82BBB6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C138C-FC4B-4886-BB76-8D14615B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A42F6-C14B-4D79-BAC3-923B2A95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3470B-70B2-4446-B29C-AC4806F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BD45E-C4F2-4E73-A247-A7FBAF14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5B2DC-865E-41BE-88C5-5180D77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3FB8F-412A-43D0-A18F-F611B2B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EA007A-8D7F-44CE-ADA7-18428B0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3F89B-0093-4CC9-A503-266A1813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3175C9-3C39-4C32-85B1-4875305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CC3F9-884E-44C7-B0DF-1E5C9392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8BC7F-98B4-4B20-8B15-56A52BD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FE4E21-6E9D-4973-B928-F7691401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102F06-CE8E-4B5D-B28F-3FE03188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AE718-1FA2-4980-928D-4BCF132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41270E-ADC3-4E74-B636-14C4DAE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4629F9-0B4E-4899-B93E-238548A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93D022-C232-40EA-B158-EC51FE90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F84A38-B24C-4A04-B890-A42B37A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5F6DBB-88E5-4A3D-B4C3-B37D29E0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6F5794-CD6E-4E8D-BA5A-D74691DD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77E3BC-F014-47A8-A799-6E19EB7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8EB21-0D76-489B-A766-1B0C5C65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EB67B6-1D3B-4ECB-ACD4-D6108FC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862995-21D0-4A70-B986-929E880E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2D3386-3E3A-4D4D-B429-45FF929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957726-9393-41E5-AE89-F7C3185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520564-7434-4F01-B980-7BBB5EDB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19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4F9FF9-9D31-4A19-8D25-B106203C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0BE453-AA12-49D3-9F89-33FA1E70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93B4F9-6E3D-4480-B654-C09ADAB0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19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9B2A13-B013-4627-9ED6-87BF568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MOSI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C35E08-1EB6-484E-AB8E-E055589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58E229-0C2D-43B3-965F-29A7EB42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0D73D3-2F36-45E5-8FA0-5528B70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178166-6774-4576-AE70-19EA699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FB53ED-9A7C-4783-ABCF-CDA4C51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4E48BE-43E3-4CCA-A0F4-4DC20E13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DC6D63-9E89-4C5F-AD36-E8AF66DC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11A019-9A92-42CD-8D14-D8BC3C7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1CEA44-F5FD-4766-9DA9-33972243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DD4486-6FF1-4FB9-8656-614089F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577A0D-50ED-4E73-8686-69262FFC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5CF4F1-BF07-49DD-B32D-CFA0D3E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50E31E-1D47-44F7-8A4F-7396CCD5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4A4247-37B2-4E20-96B7-9F7EC639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151331-7EC2-49F8-89BE-14AA8D3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52850"/>
            <a:ext cx="7810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1C7316-DCD8-40A4-A1FE-14A59DDC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481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D0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FDBE93-3AF9-45CC-BB19-372AA3FD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CS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D0D9A0-D961-4FA2-A953-ED4B9A67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67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821F75-4456-43AD-8CE5-5AB8C0AB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67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7EC817-48A5-456D-AEE0-ED2E75D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878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67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63E052D-5873-43D5-86D5-9A4E4B16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67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324E51-02E0-4E08-98E5-A6C23B1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67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FBDE39-8A74-4FE7-A59B-598AC6D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512395-8C5B-4823-AC2A-297C9AE6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rPr>
              <a:t>RS = 0：命令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C75590-D567-45DD-A202-642ED716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054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50F60F7-06AB-40DC-B6C9-00B3C4C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RS = 1：数据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6551F9-8FFC-4117-96BC-5DB1FFCD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空闲 SCK = 0，下降沿准备下一位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7F8147-CFF5-4355-A10F-C50E57D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硬件控制器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F8A3-E413-4BA9-A356-F0084C1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 初始化状态机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CE552-36C4-4663-8F94-4B1D627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77706-7F3A-4BCF-BD4D-4AA956D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28F97-E982-49CE-9685-610A8536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初始化完成前，控制器自动执行复位、等待、命令序列与清屏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E174-46EC-4BDD-B955-06B98296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27381-A14A-4490-A9DA-48F168D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rPr>
              <a:t>RESET_LOW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7AF6D-B495-468F-ADEA-7C3B5ED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硬复位低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D962F-2704-44BC-BC3A-E8B6981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BCDE6-E51A-4BAE-ABA6-4A557944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POWER_WAIT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3AED7-9F76-4F6E-BD59-3EF295F2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等待 120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68991-B253-40E2-A30D-17EF3AB5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8E964-49C2-4698-BF60-23684728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INIT_SEND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F8F62-5A68-4561-8804-553E8D27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发送命令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13B73-F11D-4DAD-B023-902620A8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DF623-6807-4096-A082-D9BFFFC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A0FB2-769D-4720-9E62-73B5127D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等待 SPI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CE662-994E-4669-8A20-28992C8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F7D4E-C8A0-4509-9B00-7EB9F15D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INIT_DELAY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0E764-84A8-421F-B282-06BC93C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命令间延时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12984-E23E-4285-A2D5-02C6127C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9713E-32D2-4EA3-8715-E5BC14ED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CLEAR_SEND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E28DE-D5E7-4CB4-9C50-7827263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清屏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A9E13-013A-4464-8517-A3888BDC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479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0312B-5948-4CD3-97F2-3AACC2D6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907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IDLE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7DA89-3C3F-45B7-9A4A-EFD404B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5272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接受软件请求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781175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38725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6750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96275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9250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EB8A6-DE0F-42A3-8C90-2DD9B3C2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ABA37C-265F-4FBF-89E7-F53B228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状态输出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3C930-4C8C-41AE-9689-9FA061F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lcd_rst_n 在 RESET_LOW 保持为 0；initialized 只在初始化和清屏完成后置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F7AA4-B104-4E66-999C-A4CD4E4E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reinit_req 优先返回 RESET_LOW；用户字节、清屏与演示请求只在 IDLE 接受</a:t>
            </a: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73C69-62A9-449D-89ED-1ED4EA6E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总线握手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CAF97-39FF-44C2-9A35-B40F840E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ready / valid 发送握手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27FA8-BABD-4C7E-A772-095371A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BA5FF-68C5-4483-9129-4F5BE3D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172F4-AB42-4CBA-BD52-2C4C6398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一次 MMIO 写只触发一次 SPI 字节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7C5DB-0AA8-4D17-9868-09F5207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B00B2-4523-4FC1-B99C-EA373B9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CPU 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1B797-2396-47FD-A272-770EF413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dmem_req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E3FF1-3C64-4602-9E8D-ED25831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194B4-6CB6-4452-BBB4-15443E7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地址译码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335F-7F99-480B-BC04-5A0022A8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LCD_CMD /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79C5B-B076-4411-81F1-D42960A9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E5704-51F2-4367-A97E-83C331B7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握手成功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BF668-A15B-4B4E-BB25-1195E704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valid &amp;&amp;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5B2E9-B3C9-46EC-808F-6EEEAB7C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5E457-B58F-404C-92E2-85E18A04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9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SPI 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CAF3A-22A1-4879-A478-8AA9846F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717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ready = 0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27051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27051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43950" y="27051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132F2-3753-416A-B591-46C0FEB4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429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66ED6-DF2A-43BE-8C85-FA6BF6F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715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2D2F9-7ABE-4D69-9E66-502D9369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空闲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CB989-E01B-400B-9A37-1D7AF5C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控制器处于 IDLE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SPI ready = 1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tx_ready 对软件可见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58BE9-4BBC-47A2-AE41-1315F7A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429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1BD64-DD6A-4C77-992A-F26D1967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5715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30A171-AF71-43E4-A9D8-7406ACA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50789-7598-421E-814A-96A91535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锁存 RS 与 data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产生一次 start 脉冲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随后拉低 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260A1-C59B-4E8E-BBEB-3F361FAB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3429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5BAE4-DBD7-471B-A347-4B0E66A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5715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7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4D7C0-A6C9-4AA9-9BFF-2362FB95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等待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DA5B9-7034-4BA0-BF3E-3EF857B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767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总线请求保持到完成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忙时不接受新字节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恢复后处理下一次写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D71EC-64C9-4309-B024-ACF7C4DE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B64D55"/>
                </a:solidFill>
                <a:latin typeface="Noto Sans SC"/>
                <a:ea typeface="Noto Sans SC"/>
                <a:cs typeface="Noto Sans SC"/>
              </a:rPr>
              <a:t>关键约束：写副作用由 req &amp;&amp; ready 产生，避免慢外设导致重复发送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9408C-D5B2-4085-B268-86FBF30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软件接口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36460-761A-4805-BC97-583F8FFB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 MMIO 寄存器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2D9ED-9186-49A5-AB87-F03D05A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F5B28-D976-44F9-887B-B41027F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32E13-74A7-4C9C-9D1E-CB676CA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所有地址位于不可缓存、强顺序的 MMIO 区域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7513"/>
                <a:gridCol w="2957513"/>
                <a:gridCol w="5476875"/>
              </a:tblGrid>
              <a:tr h="46434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地址</a:t>
                      </a:r>
                    </a:p>
                  </a:txBody>
                  <a:tcPr marL="91440" marR="91440" marT="45720" marB="45720">
                    <a:solidFill>
                      <a:srgbClr val="315B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寄存器</a:t>
                      </a:r>
                    </a:p>
                  </a:txBody>
                  <a:tcPr marL="91440" marR="91440" marT="45720" marB="45720">
                    <a:solidFill>
                      <a:srgbClr val="315B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中期用途</a:t>
                      </a:r>
                    </a:p>
                  </a:txBody>
                  <a:tcPr marL="91440" marR="91440" marT="45720" marB="45720">
                    <a:solidFill>
                      <a:srgbClr val="315BC4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LCD_CMD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0293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位命令，RS =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0x2000_0024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LCD_DATA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0293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位显示数据，RS = 1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LCD_STATUS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0293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bit0 ready，bit1 initialized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0x2000_002C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02939"/>
                          </a:solidFill>
                          <a:latin typeface="Consolas"/>
                          <a:ea typeface="Consolas"/>
                          <a:cs typeface="Consolas"/>
                        </a:rPr>
                        <a:t>LCD_CTRL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0293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重新初始化、清屏、固定文字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D667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后续棋盘行接口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0x2000_0034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LCD_GAME_REFRESH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D667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后续整棋盘刷新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D6675"/>
                          </a:solidFill>
                          <a:latin typeface="Consolas"/>
                          <a:ea typeface="Consolas"/>
                          <a:cs typeface="Consolas"/>
                        </a:rPr>
                        <a:t>BUZZER_TRIGGER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D667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后续消行音效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3AD9-D0D5-49DD-AA6F-B228DEBB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中期核心寄存器为 CMD、DATA、STATUS 与 CTRL，后三项只说明扩展方向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D0DFE-BDE8-4AA8-95D3-7328A255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软件流程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B929-CFC7-4B59-AFDA-DB04100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最小 RISC-V 汇编驱动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F78C3-8523-4109-B2A4-C04154E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02A08-9900-423F-A18C-EDAC5F4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F64C8-9048-42AC-AA8E-15751C4A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驱动通过轮询状态，把 LCD 时序封装成简单函数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0748F-0FE1-4903-A9D3-42248446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173C-1F3A-4204-B002-EB9BD118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lcd_wait_init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24161-9237-45A6-901F-7934763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等待 initialized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268E0-4650-4AEA-8D07-EA1FA88E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BDC59-440B-4B77-9E9C-BCF61832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526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lcd_wait_ready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7FD77-54E9-4F42-BEED-1917C61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等待 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5AC07-E2E4-4843-A78D-5456A333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2CBD1-91BA-4426-B65F-C55B909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lcd_write_cmd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F9540-F33C-4B5D-A121-C683790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146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SW 到 LCD_CMD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D02F5-FF03-4B00-BCB7-966E685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038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D616E-BEFA-407A-ACD1-C731BF5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526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lcd_write_data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BDAE6-C462-4C88-A3A7-65B19AF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146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SW 到 LCD_DATA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90800" y="2647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219700" y="2647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48600" y="2647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C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08196-35B7-46D7-8D56-C38D87DC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3919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71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32554-52EE-46B5-BBA2-4F83D5C3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EEF9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9"/>
                </a:solidFill>
                <a:latin typeface="Consolas"/>
                <a:ea typeface="Consolas"/>
                <a:cs typeface="Consolas"/>
              </a:rPr>
              <a:t>wait_ready:</a:t>
            </a:r>
          </a:p>
          <a:p xmlns:a="http://schemas.openxmlformats.org/drawingml/2006/main">
            <a:pPr>
              <a:defRPr sz="1275" b="0">
                <a:solidFill>
                  <a:srgbClr val="E8EEF9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9"/>
                </a:solidFill>
                <a:latin typeface="Consolas"/>
                <a:ea typeface="Consolas"/>
                <a:cs typeface="Consolas"/>
              </a:rPr>
              <a:t>    lw   x12, 40(x10)      # LCD_STATUS</a:t>
            </a:r>
          </a:p>
          <a:p xmlns:a="http://schemas.openxmlformats.org/drawingml/2006/main">
            <a:pPr>
              <a:defRPr sz="1275" b="0">
                <a:solidFill>
                  <a:srgbClr val="E8EEF9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9"/>
                </a:solidFill>
                <a:latin typeface="Consolas"/>
                <a:ea typeface="Consolas"/>
                <a:cs typeface="Consolas"/>
              </a:rPr>
              <a:t>    andi x12, x12, 1       # ready</a:t>
            </a:r>
          </a:p>
          <a:p xmlns:a="http://schemas.openxmlformats.org/drawingml/2006/main">
            <a:pPr>
              <a:defRPr sz="1275" b="0">
                <a:solidFill>
                  <a:srgbClr val="E8EEF9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9"/>
                </a:solidFill>
                <a:latin typeface="Consolas"/>
                <a:ea typeface="Consolas"/>
                <a:cs typeface="Consolas"/>
              </a:rPr>
              <a:t>    beq  x12, x0, wait_ready</a:t>
            </a:r>
          </a:p>
          <a:p xmlns:a="http://schemas.openxmlformats.org/drawingml/2006/main">
            <a:pPr>
              <a:defRPr sz="1275" b="0">
                <a:solidFill>
                  <a:srgbClr val="E8EEF9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9"/>
                </a:solidFill>
                <a:latin typeface="Consolas"/>
                <a:ea typeface="Consolas"/>
                <a:cs typeface="Consolas"/>
              </a:rPr>
              <a:t>    sw   x13, 32(x10)      # LCD_CMD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11A2D-34E2-449A-A566-BCDA181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624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软件层只处理寄存器语义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硬件层保证复位、位序和发送间隔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两层通过 ready / valid 解耦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233F9-E15F-40AC-93BE-7ED57B8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82D76-30F9-428B-848E-C821F2B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接口仿真证据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0E783-E40D-42E5-A06D-8076415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24BD8-05BA-4956-A056-E52A8CA5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3B088-EFEE-4A0A-857A-620A817E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四组信号分别覆盖上电、字节发送、握手和 MMIO 等待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83442-206B-45F1-9B83-2D90733B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46DDB-E820-456E-BDC2-23A84FC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4D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64D55"/>
                </a:solidFill>
                <a:latin typeface="Noto Sans SC"/>
                <a:ea typeface="Noto Sans SC"/>
                <a:cs typeface="Noto Sans SC"/>
              </a:rPr>
              <a:t>复位与初始化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A9F40-85E7-490E-8CC3-EE89483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15B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15BC4"/>
                </a:solidFill>
                <a:latin typeface="Consolas"/>
                <a:ea typeface="Consolas"/>
                <a:cs typeface="Consolas"/>
              </a:rPr>
              <a:t>reset / lcd_rst_n / initialized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D721B-B306-44B8-87D8-713116C7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复位保持、上电等待和初始化完成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DD13D-BBA1-42CE-A260-8D8B520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8BB24-8394-40D6-AF7C-CE514619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SPI 字节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D7501-E533-49F5-85A3-2181F0A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15B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15BC4"/>
                </a:solidFill>
                <a:latin typeface="Consolas"/>
                <a:ea typeface="Consolas"/>
                <a:cs typeface="Consolas"/>
              </a:rPr>
              <a:t>cs_n / sck / mosi / 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FBDCB-271A-4710-86A1-B246D41D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8 位 MSB first，命令与数据区分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8FAFF-D74D-453F-B945-37DF396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83318-BF7D-4F9D-895D-DA26001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ready / 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32C91-BAB9-4CBB-B389-0E01FED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15B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15BC4"/>
                </a:solidFill>
                <a:latin typeface="Consolas"/>
                <a:ea typeface="Consolas"/>
                <a:cs typeface="Consolas"/>
              </a:rPr>
              <a:t>tx_valid / tx_ready /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A8DB2-7055-4459-A2EC-488740DD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忙时拒绝，完成后恢复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3BF61-C6FC-435A-A9A8-B13AA12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6F021-0FC0-4219-9982-6EC85CD6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MMIO 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03270-DD6A-4641-B521-AE1C6E8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15BC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15BC4"/>
                </a:solidFill>
                <a:latin typeface="Consolas"/>
                <a:ea typeface="Consolas"/>
                <a:cs typeface="Consolas"/>
              </a:rPr>
              <a:t>dmem_req / ready / 写脉冲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EB2F2-E778-4112-9049-3D0979F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CPU 等待且一次请求只发送一次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55E74-CE85-4A8A-9CA6-AFE2C105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3333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9BEB2-4030-42EC-A7A6-C310776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3333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tb_lcd_spi_master：自动核对位序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04A99-A5FD-422B-BF91-30B3FBE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4000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133D-B7A5-4AE7-8DA2-9CAEC12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38850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tb_lcd_controller：自动核对初始化与请求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0A53C-E22C-4AB9-B52B-27C7ECC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答辩前替换为仿真截图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89A3A9-080C-44A5-B563-630E761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中期总结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C4CFF-6606-42C1-8849-E455387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阶段结论与下一步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4D342-0E32-4B7C-A853-B456A234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3A985-5C4A-45A6-98AF-C40A4612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70E2-1D27-4D03-9BBA-453F58B5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LCD 接口控制器与最小驱动已经形成可验证闭环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4BBFD-C749-4E03-A1F4-FEA8FDD1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524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08A17-32F6-45F6-BC52-8F451AE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71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8D0E1-F243-4E5F-800B-AEC68BFD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47A57"/>
                </a:solidFill>
                <a:latin typeface="Noto Sans SC"/>
                <a:ea typeface="Noto Sans SC"/>
                <a:cs typeface="Noto Sans SC"/>
              </a:rP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93559-B79B-474B-8AD3-67982435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067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4 线 SPI master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复位、初始化与清屏状态机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命令 / 数据 RS 区分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426B7-7E51-4523-A09D-C01A70F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3524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70222-4AC0-479E-8D08-86AF5DFA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571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D6FDD-9139-4A60-AF6F-08DF8AAF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479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已连接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7821F-E6F8-48D9-B6B1-5E3E195B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3067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LCD MMIO 地址译码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ready / valid 与总线等待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最小汇编轮询和写入流程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BF8F7-7FD7-4E23-AFC5-62692DE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0F78C-915C-469B-AB79-8599C90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571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7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4056A-20F2-440B-8002-C67F998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4771D"/>
                </a:solidFill>
                <a:latin typeface="Noto Sans SC"/>
                <a:ea typeface="Noto Sans SC"/>
                <a:cs typeface="Noto Sans SC"/>
              </a:rPr>
              <a:t>已验证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D5663-2474-439A-AD12-02C1BCAA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3067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SPI 位序自检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控制器状态与请求自检</a:t>
            </a:r>
          </a:p>
          <a:p xmlns:a="http://schemas.openxmlformats.org/drawingml/2006/main">
            <a:pPr>
              <a:def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939"/>
                </a:solidFill>
                <a:latin typeface="Noto Sans SC"/>
                <a:ea typeface="Noto Sans SC"/>
                <a:cs typeface="Noto Sans SC"/>
              </a:rPr>
              <a:t>一次请求只产生一次发送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31BF8-2227-4D07-BEAC-95EE7BD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下一阶段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C804A-9C5F-404C-85E4-05A97219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572F7-ACFC-4D84-8033-4450451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IP 核封装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8F83D-6D1E-496F-A44A-E27697C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component.xml、XGUI、Catalog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39453-1000-4D6B-88AF-C180657E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47314-5B9B-4760-B63A-27A4975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完整应用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CB62B-415B-4D9E-B298-B1CE6843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棋盘刷新与俄罗斯方块汇编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7CC8C-13AB-405F-B970-9BDF533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A8F92-525B-4092-86C6-AB34FA5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482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15BC4"/>
                </a:solidFill>
                <a:latin typeface="Noto Sans SC"/>
                <a:ea typeface="Noto Sans SC"/>
                <a:cs typeface="Noto Sans SC"/>
              </a:rPr>
              <a:t>FPGA 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5063B-B13E-446C-9191-34C5EE9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LCD、按键与蜂鸣器实板现象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C8E5C-7846-41AF-A752-434ECB15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D6675"/>
                </a:solidFill>
                <a:latin typeface="Noto Sans SC"/>
                <a:ea typeface="Noto Sans SC"/>
                <a:cs typeface="Noto Sans SC"/>
              </a:rPr>
              <a:t>中期边界：不展开完整游戏、IP 复用与最终下板结果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2026-09-09T10:28:35.5910000Z</dcterms:created>
  <dcterms:modified xsi:type="dcterms:W3CDTF">2026-09-09T10:28:35.5910000Z</dcterms:modified>
</coreProperties>
</file>