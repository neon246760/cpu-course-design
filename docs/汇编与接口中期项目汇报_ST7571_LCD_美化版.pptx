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各位老师好，这部分汇报面向汇编与接口技术课程。我们的中期题目是基于 ST7571 的 LCD SPI 接口控制器及 RISC-V 汇编驱动。本阶段要证明接口协议、硬件结构、MMIO 约定和最小驱动已经确定，并能在仿真中正确发送命令与显示数据。完整游戏和 IP 封装留到最终阶段。
内容依据：
- docs/中期与最终汇报范围划分.md §6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我们选择板载 ST7571 LCD 作为主要外设，因为它同时包含串行协议、初始化时序和持续数据传输，能体现接口控制器设计。采用 4 线 SPI，CS 选择器件，SCK 提供时钟，MOSI 发送数据，RS 区分命令与显示数据，RST 完成硬复位。当前实现空闲时 SCK 为低，按 MSB first 发送。
内容依据：
- rtl/peripheral/lcd_spi_master.sv
- docs/中期与最终汇报范围划分.md §6.2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系统中 CPU 通过 LW 和 SW 访问 MMIO。地址译码器把 LCD 地址转换为控制器请求，控制器负责复位、初始化、清屏和用户字节调度，底层 SPI master 只负责一个字节的串行移位。控制器输出 CS、SCK、MOSI、RS 和 RST 到 LCD。这样的分层让汇编程序不需要直接控制每一个 SPI 边沿。
内容依据：
- rtl/soc/soc_top.sv
- rtl/peripheral/lcd_controller.sv
- rtl/peripheral/lcd_spi_master.sv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发送一个字节时，控制器先在 SCK 为低时拉低 CS，并把最高位放到 MOSI。随后每个上升沿供 LCD 采样，每个下降沿切换到下一位，共发送 8 位。RS 等于零表示命令，等于一表示显示数据。最后一个下降沿后释放 CS，ready 恢复。答辩时可沿着 D7 到 D0 解释位序。
内容依据：
- rtl/peripheral/lcd_spi_master.sv
- sim/unit/tb_lcd_spi_master.sv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LCD 上电后不能立即接收普通显示数据。状态机先保持硬复位低电平，再等待约 120 毫秒，然后依次发送初始化命令。每个命令都经过等待 SPI 忙和等待完成两个阶段。初始化后清屏，最后进入 IDLE 并置 initialized。reinit 请求可以让状态机重新回到复位阶段。
内容依据：
- rtl/peripheral/lcd_controller.sv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ready 和 valid 用于跨越 CPU 与慢速 SPI 之间的速度差。只有控制器在 IDLE 且 SPI 空闲时，tx_ready 才有效。软件写 LCD_CMD 或 LCD_DATA 后，SoC 保持总线请求，直到 ready。握手成功只产生一次 tx_valid 脉冲，随后控制器拉低 ready，忙完再恢复，因此既不会丢字，也不会重复发送。
内容依据：
- rtl/soc/soc_top.sv:182-254
- rtl/peripheral/lcd_controller.sv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这页给出中期使用的 MMIO 接口。CMD 和 DATA 都写低 8 位，区别由 RS 自动产生。STATUS 的 bit0 表示 ready，bit1 表示 initialized。CTRL 可触发重新初始化、清屏和固定文字演示。后面三个寄存器已经为棋盘行、整屏刷新和蜂鸣器预留，但中期只作为后续扩展接口，不展开完整应用。
内容依据：
- rtl/memory/address_decoder.sv
- docs/中期与最终汇报范围划分.md §5.4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最小汇编驱动先轮询 LCD_STATUS 的 initialized 位，确认上电初始化结束。发送命令或数据前再等待 ready，然后使用 SW 写入相应 MMIO 地址。上层函数可以组合出设置页地址、设置列地址、发送测试字节和触发固定文字。软件只关心寄存器语义，具体 SPI 位序由硬件完成。
内容依据：
- firmware/bringup.S
- docs/中期与最终汇报范围划分.md §6.2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中期验证需要四类证据。第一类观察复位和 initialized，确认等待时间与状态迁移。第二类观察 CS、SCK、MOSI 和 RS，核对 8 位 MSB first。第三类观察 tx_valid 与 tx_ready，确认忙时拒绝新字节。第四类观察 CPU 的 dmem_req 和 ready，确认总线等待期间一次写请求只触发一次外设发送。页面中的条带是信号关系摘要，正式答辩可换成仿真截图。
内容依据：
- sim/unit/tb_lcd_spi_master.sv
- sim/unit/tb_lcd_controller.sv
- docs/中期与最终汇报范围划分.md §6.3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当前已经完成 SPI master、LCD 初始化控制器、ready/valid 握手、MMIO 地址约定和最小汇编驱动，相关 testbench 设置了自动 PASS 检查。下一阶段将把控制器封装为独立 IP，完成棋盘刷新接口和俄罗斯方块汇编程序，再进行 FPGA 实板验证。本次中期结论只评价接口和基础驱动。
内容依据：
- docs/中期与最终汇报范围划分.md §6.4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汇编与接口技术课程设计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1152144"/>
            <a:ext cx="0" cy="2999232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097280"/>
            <a:ext cx="65836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ST7571 的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 SPI 接口控制器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及汇编驱动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024128" y="3602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4187952"/>
            <a:ext cx="6492240" cy="502920"/>
          </a:xfrm>
          <a:prstGeom prst="rect">
            <a:avLst/>
          </a:prstGeom>
          <a:solidFill>
            <a:srgbClr val="121B31"/>
          </a:solidFill>
          <a:ln w="12700">
            <a:solidFill>
              <a:srgbClr val="27466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阶段目标：接口协议、控制器、MMIO 与最小汇编驱动正确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10912"/>
            <a:ext cx="6492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63A5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成员：__________    班级：__________    日期：2026 年 9 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0" y="960120"/>
            <a:ext cx="2606040" cy="4069080"/>
          </a:xfrm>
          <a:prstGeom prst="rect">
            <a:avLst/>
          </a:prstGeom>
          <a:solidFill>
            <a:srgbClr val="111A31"/>
          </a:solidFill>
          <a:ln w="15240">
            <a:solidFill>
              <a:srgbClr val="3554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2344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778240" y="1920240"/>
            <a:ext cx="1874520" cy="2286000"/>
          </a:xfrm>
          <a:prstGeom prst="rect">
            <a:avLst/>
          </a:prstGeom>
          <a:solidFill>
            <a:srgbClr val="0B10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5087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53035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0756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0" y="2167128"/>
            <a:ext cx="5303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6426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2734056"/>
            <a:ext cx="5303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3209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0" y="3300984"/>
            <a:ext cx="530352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776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3867912"/>
            <a:ext cx="530352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45720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· MMIO · ASM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外设选型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板载 LCD 与接口选择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通过 4 线 SPI 接收命令和显示数据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低有效片选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07792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空闲低；上升沿采样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57216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MSB first 串行数据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命令；1 数据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56064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低有效硬复位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3273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为什么选它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3232" y="3611880"/>
            <a:ext cx="5166360" cy="74980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协议包含复位等待、命令序列和连续数据传输，能完整体现外设接口控制器的状态机与握手设计。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535424"/>
            <a:ext cx="5166360" cy="53035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BFB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硬件处理精确时序，汇编软件通过寄存器接口发送高层操作。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7104" y="3273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接口抽象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48272" y="4023360"/>
            <a:ext cx="95097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4023360"/>
            <a:ext cx="987552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236208" y="3703320"/>
            <a:ext cx="128016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 / LW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08976" y="3703320"/>
            <a:ext cx="157276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CMD · DATA · STATUS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28048" y="3703320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CS/SCK/MOSI/RS/RST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系统结构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CPU、MMIO 与 LCD 控制器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软件访问寄存器，硬件完成初始化与逐位发送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91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679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967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5255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543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583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RISC-V 汇编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LW / SW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871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地址译码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 MMIO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159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 控制器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 / 清屏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447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 / valid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735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master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位移位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023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3B82F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软件职责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轮询状态并写命令或数据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组合出最小显示流程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53712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控制器职责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上电时序、命令队列、清屏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把请求调度到 SPI master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职责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锁存 RS 与 8 位数据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 CS、SCK 和 MOSI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串行协议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单字节发送时序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 拉低期间发送 8 位，LCD 在 SCK 上升沿采样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920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24128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99232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86784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74336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61888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36992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" y="27889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SCK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069848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2728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533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5336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3288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32888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44952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32504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5384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5384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7992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07992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0056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02936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02936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95544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95544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07608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90488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0488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8309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83096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5160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8040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78040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7064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70648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82712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65592" y="2907792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65592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5820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58200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9496" y="3657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MOSI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1024128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D7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011680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D6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999232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986784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974336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961888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949440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936992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8368" y="44074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</a:t>
            </a:r>
            <a:endParaRPr lang="en-US" sz="920" dirty="0"/>
          </a:p>
        </p:txBody>
      </p:sp>
      <p:sp>
        <p:nvSpPr>
          <p:cNvPr id="68" name="Shape 66"/>
          <p:cNvSpPr/>
          <p:nvPr/>
        </p:nvSpPr>
        <p:spPr>
          <a:xfrm>
            <a:off x="932688" y="4535424"/>
            <a:ext cx="292608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25296" y="4535424"/>
            <a:ext cx="0" cy="310896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225296" y="4846320"/>
            <a:ext cx="7388352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13648" y="4846320"/>
            <a:ext cx="0" cy="-310896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13648" y="4535424"/>
            <a:ext cx="292608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48840" y="5486400"/>
            <a:ext cx="1600200" cy="329184"/>
          </a:xfrm>
          <a:prstGeom prst="rect">
            <a:avLst/>
          </a:prstGeom>
          <a:solidFill>
            <a:srgbClr val="3B1520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 = 0：命令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4782312" y="5486400"/>
            <a:ext cx="1600200" cy="329184"/>
          </a:xfrm>
          <a:prstGeom prst="rect">
            <a:avLst/>
          </a:prstGeom>
          <a:solidFill>
            <a:srgbClr val="12301F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 = 1：数据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589520" y="55412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 SCK = 0，下降沿准备下一位</a:t>
            </a:r>
            <a:endParaRPr lang="en-US" sz="920" dirty="0"/>
          </a:p>
        </p:txBody>
      </p:sp>
      <p:sp>
        <p:nvSpPr>
          <p:cNvPr id="76" name="Text 74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硬件控制器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 初始化状态机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初始化完成前，控制器自动执行复位、等待、命令序列与清屏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5104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57216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48272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39328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30384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30352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RESET_LOW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硬复位低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21408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POWER_WAIT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120 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12464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INIT_SEND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发送命令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0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SPI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94576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INIT_DELAY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命令间延时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85632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CLEAR_SEND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76688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接受软件请求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324612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关键状态输出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" y="3566160"/>
            <a:ext cx="10789920" cy="502920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lcd_rst_n 在 RESET_LOW 保持为 0；initialized 只在初始化和清屏完成后置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48056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优先级与接收条件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3232" y="4791456"/>
            <a:ext cx="10789920" cy="502920"/>
          </a:xfrm>
          <a:prstGeom prst="rect">
            <a:avLst/>
          </a:prstGeom>
          <a:solidFill>
            <a:srgbClr val="201B12"/>
          </a:solidFill>
          <a:ln w="12700">
            <a:solidFill>
              <a:srgbClr val="6C4B1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reinit_req 优先返回 RESET_LOW；用户字节、清屏与演示请求只在 IDLE 接受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总线握手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 / valid 发送握手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MMIO 写只触发一次 SPI 字节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1448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17720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93992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70264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请求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dmem_req =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62072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地址译码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LCD_CMD / 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38344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握手成功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&amp;&amp; ready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14616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 = 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90888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tx_ready =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控制器处于 IDLE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ready =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tx_ready 对软件可见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0799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锁存 RS 与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产生一次 start 脉冲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随后拉低 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131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总线请求保持到完成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忙时不接受新字节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恢复后处理下一次写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2416" y="5513832"/>
            <a:ext cx="10104120" cy="384048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关键约束：写副作用由 req &amp;&amp; ready 产生，避免慢外设导致重复发送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软件接口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 MMIO 寄存器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所有地址位于不可缓存、强顺序的 MMIO 区域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544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中期核心寄存器为 CMD、DATA、STATUS 与 CTRL，后三项只说明扩展方向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1874520"/>
            <a:ext cx="21031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182112" y="1874520"/>
            <a:ext cx="178308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303520" y="1874520"/>
            <a:ext cx="59893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中期用途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86384" y="2286000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0x2000_0020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182112" y="2286000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LCD_CMD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写低 8 位命令，RS = 0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86384" y="2734056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0x2000_0024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182112" y="2734056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LCD_DATA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303520" y="2734056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写低 8 位显示数据，RS = 1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86384" y="3182112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0x2000_0028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182112" y="3182112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LCD_STATUS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303520" y="3182112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bit0 ready，bit1 initialized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86384" y="3630168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0x2000_002C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182112" y="3630168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LCD_CTRL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303520" y="3630168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重新初始化、清屏、固定文字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86384" y="4078224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0x2000_0030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3182112" y="4078224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LCD_GAME_ROW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303520" y="4078224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后续棋盘行接口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86384" y="4526280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0x2000_0034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182112" y="4526280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LCD_GAME_REFRESH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303520" y="4526280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后续整屏刷新接口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786384" y="4974336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0x2000_0038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3182112" y="4974336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BUZZER_TRIGGER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5303520" y="4974336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后续蜂鸣器预留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633472" y="5715000"/>
            <a:ext cx="6903720" cy="402336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寄存器语义把“软件意图”转换为“硬件时序”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软件流程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RISC-V 汇编驱动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驱动通过轮询状态，把 LCD 时序封装成简单函数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507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081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lcd_wait_init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initialized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lcd_wait_ready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ready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lcd_write_cmd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 到 LCD_CMD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lcd_write_data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 到 LCD_DATA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2980944"/>
            <a:ext cx="5669280" cy="1572768"/>
          </a:xfrm>
          <a:prstGeom prst="rect">
            <a:avLst/>
          </a:prstGeom>
          <a:solidFill>
            <a:srgbClr val="050A16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wait_ready: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9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lw   x12, 40(x10)      # LCD_STATUS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9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andi x12, x12, 1       # ready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9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beq  x12, x0, wait_ready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9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   x13, 32(x10)      # LCD_CMD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39712" y="2962656"/>
            <a:ext cx="4279392" cy="1609344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FF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软件层只处理寄存器语义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FF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硬件层保证复位、位序和发送间隔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FF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两层通过 ready / valid 解耦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接口仿真证据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四组信号分别覆盖上电、字节发送、握手和 MMIO 等待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复位与初始化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reset / lcd_rst_n / initialized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复位保持、上电等待和初始化完成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626364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22D3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字节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cs_n / sck / mosi / rs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位 MSB first，命令与数据区分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 / valid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tx_valid / tx_ready / state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忙时拒绝，完成后恢复 ready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626364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A78BF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MMIO 等待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dmem_req / ready / 写脉冲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等待且一次请求只发送一次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1051560" y="5074920"/>
            <a:ext cx="4480560" cy="347472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5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tb_lcd_spi_master：自动核对位序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446520" y="5074920"/>
            <a:ext cx="4480560" cy="34747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DBFB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tb_lcd_controller：自动核对初始化与请求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590288" y="58155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答辩前可替换为真实仿真截图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中期总结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阶段结论与下一步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 接口控制器与最小驱动已经形成可验证闭环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线 SPI master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复位、初始化与清屏状态机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 / 数据 RS 区分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71416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已连接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 MMIO 地址译码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 / valid 与总线等待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最小汇编轮询和写入流程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93024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位序自检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控制器状态与请求自检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一次请求只产生一次发送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37856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9856" y="4617720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86016" y="4617720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0467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核封装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component.xml、XGUI、Catalog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7083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完整应用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棋盘刷新与俄罗斯方块汇编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699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验证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LCD、按键与蜂鸣器实板现象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5687568"/>
            <a:ext cx="8138160" cy="402336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中期边界：不展开完整游戏、IP 复用与最终下板结果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ST7571 LCD · SPI · MMIO · RISC-V ASM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ST7571 的 LCD SPI 接口控制器及汇编驱动</dc:title>
  <dc:subject>汇编与接口技术课程设计中期汇报</dc:subject>
  <dc:creator>OpenAI</dc:creator>
  <cp:lastModifiedBy>OpenAI</cp:lastModifiedBy>
  <cp:revision>1</cp:revision>
  <dcterms:created xsi:type="dcterms:W3CDTF">2026-09-10T05:53:19Z</dcterms:created>
  <dcterms:modified xsi:type="dcterms:W3CDTF">2026-09-10T05:53:19Z</dcterms:modified>
</cp:coreProperties>
</file>