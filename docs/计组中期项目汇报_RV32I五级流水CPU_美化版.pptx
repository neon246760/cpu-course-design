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各位老师好，我们汇报的题目是基于水平微码控制的 RV32I 五级流水 CPU。本次中期汇报只聚焦基础 CPU：它能否执行 27 条基础指令，能否正确处理流水线相关，以及验证是否形成闭环。成员和班级信息请在正式答辩前补全。
内容依据：
- docs/中期与最终汇报范围划分.md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课程要求处理器至少支持 16 条指令，并覆盖运算、传送和控制三类操作。我们的基础实现支持 27 条 RV32I 指令，采用 IF、ID、EX、MEM、WB 五级流水。控制上由水平微码描述指令行为，由硬布线仲裁器处理暂停和冲刷。指令和数据接口分离，慢存储器通过 ready 握手。
内容依据：
- docs/中期与最终汇报范围划分.md §3.2
- docs/核心设计文档/01-指令编码与语义表.md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这页按功能展示基础指令集。算术逻辑和移位比较主要使用 ALU，加载存储在 EX 级计算地址并在 MEM 级访问，分支与跳转在 EX 级确认目标。指令宽度固定为 32 位，x0 始终为零，当前测试程序使用自然对齐访存。这里不逐条朗读控制字，只说明覆盖范围和代表行为。
内容依据：
- docs/核心设计文档/01-指令编码与语义表.md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数据通路采用经典五级结构。IF 负责 PC 和取指，ID 完成译码、寄存器读取、立即数生成和微码查询，EX 完成前递、ALU 与分支判断，MEM 处理访存握手，WB 选择结果并退休。四组流水寄存器让多条指令同时处于不同阶段，valid 位决定一条指令是否有资格产生架构副作用。
内容依据：
- docs/核心设计文档/06-五级流水完整数据通路图.md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微码控制器位于 ID 级。opcode 和 funct 字段先映射为微地址，微码 ROM 再输出 ALU、访存、写回和控制流字段。这些字段随指令进入后续流水寄存器。需要强调的是，微码回答这条指令要做什么，流水线仲裁器回答当前周期是否推进、保持或清除。非法编码会关闭写寄存器和写存储器。
内容依据：
- docs/核心设计文档/01-指令编码与语义表.md
- docs/核心设计文档/02-微控制字字段及每条指令取值表.md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每组流水寄存器都有 valid。正常推进时，字段和 valid 一起进入下一级。发生存储等待时保持有关寄存器。load-use 需要插入气泡时，只清 ID/EX 的 valid。发生分支冲刷时，清除年轻指令的 valid。统一使用 valid 可以保证无效指令不会写寄存器、存储器或改变控制流。
内容依据：
- docs/核心设计文档/03-流水寄存器字段表.md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数据相关主要通过前递解决。EX/MEM 和 MEM/WB 都可能提供最新值，同时命中时优先选择更近的 EX/MEM。只有 reg_write 有效且 rd 不是 x0 时才允许前递。store 的写数据也有独立前递路径，否则地址虽然正确，写入的数据仍可能是旧值。
内容依据：
- rtl/execute/forwarding_unit.sv
- docs/核心设计文档/07-核心功能测试用例清单.md §3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load-use 不能只靠普通 EX 前递，因为加载数据要到 MEM 之后才产生。检测到相邻消费者后，PC 和 IF/ID 保持一个周期，同时向 ID/EX 插入气泡。存储器等待则冻结后端并保持请求，MEM/WB 插入气泡，避免同一条旧指令重复退休。ready 到达后请求只提交一次。
内容依据：
- docs/核心设计文档/06-五级流水完整数据通路图.md §4
- rtl/core/pipeline_ctrl.sv
- rtl/core/cpu_core.sv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分支和跳转在 EX 级得到真实方向与目标。若需要重定向，控制器把 PC 切到目标地址，并清除 IF/ID 与 ID/EX 中两条年轻指令。分支本身继续向后完成。图中的 XX 表示被作废的错误路径指令，它们的 valid 已清零，因此不能产生寄存器、存储器或 MMIO 副作用。
内容依据：
- docs/核心设计文档/06-五级流水完整数据通路图.md §4
- rtl/core/pipeline_ctrl.sv
- sim/system/tb_cpu_core.sv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这页总结答辩时应展示的三个关键时序。第一类是 ALU 前递，观察 forward_a 和 forward_b。第二类是 load-use，观察 stall_data、PC 和各级 valid。第三类是分支冲刷，观察 redirect 与 flush。当前页面是根据 RTL 行为整理的时序摘要，正式答辩可把右侧摘要替换为同名信号的 Vivado 波形截图。
内容依据：
- docs/中期与最终汇报范围划分.md §3.3
- docs/performance/raw/raw_chain_0.trace.csv
- docs/performance/raw/load_use_sum_0.trace.csv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验证采用分层方法。模块级覆盖 ALU、立即数、译码、前递和 LSU，指令级覆盖 27 条基础指令，流水线级专门构造 RAW、load-use、store-data 和分支冲刷，系统级运行综合程序并加入存储等待。通过条件不仅是看到波形，还要求 TOHOST 等于 1、退休序列完整、错误路径无副作用，并且改变等待周期后架构结果保持一致。
内容依据：
- docs/核心设计文档/07-核心功能测试用例清单.md
- sim/system/tb_cpu_core.sv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逐页讲稿：
中期阶段已经完成 27 条基础指令、水平微码控制、五级数据通路和三类相关处理，并建立模块与 CPU 自检框架。下一阶段将增加异常与中断、I/D Cache 和动态分支预测，再进行单周期 CPU 性能对比和 FPGA 下板。本次中期汇报只把这些列为计划，不提前使用最终阶段成果。
内容依据：
- docs/中期与最终汇报范围划分.md §3.5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计算机组成原理课程设计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1152144"/>
            <a:ext cx="0" cy="2999232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298448"/>
            <a:ext cx="6583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基于水平微码控制的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 五级流水 CPU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024128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4005072"/>
            <a:ext cx="6492240" cy="502920"/>
          </a:xfrm>
          <a:prstGeom prst="rect">
            <a:avLst/>
          </a:prstGeom>
          <a:solidFill>
            <a:srgbClr val="121B31"/>
          </a:solidFill>
          <a:ln w="12700">
            <a:solidFill>
              <a:srgbClr val="27466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阶段目标：完成基础流水线、三类相关处理与自检验证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4846320"/>
            <a:ext cx="64922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263A5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成员：__________    班级：__________    日期：2026 年 9 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302752" y="1060704"/>
            <a:ext cx="2743200" cy="3977640"/>
          </a:xfrm>
          <a:prstGeom prst="rect">
            <a:avLst/>
          </a:prstGeom>
          <a:solidFill>
            <a:srgbClr val="111A31"/>
          </a:solidFill>
          <a:ln w="15240">
            <a:solidFill>
              <a:srgbClr val="3554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50224" y="1444752"/>
            <a:ext cx="2048256" cy="3209544"/>
          </a:xfrm>
          <a:prstGeom prst="rect">
            <a:avLst/>
          </a:prstGeom>
          <a:solidFill>
            <a:srgbClr val="0B102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0" y="1929384"/>
            <a:ext cx="16093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90688" y="1645920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84464" y="1737360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0688" y="2157984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84464" y="2249424"/>
            <a:ext cx="36576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267004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84464" y="2761488"/>
            <a:ext cx="3657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0688" y="3182112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84464" y="3273552"/>
            <a:ext cx="36576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0688" y="3694176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84464" y="3785616"/>
            <a:ext cx="36576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965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251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537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823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109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395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681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967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58784" y="51389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 · ID · EX · MEM · WB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 · 5-STAGE · MICROCODE · HAZARD CONTROL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项目范围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实训要求与总体方案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 CPU 聚焦 ISA、流水线控制与可验证闭环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83080"/>
            <a:ext cx="2304288" cy="950976"/>
          </a:xfrm>
          <a:prstGeom prst="rect">
            <a:avLst/>
          </a:prstGeom>
          <a:solidFill>
            <a:srgbClr val="121A2D"/>
          </a:solidFill>
          <a:ln w="15875">
            <a:solidFill>
              <a:srgbClr val="3B82F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≥16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9584" y="1783080"/>
            <a:ext cx="2304288" cy="950976"/>
          </a:xfrm>
          <a:prstGeom prst="rect">
            <a:avLst/>
          </a:prstGeom>
          <a:solidFill>
            <a:srgbClr val="121A2D"/>
          </a:solidFill>
          <a:ln w="15875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 / 传送 / 控制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45936" y="1783080"/>
            <a:ext cx="2304288" cy="950976"/>
          </a:xfrm>
          <a:prstGeom prst="rect">
            <a:avLst/>
          </a:prstGeom>
          <a:solidFill>
            <a:srgbClr val="121A2D"/>
          </a:solidFill>
          <a:ln w="15875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级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经典流水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62288" y="1783080"/>
            <a:ext cx="2304288" cy="950976"/>
          </a:xfrm>
          <a:prstGeom prst="rect">
            <a:avLst/>
          </a:prstGeom>
          <a:solidFill>
            <a:srgbClr val="121A2D"/>
          </a:solidFill>
          <a:ln w="15875">
            <a:solidFill>
              <a:srgbClr val="F8717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仿真闭环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8096" y="32918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当前基础方案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8096" y="3621024"/>
            <a:ext cx="10652760" cy="475488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 教学子集：27 条基础指令，覆盖算术逻辑、访存和控制转移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768096" y="4242816"/>
            <a:ext cx="10652760" cy="475488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控制结构：ID 级水平微码决定指令行为，硬布线仲裁器控制推进、暂停与清除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68096" y="4864608"/>
            <a:ext cx="10652760" cy="475488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DBFB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存储结构：Harvard 指令 / 数据接口分离，并以 ready 握手处理慢响应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 · 5-STAGE · MICROCODE · HAZARD CONTROL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基础指令集设计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条基础指令覆盖课程要求的三类操作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92224"/>
            <a:ext cx="1335024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792224"/>
            <a:ext cx="5193792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代表指令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1792224"/>
            <a:ext cx="3566160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典型控制行为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267712"/>
            <a:ext cx="1335024" cy="530352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算术 / 逻辑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77440" y="2267712"/>
            <a:ext cx="5193792" cy="53035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 · SUB · ADDI · AND · OR · XOR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7863840" y="2267712"/>
            <a:ext cx="3566160" cy="53035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ALU 计算，结果写回 rd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749808" y="2962656"/>
            <a:ext cx="1335024" cy="530352"/>
          </a:xfrm>
          <a:prstGeom prst="rect">
            <a:avLst/>
          </a:prstGeom>
          <a:solidFill>
            <a:srgbClr val="10172A"/>
          </a:solidFill>
          <a:ln w="15240">
            <a:solidFill>
              <a:srgbClr val="22D3E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移位 / 比较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962656"/>
            <a:ext cx="5193792" cy="53035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SLL · SRL · SRA · SLT · SLTU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7863840" y="2962656"/>
            <a:ext cx="3566160" cy="53035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移位结果或 0/1 比较结果写回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749808" y="3657600"/>
            <a:ext cx="1335024" cy="530352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传送 / 访存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77440" y="3657600"/>
            <a:ext cx="5193792" cy="53035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LW · SW · LB · LBU · LH · LHU · SB · SH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7863840" y="3657600"/>
            <a:ext cx="3566160" cy="53035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 计算地址，MEM 完成读写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749808" y="4352544"/>
            <a:ext cx="1335024" cy="530352"/>
          </a:xfrm>
          <a:prstGeom prst="rect">
            <a:avLst/>
          </a:prstGeom>
          <a:solidFill>
            <a:srgbClr val="10172A"/>
          </a:solidFill>
          <a:ln w="15240"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控制转移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77440" y="4352544"/>
            <a:ext cx="5193792" cy="53035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BEQ · BNE · BLT · BGE · JAL · JALR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7863840" y="4352544"/>
            <a:ext cx="3566160" cy="53035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 判定并重定向 PC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868680" y="5394960"/>
            <a:ext cx="1417320" cy="29260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32 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97480" y="5394960"/>
            <a:ext cx="1417320" cy="292608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x0 恒为 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6280" y="5394960"/>
            <a:ext cx="1417320" cy="292608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自然对齐访存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54681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3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中期只展示分类、代表性编码与控制行为，不逐条展开微控制字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 · 5-STAGE · MICROCODE · HAZARD CONTROL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数据通路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五级流水总体结构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指令与控制字段沿四组流水寄存器同步向后传递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59152" y="2208276"/>
            <a:ext cx="384048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98848" y="2208276"/>
            <a:ext cx="384048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38544" y="2208276"/>
            <a:ext cx="384048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778240" y="2208276"/>
            <a:ext cx="384048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13232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取指 / PC+4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852928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译码 / 读寄存器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992624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ALU / 分支判定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132320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访存 / 握手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272016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F8717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WB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选择结果 / 退休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125431" y="26974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IF/ID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65127" y="26974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ID/EX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4823" y="26974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EX/MEM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44519" y="26974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MEM/WB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4672" y="3694176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关键组合逻辑边界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" y="4059936"/>
            <a:ext cx="4983480" cy="402336"/>
          </a:xfrm>
          <a:prstGeom prst="rect">
            <a:avLst/>
          </a:prstGeom>
          <a:solidFill>
            <a:srgbClr val="121A2D"/>
          </a:solidFill>
          <a:ln w="12700">
            <a:solidFill>
              <a:srgbClr val="3B82F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IF：下一 PC 选择与取指请求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291072" y="4059936"/>
            <a:ext cx="4983480" cy="402336"/>
          </a:xfrm>
          <a:prstGeom prst="rect">
            <a:avLst/>
          </a:prstGeom>
          <a:solidFill>
            <a:srgbClr val="121A2D"/>
          </a:solidFill>
          <a:ln w="12700">
            <a:solidFill>
              <a:srgbClr val="3B82F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ID：微码查询、立即数与冒险检测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804672" y="4700016"/>
            <a:ext cx="4983480" cy="402336"/>
          </a:xfrm>
          <a:prstGeom prst="rect">
            <a:avLst/>
          </a:prstGeom>
          <a:solidFill>
            <a:srgbClr val="121A2D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EX：前递、ALU、分支目标与重定向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6291072" y="4700016"/>
            <a:ext cx="4983480" cy="402336"/>
          </a:xfrm>
          <a:prstGeom prst="rect">
            <a:avLst/>
          </a:prstGeom>
          <a:solidFill>
            <a:srgbClr val="121A2D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MEM/WB：握手完成后写回并退休一次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2212848" y="5623560"/>
            <a:ext cx="7772400" cy="402336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BFB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 位统一约束写寄存器、写存储器和控制重定向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 · 5-STAGE · MICROCODE · HAZARD CONTROL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控制结构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水平微码控制器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微码决定“做什么”，流水线仲裁器决定“何时做”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0360" y="2176272"/>
            <a:ext cx="621792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32120" y="2176272"/>
            <a:ext cx="621792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83880" y="2176272"/>
            <a:ext cx="621792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60120" y="1847088"/>
            <a:ext cx="18745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opcode / funct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级字段译码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611880" y="1847088"/>
            <a:ext cx="18745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微地址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合法指令映射 0x00–0x1F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263640" y="1847088"/>
            <a:ext cx="18745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微码 ROM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输出水平控制字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915400" y="1847088"/>
            <a:ext cx="18745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ID/EX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控制字段随指令流动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04672" y="3703320"/>
            <a:ext cx="2331720" cy="786384"/>
          </a:xfrm>
          <a:prstGeom prst="rect">
            <a:avLst/>
          </a:prstGeom>
          <a:solidFill>
            <a:srgbClr val="121A2D"/>
          </a:solidFill>
          <a:ln w="14605">
            <a:solidFill>
              <a:srgbClr val="3B82F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ALU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alu_op / op_a_sel / op_b_sel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3621024" y="3703320"/>
            <a:ext cx="2331720" cy="786384"/>
          </a:xfrm>
          <a:prstGeom prst="rect">
            <a:avLst/>
          </a:prstGeom>
          <a:solidFill>
            <a:srgbClr val="121A2D"/>
          </a:solidFill>
          <a:ln w="14605">
            <a:solidFill>
              <a:srgbClr val="34D399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访存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mem_read / mem_write / mem_size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6437376" y="3703320"/>
            <a:ext cx="2331720" cy="786384"/>
          </a:xfrm>
          <a:prstGeom prst="rect">
            <a:avLst/>
          </a:prstGeom>
          <a:solidFill>
            <a:srgbClr val="121A2D"/>
          </a:solidFill>
          <a:ln w="14605">
            <a:solidFill>
              <a:srgbClr val="F59E0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写回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reg_write / wb_sel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9253728" y="3703320"/>
            <a:ext cx="2331720" cy="786384"/>
          </a:xfrm>
          <a:prstGeom prst="rect">
            <a:avLst/>
          </a:prstGeom>
          <a:solidFill>
            <a:srgbClr val="121A2D"/>
          </a:solidFill>
          <a:ln w="14605">
            <a:solidFill>
              <a:srgbClr val="F87171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控制流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branch_type / jump_type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1591056" y="5321808"/>
            <a:ext cx="9006840" cy="475488"/>
          </a:xfrm>
          <a:prstGeom prst="rect">
            <a:avLst/>
          </a:prstGeom>
          <a:solidFill>
            <a:srgbClr val="2B1018"/>
          </a:solidFill>
          <a:ln w="12700">
            <a:solidFill>
              <a:srgbClr val="F8717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D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未支持编码映射到默认微指令，关闭寄存器和存储器副作用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 · 5-STAGE · MICROCODE · HAZARD CONTROL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流水控制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流水寄存器与 valid 机制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正常推进、保持、气泡与冲刷都只改变有效性和推进关系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764792"/>
            <a:ext cx="2286000" cy="969264"/>
          </a:xfrm>
          <a:prstGeom prst="rect">
            <a:avLst/>
          </a:prstGeom>
          <a:solidFill>
            <a:srgbClr val="121A2D"/>
          </a:solidFill>
          <a:ln w="15875">
            <a:solidFill>
              <a:srgbClr val="34D39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正常推进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enable = 1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字段与 valid 同步进入下一级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3502152" y="1764792"/>
            <a:ext cx="2286000" cy="969264"/>
          </a:xfrm>
          <a:prstGeom prst="rect">
            <a:avLst/>
          </a:prstGeom>
          <a:solidFill>
            <a:srgbClr val="121A2D"/>
          </a:solidFill>
          <a:ln w="15875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enable = 0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与相关流水寄存器保持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6291072" y="1764792"/>
            <a:ext cx="2286000" cy="969264"/>
          </a:xfrm>
          <a:prstGeom prst="rect">
            <a:avLst/>
          </a:prstGeom>
          <a:solidFill>
            <a:srgbClr val="121A2D"/>
          </a:solidFill>
          <a:ln w="15875">
            <a:solidFill>
              <a:srgbClr val="3B82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插入气泡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清目标级 valid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数据字段无需产生副作用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9079992" y="1764792"/>
            <a:ext cx="2286000" cy="969264"/>
          </a:xfrm>
          <a:prstGeom prst="rect">
            <a:avLst/>
          </a:prstGeom>
          <a:solidFill>
            <a:srgbClr val="121A2D"/>
          </a:solidFill>
          <a:ln w="15875">
            <a:solidFill>
              <a:srgbClr val="F8717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冲刷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清年轻指令 valid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错误路径不能写回或访存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749808" y="3438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四组寄存器保留各级所需的数据与控制字段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59536" y="3858768"/>
            <a:ext cx="212140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IF/ID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· instr · valid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3648456" y="3858768"/>
            <a:ext cx="212140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ID/EX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源操作数 · imm · 控制字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6437376" y="3858768"/>
            <a:ext cx="212140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EX/MEM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alu_result · store_data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9226296" y="3858768"/>
            <a:ext cx="212140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MEM/WB</a:t>
            </a:r>
            <a:endParaRPr lang="en-US" sz="1010" dirty="0"/>
          </a:p>
          <a:p>
            <a:pPr algn="ctr" indent="0" marL="0">
              <a:buNone/>
            </a:pPr>
            <a:r>
              <a:rPr lang="en-US" sz="101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load_data · wb_sel · rd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1481328" y="5440680"/>
            <a:ext cx="9235440" cy="438912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5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统一安全条件：只有 valid = 1 的指令才允许产生架构副作用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 · 5-STAGE · MICROCODE · HAZARD CONTROL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前递网络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数据相关解决方案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后继指令优先取得最近的尚未写回结果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377440"/>
            <a:ext cx="118872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2377440"/>
            <a:ext cx="160020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0" y="2377440"/>
            <a:ext cx="100584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49808" y="2048256"/>
            <a:ext cx="155448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ID/EX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rs1 / rs2 原值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456432" y="2048256"/>
            <a:ext cx="1408176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前递 MUX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选择最新操作数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382512" y="2048256"/>
            <a:ext cx="16459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EX/MEM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ALU 或 PC+4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9363456" y="2048256"/>
            <a:ext cx="155448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MEM/WB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最终写回值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86384" y="3968496"/>
            <a:ext cx="315468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EX/MEM 命中优先于 MEM/WB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保证连续写同一 rd 后读取最新值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3968496"/>
            <a:ext cx="315468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过滤条件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reg_write = 1 且 rd ≠ x0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只对指令真实使用的源寄存器比较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3968496"/>
            <a:ext cx="315468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Store 数据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rs2 独立经过前递路径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避免把旧值写入数据存储器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 · 5-STAGE · MICROCODE · HAZARD CONTROL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停顿机制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load-use 与存储等待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数据未产生时插入气泡，存储未响应时冻结后端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755648"/>
            <a:ext cx="5120640" cy="1005840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load-use</a:t>
            </a:r>
            <a:endParaRPr lang="en-US" sz="1140" dirty="0"/>
          </a:p>
          <a:p>
            <a:pPr algn="l" indent="0" marL="0">
              <a:buNone/>
            </a:pPr>
            <a:r>
              <a:rPr lang="en-US" sz="114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 PC 与 IF/ID</a:t>
            </a:r>
            <a:endParaRPr lang="en-US" sz="1140" dirty="0"/>
          </a:p>
          <a:p>
            <a:pPr algn="l" indent="0" marL="0">
              <a:buNone/>
            </a:pPr>
            <a:r>
              <a:rPr lang="en-US" sz="114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 ID/EX 插入 1 个气泡</a:t>
            </a:r>
            <a:endParaRPr lang="en-US" sz="1140" dirty="0"/>
          </a:p>
          <a:p>
            <a:pPr algn="l" indent="0" marL="0">
              <a:buNone/>
            </a:pPr>
            <a:r>
              <a:rPr lang="en-US" sz="114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数据到 MEM/WB 后前递给消费者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291072" y="1755648"/>
            <a:ext cx="5120640" cy="1005840"/>
          </a:xfrm>
          <a:prstGeom prst="rect">
            <a:avLst/>
          </a:prstGeom>
          <a:solidFill>
            <a:srgbClr val="201B12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FF2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存储器等待</a:t>
            </a:r>
            <a:endParaRPr lang="en-US" sz="1140" dirty="0"/>
          </a:p>
          <a:p>
            <a:pPr algn="l" indent="0" marL="0">
              <a:buNone/>
            </a:pPr>
            <a:r>
              <a:rPr lang="en-US" sz="1140" b="1" dirty="0">
                <a:solidFill>
                  <a:srgbClr val="FFF2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 EX/MEM 和请求信息</a:t>
            </a:r>
            <a:endParaRPr lang="en-US" sz="1140" dirty="0"/>
          </a:p>
          <a:p>
            <a:pPr algn="l" indent="0" marL="0">
              <a:buNone/>
            </a:pPr>
            <a:r>
              <a:rPr lang="en-US" sz="1140" b="1" dirty="0">
                <a:solidFill>
                  <a:srgbClr val="FFF2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MEM/WB 注入气泡，避免重复退休</a:t>
            </a:r>
            <a:endParaRPr lang="en-US" sz="1140" dirty="0"/>
          </a:p>
          <a:p>
            <a:pPr algn="l" indent="0" marL="0">
              <a:buNone/>
            </a:pPr>
            <a:r>
              <a:rPr lang="en-US" sz="1140" b="1" dirty="0">
                <a:solidFill>
                  <a:srgbClr val="FFF2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ready 到达后只提交一次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41248" y="33101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874520" y="33101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971800" y="33101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069080" y="33101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166360" y="33101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263640" y="33101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360920" y="33101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8458200" y="33101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841248" y="36758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LW x1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1737360" y="3639312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34640" y="3639312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1920" y="3639312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3639312"/>
            <a:ext cx="640080" cy="23774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3639312"/>
            <a:ext cx="640080" cy="23774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420624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 x2,x1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1874520" y="4169664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71800" y="4169664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69080" y="4169664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66360" y="4169664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4169664"/>
            <a:ext cx="640080" cy="23774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60920" y="4169664"/>
            <a:ext cx="640080" cy="23774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80160" y="5010912"/>
            <a:ext cx="6858000" cy="384048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E5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时序示意：第 4 周期保持前端，并让消费者延后进入 EX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8458200" y="5010912"/>
            <a:ext cx="1234440" cy="310896"/>
          </a:xfrm>
          <a:prstGeom prst="rect">
            <a:avLst/>
          </a:prstGeom>
          <a:solidFill>
            <a:srgbClr val="2C1D0C"/>
          </a:solidFill>
          <a:ln w="12700"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2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请求保持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9875520" y="5010912"/>
            <a:ext cx="1234440" cy="310896"/>
          </a:xfrm>
          <a:prstGeom prst="rect">
            <a:avLst/>
          </a:prstGeom>
          <a:solidFill>
            <a:srgbClr val="0F2C20"/>
          </a:solidFill>
          <a:ln w="12700">
            <a:solidFill>
              <a:srgbClr val="34D3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DBFB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单次提交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 · 5-STAGE · MICROCODE · HAZARD CONTROL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分支与跳转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控制相关解决方案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 级确认方向后，PC 重定向并作废两条年轻错误路径指令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2176272"/>
            <a:ext cx="713232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40680" y="2176272"/>
            <a:ext cx="713232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176272"/>
            <a:ext cx="713232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68680" y="1847088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BEQ / JAL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 判定 taken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566160" y="1847088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redirect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计算真实目标 PC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263640" y="1847088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8717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flush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IF/ID 与 ID/EX 清 valid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961120" y="1847088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目标取指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下一周期重新填充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41248" y="321868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分支冲刷时序示意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BEQ(taken)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3566160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3566160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3566160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23560" y="3566160"/>
            <a:ext cx="640080" cy="23774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3566160"/>
            <a:ext cx="640080" cy="23774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40507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顺序指令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20240" y="4005072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54680" y="4005072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0" y="4005072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44897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顺序指令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20240" y="4443984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54680" y="4443984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49286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目标指令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89120" y="4882896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23560" y="4882896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882896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28800" y="5559552"/>
            <a:ext cx="8503920" cy="402336"/>
          </a:xfrm>
          <a:prstGeom prst="rect">
            <a:avLst/>
          </a:prstGeom>
          <a:solidFill>
            <a:srgbClr val="2B1018"/>
          </a:solidFill>
          <a:ln w="12700">
            <a:solidFill>
              <a:srgbClr val="F8717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D6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错误路径指令 valid 清零，因此不能写寄存器、存储器或 MMIO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 · 5-STAGE · MICROCODE · HAZARD CONTROL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基础仿真证据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关键时序与退休轨迹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以下为可解释的时序摘要，答辩版可用同名信号的仿真截图替换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783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ALU 前递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forward_a / forward_b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2962656" y="1783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EX/MEM 命中时直接送入 ALU，后继指令无需等待写回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99516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0100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00684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1268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" y="2926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load-use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stall_data / valid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2962656" y="2926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与 IF/ID 保持，ID/EX 插入气泡，最终写回值正确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99516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0100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HOLD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06840" y="3127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BUBBLE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1268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" y="4069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分支冲刷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redirect / flush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2962656" y="4069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taken 后清除两条年轻指令，错误路径无副作用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99516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0100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006840" y="4270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FLUSH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1268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43584" y="5413248"/>
            <a:ext cx="9692640" cy="438912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E5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仓库中的 trace.csv 记录退休 PC、指令、rd 与写回值，可用于核对退休序列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 · 5-STAGE · MICROCODE · HAZARD CONTROL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验证闭环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基础验证方法与通过标准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验证不只观察波形，还自动检查最终架构状态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783080"/>
            <a:ext cx="5074920" cy="877824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ALU、立即数、译码、前递、冒险、LSU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0216" y="1783080"/>
            <a:ext cx="5074920" cy="877824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条指令的边界值与合法组合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" y="3017520"/>
            <a:ext cx="5074920" cy="877824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RAW、load-use、store-data、分支冲刷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0216" y="3017520"/>
            <a:ext cx="5074920" cy="877824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综合程序、随机等待、TOHOST 与超时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" y="4663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统一通过标准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17320" y="5010912"/>
            <a:ext cx="9418320" cy="512064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5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TOHOST = 1；退休 PC / 指令无重复遗漏；冲刷指令无副作用；改变存储等待后结果一致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 · 5-STAGE · MICROCODE · HAZARD CONTROL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当前结论与下一阶段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基础五级流水 CPU 已形成完整设计与验证闭环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92224"/>
            <a:ext cx="3017520" cy="1216152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条基础 RV32I 指令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水平微码控制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五级数据通路与 valid 机制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71416" y="1792224"/>
            <a:ext cx="3017520" cy="1216152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已解决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EX/MEM 与 MEM/WB 前递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load-use 气泡与存储握手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 分支判定和两级冲刷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93024" y="1792224"/>
            <a:ext cx="3017520" cy="1216152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 CPU 自检 testbench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退休序列、寄存器和内存检查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综合程序级时序闭环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38039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19856" y="4636008"/>
            <a:ext cx="768096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86016" y="4636008"/>
            <a:ext cx="768096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04672" y="4315968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异常与中断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溢出、ECALL、外部中断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4370832" y="4315968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 与预测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I/D Cache、BTB + BHT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936992" y="4315968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 FPGA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单周期对比、时序、下板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1627632" y="5650992"/>
            <a:ext cx="8961120" cy="420624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DBFB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中期边界：基础 CPU 完成；下一阶段再扩展异常、Cache、预测与 FPGA 下板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RV32I · 5-STAGE · MICROCODE · HAZARD CONTROL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61320" y="64282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39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中期项目汇报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基于水平微码控制的 RV32I 五级流水 CPU</dc:title>
  <dc:subject>计算机组成原理课程设计中期汇报</dc:subject>
  <dc:creator>OpenAI</dc:creator>
  <cp:lastModifiedBy>OpenAI</cp:lastModifiedBy>
  <cp:revision>1</cp:revision>
  <dcterms:created xsi:type="dcterms:W3CDTF">2026-09-10T06:01:26Z</dcterms:created>
  <dcterms:modified xsi:type="dcterms:W3CDTF">2026-09-10T06:01:26Z</dcterms:modified>
</cp:coreProperties>
</file>