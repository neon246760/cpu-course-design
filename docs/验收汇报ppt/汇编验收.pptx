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053a28adfb4472" /><Relationship Type="http://schemas.openxmlformats.org/officeDocument/2006/relationships/extended-properties" Target="/docProps/app.xml" Id="R2829b33786294b54" /><Relationship Type="http://schemas.openxmlformats.org/officeDocument/2006/relationships/officeDocument" Target="/ppt/presentation.xml" Id="R9f4bd5f2cd4543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ab6383cacb47b7"/>
  </p:sldMasterIdLst>
  <p:notesMasterIdLst>
    <p:notesMasterId xmlns:r="http://schemas.openxmlformats.org/officeDocument/2006/relationships" r:id="R7be78786ab214bad"/>
  </p:notesMasterIdLst>
  <p:sldIdLst>
    <p:sldId xmlns:r="http://schemas.openxmlformats.org/officeDocument/2006/relationships" id="256" r:id="R72ee46612141434f"/>
    <p:sldId xmlns:r="http://schemas.openxmlformats.org/officeDocument/2006/relationships" id="257" r:id="R439e78599fc14407"/>
    <p:sldId xmlns:r="http://schemas.openxmlformats.org/officeDocument/2006/relationships" id="258" r:id="R2cc54cac30fb45a9"/>
    <p:sldId xmlns:r="http://schemas.openxmlformats.org/officeDocument/2006/relationships" id="259" r:id="R276bfabf7c694ede"/>
    <p:sldId xmlns:r="http://schemas.openxmlformats.org/officeDocument/2006/relationships" id="260" r:id="Rd3e02fcd23cc471f"/>
    <p:sldId xmlns:r="http://schemas.openxmlformats.org/officeDocument/2006/relationships" id="261" r:id="Rdf2cb56ab3f642db"/>
    <p:sldId xmlns:r="http://schemas.openxmlformats.org/officeDocument/2006/relationships" id="262" r:id="R513ae45225fe4c81"/>
    <p:sldId xmlns:r="http://schemas.openxmlformats.org/officeDocument/2006/relationships" id="263" r:id="R399cfb4505d84aff"/>
    <p:sldId xmlns:r="http://schemas.openxmlformats.org/officeDocument/2006/relationships" id="264" r:id="Rc672fffca9b24123"/>
    <p:sldId xmlns:r="http://schemas.openxmlformats.org/officeDocument/2006/relationships" id="265" r:id="Raaf28134c4934468"/>
    <p:sldId xmlns:r="http://schemas.openxmlformats.org/officeDocument/2006/relationships" id="266" r:id="Rf03f48d931674075"/>
    <p:sldId xmlns:r="http://schemas.openxmlformats.org/officeDocument/2006/relationships" id="267" r:id="R40a5124d61a14fe6"/>
    <p:sldId xmlns:r="http://schemas.openxmlformats.org/officeDocument/2006/relationships" id="268" r:id="Re0aeb2958be645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0ef65eccff4227" /><Relationship Type="http://schemas.openxmlformats.org/officeDocument/2006/relationships/slideMaster" Target="/ppt/slideMasters/slideMaster1.xml" Id="Ra9ab6383cacb47b7" /><Relationship Type="http://schemas.openxmlformats.org/officeDocument/2006/relationships/notesMaster" Target="/ppt/notesMasters/notesMaster1.xml" Id="R7be78786ab214bad" /><Relationship Type="http://schemas.openxmlformats.org/officeDocument/2006/relationships/presProps" Target="/ppt/presProps.xml" Id="R932838fdd2d0436c" /><Relationship Type="http://schemas.openxmlformats.org/officeDocument/2006/relationships/viewProps" Target="/ppt/viewProps.xml" Id="Re67d131e063e4008" /><Relationship Type="http://schemas.openxmlformats.org/officeDocument/2006/relationships/tableStyles" Target="/ppt/tableStyles.xml" Id="R729238b88a134a18" /><Relationship Type="http://schemas.openxmlformats.org/officeDocument/2006/relationships/slide" Target="/ppt/slides/slide1.xml" Id="R72ee46612141434f" /><Relationship Type="http://schemas.openxmlformats.org/officeDocument/2006/relationships/slide" Target="/ppt/slides/slide2.xml" Id="R439e78599fc14407" /><Relationship Type="http://schemas.openxmlformats.org/officeDocument/2006/relationships/slide" Target="/ppt/slides/slide3.xml" Id="R2cc54cac30fb45a9" /><Relationship Type="http://schemas.openxmlformats.org/officeDocument/2006/relationships/slide" Target="/ppt/slides/slide4.xml" Id="R276bfabf7c694ede" /><Relationship Type="http://schemas.openxmlformats.org/officeDocument/2006/relationships/slide" Target="/ppt/slides/slide5.xml" Id="Rd3e02fcd23cc471f" /><Relationship Type="http://schemas.openxmlformats.org/officeDocument/2006/relationships/slide" Target="/ppt/slides/slide6.xml" Id="Rdf2cb56ab3f642db" /><Relationship Type="http://schemas.openxmlformats.org/officeDocument/2006/relationships/slide" Target="/ppt/slides/slide7.xml" Id="R513ae45225fe4c81" /><Relationship Type="http://schemas.openxmlformats.org/officeDocument/2006/relationships/slide" Target="/ppt/slides/slide8.xml" Id="R399cfb4505d84aff" /><Relationship Type="http://schemas.openxmlformats.org/officeDocument/2006/relationships/slide" Target="/ppt/slides/slide9.xml" Id="Rc672fffca9b24123" /><Relationship Type="http://schemas.openxmlformats.org/officeDocument/2006/relationships/slide" Target="/ppt/slides/slide10.xml" Id="Raaf28134c4934468" /><Relationship Type="http://schemas.openxmlformats.org/officeDocument/2006/relationships/slide" Target="/ppt/slides/slide11.xml" Id="Rf03f48d931674075" /><Relationship Type="http://schemas.openxmlformats.org/officeDocument/2006/relationships/slide" Target="/ppt/slides/slide12.xml" Id="R40a5124d61a14fe6" /><Relationship Type="http://schemas.openxmlformats.org/officeDocument/2006/relationships/slide" Target="/ppt/slides/slide13.xml" Id="Re0aeb2958be645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50a6f9b0f24b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db8ca0f305479f" /><Relationship Type="http://schemas.openxmlformats.org/officeDocument/2006/relationships/notesMaster" Target="/ppt/notesMasters/notesMaster1.xml" Id="Rdd5c7aaccde94c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541387b3964a01" /><Relationship Type="http://schemas.openxmlformats.org/officeDocument/2006/relationships/notesMaster" Target="/ppt/notesMasters/notesMaster1.xml" Id="R3fd614c8b81a40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cd82f328124cd4" /><Relationship Type="http://schemas.openxmlformats.org/officeDocument/2006/relationships/notesMaster" Target="/ppt/notesMasters/notesMaster1.xml" Id="Rabfedab3e1e645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c590697b7f445f" /><Relationship Type="http://schemas.openxmlformats.org/officeDocument/2006/relationships/notesMaster" Target="/ppt/notesMasters/notesMaster1.xml" Id="R580d874fed2743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bf8b69488c4709" /><Relationship Type="http://schemas.openxmlformats.org/officeDocument/2006/relationships/notesMaster" Target="/ppt/notesMasters/notesMaster1.xml" Id="Rc561fd9cdc054b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97b1d9b6174257" /><Relationship Type="http://schemas.openxmlformats.org/officeDocument/2006/relationships/notesMaster" Target="/ppt/notesMasters/notesMaster1.xml" Id="R24357cdf28244f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cac3fbb7e34a77" /><Relationship Type="http://schemas.openxmlformats.org/officeDocument/2006/relationships/notesMaster" Target="/ppt/notesMasters/notesMaster1.xml" Id="R409e7cad4abd46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5e73badc0c44dc" /><Relationship Type="http://schemas.openxmlformats.org/officeDocument/2006/relationships/notesMaster" Target="/ppt/notesMasters/notesMaster1.xml" Id="R173aae221d774b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f1892c7ae64803" /><Relationship Type="http://schemas.openxmlformats.org/officeDocument/2006/relationships/notesMaster" Target="/ppt/notesMasters/notesMaster1.xml" Id="R4888b7df44c140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9d27a09da14871" /><Relationship Type="http://schemas.openxmlformats.org/officeDocument/2006/relationships/notesMaster" Target="/ppt/notesMasters/notesMaster1.xml" Id="R87dfae7485c74e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70528925624ce6" /><Relationship Type="http://schemas.openxmlformats.org/officeDocument/2006/relationships/notesMaster" Target="/ppt/notesMasters/notesMaster1.xml" Id="R071ecf72f2c14b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0e28a01cda43de" /><Relationship Type="http://schemas.openxmlformats.org/officeDocument/2006/relationships/notesMaster" Target="/ppt/notesMasters/notesMaster1.xml" Id="R0bba349495ee44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9e11e48b17443e8" /><Relationship Type="http://schemas.openxmlformats.org/officeDocument/2006/relationships/notesMaster" Target="/ppt/notesMasters/notesMaster1.xml" Id="R179440ad02cc40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各位老师好，我们汇报的是基于 ST7571 的可复用 LCD SPI 接口控制器及 RISC-V 汇编图形应用。最终成果包括独立 LCD 控制器 IP、MMIO 驱动和 10 乘 20 俄罗斯方块程序。硬件负责复位、初始化、串行发送和像素映射，汇编软件负责输入、游戏规则和刷新调度。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docs/中期与最终汇报范围划分.md §7</a:t>
            </a:r>
          </a:p>
          <a:p xmlns:a="http://schemas.openxmlformats.org/drawingml/2006/main">
            <a:r>
              <a:t>- docs/实验报告/接口控制器设计实验报告.docx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系统从手柄和拨码输入开始，汇编程序在 CPU 上运行，通过 GPIO 和 LCD MMIO 访问外设。地址译码器使用 req、ready 握手连接 LCD 控制器，控制器再把命令、数据和棋盘帧转换成 ST7571 的四线 SPI。消行事件单独写蜂鸣器寄存器，形成声音反馈。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docs/中期与最终汇报范围划分.md §5.2</a:t>
            </a:r>
          </a:p>
          <a:p xmlns:a="http://schemas.openxmlformats.org/drawingml/2006/main">
            <a:r>
              <a:t>- rtl/soc/soc_top.sv</a:t>
            </a:r>
          </a:p>
          <a:p xmlns:a="http://schemas.openxmlformats.org/drawingml/2006/main">
            <a:r>
              <a:t>- firmware/tetris.S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LCD 控制器分成上层状态机和 SPI master。状态机完成硬复位、120 毫秒等待、初始化命令和清屏，进入 IDLE 后接受软件请求。每个字节都经过 WAIT_BUSY 和 WAIT_DONE，continuation 决定完成后返回初始化、清屏或用户路径。tx_ready 只在 IDLE 且 SPI 空闲时有效。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rtl/peripheral/lcd_controller.sv</a:t>
            </a:r>
          </a:p>
          <a:p xmlns:a="http://schemas.openxmlformats.org/drawingml/2006/main">
            <a:r>
              <a:t>- rtl/peripheral/lcd_spi_master.sv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软件通过七个 MMIO 寄存器操作 LCD 和蜂鸣器。CMD 与 DATA 分别决定 RS 为零或一，STATUS 提供 ready 和 initialized。CTRL 支持重初始化、清屏和固定文字。GAME_ROW 上传行号与十位棋盘数据，GAME_REFRESH 触发整屏刷新。所有地址强制旁路 Cache，并保持强顺序。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docs/核心设计文档/05-地址空间与MMIO寄存器表.md</a:t>
            </a:r>
          </a:p>
          <a:p xmlns:a="http://schemas.openxmlformats.org/drawingml/2006/main">
            <a:r>
              <a:t>- rtl/soc/soc_top.sv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控制器已封装为 local:user:lcd_controller:1.0。IP 目录只包含 component.xml、src 和 xgui，避免把 CPU、SoC 与约束文件误纳入 IP。component.xml 声明端口、时序参数、综合与仿真文件组。仓库脚本可以重新打包并在 IP Catalog 中注册。答辩前应补入 Catalog、Block Design、Validate Design 和输出产品截图。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ip/lcd_controller_v1_0/component.xml</a:t>
            </a:r>
          </a:p>
          <a:p xmlns:a="http://schemas.openxmlformats.org/drawingml/2006/main">
            <a:r>
              <a:t>- docs/IP核生成与验证指南.md</a:t>
            </a:r>
          </a:p>
          <a:p xmlns:a="http://schemas.openxmlformats.org/drawingml/2006/main">
            <a:r>
              <a:t>- sim/package_lcd_ip.tcl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汇编软件分成四层。底层驱动轮询状态并完成命令、数据、行上传和刷新。帧组织层把固定棋盘与活动方块合成二十行。游戏规则层处理碰撞、移动、旋转、锁定、消行与重开。MMIO 与硬件层完成地址译码、ready 背压、LCD 控制器和 SPI。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firmware/tetris.S</a:t>
            </a:r>
          </a:p>
          <a:p xmlns:a="http://schemas.openxmlformats.org/drawingml/2006/main">
            <a:r>
              <a:t>- docs/中期与最终汇报范围划分.md §5.5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棋盘在 DMEM 中保存为二十个十位行，满行值为 0x3FF。七种方块的四个旋转状态使用四乘四位图表示。当前活动方块由类型、旋转、x 和 y 描述。显示前把固定棋盘复制到临时帧，再叠加活动方块，避免修改尚未锁定的棋盘。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firmware/tetris.S:28–43, 189–203, 317–374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移动和旋转采用试探式更新。程序先计算候选 x、y 或旋转状态，再逐位检查四乘四位图。越过左右边界、底部或与固定棋盘重叠都返回 blocked。若碰撞则撤销；旋转还尝试向左或向右偏移一次，形成简单 wall kick。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firmware/tetris.S:81–172, 204–249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方块无法继续下降时，程序把活动方块按位或到固定棋盘。随后从底部向上扫描，检测 0x3FF 满行；发现满行就把上方行整体下移并清空顶行。只要本次锁定产生消行，就向 0x20000038 写一次，硬件产生约 2 kHz、120 毫秒提示音。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firmware/tetris.S:165–186, 251–315</a:t>
            </a:r>
          </a:p>
          <a:p xmlns:a="http://schemas.openxmlformats.org/drawingml/2006/main">
            <a:r>
              <a:t>- rtl/soc/soc_top.sv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刷新时，软件逐行把行号和十位数据写入 LCD_GAME_ROW，完成二十行上传后写 LCD_GAME_REFRESH。硬件把两行逻辑棋盘映射到一个八像素页面，每个方块使用八列实体和两列间隔。这样软件只处理棋盘位图，不逐像素发送一万多个显示位。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firmware/tetris.S:317–374</a:t>
            </a:r>
          </a:p>
          <a:p xmlns:a="http://schemas.openxmlformats.org/drawingml/2006/main">
            <a:r>
              <a:t>- rtl/peripheral/lcd_controller.sv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验证分为 SPI、控制器、MMIO、游戏系统、IP 复用和实板六层。SPI 测试检查 0xA5 的八位 MSB first、RS 与空闲恢复；控制器测试检查复位、初始化与传输次数；系统测试检查二十行上传顺序、方向键、软降释放和蜂鸣器事件。所有自动化测试以断言和 PASS 作为通过条件。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sim/unit/tb_lcd_spi_master.sv</a:t>
            </a:r>
          </a:p>
          <a:p xmlns:a="http://schemas.openxmlformats.org/drawingml/2006/main">
            <a:r>
              <a:t>- sim/unit/tb_lcd_controller.sv</a:t>
            </a:r>
          </a:p>
          <a:p xmlns:a="http://schemas.openxmlformats.org/drawingml/2006/main">
            <a:r>
              <a:t>- sim/system/tb_tetris_system.sv</a:t>
            </a:r>
          </a:p>
          <a:p xmlns:a="http://schemas.openxmlformats.org/drawingml/2006/main">
            <a:r>
              <a:t>- docs/测试报告.md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现场演示建议按上电、开始、左右移动、旋转、软降、锁定、消行蜂鸣和重新开始的顺序。已有报告记录基础 LCD 测试图案与按键路径，但仓库没有最终游戏画面、蜂鸣器和 IP Catalog 截图。本页因此只列验收点，答辩前必须插入同一 bitstream 对应的实物照片或现场视频帧。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docs/中期与最终汇报范围划分.md §7.2, §10</a:t>
            </a:r>
          </a:p>
          <a:p xmlns:a="http://schemas.openxmlformats.org/drawingml/2006/main">
            <a:r>
              <a:t>- docs/Vivado下板操作.md §12</a:t>
            </a:r>
          </a:p>
          <a:p xmlns:a="http://schemas.openxmlformats.org/drawingml/2006/main">
            <a:r>
              <a:t>- firmware/tetris.S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逐页讲稿：</a:t>
            </a:r>
          </a:p>
          <a:p xmlns:a="http://schemas.openxmlformats.org/drawingml/2006/main">
            <a:r>
              <a:t>最终成果形成了可独立复用的 LCD SPI IP、清晰的 MMIO 软件接口和完整汇编图形应用。课程边界上，CPU 微架构和性能属于计组；本课程评价接口协议、IP 封装、汇编驱动和软硬件协同。现有仿真已经覆盖核心功能，最终提交还需把实物证据和视频与代码版本绑定。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</a:t>
            </a:r>
          </a:p>
          <a:p xmlns:a="http://schemas.openxmlformats.org/drawingml/2006/main">
            <a:r>
              <a:t>- docs/实验报告/接口控制器设计实验报告.docx</a:t>
            </a:r>
          </a:p>
          <a:p xmlns:a="http://schemas.openxmlformats.org/drawingml/2006/main">
            <a:r>
              <a:t>- docs/中期与最终汇报范围划分.md §7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5e9c3ba45d4bf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e19cca2530445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983c1e694f42d5" /><Relationship Type="http://schemas.openxmlformats.org/officeDocument/2006/relationships/slideLayout" Target="/ppt/slideLayouts/slideLayout1.xml" Id="R29353dc213244d98" /><Relationship Type="http://schemas.openxmlformats.org/officeDocument/2006/relationships/slideLayout" Target="/ppt/slideLayouts/slideLayout2.xml" Id="Rfe0006d4cdbd423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353dc213244d98"/>
    <p:sldLayoutId xmlns:r="http://schemas.openxmlformats.org/officeDocument/2006/relationships" id="2147483650" r:id="Rfe0006d4cdbd423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fa397585f4dab" /><Relationship Type="http://schemas.openxmlformats.org/officeDocument/2006/relationships/notesSlide" Target="/ppt/notesSlides/notesSlide1.xml" Id="R2484ddf0787340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68615abf0444a" /><Relationship Type="http://schemas.openxmlformats.org/officeDocument/2006/relationships/image" Target="/ppt/media/image.png" Id="Rebdbfb3864b24f7e" /><Relationship Type="http://schemas.openxmlformats.org/officeDocument/2006/relationships/notesSlide" Target="/ppt/notesSlides/notesSlide2.xml" Id="R64bf0eb3002c44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4f1a2035f4f2f" /><Relationship Type="http://schemas.openxmlformats.org/officeDocument/2006/relationships/image" Target="/ppt/media/image2.png" Id="R668267d3bb0a4a32" /><Relationship Type="http://schemas.openxmlformats.org/officeDocument/2006/relationships/notesSlide" Target="/ppt/notesSlides/notesSlide3.xml" Id="Rf9923b9c030b42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1fdb3562a4d13" /><Relationship Type="http://schemas.openxmlformats.org/officeDocument/2006/relationships/notesSlide" Target="/ppt/notesSlides/notesSlide4.xml" Id="R6b149db6e15c41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8cad6cfed43f7" /><Relationship Type="http://schemas.openxmlformats.org/officeDocument/2006/relationships/notesSlide" Target="/ppt/notesSlides/notesSlide5.xml" Id="Reb3d45a96ff345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f05b82fb34b1e" /><Relationship Type="http://schemas.openxmlformats.org/officeDocument/2006/relationships/image" Target="/ppt/media/image3.png" Id="R172e98a3b509404b" /><Relationship Type="http://schemas.openxmlformats.org/officeDocument/2006/relationships/notesSlide" Target="/ppt/notesSlides/notesSlide6.xml" Id="R3a31c8f5f8ce47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122f9976042c7" /><Relationship Type="http://schemas.openxmlformats.org/officeDocument/2006/relationships/notesSlide" Target="/ppt/notesSlides/notesSlide7.xml" Id="Re4773bd0313743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f6f473ebe48e2" /><Relationship Type="http://schemas.openxmlformats.org/officeDocument/2006/relationships/notesSlide" Target="/ppt/notesSlides/notesSlide8.xml" Id="R0a50006e376443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db61b328a434b" /><Relationship Type="http://schemas.openxmlformats.org/officeDocument/2006/relationships/notesSlide" Target="/ppt/notesSlides/notesSlide9.xml" Id="R64aa5c5292b547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6dbdd042b4a83" /><Relationship Type="http://schemas.openxmlformats.org/officeDocument/2006/relationships/notesSlide" Target="/ppt/notesSlides/notesSlide10.xml" Id="Rb1cfd9795b2747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8515e4cbb4bae" /><Relationship Type="http://schemas.openxmlformats.org/officeDocument/2006/relationships/notesSlide" Target="/ppt/notesSlides/notesSlide11.xml" Id="R30a9ea770dae4f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0cfa2123644cd" /><Relationship Type="http://schemas.openxmlformats.org/officeDocument/2006/relationships/notesSlide" Target="/ppt/notesSlides/notesSlide12.xml" Id="R6957310673c848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8bf3d683144eb" /><Relationship Type="http://schemas.openxmlformats.org/officeDocument/2006/relationships/notesSlide" Target="/ppt/notesSlides/notesSlide13.xml" Id="R18947eab240c47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59B87-F1C7-4F6D-803C-ABEE4274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汇编与接口技术课程设计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4B219-2EE5-463C-9BA4-E85C1D60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028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可复用 LCD SPI 控制器 IP</a:t>
            </a:r>
          </a:p>
          <a:p xmlns:a="http://schemas.openxmlformats.org/drawingml/2006/main">
            <a:pPr>
              <a:defRPr sz="352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与 RISC-V 汇编图形应用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7B14D-81B6-4054-92A6-4A837DD9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87DCC-99C1-4131-BF4D-CB6D7B60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验收汇报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A57F2-2B23-4A25-8E6F-06222E97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ST7571 初始化、MMIO 驱动、俄罗斯方块与实板交互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DA1B7-48AA-40C4-84EB-6A785DD2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57850"/>
            <a:ext cx="1238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16046-144B-4207-8807-6714BA25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123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IP v1.0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6D3E3-F91E-43DE-A443-9B16DD6D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65785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858DD-2647-4749-817C-6EFA4707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705475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10×20 棋盘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3F4259-115C-4BD1-87CB-C29A743B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57850"/>
            <a:ext cx="1524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BA2ED-287A-4BF3-A4C4-BC5FCC41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705475"/>
            <a:ext cx="1524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SPI + MMIO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5D717-FD63-4482-B1C8-D14B4842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722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成员：王建乐、张晓行、钱博傲    日期：2026 年 9 月</a:t>
            </a:r>
          </a:p>
        </p:txBody>
      </p:sp>
    </p:spTree>
    <p:extLst>
      <p:ext uri="{BB962C8B-B14F-4D97-AF65-F5344CB8AC3E}">
        <p14:creationId xmlns:p14="http://schemas.microsoft.com/office/powerpoint/2010/main" val="199115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90F08-7265-4C6C-A5E5-DA9C017C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系统结构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D22F6-3ACE-4E18-9DAD-E8D22623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输入、软件、MMIO 与 LCD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B9F6A-DF34-4EA8-968D-5800D213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11BF2-B827-4108-A125-98C8707F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bfb3864b24f7e"/>
          <a:stretch xmlns:a="http://schemas.openxmlformats.org/drawingml/2006/main"/>
        </p:blipFill>
        <p:spPr>
          <a:xfrm xmlns:a="http://schemas.openxmlformats.org/drawingml/2006/main">
            <a:off x="1759324" y="1524000"/>
            <a:ext cx="8673353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B54FC-4FCD-46C6-BA51-3013F484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课程评价对象：LCD 接口控制器 IP、汇编驱动与软硬件协同</a:t>
            </a:r>
          </a:p>
        </p:txBody>
      </p:sp>
    </p:spTree>
    <p:extLst>
      <p:ext uri="{BB962C8B-B14F-4D97-AF65-F5344CB8AC3E}">
        <p14:creationId xmlns:p14="http://schemas.microsoft.com/office/powerpoint/2010/main" val="1035037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A83D0-4AEC-4F4A-8B1E-0F398103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硬件控制器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50B43-BEDC-40CB-AC01-1C0288E1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LCD 控制器状态机与发送闭环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1A26D-A9DA-42DF-98F6-F0A13AF3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AE34B-C6E1-4FEA-A460-23D84265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267d3bb0a4a32"/>
          <a:stretch xmlns:a="http://schemas.openxmlformats.org/drawingml/2006/main"/>
        </p:blipFill>
        <p:spPr>
          <a:xfrm xmlns:a="http://schemas.openxmlformats.org/drawingml/2006/main">
            <a:off x="2341245" y="1476375"/>
            <a:ext cx="7509510" cy="4171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FB167-0AF9-4E8E-AA5C-F4C94439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tx_ready 只在 IDLE 且 SPI 空闲时有效，一次请求只产生一次发送</a:t>
            </a:r>
          </a:p>
        </p:txBody>
      </p:sp>
    </p:spTree>
    <p:extLst>
      <p:ext uri="{BB962C8B-B14F-4D97-AF65-F5344CB8AC3E}">
        <p14:creationId xmlns:p14="http://schemas.microsoft.com/office/powerpoint/2010/main" val="10866123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782CE-F88D-4508-8A58-3C5EFFB9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软件接口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CBEDD-376E-411D-815E-E36278F1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LCD 与蜂鸣器 MMIO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569F6-2FC9-47DD-8595-BDF984F9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45581-3563-418D-84E2-8AC6A81D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1571625"/>
          <a:ext xmlns:a="http://schemas.openxmlformats.org/drawingml/2006/main" cx="113919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4534"/>
                <a:gridCol w="2801287"/>
                <a:gridCol w="5976079"/>
              </a:tblGrid>
              <a:tr h="488156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地址</a:t>
                      </a:r>
                    </a:p>
                  </a:txBody>
                  <a:tcPr marL="91440" marR="91440" marT="45720" marB="45720">
                    <a:solidFill>
                      <a:srgbClr val="1631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寄存器</a:t>
                      </a:r>
                    </a:p>
                  </a:txBody>
                  <a:tcPr marL="91440" marR="91440" marT="45720" marB="45720">
                    <a:solidFill>
                      <a:srgbClr val="1631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软件用途</a:t>
                      </a:r>
                    </a:p>
                  </a:txBody>
                  <a:tcPr marL="91440" marR="91440" marT="45720" marB="45720">
                    <a:solidFill>
                      <a:srgbClr val="16314B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0x2000_0020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LCD_CMD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写低 8 位命令，RS = 0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0x2000_0024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LCD_DATA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写低 8 位数据，RS = 1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0x2000_0028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LCD_STATUS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bit0 ready，bit1 initialized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0x2000_002C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LCD_CTRL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重初始化、清屏、固定文字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0x2000_0030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LCD_GAME_ROW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行号 + 10 位棋盘数据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0x2000_0034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LCD_GAME_REFRESH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请求刷新完整棋盘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0x2000_0038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BUZZER_TRIGGER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消行后触发短音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F69B9-46F6-44BE-B2B6-FFE8E55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MMIO 不缓存、强顺序，写副作用只在 req &amp;&amp; ready 时产生一次</a:t>
            </a:r>
          </a:p>
        </p:txBody>
      </p:sp>
    </p:spTree>
    <p:extLst>
      <p:ext uri="{BB962C8B-B14F-4D97-AF65-F5344CB8AC3E}">
        <p14:creationId xmlns:p14="http://schemas.microsoft.com/office/powerpoint/2010/main" val="18434115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037852-FD92-406B-A7E1-99238F78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IP 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CBD38-CEA1-4CAB-B2FB-61865785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LCD 控制器 IP 封装与复用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8365E-1730-4411-AA36-46D9EA94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8216F-6CF7-420A-979B-CD781D30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2052F-FE6B-4716-96DC-D777E66C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VLNV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DA188-37D1-4E2F-BA73-797A3816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811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78BFA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local:user:lcd_controller:1.0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087B1-5AF8-428F-B3B7-8A2D3F1C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333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89394-5C48-4A47-9BB2-1EBC0F04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2181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component.xml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F666A-CE1B-4EC0-9D1C-264CD0A2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908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19 个端口</a:t>
            </a:r>
          </a:p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9 个时序参数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1A213-B7DC-4108-8E51-DFD747E2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33625"/>
            <a:ext cx="2333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5D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DF4708-2C84-49F9-B94F-E665E26F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66975"/>
            <a:ext cx="2181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src/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85B42-5D74-486D-94F6-A49433E1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908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lcd_controller.sv</a:t>
            </a:r>
          </a:p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lcd_spi_master.sv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0EB2D2-E239-467F-A3CB-2C4B378A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33625"/>
            <a:ext cx="2333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37D9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41139-1CD0-48F4-83E0-8657E75F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66975"/>
            <a:ext cx="2181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xgui/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6797D-8870-4EC1-AF73-A8E3AF38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908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参数界面与校验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3C1A8D-8F35-4744-B4BA-A994B836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33625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D9D648-0E77-4C94-BF9A-AFB5327E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669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IP Catalog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8686DA-BEE9-4A46-9DB6-0A096F55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90825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注册、例化、Validate</a:t>
            </a:r>
          </a:p>
        </p:txBody>
      </p:sp>
      <p:cxnSp>
        <p:nvCxnSpPr>
          <p:cNvPr id="48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19425" y="28575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8BFA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72175" y="28575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924925" y="28575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7D99A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A0B74C-8F86-427E-8B2C-9F28C97D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953000" cy="128587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DFFB4B-8C83-4083-9669-7717A9DF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7625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9414E5-4DBC-4724-8774-03F38EAB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576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封装边界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BC8AF0-981A-4508-AABF-A5477CB8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00575"/>
            <a:ext cx="4572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只打包 LCD 控制器和 SPI master，不把 CPU、SoC、约束或测试平台混入 IP。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D51D0B-61C8-43F6-9E95-01469F21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95750"/>
            <a:ext cx="5048250" cy="128587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B531CE-5D44-4F78-8840-62678D6B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95750"/>
            <a:ext cx="47625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F70BDA-D516-4084-927B-564D2EB4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5767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答辩前补图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C723E6-8C3B-4494-9854-A4B117C6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00575"/>
            <a:ext cx="4667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IP Catalog、Block Design、Validate Design、Generate Output Products 四张截图。</a:t>
            </a:r>
          </a:p>
        </p:txBody>
      </p:sp>
    </p:spTree>
    <p:extLst>
      <p:ext uri="{BB962C8B-B14F-4D97-AF65-F5344CB8AC3E}">
        <p14:creationId xmlns:p14="http://schemas.microsoft.com/office/powerpoint/2010/main" val="14965078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1D1E5-002B-4DAE-B862-1D61976D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软件架构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24EC6-214E-48EA-95D4-D949C6EF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汇编软件分层与显示数据流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4D61B-7F1F-4834-A98C-69518DCF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932B3-639F-4CFC-9D18-97DE8D30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e98a3b509404b"/>
          <a:stretch xmlns:a="http://schemas.openxmlformats.org/drawingml/2006/main"/>
        </p:blipFill>
        <p:spPr>
          <a:xfrm xmlns:a="http://schemas.openxmlformats.org/drawingml/2006/main">
            <a:off x="2370667" y="1476375"/>
            <a:ext cx="7450667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D6812-D553-487E-8DCA-D8C4BCFF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软件处理规则与棋盘位图，硬件处理时序与像素映射</a:t>
            </a:r>
          </a:p>
        </p:txBody>
      </p:sp>
    </p:spTree>
    <p:extLst>
      <p:ext uri="{BB962C8B-B14F-4D97-AF65-F5344CB8AC3E}">
        <p14:creationId xmlns:p14="http://schemas.microsoft.com/office/powerpoint/2010/main" val="3710193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7EFE6B-E7E0-440E-A40A-78C86779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数据结构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76E36-5BF0-44CE-A18F-DAC615B1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棋盘、方块与活动状态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DC3BE-86CC-4F7A-A240-DD91512B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522C2-0817-4283-91AA-76F9AE6A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F297C-15D8-45C7-85A5-1D98C59D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3810000" cy="4095750"/>
          </a:xfrm>
          <a:prstGeom xmlns:a="http://schemas.openxmlformats.org/drawingml/2006/main" prst="roundRect">
            <a:avLst>
              <a:gd name="adj" fmla="val 1500"/>
            </a:avLst>
          </a:prstGeom>
          <a:solidFill xmlns:a="http://schemas.openxmlformats.org/drawingml/2006/main">
            <a:srgbClr val="08101C"/>
          </a:solidFill>
          <a:ln xmlns:a="http://schemas.openxmlformats.org/drawingml/2006/main" w="9525">
            <a:solidFill>
              <a:srgbClr val="25D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79AEE-6378-46DA-870F-DD372ECD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90700"/>
            <a:ext cx="25527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0000000000</a:t>
            </a:r>
          </a:p>
          <a:p xmlns:a="http://schemas.openxmlformats.org/drawingml/2006/main"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0000000000</a:t>
            </a:r>
          </a:p>
          <a:p xmlns:a="http://schemas.openxmlformats.org/drawingml/2006/main"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0001111000</a:t>
            </a:r>
          </a:p>
          <a:p xmlns:a="http://schemas.openxmlformats.org/drawingml/2006/main"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0000110000</a:t>
            </a:r>
          </a:p>
          <a:p xmlns:a="http://schemas.openxmlformats.org/drawingml/2006/main"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0000110000</a:t>
            </a:r>
          </a:p>
          <a:p xmlns:a="http://schemas.openxmlformats.org/drawingml/2006/main"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0001100000</a:t>
            </a:r>
          </a:p>
          <a:p xmlns:a="http://schemas.openxmlformats.org/drawingml/2006/main"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0001100000</a:t>
            </a:r>
          </a:p>
          <a:p xmlns:a="http://schemas.openxmlformats.org/drawingml/2006/main"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0011110000</a:t>
            </a:r>
          </a:p>
          <a:p xmlns:a="http://schemas.openxmlformats.org/drawingml/2006/main"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0000110000</a:t>
            </a:r>
          </a:p>
          <a:p xmlns:a="http://schemas.openxmlformats.org/drawingml/2006/main"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0001111000</a:t>
            </a:r>
          </a:p>
          <a:p xmlns:a="http://schemas.openxmlformats.org/drawingml/2006/main"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0010010000</a:t>
            </a:r>
          </a:p>
          <a:p xmlns:a="http://schemas.openxmlformats.org/drawingml/2006/main"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0011110000</a:t>
            </a:r>
          </a:p>
          <a:p xmlns:a="http://schemas.openxmlformats.org/drawingml/2006/main"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0110110000</a:t>
            </a:r>
          </a:p>
          <a:p xmlns:a="http://schemas.openxmlformats.org/drawingml/2006/main"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0111111000</a:t>
            </a:r>
          </a:p>
          <a:p xmlns:a="http://schemas.openxmlformats.org/drawingml/2006/main"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0110011000</a:t>
            </a:r>
          </a:p>
          <a:p xmlns:a="http://schemas.openxmlformats.org/drawingml/2006/main"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1111011000</a:t>
            </a:r>
          </a:p>
          <a:p xmlns:a="http://schemas.openxmlformats.org/drawingml/2006/main"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1111111100</a:t>
            </a:r>
          </a:p>
          <a:p xmlns:a="http://schemas.openxmlformats.org/drawingml/2006/main"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1110111000</a:t>
            </a:r>
          </a:p>
          <a:p xmlns:a="http://schemas.openxmlformats.org/drawingml/2006/main"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1111111100</a:t>
            </a:r>
          </a:p>
          <a:p xmlns:a="http://schemas.openxmlformats.org/drawingml/2006/main"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1111111111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1A340-29F4-408C-A39E-19EC0892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66875"/>
            <a:ext cx="3048000" cy="133350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56149-0A89-48CF-8A6F-9CE20632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66875"/>
            <a:ext cx="47625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457C3-6EE5-466A-8EF5-5773C863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288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固定棋盘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742C6-FFDC-4D83-904F-4731C3BD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717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DMEM 保存 20 个 10 位行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满行值为 0x3FF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上方行向下压缩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B8CBD-8BD2-4692-9085-E773E87D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66875"/>
            <a:ext cx="3048000" cy="133350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D6CB5-57F0-48A7-900E-48506545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66875"/>
            <a:ext cx="47625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201EB-818B-4F5F-8533-ED37D15F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288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方块位图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E28AD3-F797-472E-97A3-86D61505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717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7 种类型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每种 4 个旋转状态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每个状态为 4×4 位图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4B29E-28DF-4E5C-942F-BDDB2522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76625"/>
            <a:ext cx="3048000" cy="133350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A16CAB-6096-44F7-9811-D85AACB8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76625"/>
            <a:ext cx="47625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042D05-A782-4225-81B9-9DCEDDB0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38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活动状态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EC6ABE-A7A3-4083-8CBA-607132A6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814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type / rotation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x / y 坐标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边沿检测与下降计数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4370DF-9081-4F27-BD42-E49EEAF3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3048000" cy="133350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B6ED5F-47F0-4AA8-8206-5C73601E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47625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D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E42DCC-2967-4FB2-BF1B-519B6964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38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显示帧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449419-8775-4CF5-82B6-D0ACAEF1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814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复制固定棋盘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叠加活动方块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逐行上传 20 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DEAA43-D12C-4578-847A-BD5E3952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86375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活动方块在锁定前不修改固定棋盘</a:t>
            </a:r>
          </a:p>
        </p:txBody>
      </p:sp>
    </p:spTree>
    <p:extLst>
      <p:ext uri="{BB962C8B-B14F-4D97-AF65-F5344CB8AC3E}">
        <p14:creationId xmlns:p14="http://schemas.microsoft.com/office/powerpoint/2010/main" val="15796907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25E2F8-8C7F-4056-8D25-9081836F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核心算法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9DAC7-4EE1-4752-B93B-33FE8B44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碰撞检测、移动与旋转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9EF5F-8209-42DB-ACA4-AF3CB1C3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3B09E-DC5B-401D-ABAD-E4C90EA7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20207-608E-4E85-94AE-86B63FD8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5D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DF2AE-AFFA-4442-8B42-A9E6FA6D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生成候选状态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60360-7249-447F-B3AF-8C6B4D9B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x / y / rotation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9D592-881E-458C-82CD-54933487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66900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4F8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394EB-2B56-447D-A7AB-C7467AD6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002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F83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4F83FF"/>
                </a:solidFill>
                <a:latin typeface="Noto Sans SC"/>
                <a:ea typeface="Noto Sans SC"/>
                <a:cs typeface="Noto Sans SC"/>
              </a:rPr>
              <a:t>逐位扫描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F76E5-AD83-4667-AF56-7BCFAF1D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241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4×4 mask 中的有效格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177FC-535F-4340-9B1D-206910FF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66900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F272C-8034-44AC-B666-3686E915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002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边界检查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141B03-E3D3-4D0E-B93F-0A211F7D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241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左右、底部、顶部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7C660D-8AF4-4593-9442-70E75A0A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66900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7EA27-9A39-4920-9DA6-35EF77FE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棋盘相与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F4238-A340-4FB8-AF77-D59CC9D5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对应行已有固定块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C2DB4-FDEE-4249-836F-384D0938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866900"/>
            <a:ext cx="11906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37D99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673E96-8990-407A-AD05-6F1CB5EE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00250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114BAA-44AB-4D4C-AD88-449EA9C3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324100"/>
            <a:ext cx="1000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接受或撤销</a:t>
            </a:r>
          </a:p>
        </p:txBody>
      </p:sp>
      <p:cxnSp>
        <p:nvCxnSpPr>
          <p:cNvPr id="56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09850" y="23431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105400" y="23431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600950" y="23431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096500" y="23431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D4E8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4CE446-1F2A-4128-9922-DFC25256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333750" cy="14287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BC4619-D25C-4B50-B7D1-63A89034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762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4BFD9B-1AAB-443D-9394-02118D37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左右移动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618E3D-3087-471F-8485-D57D7DF8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x ± 1 后调用 collision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未碰撞才提交新坐标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C26883-20C4-46C5-A8EF-B64BA047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14750"/>
            <a:ext cx="3333750" cy="14287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833366-C377-43C0-AD84-924B1F26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14750"/>
            <a:ext cx="4762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37879C-C312-4F09-9F6D-DA5A01E0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8766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旋转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C06C61-6CD6-4450-91BF-31389C18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219575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尝试下一旋转状态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失败后分别尝试左移、右移一次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DCB0F7-6778-402D-BF86-4EB69FD4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3533775" cy="14287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3C0616-D176-4BDC-83BF-EA085474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4762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B1B070-5DC0-4C14-83F1-6A0DC00E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76675"/>
            <a:ext cx="3152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下降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676D9B-7F40-4301-8D60-02C51DFB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19575"/>
            <a:ext cx="31527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普通下降由软件计数触发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按住下键连续软降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F37DF3-488F-4E8A-9B8C-1F3BBD55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碰撞函数只返回 blocked，不直接修改游戏状态</a:t>
            </a:r>
          </a:p>
        </p:txBody>
      </p:sp>
    </p:spTree>
    <p:extLst>
      <p:ext uri="{BB962C8B-B14F-4D97-AF65-F5344CB8AC3E}">
        <p14:creationId xmlns:p14="http://schemas.microsoft.com/office/powerpoint/2010/main" val="14204974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5DBBB7-9953-4BDC-8C43-A4DE0303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核心算法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0C89E-B269-4226-869A-64119A06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锁定、消行与蜂鸣器反馈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A97CE-79FB-4906-AFBE-E633B23F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DEE00-4FCA-469A-B7E3-351E36F4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100E7-4D1B-49CF-A056-0F5874E2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2143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7D714-0EA1-45B6-BB0E-A6B12FB4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1990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无法继续下降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6EF0D-5432-4C66-B7F6-232C2C6E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9825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collision = blocked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84963-FACE-4737-93CE-8D59B925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52625"/>
            <a:ext cx="2143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5D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85447-2C71-4DD3-BE20-1BB347AD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85975"/>
            <a:ext cx="1990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锁定方块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BE9D6-2FEE-4588-8A67-87A8E182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09825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按位或写入固定棋盘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535EA-DC43-435C-9CC2-D8B98539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52625"/>
            <a:ext cx="2143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4F83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20BFD-A78B-466A-B788-F6D574D7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85975"/>
            <a:ext cx="1990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F83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4F83FF"/>
                </a:solidFill>
                <a:latin typeface="Noto Sans SC"/>
                <a:ea typeface="Noto Sans SC"/>
                <a:cs typeface="Noto Sans SC"/>
              </a:rPr>
              <a:t>自底向上扫描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74F2F-4FB7-4068-82FC-C9F48985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09825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row == 0x3FF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98E05-9EF0-43E8-AC92-2BCCEBB2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52625"/>
            <a:ext cx="2143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37D9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A12A8-6F11-4FA5-8AAF-E879F67A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85975"/>
            <a:ext cx="1990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压缩与反馈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9810C5-2F35-4B5D-AB6D-1C1DEE36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09825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行下移、顶行清零、触发蜂鸣器</a:t>
            </a:r>
          </a:p>
        </p:txBody>
      </p: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47975" y="2452688"/>
            <a:ext cx="752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B942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743575" y="2452688"/>
            <a:ext cx="752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639175" y="2452688"/>
            <a:ext cx="752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D4E8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E689C3-C041-408E-9895-D65A45CA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0829925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8101C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44476C-B87D-4412-A7E7-772D5376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14775"/>
            <a:ext cx="628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AF2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clear_lines:</a:t>
            </a:r>
          </a:p>
          <a:p xmlns:a="http://schemas.openxmlformats.org/drawingml/2006/main">
            <a:pPr>
              <a:defRPr sz="1275" b="0">
                <a:solidFill>
                  <a:srgbClr val="EAF2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    li   t6, 0x3FF       # 满行</a:t>
            </a:r>
          </a:p>
          <a:p xmlns:a="http://schemas.openxmlformats.org/drawingml/2006/main">
            <a:pPr>
              <a:defRPr sz="1275" b="0">
                <a:solidFill>
                  <a:srgbClr val="EAF2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    bne  t3, t6, clear_not_full</a:t>
            </a:r>
          </a:p>
          <a:p xmlns:a="http://schemas.openxmlformats.org/drawingml/2006/main">
            <a:pPr>
              <a:defRPr sz="1275" b="0">
                <a:solidFill>
                  <a:srgbClr val="EAF2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    ...                   # 上方各行向下搬移</a:t>
            </a:r>
          </a:p>
          <a:p xmlns:a="http://schemas.openxmlformats.org/drawingml/2006/main">
            <a:pPr>
              <a:defRPr sz="1275" b="0">
                <a:solidFill>
                  <a:srgbClr val="EAF2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    sw   t0, 56(s0)       # BUZZER_TRIGGER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A02A79-3ACE-49A9-B14A-1F1C1181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19550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蜂鸣器硬件输出</a:t>
            </a:r>
          </a:p>
          <a:p xmlns:a="http://schemas.openxmlformats.org/drawingml/2006/main">
            <a:pPr>
              <a:defRPr sz="16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约 2 kHz</a:t>
            </a:r>
          </a:p>
          <a:p xmlns:a="http://schemas.openxmlformats.org/drawingml/2006/main">
            <a:pPr>
              <a:defRPr sz="16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约 120 ms</a:t>
            </a:r>
          </a:p>
        </p:txBody>
      </p:sp>
    </p:spTree>
    <p:extLst>
      <p:ext uri="{BB962C8B-B14F-4D97-AF65-F5344CB8AC3E}">
        <p14:creationId xmlns:p14="http://schemas.microsoft.com/office/powerpoint/2010/main" val="14941618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84BDEA-8711-4FB3-B210-B748860F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显示刷新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329E4-1833-400B-AE16-FEEF8122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棋盘上传与硬件像素映射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6A244-1798-44F2-AE10-33D25CE4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BEA78-C76E-4EDD-B23A-949BAEA9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DBFE0-3C08-42B9-AEF4-F2564B61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2047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5D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FD775-3FD9-4FA1-AE9C-80CB4C7B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85975"/>
            <a:ext cx="1895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合成帧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95A95-E72F-45B9-9866-39DA74B6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1857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固定棋盘 + 活动方块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1FE26-FF20-4066-8769-8E2B0FE8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52625"/>
            <a:ext cx="2047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4F8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D1709-02E6-446C-8B52-25863F61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85975"/>
            <a:ext cx="1895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F83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4F83FF"/>
                </a:solidFill>
                <a:latin typeface="Noto Sans SC"/>
                <a:ea typeface="Noto Sans SC"/>
                <a:cs typeface="Noto Sans SC"/>
              </a:rPr>
              <a:t>20 行上传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00257-E5C8-4CDD-B844-2BD46603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09825"/>
            <a:ext cx="1857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LCD_GAME_ROW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7B1DD-19EE-4DAA-8051-FE0F30E5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52625"/>
            <a:ext cx="2047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37D9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D48D1-B30E-430D-9DB8-CC19FA7C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85975"/>
            <a:ext cx="1895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刷新请求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DEB56-38A2-4D60-98B2-4394D6CD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09825"/>
            <a:ext cx="1857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LCD_GAME_REFRESH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21FC5-2C4F-4A96-A9DA-2B49F82E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2047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229702-7847-4E79-BB31-974E827F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85975"/>
            <a:ext cx="1895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硬件映射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DD9A03-8642-4DFB-8ED7-978898AA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9825"/>
            <a:ext cx="1857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2 行 / page</a:t>
            </a:r>
          </a:p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8 列块 + 2 列间隔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856A3-F681-4E22-A8E5-18AC5922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952625"/>
            <a:ext cx="1285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9243B7-98A5-419B-88D3-4E207643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85975"/>
            <a:ext cx="1133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SPI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84C5E8-639A-4690-A78F-D0B8856E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409825"/>
            <a:ext cx="1095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页面与列数据</a:t>
            </a:r>
          </a:p>
        </p:txBody>
      </p:sp>
      <p:cxnSp>
        <p:nvCxnSpPr>
          <p:cNvPr id="5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562225" y="2452688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057775" y="2452688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553325" y="2452688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048875" y="2452688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D4E8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BB452-3D1B-4FE3-87B8-4E8C2C46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4953000" cy="14287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E2D930-1537-442D-833B-4A0C7B39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4762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2C0556-8BF6-4989-B5CD-98BA2C30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软件责任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BD71C1-430C-4D50-8312-422090B3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9575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维护棋盘与游戏状态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逐行写 10 位逻辑数据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刷新期间等待 ready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D735A6-6A72-42A5-81D8-BBE8AB66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5457825" cy="14287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DF4FDA-ACCB-497E-ADAB-180C7FBA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4762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6EA679-5DF0-4DD0-A7C2-C9541B7B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76675"/>
            <a:ext cx="5076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硬件责任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A57D15-F251-491E-9802-CAB4526C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9575"/>
            <a:ext cx="50768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把逻辑行映射为 128×128 像素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安排页面、列与字节顺序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控制 SPI 时序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C08D9A-ACCE-4025-A042-A207374B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分层后，汇编程序不需要逐像素维护 LCD 时序</a:t>
            </a:r>
          </a:p>
        </p:txBody>
      </p:sp>
    </p:spTree>
    <p:extLst>
      <p:ext uri="{BB962C8B-B14F-4D97-AF65-F5344CB8AC3E}">
        <p14:creationId xmlns:p14="http://schemas.microsoft.com/office/powerpoint/2010/main" val="7272566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E9572-88BD-4E24-9106-E63B2B4B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验证闭环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61EE8-2BB6-4DF6-81EF-F4546D8D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接口、系统与应用验证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0C2C8-E0E9-403C-85B4-E203E6E6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3780C-AC4F-4624-8A99-2172EFF6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1581150"/>
          <a:ext xmlns:a="http://schemas.openxmlformats.org/drawingml/2006/main" cx="113919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85900"/>
                <a:gridCol w="2806700"/>
                <a:gridCol w="5448300"/>
                <a:gridCol w="1651000"/>
              </a:tblGrid>
              <a:tr h="53067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层次</a:t>
                      </a:r>
                    </a:p>
                  </a:txBody>
                  <a:tcPr marL="91440" marR="91440" marT="45720" marB="45720">
                    <a:solidFill>
                      <a:srgbClr val="1631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测试对象</a:t>
                      </a:r>
                    </a:p>
                  </a:txBody>
                  <a:tcPr marL="91440" marR="91440" marT="45720" marB="45720">
                    <a:solidFill>
                      <a:srgbClr val="1631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通过标准</a:t>
                      </a:r>
                    </a:p>
                  </a:txBody>
                  <a:tcPr marL="91440" marR="91440" marT="45720" marB="45720">
                    <a:solidFill>
                      <a:srgbClr val="1631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16314B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SPI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tb_lcd_spi_master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0xA5、8 位 MSB first、RS 与空闲恢复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7D99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控制器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tb_lcd_controller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复位、初始化、清屏、请求与传输计数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7D99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MMIO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tb_bringup_system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状态轮询、慢外设等待、一次请求一次发送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7D99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游戏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tb_tetris_system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行上传、方向键、软降释放、消行与蜂鸣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7D99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IP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Catalog / Block Design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注册、例化、Validate、输出产品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B94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待补截图</a:t>
                      </a:r>
                    </a:p>
                  </a:txBody>
                  <a:tcPr marL="91440" marR="91440" marT="45720" marB="45720">
                    <a:solidFill>
                      <a:srgbClr val="111C2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实板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EES-338 + LCD + 手柄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画面、控制、消行声音、重新开始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B94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待视频</a:t>
                      </a:r>
                    </a:p>
                  </a:txBody>
                  <a:tcPr marL="91440" marR="91440" marT="45720" marB="45720">
                    <a:solidFill>
                      <a:srgbClr val="16243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B3EAE-754A-421A-9C39-BCB9296C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自动化证据与实物证据分开陈述，不用 CPU 波形替代 LCD 协议验证</a:t>
            </a:r>
          </a:p>
        </p:txBody>
      </p:sp>
    </p:spTree>
    <p:extLst>
      <p:ext uri="{BB962C8B-B14F-4D97-AF65-F5344CB8AC3E}">
        <p14:creationId xmlns:p14="http://schemas.microsoft.com/office/powerpoint/2010/main" val="17610330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DC9562-3DEF-4075-80E8-D3D22004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下板演示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811CF-AB3B-45B2-BF73-4517783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现场演示顺序与实物证据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ABE8A-D7E2-469A-B69B-4B26C189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C5BF1-E4B9-48C9-8B24-E980E4C5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7BC72-75DF-464B-85AC-45741FEE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429000" cy="11811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5D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CE072-CA07-4C90-A458-714B727F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400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FC5BA-15D2-4A3D-9E7E-256B243A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3357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75C77-D083-4FC7-87F9-F438C83D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85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上电复位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1A7A7-F65C-43F1-A752-A699E3B5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955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LCD 完成初始化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82360-7B63-41C4-BE99-DAA5F1AD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3429000" cy="11811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4F83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AFFCF-2675-4AA7-9A01-79A01B76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85950"/>
            <a:ext cx="400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365ED-935B-4FE3-9CFF-82E3A702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3357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F83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F83FF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41FF6-C70B-47C0-BF38-9B023565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85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开始游戏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0AF84D-B25B-4DF5-8989-BA0C8005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955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SW0 进入主循环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7D7E9-4C55-4765-BD9D-65D6491B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14500"/>
            <a:ext cx="3429000" cy="11811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30491-A3E8-41F2-92AF-2B6DDFB3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400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50B416-540C-4D38-B041-3070E73E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3357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A4C9E5-AFC6-47E2-94A6-A1D5320E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85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左右与旋转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9D0E0C-AAC3-4693-AF17-126B82D2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955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手柄输入响应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0AFE6D-764A-4040-941E-1CB257DA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3429000" cy="11811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04909A-49B7-4E44-86D3-C36A2A5C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09950"/>
            <a:ext cx="400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020186-E961-4582-A0B7-1580223B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5757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7D3D9D-70DF-44C5-8671-AF67EC06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09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软降与锁定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C0506C-27C8-4666-9586-8D577322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95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方块进入固定棋盘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9117DA-038B-49D0-AF30-62230241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38500"/>
            <a:ext cx="3429000" cy="11811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37D99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D26ECE-79C3-4117-8CC5-3845FE6D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09950"/>
            <a:ext cx="400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8D95D3-913A-4E10-9B14-F06F7239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5757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B7EE8E-CA5B-4F35-B6E5-048563EE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409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消行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43A111-D49C-481D-A393-84EBC65A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195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画面更新并触发蜂鸣器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8D25B1-B63E-4C98-B99C-DF504C48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38500"/>
            <a:ext cx="3429000" cy="11811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F26B7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D7AC7E-5A64-46A1-B10E-2DEF8B56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09950"/>
            <a:ext cx="400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223654-B5E6-4023-840C-021F28DA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5757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26B7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26B7A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4893BA-93F8-4C6D-A6A6-7FAE8CA1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09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重新开始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880B32-9484-452D-AE5D-8807F268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195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游戏状态清零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CAE5DA-66D4-4950-A381-0036B8C3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139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答辩前补入：游戏画面、按键操作、消行帧与蜂鸣器视频截图；总视频不超过 5 分钟</a:t>
            </a:r>
          </a:p>
        </p:txBody>
      </p:sp>
    </p:spTree>
    <p:extLst>
      <p:ext uri="{BB962C8B-B14F-4D97-AF65-F5344CB8AC3E}">
        <p14:creationId xmlns:p14="http://schemas.microsoft.com/office/powerpoint/2010/main" val="18659185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EDEF8C-AB06-49AA-BE29-E4A0B7A2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42283-EAA9-43B4-8DA7-D1A4B233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接口 IP 与汇编应用形成完整系统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173D8-CEDA-42B9-A372-785B5F06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5D71F-5251-4EDA-8CF3-18B1172E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E3679-268F-49CC-9B39-77D58A2B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3524250" cy="18097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86A68-A09D-411B-89E7-087B61EF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4762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F3775-E9EC-411D-8665-AE6BC4C2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可复用硬件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B59F4-8FB3-43F4-B59B-B12DD621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143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ST7571 复位与初始化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4 线 SPI 字节发送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IP Catalog 封装结构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C315D-6C45-4438-BB31-A2E91FFC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95450"/>
            <a:ext cx="3524250" cy="18097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0D660F-0432-4A96-B50E-124C6BCD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95450"/>
            <a:ext cx="4762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DFE8F-50A8-40C9-8CA0-AECD585D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57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完整软件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2A1A2-9315-46DB-BCEC-51EC95C0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00275"/>
            <a:ext cx="3143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MMIO 驱动与状态轮询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10×20 俄罗斯方块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移动、旋转、消行与重开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EAD72-EC6A-4783-9DDB-386A7023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95450"/>
            <a:ext cx="3524250" cy="18097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83A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005E0-6E47-4ED9-B6B2-CAAF29C4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95450"/>
            <a:ext cx="4762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D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6E79B-2471-44AA-A35F-C3F0148A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57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分层验证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3B0BCF-AB32-4581-A976-A81F30F3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00275"/>
            <a:ext cx="3143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SPI 与控制器单元测试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MMIO 与游戏系统测试</a:t>
            </a:r>
          </a:p>
          <a:p xmlns:a="http://schemas.openxmlformats.org/drawingml/2006/main"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基础 LCD 下板闭环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8E8F6-3D40-4041-91A0-F22BC7C9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课程边界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092CCF-44A0-4A68-9447-180C25BB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计组评价 CPU 微架构与性能；本课程评价接口协议、IP 封装、汇编驱动与软硬件协同。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73836-C28C-4671-A527-0B4B8EBA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1139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6B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26B7A"/>
                </a:solidFill>
                <a:latin typeface="Noto Sans SC"/>
                <a:ea typeface="Noto Sans SC"/>
                <a:cs typeface="Noto Sans SC"/>
              </a:rPr>
              <a:t>提交前仍需补齐 IP 工具截图、最终游戏实物照片和不超过 5 分钟的下板视频。</a:t>
            </a:r>
          </a:p>
        </p:txBody>
      </p:sp>
    </p:spTree>
    <p:extLst>
      <p:ext uri="{BB962C8B-B14F-4D97-AF65-F5344CB8AC3E}">
        <p14:creationId xmlns:p14="http://schemas.microsoft.com/office/powerpoint/2010/main" val="104604709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2026-09-16T10:40:00.8870000Z</dcterms:created>
  <dcterms:modified xsi:type="dcterms:W3CDTF">2026-09-16T10:40:00.8870000Z</dcterms:modified>
</coreProperties>
</file>