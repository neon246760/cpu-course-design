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9eecedef4f45ed" /><Relationship Type="http://schemas.openxmlformats.org/officeDocument/2006/relationships/extended-properties" Target="/docProps/app.xml" Id="Ra4b651359ad6477f" /><Relationship Type="http://schemas.openxmlformats.org/officeDocument/2006/relationships/officeDocument" Target="/ppt/presentation.xml" Id="Ra842919b3d8d4e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278ce6c5b844c4"/>
  </p:sldMasterIdLst>
  <p:notesMasterIdLst>
    <p:notesMasterId xmlns:r="http://schemas.openxmlformats.org/officeDocument/2006/relationships" r:id="R52d3174d46074db2"/>
  </p:notesMasterIdLst>
  <p:sldIdLst>
    <p:sldId xmlns:r="http://schemas.openxmlformats.org/officeDocument/2006/relationships" id="256" r:id="R62c04348c154445b"/>
    <p:sldId xmlns:r="http://schemas.openxmlformats.org/officeDocument/2006/relationships" id="257" r:id="R65f8aae346974bf5"/>
    <p:sldId xmlns:r="http://schemas.openxmlformats.org/officeDocument/2006/relationships" id="258" r:id="R06316a7caf7e4d67"/>
    <p:sldId xmlns:r="http://schemas.openxmlformats.org/officeDocument/2006/relationships" id="259" r:id="Rcaae9a6bfe2b445f"/>
    <p:sldId xmlns:r="http://schemas.openxmlformats.org/officeDocument/2006/relationships" id="260" r:id="Rfee4c9aa9917456e"/>
    <p:sldId xmlns:r="http://schemas.openxmlformats.org/officeDocument/2006/relationships" id="261" r:id="R4aa3a2c68e9d46a2"/>
    <p:sldId xmlns:r="http://schemas.openxmlformats.org/officeDocument/2006/relationships" id="262" r:id="Rd4d37b9e7c6f48b8"/>
    <p:sldId xmlns:r="http://schemas.openxmlformats.org/officeDocument/2006/relationships" id="263" r:id="R15e29f56ed794ee6"/>
    <p:sldId xmlns:r="http://schemas.openxmlformats.org/officeDocument/2006/relationships" id="264" r:id="R374c7fb397e1496d"/>
    <p:sldId xmlns:r="http://schemas.openxmlformats.org/officeDocument/2006/relationships" id="265" r:id="R07a5deb997454c25"/>
    <p:sldId xmlns:r="http://schemas.openxmlformats.org/officeDocument/2006/relationships" id="266" r:id="Rbdc5b5372825452a"/>
    <p:sldId xmlns:r="http://schemas.openxmlformats.org/officeDocument/2006/relationships" id="267" r:id="R7667ff350f094a1b"/>
    <p:sldId xmlns:r="http://schemas.openxmlformats.org/officeDocument/2006/relationships" id="268" r:id="R48b838bdb59348fe"/>
    <p:sldId xmlns:r="http://schemas.openxmlformats.org/officeDocument/2006/relationships" id="269" r:id="R6d98a5f6ea0742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7fa221a5f54ebd" /><Relationship Type="http://schemas.openxmlformats.org/officeDocument/2006/relationships/slideMaster" Target="/ppt/slideMasters/slideMaster1.xml" Id="Rde278ce6c5b844c4" /><Relationship Type="http://schemas.openxmlformats.org/officeDocument/2006/relationships/notesMaster" Target="/ppt/notesMasters/notesMaster1.xml" Id="R52d3174d46074db2" /><Relationship Type="http://schemas.openxmlformats.org/officeDocument/2006/relationships/presProps" Target="/ppt/presProps.xml" Id="Rf83afdb4dc334f06" /><Relationship Type="http://schemas.openxmlformats.org/officeDocument/2006/relationships/viewProps" Target="/ppt/viewProps.xml" Id="R9eaf86676a2d42a5" /><Relationship Type="http://schemas.openxmlformats.org/officeDocument/2006/relationships/tableStyles" Target="/ppt/tableStyles.xml" Id="R935cc44d0f2844c1" /><Relationship Type="http://schemas.openxmlformats.org/officeDocument/2006/relationships/slide" Target="/ppt/slides/slide1.xml" Id="R62c04348c154445b" /><Relationship Type="http://schemas.openxmlformats.org/officeDocument/2006/relationships/slide" Target="/ppt/slides/slide2.xml" Id="R65f8aae346974bf5" /><Relationship Type="http://schemas.openxmlformats.org/officeDocument/2006/relationships/slide" Target="/ppt/slides/slide3.xml" Id="R06316a7caf7e4d67" /><Relationship Type="http://schemas.openxmlformats.org/officeDocument/2006/relationships/slide" Target="/ppt/slides/slide4.xml" Id="Rcaae9a6bfe2b445f" /><Relationship Type="http://schemas.openxmlformats.org/officeDocument/2006/relationships/slide" Target="/ppt/slides/slide5.xml" Id="Rfee4c9aa9917456e" /><Relationship Type="http://schemas.openxmlformats.org/officeDocument/2006/relationships/slide" Target="/ppt/slides/slide6.xml" Id="R4aa3a2c68e9d46a2" /><Relationship Type="http://schemas.openxmlformats.org/officeDocument/2006/relationships/slide" Target="/ppt/slides/slide7.xml" Id="Rd4d37b9e7c6f48b8" /><Relationship Type="http://schemas.openxmlformats.org/officeDocument/2006/relationships/slide" Target="/ppt/slides/slide8.xml" Id="R15e29f56ed794ee6" /><Relationship Type="http://schemas.openxmlformats.org/officeDocument/2006/relationships/slide" Target="/ppt/slides/slide9.xml" Id="R374c7fb397e1496d" /><Relationship Type="http://schemas.openxmlformats.org/officeDocument/2006/relationships/slide" Target="/ppt/slides/slide10.xml" Id="R07a5deb997454c25" /><Relationship Type="http://schemas.openxmlformats.org/officeDocument/2006/relationships/slide" Target="/ppt/slides/slide11.xml" Id="Rbdc5b5372825452a" /><Relationship Type="http://schemas.openxmlformats.org/officeDocument/2006/relationships/slide" Target="/ppt/slides/slide12.xml" Id="R7667ff350f094a1b" /><Relationship Type="http://schemas.openxmlformats.org/officeDocument/2006/relationships/slide" Target="/ppt/slides/slide13.xml" Id="R48b838bdb59348fe" /><Relationship Type="http://schemas.openxmlformats.org/officeDocument/2006/relationships/slide" Target="/ppt/slides/slide14.xml" Id="R6d98a5f6ea0742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9a653c09cb4b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3593e826f14b10" /><Relationship Type="http://schemas.openxmlformats.org/officeDocument/2006/relationships/notesMaster" Target="/ppt/notesMasters/notesMaster1.xml" Id="R9d025b6a1de7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5d5c1a86b4fbd" /><Relationship Type="http://schemas.openxmlformats.org/officeDocument/2006/relationships/notesMaster" Target="/ppt/notesMasters/notesMaster1.xml" Id="R826f3f72359740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bd97941b194f20" /><Relationship Type="http://schemas.openxmlformats.org/officeDocument/2006/relationships/notesMaster" Target="/ppt/notesMasters/notesMaster1.xml" Id="R23f7c6098fff46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627b0358724e62" /><Relationship Type="http://schemas.openxmlformats.org/officeDocument/2006/relationships/notesMaster" Target="/ppt/notesMasters/notesMaster1.xml" Id="R0aac2b7fc46048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52fbd5399140c5" /><Relationship Type="http://schemas.openxmlformats.org/officeDocument/2006/relationships/notesMaster" Target="/ppt/notesMasters/notesMaster1.xml" Id="R03b5729325dd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873014afe940c3" /><Relationship Type="http://schemas.openxmlformats.org/officeDocument/2006/relationships/notesMaster" Target="/ppt/notesMasters/notesMaster1.xml" Id="Rf5a91f3a616345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be11fb67d04723" /><Relationship Type="http://schemas.openxmlformats.org/officeDocument/2006/relationships/notesMaster" Target="/ppt/notesMasters/notesMaster1.xml" Id="Rd304f8a07f124d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4177dcd9e84842" /><Relationship Type="http://schemas.openxmlformats.org/officeDocument/2006/relationships/notesMaster" Target="/ppt/notesMasters/notesMaster1.xml" Id="R01019d7be0f646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3c03b86ae14946" /><Relationship Type="http://schemas.openxmlformats.org/officeDocument/2006/relationships/notesMaster" Target="/ppt/notesMasters/notesMaster1.xml" Id="Rc821ea12e98e44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d7bbcf8f61465c" /><Relationship Type="http://schemas.openxmlformats.org/officeDocument/2006/relationships/notesMaster" Target="/ppt/notesMasters/notesMaster1.xml" Id="Rb5bf47b4aa6846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70b1ae384d4ea0" /><Relationship Type="http://schemas.openxmlformats.org/officeDocument/2006/relationships/notesMaster" Target="/ppt/notesMasters/notesMaster1.xml" Id="Rd95429ebb82948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8c8cf88a9e4de6" /><Relationship Type="http://schemas.openxmlformats.org/officeDocument/2006/relationships/notesMaster" Target="/ppt/notesMasters/notesMaster1.xml" Id="Rbf54a635a2bf49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7dc490a4de49af" /><Relationship Type="http://schemas.openxmlformats.org/officeDocument/2006/relationships/notesMaster" Target="/ppt/notesMasters/notesMaster1.xml" Id="R11618a321e8f41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e35358f0884e18" /><Relationship Type="http://schemas.openxmlformats.org/officeDocument/2006/relationships/notesMaster" Target="/ppt/notesMasters/notesMaster1.xml" Id="Re06923af5c3e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各位老师好，我们汇报的是基于水平微码控制的 RV32I 五级流水 CPU。中期已经证明基础流水线能够正确执行 27 条基础指令。本次验收重点说明四项附加功能、量化性能实验，以及 EES-338 上的 CPU、BRAM 和外设闭环。三门观察通道分别是 LED、UART 与 LCD。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docs/中期与最终汇报范围划分.md §4</a:t>
            </a:r>
          </a:p>
          <a:p xmlns:a="http://schemas.openxmlformats.org/drawingml/2006/main">
            <a:r>
              <a:t>- docs/实验报告/流水线CPU仿真与下板实验报告.docx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基础结构仍是 IF、ID、EX、MEM、WB 五级流水。中期以后新增了精确异常和外部中断、I/D Cache、BTB 与 BHT 动态分支预测，并完善同步 BRAM、MMIO 和性能计数器。附加功能通过参数独立开关，便于做基线回归和公平性能对比。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docs/设计方案.md</a:t>
            </a:r>
          </a:p>
          <a:p xmlns:a="http://schemas.openxmlformats.org/drawingml/2006/main">
            <a:r>
              <a:t>- docs/附加功能设计与测试.md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所有控制事件统一进入流水线仲裁器。旧访存必须先完成，随后按同步异常、MRET、外部中断、分支误预测、load-use 的顺序处理。每周期只采纳最高优先级动作，避免等待、重定向和气泡同时修改状态。这里的等待并不是体系结构优先级，而是保证更老指令先完成的约束。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rtl/core/pipeline_ctrl.sv</a:t>
            </a:r>
          </a:p>
          <a:p xmlns:a="http://schemas.openxmlformats.org/drawingml/2006/main">
            <a:r>
              <a:t>- docs/核心设计文档/04-全局stall-flush优先级真值表.md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ADD、SUB 和 ADDI 在 EX 级检测课程规定的有符号溢出。发生异常时，故障指令不进入 EX/MEM，年轻指令清除，PC 转向 mtvec。mepc 和 mcause 保存恢复信息，处理程序用 MRET 返回。当前课程化约定把 mepc 保存为故障指令的 PC 加四，不能表述为完整特权规范。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docs/附加功能设计与测试.md §2</a:t>
            </a:r>
          </a:p>
          <a:p xmlns:a="http://schemas.openxmlformats.org/drawingml/2006/main">
            <a:r>
              <a:t>- sim/unit/tb_alu_overflow.sv</a:t>
            </a:r>
          </a:p>
          <a:p xmlns:a="http://schemas.openxmlformats.org/drawingml/2006/main">
            <a:r>
              <a:t>- sim/system/tb_extended_system.sv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外部中断先经双触发器同步，再锁存 pending。若 Cache 或数据总线正在等待，中断保持 pending，直到更老访存完成。只有安全的 EX 边界才接受中断，当前普通指令允许完成，年轻指令被冲刷。进入时关闭 MIE，MRET 再恢复，tb_extended_system 检查了等待期间到达中断和返回不重不漏。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docs/附加功能设计与测试.md §3</a:t>
            </a:r>
          </a:p>
          <a:p xmlns:a="http://schemas.openxmlformats.org/drawingml/2006/main">
            <a:r>
              <a:t>- rtl/exception/csr_file.sv</a:t>
            </a:r>
          </a:p>
          <a:p xmlns:a="http://schemas.openxmlformats.org/drawingml/2006/main">
            <a:r>
              <a:t>- sim/system/tb_extended_system.sv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I-Cache 和 D-Cache 都是 1 KiB 直接映射结构，每行 16 字节，共 64 行。I-Cache 缺失按四个字整行填充。D-Cache 采用写直达、写不分配，字节写通过 wstrb 更新。MMIO 强制旁路 Cache，保证 UART、LCD 和蜂鸣器写操作不会被缓存或合并。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docs/附加功能设计与测试.md §4</a:t>
            </a:r>
          </a:p>
          <a:p xmlns:a="http://schemas.openxmlformats.org/drawingml/2006/main">
            <a:r>
              <a:t>- rtl/cache/icache.sv</a:t>
            </a:r>
          </a:p>
          <a:p xmlns:a="http://schemas.openxmlformats.org/drawingml/2006/main">
            <a:r>
              <a:t>- rtl/cache/dcache.sv</a:t>
            </a:r>
          </a:p>
          <a:p xmlns:a="http://schemas.openxmlformats.org/drawingml/2006/main">
            <a:r>
              <a:t>- sim/unit/tb_cache.sv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预测器由 16 项 BTB 和 16 个两位饱和计数器组成。IF 级给出预测方向与目标，EX 级比较真实下一 PC。只有有效且未被更老事件取消的控制指令更新预测器一次。128 次循环测试中，误预测从 128 次降为 2 次；与 Cache 同开时周期从 670 降至 418。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docs/附加功能设计与测试.md §5</a:t>
            </a:r>
          </a:p>
          <a:p xmlns:a="http://schemas.openxmlformats.org/drawingml/2006/main">
            <a:r>
              <a:t>- rtl/predictor/branch_predictor.sv</a:t>
            </a:r>
          </a:p>
          <a:p xmlns:a="http://schemas.openxmlformats.org/drawingml/2006/main">
            <a:r>
              <a:t>- docs/performance/results.csv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回归脚本包含 13 个 testbench，覆盖译码、ALU 溢出、Cache、预测器、外设、基础 CPU、相关定向场景、扩展系统、bring-up 和俄罗斯方块。所有测试使用自动断言和 PASS 条件。基础 CPU 的同步 BRAM 回归与相关定向测试使用不同存储模型，因此前递和 load-use 的逐拍证据由 tb_pipeline_hazard 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docs/附加功能设计与测试.md §6–7</a:t>
            </a:r>
          </a:p>
          <a:p xmlns:a="http://schemas.openxmlformats.org/drawingml/2006/main">
            <a:r>
              <a:t>- sim/run_all_tests.tcl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性能实验使用组员大三阶段的真实单周期 RTL 作为基线。六种配置使用相同程序、输入和结束条件，并核对退休序列、写回和存储事件。我们同时报告 CPI、IPC、MIPS、CPU 时间、时序频率、停顿、预测准确率、Cache 命中率和资源占用，避免只挑对流水线有利的指标。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docs/CPU性能测试与单周期对比.md</a:t>
            </a:r>
          </a:p>
          <a:p xmlns:a="http://schemas.openxmlformats.org/drawingml/2006/main">
            <a:r>
              <a:t>- docs/performance/results.csv</a:t>
            </a:r>
          </a:p>
          <a:p xmlns:a="http://schemas.openxmlformats.org/drawingml/2006/main">
            <a:r>
              <a:t>- docs/performance/timing_results.csv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这张图汇总冷启动负载。连续分支负载中 Cache 和预测器组合收益明显，Branch 2000 的 CPI 接近 1.01。独立 ALU 和 RAW chain 在冷启动时 P-FULL 的 CPI 反而高于基础流水线，因为小程序无法摊薄 Cache 填充开销。结论应是附加功能收益依赖负载，而不是所有程序都更快。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docs/performance/figures/cpi_comparison.png</a:t>
            </a:r>
          </a:p>
          <a:p xmlns:a="http://schemas.openxmlformats.org/drawingml/2006/main">
            <a:r>
              <a:t>- docs/performance/results.csv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为了证明流水线能够在真实时间上胜出，我们选择 194 条连续计算指令。单周期 CPU 通过时序的频率为 83.33 MHz，流水线为 90.91 MHz。流水线多四个填充周期，但 CPU 时间从 2.328 微秒降到 2.178 微秒，MIPS 从 83.33 提高到 89.07，时间缩短约 6.44%。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docs/performance/figures/pipeline_throughput_proof.png</a:t>
            </a:r>
          </a:p>
          <a:p xmlns:a="http://schemas.openxmlformats.org/drawingml/2006/main">
            <a:r>
              <a:t>- docs/performance/timing_results.csv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下板系统使用 EES-338，JTAG 识别为 XC7A100T。板载 100 MHz 时钟经 MMCM 产生 25 MHz CPU 时钟，IMEM 和 DMEM 使用片内 BRAM。CPU 通过 MMIO 访问 GPIO、UART、LCD 与 TOHOST。bringup 程序依次完成基础计算、存储读写、分支、LCD 初始化等待和长序列发送。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docs/测试报告.md</a:t>
            </a:r>
          </a:p>
          <a:p xmlns:a="http://schemas.openxmlformats.org/drawingml/2006/main">
            <a:r>
              <a:t>- rtl/board/ees338_top.sv</a:t>
            </a:r>
          </a:p>
          <a:p xmlns:a="http://schemas.openxmlformats.org/drawingml/2006/main">
            <a:r>
              <a:t>- firmware/bringup.S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已有下板记录显示 Hardware Manager 可成功配置，最终 LED 全亮、UART 输出 BOOT 与 PASS，LCD 出现测试图案，TOHOST 置一。实现参考结果为 WNS 约正 24.40 纳秒、WHS 约正 0.104 纳秒、DRC 零违规。答辩前仍应把对应最终 bitstream 的 JTAG、Timing、串口和实物照片替换到本页，避免口头证据与文件版本脱节。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docs/测试报告.md §5, §10, §13–14</a:t>
            </a:r>
          </a:p>
          <a:p xmlns:a="http://schemas.openxmlformats.org/drawingml/2006/main">
            <a:r>
              <a:t>- docs/中期与最终汇报范围划分.md §4.4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本项目完成了基础五级流水、四项附加功能、十三组自检、性能量化和基础 FPGA 闭环。连续计算场景已经验证流水线的时间收益，Cache 与预测在合适负载上显著降低 CPI。当前局限是完整俄罗斯方块、蜂鸣器以及所有高级功能尚未形成同一 bitstream 的完整实板证据链，因此结论严格限定为报告记录的 bring-up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docs/实验报告/流水线CPU仿真与下板实验报告.docx</a:t>
            </a:r>
          </a:p>
          <a:p xmlns:a="http://schemas.openxmlformats.org/drawingml/2006/main">
            <a:r>
              <a:t>- docs/测试报告.md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d317325424f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2f590cae3492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da082918544d39" /><Relationship Type="http://schemas.openxmlformats.org/officeDocument/2006/relationships/slideLayout" Target="/ppt/slideLayouts/slideLayout1.xml" Id="Rb029db1f80524a7a" /><Relationship Type="http://schemas.openxmlformats.org/officeDocument/2006/relationships/slideLayout" Target="/ppt/slideLayouts/slideLayout2.xml" Id="R2068f1a19a4d4f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9db1f80524a7a"/>
    <p:sldLayoutId xmlns:r="http://schemas.openxmlformats.org/officeDocument/2006/relationships" id="2147483650" r:id="R2068f1a19a4d4fc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e2429fcdd4557" /><Relationship Type="http://schemas.openxmlformats.org/officeDocument/2006/relationships/notesSlide" Target="/ppt/notesSlides/notesSlide1.xml" Id="R7ef9e60a34fc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d2ad5deb54f05" /><Relationship Type="http://schemas.openxmlformats.org/officeDocument/2006/relationships/notesSlide" Target="/ppt/notesSlides/notesSlide2.xml" Id="R7b0f125ec57b41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a2ca43cd2431c" /><Relationship Type="http://schemas.openxmlformats.org/officeDocument/2006/relationships/image" Target="/ppt/media/image.png" Id="R425b5611cdf5444a" /><Relationship Type="http://schemas.openxmlformats.org/officeDocument/2006/relationships/notesSlide" Target="/ppt/notesSlides/notesSlide3.xml" Id="Rdf2fc78b8cfa46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788a8dc0b4db4" /><Relationship Type="http://schemas.openxmlformats.org/officeDocument/2006/relationships/notesSlide" Target="/ppt/notesSlides/notesSlide4.xml" Id="R38836e9a780442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222f53d7e42a2" /><Relationship Type="http://schemas.openxmlformats.org/officeDocument/2006/relationships/notesSlide" Target="/ppt/notesSlides/notesSlide5.xml" Id="Rbcc71d8f8c4948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e96d53b5740dc" /><Relationship Type="http://schemas.openxmlformats.org/officeDocument/2006/relationships/notesSlide" Target="/ppt/notesSlides/notesSlide6.xml" Id="R3f13f535ce5442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fed8b1993491e" /><Relationship Type="http://schemas.openxmlformats.org/officeDocument/2006/relationships/notesSlide" Target="/ppt/notesSlides/notesSlide7.xml" Id="Rd70b7b859c8640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179a9f3ba47c4" /><Relationship Type="http://schemas.openxmlformats.org/officeDocument/2006/relationships/notesSlide" Target="/ppt/notesSlides/notesSlide8.xml" Id="Rf53b75804b624d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aeecc1f984650" /><Relationship Type="http://schemas.openxmlformats.org/officeDocument/2006/relationships/notesSlide" Target="/ppt/notesSlides/notesSlide9.xml" Id="R162e3db28bac46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392e2bbdf4c0a" /><Relationship Type="http://schemas.openxmlformats.org/officeDocument/2006/relationships/image" Target="/ppt/media/image2.png" Id="Rffb77d2ebbbd4d82" /><Relationship Type="http://schemas.openxmlformats.org/officeDocument/2006/relationships/notesSlide" Target="/ppt/notesSlides/notesSlide10.xml" Id="R9dcd16fcfa4849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24dff468a431a" /><Relationship Type="http://schemas.openxmlformats.org/officeDocument/2006/relationships/image" Target="/ppt/media/image3.png" Id="Rb1e1604768824543" /><Relationship Type="http://schemas.openxmlformats.org/officeDocument/2006/relationships/notesSlide" Target="/ppt/notesSlides/notesSlide11.xml" Id="Rc0b20158ceb345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5d6a9b3e54dad" /><Relationship Type="http://schemas.openxmlformats.org/officeDocument/2006/relationships/image" Target="/ppt/media/image4.png" Id="R4d0d12f98e33431e" /><Relationship Type="http://schemas.openxmlformats.org/officeDocument/2006/relationships/notesSlide" Target="/ppt/notesSlides/notesSlide12.xml" Id="R29df75f534c74b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5369d15b84032" /><Relationship Type="http://schemas.openxmlformats.org/officeDocument/2006/relationships/notesSlide" Target="/ppt/notesSlides/notesSlide13.xml" Id="Rfcf17d427b8f40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0b1bf6add4380" /><Relationship Type="http://schemas.openxmlformats.org/officeDocument/2006/relationships/notesSlide" Target="/ppt/notesSlides/notesSlide14.xml" Id="R9af51c5bea624b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21C72-5590-4785-ACD4-BCACB202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计算机组成原理课程设计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8BA3-2502-45B2-BF02-4F949740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981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RV32I 五级流水 CPU</a:t>
            </a:r>
          </a:p>
          <a:p xmlns:a="http://schemas.openxmlformats.org/drawingml/2006/main">
            <a:pPr>
              <a:defRPr sz="360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设计实现与 FPGA 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3166F-C4DC-4BCA-B8D3-36788597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773E1-FC07-46AB-B858-4D0194C2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验收汇报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E09C0-D4F8-4324-BC0D-B8334654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基础流水、四项附加功能、性能量化与下板闭环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27EFE-7098-4DA8-9141-B5E99783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BE5DA-7E60-4C1D-A264-95306D63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314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13 组回归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3B284-5518-4542-98A4-A822CE31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578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CA0BB-4C3D-42C3-AB47-3FA7E42D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0547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90.91 MHz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169FC-939B-4D35-A219-C9CBA71A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5785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45682-E1E3-412A-AB3F-7F60E48A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05475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EES-338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EE635-AC6A-4434-A23F-9AD83286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成员：王建乐、张晓行、钱博傲    日期：2026 年 9 月</a:t>
            </a:r>
          </a:p>
        </p:txBody>
      </p:sp>
    </p:spTree>
    <p:extLst>
      <p:ext uri="{BB962C8B-B14F-4D97-AF65-F5344CB8AC3E}">
        <p14:creationId xmlns:p14="http://schemas.microsoft.com/office/powerpoint/2010/main" val="832732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489F8D-5F32-4526-9BB8-6C933F75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成果概览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3CA50-52FF-4118-93BB-21DD6A56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基础 CPU 与最终新增内容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91F94-8395-4BE3-BA94-46836C7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589CE-BA28-42DC-BD86-46C82582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6BB5A-9AB2-42FC-AD4E-45796BA7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5F5E6-7A0A-4ACA-B59A-57901DB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7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39B5C-339B-4DC8-AE9D-88D2BAC9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预测取指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84AD5-726C-42C6-80B2-02478D1F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14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295B8-0D33-4624-887C-4403EEDF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847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F451C-4396-4941-BFC3-428D9A42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71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微码译码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51484-BFEB-4E60-8775-12121A9E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A84A4-4D80-49B0-9F10-6AA90890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DA1D9-925C-4BEA-981C-3DDA9F03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执行与异常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B8E3D-AA03-424F-B746-2744DE17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14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50354-5CDD-4A3F-91FD-990ECC3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47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MEM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B049B-36B1-4329-9EF6-93B32840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71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Cache 与 MMIO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75B88-1532-4FFB-8625-70062831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14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8C7AF-DB2D-48C4-8E5C-5064AFE8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47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WB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4D4F8-EFF0-49CC-81F7-BD84A89E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写回与退休</a:t>
            </a:r>
          </a:p>
        </p:txBody>
      </p:sp>
      <p:cxnSp>
        <p:nvCxnSpPr>
          <p:cNvPr id="6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09800" y="21526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86275" y="21526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762750" y="21526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039225" y="21526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F2B98-0205-4C8C-814E-7487345B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571750" cy="15430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E05A1-7C2D-419D-B2EB-1C430CE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7625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9046E-523C-4A3E-8153-0B66335D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异常与中断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203C2-E3DF-46FB-9BBA-D1637BE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精确状态、pending、MRET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14E7D-F96D-4145-B3BE-A11218EB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2571750" cy="15430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09B5C-9823-4D44-AC1F-908A060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47625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0B460-2749-4DE9-A08B-65E70E1A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861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I/D Cache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9B24C4-73B9-403E-9620-A5315C97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29075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 KiB，16 B 行，MMIO bypass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C1A24-759B-4004-AEFE-CA43917F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2571750" cy="15430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3B5EF0-F64C-4F0A-9079-5D03C92C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47625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86612F-8E9D-4B88-8FE2-0C976EA4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861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动态预测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DC0C85-94E6-4F48-AB32-96107C8C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29075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16 项 BTB + 2 位 BHT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E07E1F-6E51-4779-9FB0-29C95027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2571750" cy="15430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7A2CAD-1CAD-46CF-8AE1-87C54925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47625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E5A9D7-CA6B-4FB3-BC6A-A30A92CE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性能与下板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186564-0450-48DC-B47F-64424D7E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29075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计数器、时序、BRAM、外设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F171CB-E3C3-4876-A06F-EBD3BA46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中期证明基础流水正确，本次集中汇报新增功能与真实证据</a:t>
            </a:r>
          </a:p>
        </p:txBody>
      </p:sp>
    </p:spTree>
    <p:extLst>
      <p:ext uri="{BB962C8B-B14F-4D97-AF65-F5344CB8AC3E}">
        <p14:creationId xmlns:p14="http://schemas.microsoft.com/office/powerpoint/2010/main" val="112110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45115-B077-40D6-B7EC-EE999EAC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流水控制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EA266-9F54-4D63-A7F3-06151F01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全局仲裁优先级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DEC27-11EC-46D1-AA52-259D1B0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38DD8-D048-437B-9B39-DE73AA7E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b5611cdf5444a"/>
          <a:stretch xmlns:a="http://schemas.openxmlformats.org/drawingml/2006/main"/>
        </p:blipFill>
        <p:spPr>
          <a:xfrm xmlns:a="http://schemas.openxmlformats.org/drawingml/2006/main">
            <a:off x="552450" y="1817846"/>
            <a:ext cx="11087100" cy="36033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9EFE4-CE27-4DCE-8DC9-8838F59C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旧访存完成约束保证精确状态，同一周期只执行最高优先级动作</a:t>
            </a:r>
          </a:p>
        </p:txBody>
      </p:sp>
    </p:spTree>
    <p:extLst>
      <p:ext uri="{BB962C8B-B14F-4D97-AF65-F5344CB8AC3E}">
        <p14:creationId xmlns:p14="http://schemas.microsoft.com/office/powerpoint/2010/main" val="279216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D97D27-3BA3-4FBC-A4CD-095948FF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附加功能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72237-070B-4630-B92C-54FDF230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有符号溢出与精确异常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A3F32-924A-4D0D-9BA9-9EB42BAF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83C38-F445-4A60-8207-22934AC1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B38C4-CC55-461A-8A84-489A2044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26B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4012A-E8E2-4395-832E-086A987B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EX 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71FCC-D8D0-4DC5-819A-41C451AE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ADD / SUB / ADDI</a:t>
            </a:r>
          </a:p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边界与错误路径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368FE-8A4E-4881-8043-21137FF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4310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0706D-F6E1-46C7-A089-431EE67F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阻止提交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B059F-B614-492C-8A3A-EAF31A73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故障指令不进入 EX/MEM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84AA1-B5A4-4210-943B-704444E8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4F8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84B56-264C-4F70-AE31-E7582D96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保存状态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047E9-C81C-46DA-9A09-09195BC6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mepc = PC + 4</a:t>
            </a:r>
          </a:p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mcause = 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BFDF9-CC45-4A19-85AE-CAC2D1E1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80BEB-130B-4D28-9270-1F1BBC0E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异常处理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122B5-1C4B-493F-9BD8-1952147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PC = mtvec</a:t>
            </a:r>
          </a:p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MRET 返回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62250" y="24431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B7A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15000" y="24431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942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67750" y="24431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3F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FE80D-AEA4-47A5-8E72-9C50131E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857750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CC147-77C0-41F8-9A95-36474A3C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9E494-EB35-48AB-BCD3-1BDB8E20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课程化语义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DDEA0-176F-4549-AF97-843A355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RV32I 原本按模 2³² 运算；本课程要求 ADD、SUB、ADDI 溢出进入异常。当前最小实现以 PC+4 作为 MRET 返回点。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0BA6F-C732-4436-A3DB-B8179AF3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953000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23891-B56A-4C99-A838-98239025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0ABB4-CF5F-4C4A-869D-96167A9A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57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自动化证据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B11E2-DDB5-45CF-AE1D-4E5595D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0052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tb_alu_overflow 覆盖正负边界与不误报；tb_extended_system 检查故障指令不写 rd、年轻指令无副作用、MRET 返回一次。</a:t>
            </a:r>
          </a:p>
        </p:txBody>
      </p:sp>
    </p:spTree>
    <p:extLst>
      <p:ext uri="{BB962C8B-B14F-4D97-AF65-F5344CB8AC3E}">
        <p14:creationId xmlns:p14="http://schemas.microsoft.com/office/powerpoint/2010/main" val="1917569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CF595E-8F2F-40E0-8C6D-BBE1D3A0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附加功能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3D12D-3FCC-4EEB-882B-AAE71767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外部中断与安全接受边界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3B066-34C0-47B9-A0C4-28A17087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C3A1D-5DCD-4CC8-8D51-AD431932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00681-3737-4106-9C2C-1BCE383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621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83503-D493-4274-B979-662DB687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异步输入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A9710-8ED6-4607-BDDE-735CAEE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双触发同步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64C75-475B-43B0-86CA-BAC8314F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621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0B0F4-68E9-498D-B6D0-B48260C3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95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C5483-1EA4-453D-8336-B1E1CE70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19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忙时保持请求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DFEB6-E9CA-4CF0-967D-E72F75E5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621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C9FF3-3B62-4B00-A38B-787512C5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95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安全 EX 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17E89-416A-4F74-8897-E060FAE4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旧访存先完成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4E770-30F2-4551-B87E-22AAB4F1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621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26B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F0B00-10DF-4B21-A619-B1828347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进入中断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69AE1-0550-41C7-A022-27BB1B2A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19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mcause = 0x8000000B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C7DB1-8612-4FF0-975B-1BEC72AA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621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939F3-B55D-4179-A4B9-4C141CB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MRET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83292-96B7-4591-8238-711FF085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193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恢复 MIE 与 PC</a:t>
            </a:r>
          </a:p>
        </p:txBody>
      </p:sp>
      <p:cxnSp>
        <p:nvCxnSpPr>
          <p:cNvPr id="5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19350" y="2438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10125" y="2438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200900" y="2438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591675" y="2438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92A09-1C53-4EDB-A13B-C83B1D22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391900" cy="1695450"/>
          </a:xfrm>
          <a:prstGeom xmlns:a="http://schemas.openxmlformats.org/drawingml/2006/main" prst="roundRect">
            <a:avLst>
              <a:gd name="adj" fmla="val 505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B0E10-8F8D-4F50-8CC7-1DFE1693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等待期间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9FFFB-04C7-442A-A5CC-79367253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052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D-Cache 或数据总线未完成时只锁存 pending，不打断更老访存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193E4F-EBD3-47E2-AF75-A43A63A4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接受条件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86B49-8777-445C-A8D5-B50B0C8C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815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当前 EX 为空或普通非控制指令，年轻指令清除，当前指令允许完成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B5F78-852C-4975-8517-B4B1DB0D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验证结果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D53C5-4312-402A-8F5D-28609CB0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577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tb_extended_system 检查 pending、进入、处理、返回和主程序不重不漏</a:t>
            </a:r>
          </a:p>
        </p:txBody>
      </p:sp>
    </p:spTree>
    <p:extLst>
      <p:ext uri="{BB962C8B-B14F-4D97-AF65-F5344CB8AC3E}">
        <p14:creationId xmlns:p14="http://schemas.microsoft.com/office/powerpoint/2010/main" val="44547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9818E-82D0-400E-926B-DBC9B4F9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附加功能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AB8EF-000D-49FA-9222-A37925F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I-Cache 与 D-Cache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64BF4-EF29-46AA-8DEC-42428CB2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EE1EE-F0D2-4E42-8E63-F27D3DB5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7E1E7-69FB-424A-8AF3-BE2D36B0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地址字段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4BA57-9526-49DD-AD48-7BFF57C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8100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9525">
            <a:solidFill>
              <a:srgbClr val="4F8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7C578-72D0-4622-B1F8-2C03BE6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tag  [31:10]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16EE9-3783-4120-85D3-8C726658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43100"/>
            <a:ext cx="3333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833B8-4C2B-4921-97F9-5434B96A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index  [9:4]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4370B-F598-4DC3-8415-F012609E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2857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6D0F5-58F8-4232-828C-985267BA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offset  [3:0]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CDD4C-79BE-4C4A-B8F9-140F2A2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530C8-C25E-4B4E-A3BD-283A4B92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07060-1F86-4375-9169-71537529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I-Cache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39C60-86F3-47CE-91C4-03B5308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 KiB，直接映射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16 B 行，4 字填充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错误路径 refill 不返回 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790CA-F8A6-43BD-9959-D756D1B3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F8E4D-D543-436C-9AA4-5E166BC1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3E6EF-F2D0-4C57-A698-72CCAADE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00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D-Cache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2B8AA-7BC7-40B2-B3B7-955551F7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4332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 KiB，直接映射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写直达、写不分配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支持字节写与冲突替换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73118-B067-4B4A-9219-D50AA3C1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027F0-54C5-462F-A44D-4CFB98E4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CE05F-BA61-4DDD-874D-BA3E236E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MMIO bypass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40304-458F-428B-A403-80FB7726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4332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0x2000_0000 区域不缓存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外设访问强顺序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副作用只发生一次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11F94-EF4A-49FB-9ADB-C2C2A098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43550"/>
            <a:ext cx="495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FC29D-1BB1-40B9-B1C7-A9B1AFAE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91175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tb_cache：I$ hit/miss = 1/3，D$ = 3/3</a:t>
            </a:r>
          </a:p>
        </p:txBody>
      </p:sp>
    </p:spTree>
    <p:extLst>
      <p:ext uri="{BB962C8B-B14F-4D97-AF65-F5344CB8AC3E}">
        <p14:creationId xmlns:p14="http://schemas.microsoft.com/office/powerpoint/2010/main" val="18007155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EE5C37-E9BD-4477-9CDC-11952A9D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附加功能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2D29B-AB8B-472D-92F9-A3B47861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BTB 与两位饱和计数器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08885-3F7D-42E4-8CB1-F8FC8B07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73549-013A-470A-8318-6B188570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992C8-E952-46F7-9625-EED93507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064BE-A2BC-4D11-857C-1723A406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IF 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BADD4-E8D1-4034-850B-FB0DA744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PC 同时索引 BTB / BHT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7797B-7692-4CF5-B0C2-E02C3BD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22792-CA43-4B5B-8FF6-03A58CD4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574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预测下一 PC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A5152-BADE-4037-A144-3C257143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BTB tag 命中且 BHT[1]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D9218-F5E3-4646-A355-D7EE5A48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C9CBE-F6AE-4567-8947-7485AC5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EX 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C3F4A-B906-4DF0-A533-D029CC3E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比较真实与预测下一 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7B3D4-B6CA-4B35-BE57-1CF8220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240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26B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1D324-7208-4D2B-B309-8A00D916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574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恢复与更新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5A381-0E0F-4D09-89A4-5472F3AE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误预测冲刷</a:t>
            </a:r>
          </a:p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真实指令仅更新一次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43200" y="242411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15000" y="242411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86800" y="242411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2690B-53F6-4C0D-8AE9-404B73A4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3333750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1F057-F970-43DD-83C6-FF637D47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95BD8-549D-466D-A3FD-2702022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状态机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13FDE-98EF-4A0C-94DF-4C979585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00 强不跳转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01 弱不跳转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10 弱跳转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11 强跳转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18080-45C9-47AB-BB5F-71A23918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19500"/>
            <a:ext cx="3333750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47AA3-73DA-4EEB-9BBA-BD2A99B9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1950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4FA69-53D4-4AFE-8021-321887E9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814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Branch 128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0E3E3-6102-4D03-93CA-68D0F7F2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2432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未预测：128 次误判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开启预测：2 次误判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准确率约 99.2%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CF8C6-5175-4709-B019-887D72E5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3448050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306664-9728-41A5-8CC7-726476C4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D45034-0D92-4298-9EBA-73D5BA27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组合收益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A8DFE-6DD1-472B-BCA8-B7DA49F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24325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P-CACHE：670 周期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P-FULL：418 周期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周期减少 37.6%</a:t>
            </a:r>
          </a:p>
        </p:txBody>
      </p:sp>
    </p:spTree>
    <p:extLst>
      <p:ext uri="{BB962C8B-B14F-4D97-AF65-F5344CB8AC3E}">
        <p14:creationId xmlns:p14="http://schemas.microsoft.com/office/powerpoint/2010/main" val="1065570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FC8F0-48ED-44DD-AB36-2E7B6D30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全量验证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F6C68-BA02-4317-95FB-8DA3AD63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十三组自动化回归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BAC5B-00DC-4085-A76E-89CB9443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510E4-CA3A-420C-B37C-7638DF76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0312"/>
                <a:gridCol w="2890482"/>
                <a:gridCol w="5270879"/>
                <a:gridCol w="1360227"/>
              </a:tblGrid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testbench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主要覆盖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译码与执行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overflow / decode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边界、29 条有效编码、非法指令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微结构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predictor / cache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训练、饱和、tag 冲突、替换、旁路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基础 CPU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cpu_core / pipeline_hazard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同步 BRAM 回归、前递、停顿、冲刷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扩展系统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extended_system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异常、中断、Cache、预测与返回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板级与应用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bringup / tetris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启动程序与 10×20 游戏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外设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UART / SPI / LCD / key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位序、状态机、发送次数与消抖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1820A-9AAE-4444-9CD3-D7C10ECF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Vivado 2025.2 重跑记录：全部 13 个测试 PASS；一键入口 sim/run_all_tests.tcl</a:t>
            </a:r>
          </a:p>
        </p:txBody>
      </p:sp>
    </p:spTree>
    <p:extLst>
      <p:ext uri="{BB962C8B-B14F-4D97-AF65-F5344CB8AC3E}">
        <p14:creationId xmlns:p14="http://schemas.microsoft.com/office/powerpoint/2010/main" val="1013834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2FBD5-3E6F-489D-A786-8E8F3CF6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性能实验设计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40FAE-2485-4ED8-ABE7-B93F6E5D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性能实验口径与公平性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1CA5E-7AE9-4B67-A83B-040DB2C1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09162-1C51-4C2E-82CA-694BDEB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506730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约束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做法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基线来源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组员大三阶段真实单周期 RTL 与原始机器码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输入一致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六种配置使用相同程序、数据、结束条件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架构一致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逐条核对退休 PC、指令、rd、写回与存储事件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时序一致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分别用通过布线后时序的频率计算 CPU 时间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指标完整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CPI、IPC、MIPS、CPU 时间、停顿、预测、Cache、资源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BF228-72D3-4B10-A507-A91DAB2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38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六种配置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A8E36-CDDC-4E5E-9E7C-D3A7936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660E3-8BB2-47AF-A3CC-923342CD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43125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SC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3E8B7-7E36-4CB7-BE65-F031D03D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43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原单周期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D03FC-5D40-4ECB-805E-D490ED0F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19375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2814B-C5B0-451C-95ED-8C1170E2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67000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P-IDEAL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BEE5B-B02B-435E-B6C2-24682658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理想存储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784BE-A708-40F0-AB10-BA9E89A8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0CA0E-D5EC-4806-B203-9A73C149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P-BASE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98D98-0CD8-486D-A690-DD30078A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90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同步存储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FA078-8C7C-4D21-9418-C260F3B0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67125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940A6-D8AA-4328-AA6A-3D6F697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14750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P-CACHE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8CF03-8FBC-40A4-9917-5B90761E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双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B8CF0-BB1B-4F50-88C0-9B09CA0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9100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6F270-5EEB-46F5-8818-D563959D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38625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P-BP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47B5E-57CA-486D-8A08-BB393B4F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38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分支预测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5B0B6-5580-4F20-AB36-E362FE9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14875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DB68B-2B35-49CB-9133-D4BEBEF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62500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P-FULL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4886B-130A-47DD-9AD7-F2845AA1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Cache + 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B8D89-3E08-4025-AC18-82CD6831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72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结论必须同时报告收益、反例和资源代价</a:t>
            </a: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A2D67-AD18-4B37-8DED-DCA352D7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性能结果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2D5E9-F6B3-4D97-A681-4488A922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冷启动负载的 CPI 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9535F-F40A-49FF-9A93-9AD60FF0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10842-EE9C-4FFD-81D4-7D462A04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77d2ebbbd4d82"/>
          <a:stretch xmlns:a="http://schemas.openxmlformats.org/drawingml/2006/main"/>
        </p:blipFill>
        <p:spPr>
          <a:xfrm xmlns:a="http://schemas.openxmlformats.org/drawingml/2006/main">
            <a:off x="1370135" y="1466850"/>
            <a:ext cx="9451731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137B0-DE8F-4B98-9C7F-F0B631E8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Cache 与预测收益取决于局部性和分支行为；短小顺序程序可能被冷启动开销拖慢</a:t>
            </a:r>
          </a:p>
        </p:txBody>
      </p:sp>
    </p:spTree>
    <p:extLst>
      <p:ext uri="{BB962C8B-B14F-4D97-AF65-F5344CB8AC3E}">
        <p14:creationId xmlns:p14="http://schemas.microsoft.com/office/powerpoint/2010/main" val="21098040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DD8A6-0149-44B8-9DC1-56F1EA7C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吞吐证明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FDA1B-B706-4919-87AB-42F932B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流水线真实时间胜出实验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186FA-A254-479C-947C-37C8896B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3FCCE-262A-4316-848F-03EFC398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1604768824543"/>
          <a:stretch xmlns:a="http://schemas.openxmlformats.org/drawingml/2006/main"/>
        </p:blipFill>
        <p:spPr>
          <a:xfrm xmlns:a="http://schemas.openxmlformats.org/drawingml/2006/main">
            <a:off x="438150" y="1467803"/>
            <a:ext cx="11315700" cy="39604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13C62-2D93-4017-883B-19581733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7690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51FC2-5B67-4C87-9E15-4D58CDA8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24525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CPU 时间 -6.44%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78984-08A0-4F5C-AB12-12917DB4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76900"/>
            <a:ext cx="1905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B462A-817D-4BB3-BFE1-DE5ACFFD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2452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MIPS +6.89%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708AC-1C49-46DD-9E1C-825A7493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76900"/>
            <a:ext cx="2857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EE740-36C3-4FDF-B7AD-86193AEB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2452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频率比 1.0909 &gt; 所需 1.0206</a:t>
            </a: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6ADB3-B7DF-4DB1-B7AD-0FE9946F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FPGA 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0B4AD-00A2-4942-914D-09E58266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EES-338 板级系统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C9C38-8574-48AC-B9FB-800DFFA0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129AD-DC1E-46D5-9F8B-167140B4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d12f98e33431e"/>
          <a:stretch xmlns:a="http://schemas.openxmlformats.org/drawingml/2006/main"/>
        </p:blipFill>
        <p:spPr>
          <a:xfrm xmlns:a="http://schemas.openxmlformats.org/drawingml/2006/main">
            <a:off x="1589942" y="1524000"/>
            <a:ext cx="9012115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03D9C-345E-49B7-AAF4-3A26A48A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F85EF-4D0B-4782-9A8B-5B8F8FC4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626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XC7A100T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85CA3-4996-4048-8836-002A975D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D9CDF-D385-4EA8-A38B-A65CFEE2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62625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25 MHz CPU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3C793-A71A-4D80-895C-9CB1EECE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1500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56B28-D706-4434-9F00-77993299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62625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BRAM IMEM/DMEM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27F4A-B09E-4D0F-870C-BF3B19F8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15000"/>
            <a:ext cx="2667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48EAE-F4B8-456C-BE41-7B829661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62625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GPIO / UART / LCD / TOHOST</a:t>
            </a:r>
          </a:p>
        </p:txBody>
      </p:sp>
    </p:spTree>
    <p:extLst>
      <p:ext uri="{BB962C8B-B14F-4D97-AF65-F5344CB8AC3E}">
        <p14:creationId xmlns:p14="http://schemas.microsoft.com/office/powerpoint/2010/main" val="10768901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FF24A-56AB-4131-B57B-53C2503D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下板验收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758E9-95AC-474A-9E69-DEEF08A0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下板证据链与提交前补图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0F3B4-27A9-4F38-A419-AC5B476A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D65EA-EF39-4079-B4A5-E2077B40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3919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88515"/>
                <a:gridCol w="5126355"/>
                <a:gridCol w="4177030"/>
              </a:tblGrid>
              <a:tr h="587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报告记录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答辩文件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实现与配置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JTAG 识别 XC7A100T，Program 成功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补 Hardware Manager 截图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时序与规则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WNS≈+24.40 ns，WHS≈+0.104 ns，DRC=0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补最终 Timing/DRC 截图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CPU 执行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UART 输出 BOOT / PASS，TOHOST=1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补串口截图与 LED 照片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慢外设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LCD 初始化并显示测试图案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补 LCD 实物照片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交互应用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代码与系统仿真已通过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现场视频演示游戏与蜂鸣器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83D4F-188C-4016-BB70-4E933334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补图时必须使用与最终 bitstream、RTL 提交和固件哈希一致的证据</a:t>
            </a: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7D005-EB4E-49B5-8439-27652B1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D2D12-8DB6-4595-9E0F-624612C8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结论与证据边界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88602-2307-4068-808F-8564D1F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2DED1-9487-488F-9CB8-1378F2F4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9DCFA-36A8-420C-B8ED-58E797AD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2B2AA-EBA8-44A7-A3A7-D146154A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E1CE6-AF47-4AAC-BA51-DDD44C8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7EA93-E78F-413F-9A85-69070CE7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27 条基础指令与五级流水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异常、中断、Cache、动态预测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13 组自动化回归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23E72-7EA9-49FD-A6FC-845BEDEE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E193B-81F2-49E7-9228-1CEB155D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92A20-358C-4F43-AC4A-0BE3239E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57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已量化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B976E-FEB8-4FF1-8537-B3436B32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002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六种配置公平对比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连续计算 CPU 时间缩短 6.44%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Cache 与预测收益按负载解释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92841-7E93-452B-9028-AD48EE98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ACB23-A14D-44C0-A893-0ED027CA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0F322-9AF2-441F-ADE1-E0FE5D6B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已下板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2BC0D-5D84-4D68-AAB5-D86A771C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02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JTAG、25 MHz、BRAM、MMIO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LED、UART、LCD 与 TOHOST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基础 bring-up 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176C8-2A88-41B0-BAB1-45E9362A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66556-1149-42D5-9B36-4D03421F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流水线在连续计算场景依靠更高布线后频率取得真实时间收益，附加功能在适合负载上进一步降低 CPI。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8A425-CCAD-41BE-AABA-77348CD2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证据边界：完整游戏、蜂鸣器及全部高级功能仍需用同一最终 bitstream 的照片和视频完成实物留档。</a:t>
            </a: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2026-09-16T10:39:47.1960000Z</dcterms:created>
  <dcterms:modified xsi:type="dcterms:W3CDTF">2026-09-16T10:39:47.1960000Z</dcterms:modified>
</coreProperties>
</file>