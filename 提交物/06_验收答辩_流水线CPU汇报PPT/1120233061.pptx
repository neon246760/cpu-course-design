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各位老师好，我们汇报的是基于水平微码控制的 RV32I 五级流水 CPU。本次以俄罗斯方块实板运行为主线：程序从 BRAM 取指，在流水线上持续执行分支、访存和游戏逻辑，再通过 MMIO 读取按键并刷新 LCD。随后我们从这条应用链路回到 CPU 微结构、附加功能、自动化验证和性能数据。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docs/中期与最终汇报范围划分.md §4</a:t>
            </a:r>
          </a:p>
          <a:p>
            <a:r>
              <a:t>- docs/实验报告/流水线CPU仿真与下板实验报告.docx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为减少现场切换，计组汇报按王建乐、张晓行、王建乐三段进行。王建乐负责第 1 到 3 页以及第 10 到 15 页，张晓行负责第 4 到 9 页。钱博傲负责实板材料准备，并在提问环节补充 LCD、GPIO 和 MMIO 接口问题。</a:t>
            </a:r>
          </a:p>
          <a:p>
            <a:endParaRPr/>
          </a:p>
          <a:p>
            <a:r>
              <a:t>内容依据：</a:t>
            </a:r>
          </a:p>
          <a:p>
            <a:r>
              <a:t>- docs/验收汇报ppt/验收汇报三人任务分配.md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基础结构仍是 IF、ID、EX、MEM、WB 五级流水。俄罗斯方块程序把这些阶段串成连续工作负载：IF 反复取指，ID 译码，EX 处理坐标和分支，MEM 访问棋盘数据与 MMIO，WB 提交计算结果。中期以后还加入精确异常和外部中断、I/D Cache、动态分支预测、同步 BRAM 和性能计数器。</a:t>
            </a:r>
          </a:p>
          <a:p>
            <a:endParaRPr/>
          </a:p>
          <a:p>
            <a:r>
              <a:t>内容依据：</a:t>
            </a:r>
          </a:p>
          <a:p>
            <a:r>
              <a:t>- docs/设计方案.md</a:t>
            </a:r>
          </a:p>
          <a:p>
            <a:r>
              <a:t>- docs/附加功能设计与测试.md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所有控制事件统一进入流水线仲裁器。旧访存必须先完成，随后按同步异常、MRET、外部中断、分支误预测、load-use 的顺序处理。每周期只采纳最高优先级动作，避免等待、重定向和气泡同时修改状态。这里的等待并不是体系结构优先级，而是保证更老指令先完成的约束。</a:t>
            </a:r>
          </a:p>
          <a:p>
            <a:endParaRPr/>
          </a:p>
          <a:p>
            <a:r>
              <a:t>内容依据：</a:t>
            </a:r>
          </a:p>
          <a:p>
            <a:r>
              <a:t>- rtl/core/pipeline_ctrl.sv</a:t>
            </a:r>
          </a:p>
          <a:p>
            <a:r>
              <a:t>- docs/核心设计文档/04-全局stall-flush优先级真值表.md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ADD、SUB 和 ADDI 在 EX 级检测课程规定的有符号溢出。发生异常时，故障指令不进入 EX/MEM，年轻指令清除，PC 转向 mtvec。mepc 和 mcause 保存恢复信息，处理程序用 MRET 返回。当前课程化约定把 mepc 保存为故障指令的 PC 加四，不能表述为完整特权规范。</a:t>
            </a:r>
          </a:p>
          <a:p>
            <a:endParaRPr/>
          </a:p>
          <a:p>
            <a:r>
              <a:t>内容依据：</a:t>
            </a:r>
          </a:p>
          <a:p>
            <a:r>
              <a:t>- docs/附加功能设计与测试.md §2</a:t>
            </a:r>
          </a:p>
          <a:p>
            <a:r>
              <a:t>- sim/unit/tb_alu_overflow.sv</a:t>
            </a:r>
          </a:p>
          <a:p>
            <a:r>
              <a:t>- sim/system/tb_extended_system.sv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外部中断先经双触发器同步，再锁存 pending。若 Cache 或数据总线正在等待，中断保持 pending，直到更老访存完成。只有安全的 EX 边界才接受中断，当前普通指令允许完成，年轻指令被冲刷。进入时关闭 MIE，MRET 再恢复，tb_extended_system 检查了等待期间到达中断和返回不重不漏。</a:t>
            </a:r>
          </a:p>
          <a:p>
            <a:endParaRPr/>
          </a:p>
          <a:p>
            <a:r>
              <a:t>内容依据：</a:t>
            </a:r>
          </a:p>
          <a:p>
            <a:r>
              <a:t>- docs/附加功能设计与测试.md §3</a:t>
            </a:r>
          </a:p>
          <a:p>
            <a:r>
              <a:t>- rtl/exception/csr_file.sv</a:t>
            </a:r>
          </a:p>
          <a:p>
            <a:r>
              <a:t>- sim/system/tb_extended_system.sv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I-Cache 和 D-Cache 都是 1 KiB 直接映射结构，每行 16 字节，共 64 行。I-Cache 缺失按四个字整行填充。D-Cache 采用写直达、写不分配，字节写通过 wstrb 更新。MMIO 强制旁路 Cache，保证 UART、LCD 和蜂鸣器写操作不会被缓存或合并。</a:t>
            </a:r>
          </a:p>
          <a:p>
            <a:endParaRPr/>
          </a:p>
          <a:p>
            <a:r>
              <a:t>内容依据：</a:t>
            </a:r>
          </a:p>
          <a:p>
            <a:r>
              <a:t>- docs/附加功能设计与测试.md §4</a:t>
            </a:r>
          </a:p>
          <a:p>
            <a:r>
              <a:t>- rtl/cache/icache.sv</a:t>
            </a:r>
          </a:p>
          <a:p>
            <a:r>
              <a:t>- rtl/cache/dcache.sv</a:t>
            </a:r>
          </a:p>
          <a:p>
            <a:r>
              <a:t>- sim/unit/tb_cache.sv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预测器由 16 项 BTB 和 16 个两位饱和计数器组成。IF 级给出预测方向与目标，EX 级比较真实下一 PC。只有有效且未被更老事件取消的控制指令更新预测器一次。128 次循环测试中，误预测从 128 次降为 2 次；与 Cache 同开时周期从 670 降至 418。</a:t>
            </a:r>
          </a:p>
          <a:p>
            <a:endParaRPr/>
          </a:p>
          <a:p>
            <a:r>
              <a:t>内容依据：</a:t>
            </a:r>
          </a:p>
          <a:p>
            <a:r>
              <a:t>- docs/附加功能设计与测试.md §5</a:t>
            </a:r>
          </a:p>
          <a:p>
            <a:r>
              <a:t>- rtl/predictor/branch_predictor.sv</a:t>
            </a:r>
          </a:p>
          <a:p>
            <a:r>
              <a:t>- docs/performance/results.csv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回归脚本包含 13 个 testbench。局部测试验证译码、溢出、Cache、预测器和外设，系统测试验证基础 CPU、相关处理、扩展功能、bring-up 和俄罗斯方块。tb_tetris_system 运行完整机器码，检查二十行上传顺序、方向键、软降释放、消行与蜂鸣事件，并在 65079 个周期后输出 PASS。</a:t>
            </a:r>
          </a:p>
          <a:p>
            <a:endParaRPr/>
          </a:p>
          <a:p>
            <a:r>
              <a:t>内容依据：</a:t>
            </a:r>
          </a:p>
          <a:p>
            <a:r>
              <a:t>- docs/附加功能设计与测试.md §6–7</a:t>
            </a:r>
          </a:p>
          <a:p>
            <a:r>
              <a:t>- sim/run_all_tests.tcl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性能实验使用组员大三阶段的真实单周期 RTL 作为基线。六种配置使用相同程序、输入和结束条件，并核对退休序列、写回和存储事件。我们同时报告 CPI、IPC、MIPS、CPU 时间、时序频率、停顿、预测准确率、Cache 命中率和资源占用，避免只挑对流水线有利的指标。</a:t>
            </a:r>
          </a:p>
          <a:p>
            <a:endParaRPr/>
          </a:p>
          <a:p>
            <a:r>
              <a:t>内容依据：</a:t>
            </a:r>
          </a:p>
          <a:p>
            <a:r>
              <a:t>- docs/CPU性能测试与单周期对比.md</a:t>
            </a:r>
          </a:p>
          <a:p>
            <a:r>
              <a:t>- docs/performance/results.csv</a:t>
            </a:r>
          </a:p>
          <a:p>
            <a:r>
              <a:t>- docs/performance/timing_results.csv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这张图汇总冷启动负载。连续分支负载中 Cache 和预测器组合收益明显，Branch 2000 的 CPI 接近 1.01。独立 ALU 和 RAW chain 在冷启动时 P-FULL 的 CPI 反而高于基础流水线，因为小程序无法摊薄 Cache 填充开销。结论应是附加功能收益依赖负载，而不是所有程序都更快。</a:t>
            </a:r>
          </a:p>
          <a:p>
            <a:endParaRPr/>
          </a:p>
          <a:p>
            <a:r>
              <a:t>内容依据：</a:t>
            </a:r>
          </a:p>
          <a:p>
            <a:r>
              <a:t>- docs/performance/figures/cpi_comparison.png</a:t>
            </a:r>
          </a:p>
          <a:p>
            <a:r>
              <a:t>- docs/performance/results.csv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为了证明流水线能够在真实时间上胜出，我们选择 194 条连续计算指令。单周期 CPU 通过时序的频率为 83.33 MHz，流水线为 90.91 MHz。流水线多四个填充周期，但 CPU 时间从 2.328 微秒降到 2.178 微秒，MIPS 从 83.33 提高到 89.07，时间缩短约 6.44%。</a:t>
            </a:r>
          </a:p>
          <a:p>
            <a:endParaRPr/>
          </a:p>
          <a:p>
            <a:r>
              <a:t>内容依据：</a:t>
            </a:r>
          </a:p>
          <a:p>
            <a:r>
              <a:t>- docs/performance/figures/pipeline_throughput_proof.png</a:t>
            </a:r>
          </a:p>
          <a:p>
            <a:r>
              <a:t>- docs/performance/timing_results.csv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下板系统使用 EES-338，JTAG 识别为 XC7A100T。板载 100 MHz 时钟经 MMCM 产生 25 MHz CPU 时钟，IMEM 和 DMEM 使用片内 BRAM。先用 bring-up 检查基本计算、存储、分支和外设握手，再装载 tetris.mem 运行完整应用。CPU 通过 GPIO MMIO 读取按键，通过 LCD_GAME_ROW 和 LCD_GAME_REFRESH 刷新棋盘。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docs/下板演示_俄罗斯方块.mp4</a:t>
            </a:r>
          </a:p>
          <a:p>
            <a:r>
              <a:t>- rtl/board/ees338_top.sv</a:t>
            </a:r>
          </a:p>
          <a:p>
            <a:r>
              <a:t>- firmware/tetris.S</a:t>
            </a:r>
          </a:p>
          <a:p>
            <a:r>
              <a:t>- firmware/tetris.mem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本页三张画面来自 docs 下约 56 秒的下板演示视频。启动后 LCD 出现活动方块，随后方块位置和底部固定棋盘持续变化，说明 CPU 正在真实板上重复执行取指、分支、访存、碰撞计算和 MMIO 刷新。视频同时拍到实物设备，因此它是俄罗斯方块已下板运行的直接证据。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docs/下板演示_俄罗斯方块.mp4</a:t>
            </a:r>
          </a:p>
          <a:p>
            <a:r>
              <a:t>- firmware/tetris.S</a:t>
            </a:r>
          </a:p>
          <a:p>
            <a:r>
              <a:t>- sim/system/tb_tetris_system.sv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本项目完成了基础五级流水、四项附加功能、十三组自检和性能量化，并在 EES-338 上运行俄罗斯方块。应用能够持续产生控制相关、数据访存和慢速 MMIO 访问，实板画面变化证明 CPU、BRAM、按键和 LCD 路径形成闭环。高级功能的边界条件仍以定向仿真和性能测试为主要证据。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docs/下板演示_俄罗斯方块.mp4</a:t>
            </a:r>
          </a:p>
          <a:p>
            <a:r>
              <a:t>- docs/实验报告/流水线CPU仿真与下板实验报告.docx</a:t>
            </a:r>
          </a:p>
          <a:p>
            <a:r>
              <a:t>- sim/system/tb_tetris_system.sv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8C8787C-2D9F-45B2-81D6-2F943BDDEE16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计算机组成原理课程设计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1C8B4E-E0AF-4A1F-8386-D01F40C02BB9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98107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RV32I 五级流水 CPU</a:t>
            </a:r>
          </a:p>
          <a:p>
            <a:pPr>
              <a:def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设计实现与 FPGA 验收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5926FDF-81FD-4572-A586-6356E26775A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B51DB-E1BB-4F20-95AE-8C56F34B2ECB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验收汇报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5B9071-818D-4C04-8DC1-336A645CD0E0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从五级流水 CPU 到俄罗斯方块整机下板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A08E0A-F2BB-45FF-BEB6-7ADED769417D}"/>
              </a:ext>
            </a:extLst>
          </p:cNvPr>
          <p:cNvSpPr>
            <a:spLocks noGrp="1"/>
          </p:cNvSpPr>
          <p:nvPr/>
        </p:nvSpPr>
        <p:spPr>
          <a:xfrm>
            <a:off x="590550" y="5657850"/>
            <a:ext cx="13144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9CEE21-30D0-476B-B563-9C360D056C7C}"/>
              </a:ext>
            </a:extLst>
          </p:cNvPr>
          <p:cNvSpPr>
            <a:spLocks noGrp="1"/>
          </p:cNvSpPr>
          <p:nvPr/>
        </p:nvSpPr>
        <p:spPr>
          <a:xfrm>
            <a:off x="590550" y="5705475"/>
            <a:ext cx="13144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13 组回归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355F491-6206-4618-9D80-2560AFE8CA51}"/>
              </a:ext>
            </a:extLst>
          </p:cNvPr>
          <p:cNvSpPr>
            <a:spLocks noGrp="1"/>
          </p:cNvSpPr>
          <p:nvPr/>
        </p:nvSpPr>
        <p:spPr>
          <a:xfrm>
            <a:off x="2057400" y="56578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0EF771-665E-4206-807D-666138BDB7B3}"/>
              </a:ext>
            </a:extLst>
          </p:cNvPr>
          <p:cNvSpPr>
            <a:spLocks noGrp="1"/>
          </p:cNvSpPr>
          <p:nvPr/>
        </p:nvSpPr>
        <p:spPr>
          <a:xfrm>
            <a:off x="2057400" y="5705475"/>
            <a:ext cx="14287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90.91 MHz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94B8C7-98A3-4F02-B79A-200197263841}"/>
              </a:ext>
            </a:extLst>
          </p:cNvPr>
          <p:cNvSpPr>
            <a:spLocks noGrp="1"/>
          </p:cNvSpPr>
          <p:nvPr/>
        </p:nvSpPr>
        <p:spPr>
          <a:xfrm>
            <a:off x="3638550" y="565785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E4A285-E6BF-407F-A220-BFBB5F99A1E1}"/>
              </a:ext>
            </a:extLst>
          </p:cNvPr>
          <p:cNvSpPr>
            <a:spLocks noGrp="1"/>
          </p:cNvSpPr>
          <p:nvPr/>
        </p:nvSpPr>
        <p:spPr>
          <a:xfrm>
            <a:off x="3638550" y="5705475"/>
            <a:ext cx="12382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EES-338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9C158-0293-4602-B0AB-B06C609E5D40}"/>
              </a:ext>
            </a:extLst>
          </p:cNvPr>
          <p:cNvSpPr>
            <a:spLocks noGrp="1"/>
          </p:cNvSpPr>
          <p:nvPr/>
        </p:nvSpPr>
        <p:spPr>
          <a:xfrm>
            <a:off x="590550" y="61722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成员：王建乐、张晓行、钱博傲    日期：2026 年 9 月</a:t>
            </a:r>
          </a:p>
        </p:txBody>
      </p:sp>
    </p:spTree>
    <p:extLst>
      <p:ext uri="{BB962C8B-B14F-4D97-AF65-F5344CB8AC3E}">
        <p14:creationId xmlns:p14="http://schemas.microsoft.com/office/powerpoint/2010/main" val="83273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BF501B3-45F1-4837-A95E-F1B6432CAEB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汇报安排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F1AE66-8BBB-4F6D-8C90-77BC9879595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 dirty="0" err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分工</a:t>
            </a:r>
            <a:r>
              <a:rPr lang="zh-CN" altLang="en-US" sz="2475" b="1" dirty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安排</a:t>
            </a:r>
            <a:endParaRPr sz="2475" b="1" dirty="0">
              <a:solidFill>
                <a:srgbClr val="EAF2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79095D5-3494-4C48-9EB5-DB17F758108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5A1CFC-BB7C-44FC-91D6-610893486667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636" lnSpcReduction="2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6529B8-CB46-4352-9E3E-3BFECFBA515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AB2132-19E5-4777-9446-2644F433B7C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636" lnSpcReduction="2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403BCB-F322-AFB6-E81A-88242098F08D}"/>
              </a:ext>
            </a:extLst>
          </p:cNvPr>
          <p:cNvSpPr>
            <a:spLocks noGrp="1"/>
          </p:cNvSpPr>
          <p:nvPr/>
        </p:nvSpPr>
        <p:spPr>
          <a:xfrm>
            <a:off x="476250" y="17240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王建乐（组长</a:t>
            </a:r>
            <a:r>
              <a:rPr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209471-360E-1DC0-A65F-C3BE1F1DBF3F}"/>
              </a:ext>
            </a:extLst>
          </p:cNvPr>
          <p:cNvSpPr>
            <a:spLocks noGrp="1"/>
          </p:cNvSpPr>
          <p:nvPr/>
        </p:nvSpPr>
        <p:spPr>
          <a:xfrm>
            <a:off x="476250" y="20669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575" dirty="0">
                <a:solidFill>
                  <a:srgbClr val="F7FAFF"/>
                </a:solidFill>
                <a:latin typeface="Microsoft YaHei"/>
              </a:rPr>
              <a:t>ISA、微码、系统集成与材料</a:t>
            </a:r>
            <a:r>
              <a:rPr lang="zh-CN" altLang="en-US" sz="1575" dirty="0">
                <a:solidFill>
                  <a:srgbClr val="F7FAFF"/>
                </a:solidFill>
                <a:latin typeface="Microsoft YaHei"/>
              </a:rPr>
              <a:t>编写</a:t>
            </a:r>
            <a:endParaRPr sz="1575" b="0" dirty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014932-8F74-5C88-CBD8-5F165747881A}"/>
              </a:ext>
            </a:extLst>
          </p:cNvPr>
          <p:cNvSpPr>
            <a:spLocks noGrp="1"/>
          </p:cNvSpPr>
          <p:nvPr/>
        </p:nvSpPr>
        <p:spPr>
          <a:xfrm>
            <a:off x="476250" y="26670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张晓行</a:t>
            </a:r>
            <a:r>
              <a:rPr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lang="zh-CN" alt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组员</a:t>
            </a:r>
            <a:r>
              <a:rPr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B7DA12-34D3-BB62-4C3A-151B33A1E9C9}"/>
              </a:ext>
            </a:extLst>
          </p:cNvPr>
          <p:cNvSpPr>
            <a:spLocks noGrp="1"/>
          </p:cNvSpPr>
          <p:nvPr/>
        </p:nvSpPr>
        <p:spPr>
          <a:xfrm>
            <a:off x="476250" y="30099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575" dirty="0">
                <a:solidFill>
                  <a:srgbClr val="F7FAFF"/>
                </a:solidFill>
                <a:latin typeface="Microsoft YaHei"/>
              </a:rPr>
              <a:t>流水控制、前递、停顿、异常中断、CPU 验证</a:t>
            </a:r>
            <a:endParaRPr sz="1575" b="0" dirty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EFF5F2-9AD9-C2EF-9526-4A79EBB513E1}"/>
              </a:ext>
            </a:extLst>
          </p:cNvPr>
          <p:cNvSpPr>
            <a:spLocks noGrp="1"/>
          </p:cNvSpPr>
          <p:nvPr/>
        </p:nvSpPr>
        <p:spPr>
          <a:xfrm>
            <a:off x="476250" y="36099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钱博傲</a:t>
            </a:r>
            <a:r>
              <a:rPr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lang="zh-CN" alt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组员</a:t>
            </a:r>
            <a:r>
              <a:rPr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6B77F0C-1888-9CDA-7F1F-7D3C693E02C1}"/>
              </a:ext>
            </a:extLst>
          </p:cNvPr>
          <p:cNvSpPr>
            <a:spLocks noGrp="1"/>
          </p:cNvSpPr>
          <p:nvPr/>
        </p:nvSpPr>
        <p:spPr>
          <a:xfrm>
            <a:off x="476250" y="39528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575" dirty="0">
                <a:solidFill>
                  <a:srgbClr val="F7FAFF"/>
                </a:solidFill>
                <a:latin typeface="Microsoft YaHei"/>
              </a:rPr>
              <a:t>LCD、SPI、MMIO 驱动、汇编应用与板级协作</a:t>
            </a:r>
            <a:endParaRPr sz="1575" b="0" dirty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6436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0F449E5B-D8BD-4E04-85C3-7E698F010F57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成果概览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FEA2B2-D461-4457-B550-B326140775B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 CPU 与最终新增内容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DE61904-7CDC-4BE8-90AE-813AA0BFDE0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F05113-E28D-471D-9A0E-7634A8E9EB7C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1C1BFA0-4726-4E86-81B7-25FEEC72CD5E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3BB068-5E0D-4B3D-B181-34530176F4A7}"/>
              </a:ext>
            </a:extLst>
          </p:cNvPr>
          <p:cNvSpPr>
            <a:spLocks noGrp="1"/>
          </p:cNvSpPr>
          <p:nvPr/>
        </p:nvSpPr>
        <p:spPr>
          <a:xfrm>
            <a:off x="476250" y="18478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IF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6DBEB8-C26C-4D53-8FC5-A092CA5E7297}"/>
              </a:ext>
            </a:extLst>
          </p:cNvPr>
          <p:cNvSpPr>
            <a:spLocks noGrp="1"/>
          </p:cNvSpPr>
          <p:nvPr/>
        </p:nvSpPr>
        <p:spPr>
          <a:xfrm>
            <a:off x="495300" y="21717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预测取指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7522BA8-393A-4752-B6A1-4B301607D587}"/>
              </a:ext>
            </a:extLst>
          </p:cNvPr>
          <p:cNvSpPr>
            <a:spLocks noGrp="1"/>
          </p:cNvSpPr>
          <p:nvPr/>
        </p:nvSpPr>
        <p:spPr>
          <a:xfrm>
            <a:off x="2676525" y="17145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48D691-F02B-4A3E-B4D1-7D296EA67FAF}"/>
              </a:ext>
            </a:extLst>
          </p:cNvPr>
          <p:cNvSpPr>
            <a:spLocks noGrp="1"/>
          </p:cNvSpPr>
          <p:nvPr/>
        </p:nvSpPr>
        <p:spPr>
          <a:xfrm>
            <a:off x="2752725" y="18478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C008BC-7EC2-48D5-8DBE-6581E8FDCA7A}"/>
              </a:ext>
            </a:extLst>
          </p:cNvPr>
          <p:cNvSpPr>
            <a:spLocks noGrp="1"/>
          </p:cNvSpPr>
          <p:nvPr/>
        </p:nvSpPr>
        <p:spPr>
          <a:xfrm>
            <a:off x="2771775" y="21717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微码译码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A0CBE7-38D6-4BB0-8020-F1D0840C5440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588E81-A3EA-44FD-BF13-CEFF664A8B4E}"/>
              </a:ext>
            </a:extLst>
          </p:cNvPr>
          <p:cNvSpPr>
            <a:spLocks noGrp="1"/>
          </p:cNvSpPr>
          <p:nvPr/>
        </p:nvSpPr>
        <p:spPr>
          <a:xfrm>
            <a:off x="5029200" y="18478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EX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EF4E55-E295-4EA1-A0E7-247797D88C11}"/>
              </a:ext>
            </a:extLst>
          </p:cNvPr>
          <p:cNvSpPr>
            <a:spLocks noGrp="1"/>
          </p:cNvSpPr>
          <p:nvPr/>
        </p:nvSpPr>
        <p:spPr>
          <a:xfrm>
            <a:off x="5048250" y="21717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执行与异常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FA0698-A710-4301-BBA5-4AD9369B7EE6}"/>
              </a:ext>
            </a:extLst>
          </p:cNvPr>
          <p:cNvSpPr>
            <a:spLocks noGrp="1"/>
          </p:cNvSpPr>
          <p:nvPr/>
        </p:nvSpPr>
        <p:spPr>
          <a:xfrm>
            <a:off x="7229475" y="17145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433564-2CE2-4367-9B90-ABDB159286EF}"/>
              </a:ext>
            </a:extLst>
          </p:cNvPr>
          <p:cNvSpPr>
            <a:spLocks noGrp="1"/>
          </p:cNvSpPr>
          <p:nvPr/>
        </p:nvSpPr>
        <p:spPr>
          <a:xfrm>
            <a:off x="7305675" y="18478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MEM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52E64E-7DAF-49B3-8643-D72973A15DDF}"/>
              </a:ext>
            </a:extLst>
          </p:cNvPr>
          <p:cNvSpPr>
            <a:spLocks noGrp="1"/>
          </p:cNvSpPr>
          <p:nvPr/>
        </p:nvSpPr>
        <p:spPr>
          <a:xfrm>
            <a:off x="7324725" y="21717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Cache 与 MMIO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E9273A2-23E6-40CB-A086-4A845DEA0DBE}"/>
              </a:ext>
            </a:extLst>
          </p:cNvPr>
          <p:cNvSpPr>
            <a:spLocks noGrp="1"/>
          </p:cNvSpPr>
          <p:nvPr/>
        </p:nvSpPr>
        <p:spPr>
          <a:xfrm>
            <a:off x="9505950" y="17145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9970BB-CC90-4F71-97DE-A4A5439704C4}"/>
              </a:ext>
            </a:extLst>
          </p:cNvPr>
          <p:cNvSpPr>
            <a:spLocks noGrp="1"/>
          </p:cNvSpPr>
          <p:nvPr/>
        </p:nvSpPr>
        <p:spPr>
          <a:xfrm>
            <a:off x="9582150" y="18478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WB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806BF1-AC53-4DD6-994F-6C50E4244ED9}"/>
              </a:ext>
            </a:extLst>
          </p:cNvPr>
          <p:cNvSpPr>
            <a:spLocks noGrp="1"/>
          </p:cNvSpPr>
          <p:nvPr/>
        </p:nvSpPr>
        <p:spPr>
          <a:xfrm>
            <a:off x="9601200" y="21717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写回与退休</a:t>
            </a:r>
          </a:p>
        </p:txBody>
      </p:sp>
      <p:cxnSp>
        <p:nvCxnSpPr>
          <p:cNvPr id="62" name="直接箭头连接符 61"/>
          <p:cNvCxnSpPr>
            <a:stCxn id="5" idx="3"/>
            <a:endCxn id="8" idx="1"/>
          </p:cNvCxnSpPr>
          <p:nvPr/>
        </p:nvCxnSpPr>
        <p:spPr>
          <a:xfrm>
            <a:off x="2209800" y="2152650"/>
            <a:ext cx="4667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3" name="直接箭头连接符 62"/>
          <p:cNvCxnSpPr>
            <a:stCxn id="8" idx="3"/>
            <a:endCxn id="11" idx="1"/>
          </p:cNvCxnSpPr>
          <p:nvPr/>
        </p:nvCxnSpPr>
        <p:spPr>
          <a:xfrm>
            <a:off x="4486275" y="2152650"/>
            <a:ext cx="4667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4" name="直接箭头连接符 63"/>
          <p:cNvCxnSpPr>
            <a:stCxn id="11" idx="3"/>
            <a:endCxn id="14" idx="1"/>
          </p:cNvCxnSpPr>
          <p:nvPr/>
        </p:nvCxnSpPr>
        <p:spPr>
          <a:xfrm>
            <a:off x="6762750" y="2152650"/>
            <a:ext cx="4667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5" name="直接箭头连接符 64"/>
          <p:cNvCxnSpPr>
            <a:stCxn id="14" idx="3"/>
            <a:endCxn id="17" idx="1"/>
          </p:cNvCxnSpPr>
          <p:nvPr/>
        </p:nvCxnSpPr>
        <p:spPr>
          <a:xfrm>
            <a:off x="9039225" y="2152650"/>
            <a:ext cx="4667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0F6393A-A9B2-4218-B482-7AA0B725CC38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2571750" cy="1543050"/>
          </a:xfrm>
          <a:prstGeom prst="roundRect">
            <a:avLst>
              <a:gd name="adj" fmla="val 5556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AB10FF6-E4AB-4056-92AE-E42078288FDA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47625" cy="15430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31D4C2-62C5-4277-97CF-62D208110E26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游戏运行主线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1FC099-CD64-4188-8313-3E0F3AD4C60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219075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取指、分支、访存、MMIO 刷新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8518CD0-4390-42A0-9F51-E161CD4066DB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2571750" cy="1543050"/>
          </a:xfrm>
          <a:prstGeom prst="roundRect">
            <a:avLst>
              <a:gd name="adj" fmla="val 5556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710DC0A-B390-43AA-BB2B-A26942ABE2C7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47625" cy="1543050"/>
          </a:xfrm>
          <a:prstGeom prst="roundRect">
            <a:avLst>
              <a:gd name="adj" fmla="val 50000"/>
            </a:avLst>
          </a:prstGeom>
          <a:solidFill>
            <a:srgbClr val="F26B7A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6C9996-4E12-47EB-94A6-C2F47F86D314}"/>
              </a:ext>
            </a:extLst>
          </p:cNvPr>
          <p:cNvSpPr>
            <a:spLocks noGrp="1"/>
          </p:cNvSpPr>
          <p:nvPr/>
        </p:nvSpPr>
        <p:spPr>
          <a:xfrm>
            <a:off x="3448050" y="36861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异常与中断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5F3AFA-E9BD-4A0D-AF27-F91D4002C6B0}"/>
              </a:ext>
            </a:extLst>
          </p:cNvPr>
          <p:cNvSpPr>
            <a:spLocks noGrp="1"/>
          </p:cNvSpPr>
          <p:nvPr/>
        </p:nvSpPr>
        <p:spPr>
          <a:xfrm>
            <a:off x="3448050" y="4029075"/>
            <a:ext cx="219075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精确状态、pending、MRET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D81978-5A29-41B4-B9ED-BADAF9D1FEC7}"/>
              </a:ext>
            </a:extLst>
          </p:cNvPr>
          <p:cNvSpPr>
            <a:spLocks noGrp="1"/>
          </p:cNvSpPr>
          <p:nvPr/>
        </p:nvSpPr>
        <p:spPr>
          <a:xfrm>
            <a:off x="6076950" y="3524250"/>
            <a:ext cx="2571750" cy="1543050"/>
          </a:xfrm>
          <a:prstGeom prst="roundRect">
            <a:avLst>
              <a:gd name="adj" fmla="val 5556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CDAC3C7-5857-40E3-A116-A78AAF93FDE3}"/>
              </a:ext>
            </a:extLst>
          </p:cNvPr>
          <p:cNvSpPr>
            <a:spLocks noGrp="1"/>
          </p:cNvSpPr>
          <p:nvPr/>
        </p:nvSpPr>
        <p:spPr>
          <a:xfrm>
            <a:off x="6076950" y="3524250"/>
            <a:ext cx="47625" cy="15430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0BB4B7-F2C5-4654-BB41-535D2249DE16}"/>
              </a:ext>
            </a:extLst>
          </p:cNvPr>
          <p:cNvSpPr>
            <a:spLocks noGrp="1"/>
          </p:cNvSpPr>
          <p:nvPr/>
        </p:nvSpPr>
        <p:spPr>
          <a:xfrm>
            <a:off x="6286500" y="36861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Cache 与预测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6453BF-CE0F-41E3-B5CF-A0BD2C215369}"/>
              </a:ext>
            </a:extLst>
          </p:cNvPr>
          <p:cNvSpPr>
            <a:spLocks noGrp="1"/>
          </p:cNvSpPr>
          <p:nvPr/>
        </p:nvSpPr>
        <p:spPr>
          <a:xfrm>
            <a:off x="6286500" y="4029075"/>
            <a:ext cx="219075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I/D Cache、BTB、BHT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4402BDE-50AE-4AE5-A71E-80F046F51895}"/>
              </a:ext>
            </a:extLst>
          </p:cNvPr>
          <p:cNvSpPr>
            <a:spLocks noGrp="1"/>
          </p:cNvSpPr>
          <p:nvPr/>
        </p:nvSpPr>
        <p:spPr>
          <a:xfrm>
            <a:off x="8915400" y="3524250"/>
            <a:ext cx="2571750" cy="1543050"/>
          </a:xfrm>
          <a:prstGeom prst="roundRect">
            <a:avLst>
              <a:gd name="adj" fmla="val 5556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6E7B406-4FED-4E58-ABB7-755D02B65204}"/>
              </a:ext>
            </a:extLst>
          </p:cNvPr>
          <p:cNvSpPr>
            <a:spLocks noGrp="1"/>
          </p:cNvSpPr>
          <p:nvPr/>
        </p:nvSpPr>
        <p:spPr>
          <a:xfrm>
            <a:off x="8915400" y="3524250"/>
            <a:ext cx="47625" cy="154305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579D465-4DA5-4FD3-9667-6748746C0EE6}"/>
              </a:ext>
            </a:extLst>
          </p:cNvPr>
          <p:cNvSpPr>
            <a:spLocks noGrp="1"/>
          </p:cNvSpPr>
          <p:nvPr/>
        </p:nvSpPr>
        <p:spPr>
          <a:xfrm>
            <a:off x="9124950" y="36861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性能与下板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2A758E-28E0-4737-B6EC-84C568F6BA00}"/>
              </a:ext>
            </a:extLst>
          </p:cNvPr>
          <p:cNvSpPr>
            <a:spLocks noGrp="1"/>
          </p:cNvSpPr>
          <p:nvPr/>
        </p:nvSpPr>
        <p:spPr>
          <a:xfrm>
            <a:off x="9124950" y="4029075"/>
            <a:ext cx="219075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时序、BRAM、按键、LCD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A413FF5-AEDA-47F8-A37A-1325D884F14C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1391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>
              <a:defRPr sz="12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俄罗斯方块把 CPU 核心、存储系统和外设接口连接成可观察的应用闭环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7D7ABE-97FB-4113-A87B-55A8483E0B6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2E89827-ACB9-4116-BDD3-7762C8A1CA57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110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4DDB7E5-8572-499E-BA76-5F0625EA9F0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流水控制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9B2277-1D51-417E-BE28-85A4F4E801D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全局仲裁优先级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9CBAD44-34A6-409C-ADF9-0F07C5382A0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3E3AB-4401-4161-ADA8-5C56929E559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17846"/>
            <a:ext cx="11087100" cy="36033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3DB43D-A5AE-4AEA-B155-FA35593A32BA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旧访存完成约束保证精确状态，同一周期只执行最高优先级动作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E285A5-AFF1-45AF-96CA-6AF2E4D8825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7118D8-D2FA-4679-801D-E740FC1EAAFC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921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7A3449D4-DB1B-4EE4-8EBD-DE2D6C6C7B34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F33316-E7D5-4CD0-8435-17736F1EC286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有符号溢出与精确异常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B309470-CDDB-40CE-8AC6-08952FA46DD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1EC95B-0DF1-4C05-8829-0DDA3CE2A1E2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E03196-0B6B-434D-BA70-55976DD36623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F26B7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3CBF4F-212D-44DE-B7B0-18F58865732C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EX 检测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62D0CD-FA35-4E0C-A7D8-5E983A055669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ADD / SUB / ADDI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边界与错误路径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0ACC97D-21D0-4FBF-BB2C-5478703B0200}"/>
              </a:ext>
            </a:extLst>
          </p:cNvPr>
          <p:cNvSpPr>
            <a:spLocks noGrp="1"/>
          </p:cNvSpPr>
          <p:nvPr/>
        </p:nvSpPr>
        <p:spPr>
          <a:xfrm>
            <a:off x="3619500" y="19431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32229C-CFF1-4B70-9B73-8F667B6ADB85}"/>
              </a:ext>
            </a:extLst>
          </p:cNvPr>
          <p:cNvSpPr>
            <a:spLocks noGrp="1"/>
          </p:cNvSpPr>
          <p:nvPr/>
        </p:nvSpPr>
        <p:spPr>
          <a:xfrm>
            <a:off x="3695700" y="20764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阻止提交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1EAD45-2A7E-4A3C-96A1-94F709C480CA}"/>
              </a:ext>
            </a:extLst>
          </p:cNvPr>
          <p:cNvSpPr>
            <a:spLocks noGrp="1"/>
          </p:cNvSpPr>
          <p:nvPr/>
        </p:nvSpPr>
        <p:spPr>
          <a:xfrm>
            <a:off x="3714750" y="240030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故障指令不进入 EX/MEM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AEE25A3-E93B-4866-8190-99E9765F86CB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A3BFA2-661C-4AA6-BDAF-3DF6551E7D0D}"/>
              </a:ext>
            </a:extLst>
          </p:cNvPr>
          <p:cNvSpPr>
            <a:spLocks noGrp="1"/>
          </p:cNvSpPr>
          <p:nvPr/>
        </p:nvSpPr>
        <p:spPr>
          <a:xfrm>
            <a:off x="6648450" y="20764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保存状态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C36943-AFB1-4347-BD5E-49EE2B4283AD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mepc = PC + 4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mcause = 16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775749-7CD3-4E6C-9A2B-46AF671A5977}"/>
              </a:ext>
            </a:extLst>
          </p:cNvPr>
          <p:cNvSpPr>
            <a:spLocks noGrp="1"/>
          </p:cNvSpPr>
          <p:nvPr/>
        </p:nvSpPr>
        <p:spPr>
          <a:xfrm>
            <a:off x="9525000" y="194310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DB70A9-F253-4748-9754-2BB6BA59919D}"/>
              </a:ext>
            </a:extLst>
          </p:cNvPr>
          <p:cNvSpPr>
            <a:spLocks noGrp="1"/>
          </p:cNvSpPr>
          <p:nvPr/>
        </p:nvSpPr>
        <p:spPr>
          <a:xfrm>
            <a:off x="9601200" y="207645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异常处理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AFADF8-789D-4632-9DF1-E64FE79F07F8}"/>
              </a:ext>
            </a:extLst>
          </p:cNvPr>
          <p:cNvSpPr>
            <a:spLocks noGrp="1"/>
          </p:cNvSpPr>
          <p:nvPr/>
        </p:nvSpPr>
        <p:spPr>
          <a:xfrm>
            <a:off x="9620250" y="240030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PC = mtvec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MRET 返回</a:t>
            </a:r>
          </a:p>
        </p:txBody>
      </p:sp>
      <p:cxnSp>
        <p:nvCxnSpPr>
          <p:cNvPr id="46" name="直接箭头连接符 45"/>
          <p:cNvCxnSpPr>
            <a:stCxn id="5" idx="3"/>
            <a:endCxn id="8" idx="1"/>
          </p:cNvCxnSpPr>
          <p:nvPr/>
        </p:nvCxnSpPr>
        <p:spPr>
          <a:xfrm>
            <a:off x="2762250" y="2443163"/>
            <a:ext cx="857250" cy="0"/>
          </a:xfrm>
          <a:prstGeom prst="straightConnector1">
            <a:avLst/>
          </a:prstGeom>
          <a:ln w="19050">
            <a:solidFill>
              <a:srgbClr val="F26B7A"/>
            </a:solidFill>
            <a:prstDash val="solid"/>
            <a:tailEnd type="triangle" w="sm" len="sm"/>
          </a:ln>
        </p:spPr>
      </p:cxnSp>
      <p:cxnSp>
        <p:nvCxnSpPr>
          <p:cNvPr id="47" name="直接箭头连接符 46"/>
          <p:cNvCxnSpPr>
            <a:stCxn id="8" idx="3"/>
            <a:endCxn id="11" idx="1"/>
          </p:cNvCxnSpPr>
          <p:nvPr/>
        </p:nvCxnSpPr>
        <p:spPr>
          <a:xfrm>
            <a:off x="5715000" y="2443163"/>
            <a:ext cx="857250" cy="0"/>
          </a:xfrm>
          <a:prstGeom prst="straightConnector1">
            <a:avLst/>
          </a:prstGeom>
          <a:ln w="19050">
            <a:solidFill>
              <a:srgbClr val="F5B942"/>
            </a:solidFill>
            <a:prstDash val="solid"/>
            <a:tailEnd type="triangle" w="sm" len="sm"/>
          </a:ln>
        </p:spPr>
      </p:cxnSp>
      <p:cxnSp>
        <p:nvCxnSpPr>
          <p:cNvPr id="48" name="直接箭头连接符 47"/>
          <p:cNvCxnSpPr>
            <a:stCxn id="11" idx="3"/>
            <a:endCxn id="14" idx="1"/>
          </p:cNvCxnSpPr>
          <p:nvPr/>
        </p:nvCxnSpPr>
        <p:spPr>
          <a:xfrm>
            <a:off x="8667750" y="2443163"/>
            <a:ext cx="857250" cy="0"/>
          </a:xfrm>
          <a:prstGeom prst="straightConnector1">
            <a:avLst/>
          </a:prstGeom>
          <a:ln w="19050">
            <a:solidFill>
              <a:srgbClr val="4F83FF"/>
            </a:solidFill>
            <a:prstDash val="solid"/>
            <a:tailEnd type="triangle" w="sm" len="sm"/>
          </a:ln>
        </p:spPr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C4D585-4104-4863-952F-56BA3A5F2768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48577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58E6109-D80A-436C-AC56-6AB0E52F36D3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F477C1-CB66-4FA7-94CB-8BB8D202B6D3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课程化语义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816736-419C-405C-9851-189532F34F93}"/>
              </a:ext>
            </a:extLst>
          </p:cNvPr>
          <p:cNvSpPr>
            <a:spLocks noGrp="1"/>
          </p:cNvSpPr>
          <p:nvPr/>
        </p:nvSpPr>
        <p:spPr>
          <a:xfrm>
            <a:off x="876300" y="4200525"/>
            <a:ext cx="4476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RV32I 原本按模 2³² 运算；本课程要求 ADD、SUB、ADDI 溢出进入异常。当前最小实现以 PC+4 作为 MRET 返回点。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E82D635-97EF-4A92-994C-DFC0EE750747}"/>
              </a:ext>
            </a:extLst>
          </p:cNvPr>
          <p:cNvSpPr>
            <a:spLocks noGrp="1"/>
          </p:cNvSpPr>
          <p:nvPr/>
        </p:nvSpPr>
        <p:spPr>
          <a:xfrm>
            <a:off x="6667500" y="3695700"/>
            <a:ext cx="495300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14938F8-7E72-4357-B59F-670F9BA58499}"/>
              </a:ext>
            </a:extLst>
          </p:cNvPr>
          <p:cNvSpPr>
            <a:spLocks noGrp="1"/>
          </p:cNvSpPr>
          <p:nvPr/>
        </p:nvSpPr>
        <p:spPr>
          <a:xfrm>
            <a:off x="6667500" y="369570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390E8D-E10D-47D0-9F8A-AE19A5A5B612}"/>
              </a:ext>
            </a:extLst>
          </p:cNvPr>
          <p:cNvSpPr>
            <a:spLocks noGrp="1"/>
          </p:cNvSpPr>
          <p:nvPr/>
        </p:nvSpPr>
        <p:spPr>
          <a:xfrm>
            <a:off x="6877050" y="385762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自动化证据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45FAF1-2F7D-49FA-B457-C1801172D5C7}"/>
              </a:ext>
            </a:extLst>
          </p:cNvPr>
          <p:cNvSpPr>
            <a:spLocks noGrp="1"/>
          </p:cNvSpPr>
          <p:nvPr/>
        </p:nvSpPr>
        <p:spPr>
          <a:xfrm>
            <a:off x="6877050" y="4200525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tb_alu_overflow 覆盖正负边界与不误报；tb_extended_system 检查故障指令不写 rd、年轻指令无副作用、MRET 返回一次。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628F4B-1F42-46B8-8528-82A61C5DFC0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94343D-FA45-4642-A606-82C466535DFD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756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062AFA2F-903F-4196-A3E5-6926AA54C6F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531E40-0309-4132-B68A-411296EC5C1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外部中断与安全接受边界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D05BB91-D037-416F-89B2-5211D7A3BD3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60CFA5-EE70-4A9F-8B48-5EA3311C6DE5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AE1DFFE-740F-496C-9557-833340F8AE1A}"/>
              </a:ext>
            </a:extLst>
          </p:cNvPr>
          <p:cNvSpPr>
            <a:spLocks noGrp="1"/>
          </p:cNvSpPr>
          <p:nvPr/>
        </p:nvSpPr>
        <p:spPr>
          <a:xfrm>
            <a:off x="419100" y="196215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75BA54-693E-489A-9567-BA74102A77C7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异步输入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C594A8-72D5-48B1-8F62-A5EB16BDFB65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双触发同步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1D58B8E-9516-43E6-8010-8670B5D513FE}"/>
              </a:ext>
            </a:extLst>
          </p:cNvPr>
          <p:cNvSpPr>
            <a:spLocks noGrp="1"/>
          </p:cNvSpPr>
          <p:nvPr/>
        </p:nvSpPr>
        <p:spPr>
          <a:xfrm>
            <a:off x="2809875" y="196215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9A1071-7BEB-4AAC-AF39-A0E7DC9388A8}"/>
              </a:ext>
            </a:extLst>
          </p:cNvPr>
          <p:cNvSpPr>
            <a:spLocks noGrp="1"/>
          </p:cNvSpPr>
          <p:nvPr/>
        </p:nvSpPr>
        <p:spPr>
          <a:xfrm>
            <a:off x="2886075" y="20955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pending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29A739-096F-45D1-86C2-CF87F4C267D4}"/>
              </a:ext>
            </a:extLst>
          </p:cNvPr>
          <p:cNvSpPr>
            <a:spLocks noGrp="1"/>
          </p:cNvSpPr>
          <p:nvPr/>
        </p:nvSpPr>
        <p:spPr>
          <a:xfrm>
            <a:off x="2905125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忙时保持请求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EC9BB30-36C9-4622-9304-BF6862980A46}"/>
              </a:ext>
            </a:extLst>
          </p:cNvPr>
          <p:cNvSpPr>
            <a:spLocks noGrp="1"/>
          </p:cNvSpPr>
          <p:nvPr/>
        </p:nvSpPr>
        <p:spPr>
          <a:xfrm>
            <a:off x="5200650" y="196215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F08274-2A1C-4288-80EB-8BB52D4DD01C}"/>
              </a:ext>
            </a:extLst>
          </p:cNvPr>
          <p:cNvSpPr>
            <a:spLocks noGrp="1"/>
          </p:cNvSpPr>
          <p:nvPr/>
        </p:nvSpPr>
        <p:spPr>
          <a:xfrm>
            <a:off x="5276850" y="20955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安全 EX 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909F2-41F0-487D-A86E-7B865B61E47F}"/>
              </a:ext>
            </a:extLst>
          </p:cNvPr>
          <p:cNvSpPr>
            <a:spLocks noGrp="1"/>
          </p:cNvSpPr>
          <p:nvPr/>
        </p:nvSpPr>
        <p:spPr>
          <a:xfrm>
            <a:off x="5295900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旧访存先完成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EADFA82-B2E5-454B-81AE-3DC0E5FD07E4}"/>
              </a:ext>
            </a:extLst>
          </p:cNvPr>
          <p:cNvSpPr>
            <a:spLocks noGrp="1"/>
          </p:cNvSpPr>
          <p:nvPr/>
        </p:nvSpPr>
        <p:spPr>
          <a:xfrm>
            <a:off x="7591425" y="196215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F26B7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6F4E43-D14F-42B1-8AC3-8B7349928C6A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进入中断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00DDCF-5788-4090-874A-11A59784B9F8}"/>
              </a:ext>
            </a:extLst>
          </p:cNvPr>
          <p:cNvSpPr>
            <a:spLocks noGrp="1"/>
          </p:cNvSpPr>
          <p:nvPr/>
        </p:nvSpPr>
        <p:spPr>
          <a:xfrm>
            <a:off x="7686675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mcause = 0x8000000B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10B95DD-BD19-4226-946C-FAD01ADD2028}"/>
              </a:ext>
            </a:extLst>
          </p:cNvPr>
          <p:cNvSpPr>
            <a:spLocks noGrp="1"/>
          </p:cNvSpPr>
          <p:nvPr/>
        </p:nvSpPr>
        <p:spPr>
          <a:xfrm>
            <a:off x="9982200" y="1962150"/>
            <a:ext cx="18097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E93F77-8C25-445D-A612-156C7B693ECC}"/>
              </a:ext>
            </a:extLst>
          </p:cNvPr>
          <p:cNvSpPr>
            <a:spLocks noGrp="1"/>
          </p:cNvSpPr>
          <p:nvPr/>
        </p:nvSpPr>
        <p:spPr>
          <a:xfrm>
            <a:off x="10058400" y="209550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MRET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EEDFA1-3FF2-4D16-8E88-4361A437BDD8}"/>
              </a:ext>
            </a:extLst>
          </p:cNvPr>
          <p:cNvSpPr>
            <a:spLocks noGrp="1"/>
          </p:cNvSpPr>
          <p:nvPr/>
        </p:nvSpPr>
        <p:spPr>
          <a:xfrm>
            <a:off x="10077450" y="241935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恢复 MIE 与 PC</a:t>
            </a:r>
          </a:p>
        </p:txBody>
      </p:sp>
      <p:cxnSp>
        <p:nvCxnSpPr>
          <p:cNvPr id="52" name="直接箭头连接符 51"/>
          <p:cNvCxnSpPr>
            <a:stCxn id="5" idx="3"/>
            <a:endCxn id="8" idx="1"/>
          </p:cNvCxnSpPr>
          <p:nvPr/>
        </p:nvCxnSpPr>
        <p:spPr>
          <a:xfrm>
            <a:off x="2419350" y="2438400"/>
            <a:ext cx="3905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3" name="直接箭头连接符 52"/>
          <p:cNvCxnSpPr>
            <a:stCxn id="8" idx="3"/>
            <a:endCxn id="11" idx="1"/>
          </p:cNvCxnSpPr>
          <p:nvPr/>
        </p:nvCxnSpPr>
        <p:spPr>
          <a:xfrm>
            <a:off x="4810125" y="2438400"/>
            <a:ext cx="3905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11" idx="3"/>
            <a:endCxn id="14" idx="1"/>
          </p:cNvCxnSpPr>
          <p:nvPr/>
        </p:nvCxnSpPr>
        <p:spPr>
          <a:xfrm>
            <a:off x="7200900" y="2438400"/>
            <a:ext cx="3905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5" name="直接箭头连接符 54"/>
          <p:cNvCxnSpPr>
            <a:stCxn id="14" idx="3"/>
            <a:endCxn id="17" idx="1"/>
          </p:cNvCxnSpPr>
          <p:nvPr/>
        </p:nvCxnSpPr>
        <p:spPr>
          <a:xfrm>
            <a:off x="9591675" y="2438400"/>
            <a:ext cx="3905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D2B11D3-20D0-4330-8157-234F0B0474CB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1391900" cy="1695450"/>
          </a:xfrm>
          <a:prstGeom prst="roundRect">
            <a:avLst>
              <a:gd name="adj" fmla="val 5056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E22314-15CC-4136-B9A0-4F217EC0AEC8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等待期间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96396E-581C-41D6-8285-FBB2AF4E48D3}"/>
              </a:ext>
            </a:extLst>
          </p:cNvPr>
          <p:cNvSpPr>
            <a:spLocks noGrp="1"/>
          </p:cNvSpPr>
          <p:nvPr/>
        </p:nvSpPr>
        <p:spPr>
          <a:xfrm>
            <a:off x="2247900" y="3905250"/>
            <a:ext cx="885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D-Cache 或数据总线未完成时只锁存 pending，不打断更老访存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649CC9-70B9-4284-AEC8-02FF441A33C6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接受条件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407BD4-4524-4D97-873A-015160438538}"/>
              </a:ext>
            </a:extLst>
          </p:cNvPr>
          <p:cNvSpPr>
            <a:spLocks noGrp="1"/>
          </p:cNvSpPr>
          <p:nvPr/>
        </p:nvSpPr>
        <p:spPr>
          <a:xfrm>
            <a:off x="2247900" y="4381500"/>
            <a:ext cx="885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当前 EX 为空或普通非控制指令，年轻指令清除，当前指令允许完成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E0D48B8-D1C5-4795-B75F-AE4D6BE70C60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验证结果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CFBA0A-B2B0-4B79-B43D-D222EC56D9BA}"/>
              </a:ext>
            </a:extLst>
          </p:cNvPr>
          <p:cNvSpPr>
            <a:spLocks noGrp="1"/>
          </p:cNvSpPr>
          <p:nvPr/>
        </p:nvSpPr>
        <p:spPr>
          <a:xfrm>
            <a:off x="2247900" y="4857750"/>
            <a:ext cx="885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>
              <a:def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tb_extended_system 检查 pending、进入、处理、返回和主程序不重不漏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099F06-BEBC-490F-ADB1-FD3A4677FB1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4A2EED-E7A9-423B-A37F-1217B5DD08F8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54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9DBD81A9-3274-43BE-9CC6-ED5F06505DC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11E8EF-75DE-418C-A19C-44B9D9E05B7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I-Cache 与 D-Cache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A25F46D-9002-48C4-98E2-1101863003F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B2D964-DFC7-49EF-9544-E87ABE935A9E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DBD034-E98F-4E19-9C25-C4FF84471D70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地址字段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D288F4-8291-4DE1-8C03-BEA9FAED28B0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3810000" cy="704850"/>
          </a:xfrm>
          <a:prstGeom prst="roundRect">
            <a:avLst>
              <a:gd name="adj" fmla="val 8108"/>
            </a:avLst>
          </a:prstGeom>
          <a:solidFill>
            <a:srgbClr val="16243B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4B5A01-F778-453E-BBE8-A7906217065C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3810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tag  [31:10]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3FB45FD-D731-48D6-80E7-4B3C37D665F0}"/>
              </a:ext>
            </a:extLst>
          </p:cNvPr>
          <p:cNvSpPr>
            <a:spLocks noGrp="1"/>
          </p:cNvSpPr>
          <p:nvPr/>
        </p:nvSpPr>
        <p:spPr>
          <a:xfrm>
            <a:off x="4343400" y="1943100"/>
            <a:ext cx="3333750" cy="704850"/>
          </a:xfrm>
          <a:prstGeom prst="roundRect">
            <a:avLst>
              <a:gd name="adj" fmla="val 8108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89AA8B-BE6E-43A2-AA2E-128536C82AF7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index  [9:4]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03D1AA3-B6BD-47FF-898E-506184A6528B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2857500" cy="704850"/>
          </a:xfrm>
          <a:prstGeom prst="roundRect">
            <a:avLst>
              <a:gd name="adj" fmla="val 8108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F7A640-48BC-4ACA-AF30-D33A1508919E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426" lnSpcReduction="10000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offset  [3:0]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3E6B0B-7076-47F9-8A68-6A99E718F3E5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FFB03B6-385E-4903-B4C9-A72D706577EB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4F83F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7DDBE2-53F4-424F-9E3A-0E47F5BF1ECC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I-Cache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4E3518-69D8-46F7-A889-0FDA07AE6DBB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 KiB，直接映射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16 B 行，4 字填充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错误路径 refill 不返回 CPU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35C4D38-DE8B-429E-A602-9D832028552A}"/>
              </a:ext>
            </a:extLst>
          </p:cNvPr>
          <p:cNvSpPr>
            <a:spLocks noGrp="1"/>
          </p:cNvSpPr>
          <p:nvPr/>
        </p:nvSpPr>
        <p:spPr>
          <a:xfrm>
            <a:off x="4333875" y="323850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4C5EE2D-E8F4-47CD-8207-7824DEBE4E86}"/>
              </a:ext>
            </a:extLst>
          </p:cNvPr>
          <p:cNvSpPr>
            <a:spLocks noGrp="1"/>
          </p:cNvSpPr>
          <p:nvPr/>
        </p:nvSpPr>
        <p:spPr>
          <a:xfrm>
            <a:off x="4333875" y="323850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C7831D-1C3C-4DD5-B404-ED22A99E4A50}"/>
              </a:ext>
            </a:extLst>
          </p:cNvPr>
          <p:cNvSpPr>
            <a:spLocks noGrp="1"/>
          </p:cNvSpPr>
          <p:nvPr/>
        </p:nvSpPr>
        <p:spPr>
          <a:xfrm>
            <a:off x="4543425" y="34004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D-Cache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AE752C-4CFC-446A-89BC-F80CFE74524A}"/>
              </a:ext>
            </a:extLst>
          </p:cNvPr>
          <p:cNvSpPr>
            <a:spLocks noGrp="1"/>
          </p:cNvSpPr>
          <p:nvPr/>
        </p:nvSpPr>
        <p:spPr>
          <a:xfrm>
            <a:off x="4543425" y="374332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 KiB，直接映射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写直达、写不分配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支持字节写与冲突替换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C1BA5B1-2DED-49BE-87AF-AF2F107422F6}"/>
              </a:ext>
            </a:extLst>
          </p:cNvPr>
          <p:cNvSpPr>
            <a:spLocks noGrp="1"/>
          </p:cNvSpPr>
          <p:nvPr/>
        </p:nvSpPr>
        <p:spPr>
          <a:xfrm>
            <a:off x="8267700" y="323850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68F9820-5467-404C-850F-45D2A9154487}"/>
              </a:ext>
            </a:extLst>
          </p:cNvPr>
          <p:cNvSpPr>
            <a:spLocks noGrp="1"/>
          </p:cNvSpPr>
          <p:nvPr/>
        </p:nvSpPr>
        <p:spPr>
          <a:xfrm>
            <a:off x="8267700" y="323850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896A3A-60D8-424C-B345-7DFA57EB4C58}"/>
              </a:ext>
            </a:extLst>
          </p:cNvPr>
          <p:cNvSpPr>
            <a:spLocks noGrp="1"/>
          </p:cNvSpPr>
          <p:nvPr/>
        </p:nvSpPr>
        <p:spPr>
          <a:xfrm>
            <a:off x="8477250" y="34004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MMIO bypass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AFB0BD-51F4-45FF-B306-A2F1D8BB7702}"/>
              </a:ext>
            </a:extLst>
          </p:cNvPr>
          <p:cNvSpPr>
            <a:spLocks noGrp="1"/>
          </p:cNvSpPr>
          <p:nvPr/>
        </p:nvSpPr>
        <p:spPr>
          <a:xfrm>
            <a:off x="8477250" y="374332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0x2000_0000 区域不缓存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外设访问强顺序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副作用只发生一次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2554390-D638-4D3D-B713-41FF38183540}"/>
              </a:ext>
            </a:extLst>
          </p:cNvPr>
          <p:cNvSpPr>
            <a:spLocks noGrp="1"/>
          </p:cNvSpPr>
          <p:nvPr/>
        </p:nvSpPr>
        <p:spPr>
          <a:xfrm>
            <a:off x="3619500" y="5543550"/>
            <a:ext cx="495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DE572B-168F-4BAD-931B-B7F65C4D443C}"/>
              </a:ext>
            </a:extLst>
          </p:cNvPr>
          <p:cNvSpPr>
            <a:spLocks noGrp="1"/>
          </p:cNvSpPr>
          <p:nvPr/>
        </p:nvSpPr>
        <p:spPr>
          <a:xfrm>
            <a:off x="3619500" y="5591175"/>
            <a:ext cx="495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tb_cache：I$ hit/miss = 1/3，D$ = 3/3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FBF838-AEB8-465D-8EE0-2A3A22B3F02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1D2350-A720-45F9-B3B4-F442575AA75E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071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EE0E3F7F-8EEC-44F0-87EE-C9A1AE303593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附加功能 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2AF0EF-05D4-4A04-A61E-4A322DCD9EB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BTB 与两位饱和计数器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BF82A67-46F6-42F4-A8A4-2EEB18899F06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3D0E6F-1452-4406-9DE4-BA25B81569E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279963B-BC97-49A7-8FAA-B35934876CC6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B8CF05-936E-40DA-AF4B-37E62642E02F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IF 查询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6CABD9-647E-4506-B23D-21BFA753FD7D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PC 同时索引 BTB / BHT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0C3C7FA-F455-4BAF-9F95-0F5CED387F26}"/>
              </a:ext>
            </a:extLst>
          </p:cNvPr>
          <p:cNvSpPr>
            <a:spLocks noGrp="1"/>
          </p:cNvSpPr>
          <p:nvPr/>
        </p:nvSpPr>
        <p:spPr>
          <a:xfrm>
            <a:off x="3619500" y="192405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32B116-4FFE-4C62-9B12-6466A0C9A93E}"/>
              </a:ext>
            </a:extLst>
          </p:cNvPr>
          <p:cNvSpPr>
            <a:spLocks noGrp="1"/>
          </p:cNvSpPr>
          <p:nvPr/>
        </p:nvSpPr>
        <p:spPr>
          <a:xfrm>
            <a:off x="3695700" y="20574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预测下一 PC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E33C48-313A-4986-9EB0-A0573CEFE2A3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BTB tag 命中且 BHT[1] = 1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929531-6AC9-46E5-9C10-E227504103BB}"/>
              </a:ext>
            </a:extLst>
          </p:cNvPr>
          <p:cNvSpPr>
            <a:spLocks noGrp="1"/>
          </p:cNvSpPr>
          <p:nvPr/>
        </p:nvSpPr>
        <p:spPr>
          <a:xfrm>
            <a:off x="6591300" y="192405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B7030C-8409-45DC-8151-8AE3D8055D1D}"/>
              </a:ext>
            </a:extLst>
          </p:cNvPr>
          <p:cNvSpPr>
            <a:spLocks noGrp="1"/>
          </p:cNvSpPr>
          <p:nvPr/>
        </p:nvSpPr>
        <p:spPr>
          <a:xfrm>
            <a:off x="6667500" y="20574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EX 确认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9C6021-0613-4B09-B2AD-6C7DCC0D1F3B}"/>
              </a:ext>
            </a:extLst>
          </p:cNvPr>
          <p:cNvSpPr>
            <a:spLocks noGrp="1"/>
          </p:cNvSpPr>
          <p:nvPr/>
        </p:nvSpPr>
        <p:spPr>
          <a:xfrm>
            <a:off x="6686550" y="238125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比较真实与预测下一 PC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B624E88-52A9-445E-B31E-11815539BE3B}"/>
              </a:ext>
            </a:extLst>
          </p:cNvPr>
          <p:cNvSpPr>
            <a:spLocks noGrp="1"/>
          </p:cNvSpPr>
          <p:nvPr/>
        </p:nvSpPr>
        <p:spPr>
          <a:xfrm>
            <a:off x="9563100" y="1924050"/>
            <a:ext cx="2095500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F26B7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9F625F-419F-4D13-92EF-23411457E0C9}"/>
              </a:ext>
            </a:extLst>
          </p:cNvPr>
          <p:cNvSpPr>
            <a:spLocks noGrp="1"/>
          </p:cNvSpPr>
          <p:nvPr/>
        </p:nvSpPr>
        <p:spPr>
          <a:xfrm>
            <a:off x="9639300" y="20574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恢复与更新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2CD81E-C54B-4004-BA9C-4AC607A3D9D7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误预测冲刷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真实指令仅更新一次</a:t>
            </a:r>
          </a:p>
        </p:txBody>
      </p:sp>
      <p:cxnSp>
        <p:nvCxnSpPr>
          <p:cNvPr id="50" name="直接箭头连接符 49"/>
          <p:cNvCxnSpPr>
            <a:stCxn id="5" idx="3"/>
            <a:endCxn id="8" idx="1"/>
          </p:cNvCxnSpPr>
          <p:nvPr/>
        </p:nvCxnSpPr>
        <p:spPr>
          <a:xfrm>
            <a:off x="2743200" y="2424113"/>
            <a:ext cx="876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8" idx="3"/>
            <a:endCxn id="11" idx="1"/>
          </p:cNvCxnSpPr>
          <p:nvPr/>
        </p:nvCxnSpPr>
        <p:spPr>
          <a:xfrm>
            <a:off x="5715000" y="2424113"/>
            <a:ext cx="876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1" idx="3"/>
            <a:endCxn id="14" idx="1"/>
          </p:cNvCxnSpPr>
          <p:nvPr/>
        </p:nvCxnSpPr>
        <p:spPr>
          <a:xfrm>
            <a:off x="8686800" y="2424113"/>
            <a:ext cx="876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D436BC7-4C29-402D-BC3D-74C896F86012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33337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BFC36B1-FCF2-4190-A660-F44F8E333856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C7EAE0-592F-48A1-93F9-AF0D17B1EEAB}"/>
              </a:ext>
            </a:extLst>
          </p:cNvPr>
          <p:cNvSpPr>
            <a:spLocks noGrp="1"/>
          </p:cNvSpPr>
          <p:nvPr/>
        </p:nvSpPr>
        <p:spPr>
          <a:xfrm>
            <a:off x="857250" y="3781425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状态机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C61D3C-7B8B-4DC8-B5E1-034D70B2E703}"/>
              </a:ext>
            </a:extLst>
          </p:cNvPr>
          <p:cNvSpPr>
            <a:spLocks noGrp="1"/>
          </p:cNvSpPr>
          <p:nvPr/>
        </p:nvSpPr>
        <p:spPr>
          <a:xfrm>
            <a:off x="857250" y="4124325"/>
            <a:ext cx="2952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00 强不跳转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01 弱不跳转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10 弱跳转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11 强跳转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9BBBEF3-B316-4D26-BA27-3B0DF086F141}"/>
              </a:ext>
            </a:extLst>
          </p:cNvPr>
          <p:cNvSpPr>
            <a:spLocks noGrp="1"/>
          </p:cNvSpPr>
          <p:nvPr/>
        </p:nvSpPr>
        <p:spPr>
          <a:xfrm>
            <a:off x="4429125" y="3619500"/>
            <a:ext cx="33337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F5A6CC9-F9D6-4918-BC6D-E7D68338739A}"/>
              </a:ext>
            </a:extLst>
          </p:cNvPr>
          <p:cNvSpPr>
            <a:spLocks noGrp="1"/>
          </p:cNvSpPr>
          <p:nvPr/>
        </p:nvSpPr>
        <p:spPr>
          <a:xfrm>
            <a:off x="4429125" y="361950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5B301-2BEA-4B0E-B277-6455B08C1B9F}"/>
              </a:ext>
            </a:extLst>
          </p:cNvPr>
          <p:cNvSpPr>
            <a:spLocks noGrp="1"/>
          </p:cNvSpPr>
          <p:nvPr/>
        </p:nvSpPr>
        <p:spPr>
          <a:xfrm>
            <a:off x="4638675" y="3781425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Branch 128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E2AC77-C029-4EDC-ACC7-8DA26C1D5039}"/>
              </a:ext>
            </a:extLst>
          </p:cNvPr>
          <p:cNvSpPr>
            <a:spLocks noGrp="1"/>
          </p:cNvSpPr>
          <p:nvPr/>
        </p:nvSpPr>
        <p:spPr>
          <a:xfrm>
            <a:off x="4638675" y="4124325"/>
            <a:ext cx="2952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未预测：128 次误判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开启预测：2 次误判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准确率约 99.2%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38ABC53-394F-4882-B204-B77463969CEA}"/>
              </a:ext>
            </a:extLst>
          </p:cNvPr>
          <p:cNvSpPr>
            <a:spLocks noGrp="1"/>
          </p:cNvSpPr>
          <p:nvPr/>
        </p:nvSpPr>
        <p:spPr>
          <a:xfrm>
            <a:off x="8210550" y="3619500"/>
            <a:ext cx="34480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7129535-9E61-476C-84EA-476953C463AE}"/>
              </a:ext>
            </a:extLst>
          </p:cNvPr>
          <p:cNvSpPr>
            <a:spLocks noGrp="1"/>
          </p:cNvSpPr>
          <p:nvPr/>
        </p:nvSpPr>
        <p:spPr>
          <a:xfrm>
            <a:off x="8210550" y="361950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09FD61-7552-46E0-B910-E633A44E67B9}"/>
              </a:ext>
            </a:extLst>
          </p:cNvPr>
          <p:cNvSpPr>
            <a:spLocks noGrp="1"/>
          </p:cNvSpPr>
          <p:nvPr/>
        </p:nvSpPr>
        <p:spPr>
          <a:xfrm>
            <a:off x="8420100" y="3781425"/>
            <a:ext cx="3067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组合收益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A869DB-B3C1-4788-9808-22B71AF073F6}"/>
              </a:ext>
            </a:extLst>
          </p:cNvPr>
          <p:cNvSpPr>
            <a:spLocks noGrp="1"/>
          </p:cNvSpPr>
          <p:nvPr/>
        </p:nvSpPr>
        <p:spPr>
          <a:xfrm>
            <a:off x="8420100" y="4124325"/>
            <a:ext cx="30670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P-CACHE：670 周期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P-FULL：418 周期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周期减少 37.6%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0EEE024-32EB-4738-9B18-5BBA3B440B6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D0CBAD-851D-4937-9240-7D97746E092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5570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BF849B1-26FC-49F1-87D4-192AD13C596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全量验证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AFADF7-169B-4F97-A4D0-EC049D8B5B1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十三组自动化回归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0ED9AA3-2340-4E93-A251-8962EFFA7FB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7F1AC5-B8F8-4ACA-9EDC-40914301283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400050" y="1600200"/>
          <a:ext cx="11391900" cy="3714750"/>
        </p:xfrm>
        <a:graphic>
          <a:graphicData uri="http://schemas.openxmlformats.org/drawingml/2006/table">
            <a:tbl>
              <a:tblPr/>
              <a:tblGrid>
                <a:gridCol w="187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testbench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主要覆盖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译码与执行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overflow / decode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边界、29 条有效编码、非法指令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微结构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predictor / cache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训练、饱和、tag 冲突、替换、旁路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基础 CPU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cpu_core / pipeline_hazard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同步 BRAM 回归、前递、停顿、冲刷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扩展系统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extended_system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异常、中断、Cache、预测与返回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板级与应用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bringup / tetris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启动程序与 10×20 游戏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外设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UART / SPI / LCD / key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位序、状态机、发送次数与消抖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C25F3F7-898A-44A8-AE68-4F4F5736F5F3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Vivado 2025.2 重跑记录：全部 13 个测试 PASS；一键入口 sim/run_all_tests.tcl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636683-56EA-4B0C-8878-3129E64B882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B6EA0A-5FEF-46BA-9AFD-C9F417FF4BA9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83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B9FBED9-8A6C-4F35-93D5-144D065AF15E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性能实验设计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CCD06B-07D7-4127-8970-0442509A4D6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性能实验口径与公平性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EA435C6-44DB-426D-9C99-03D572F218E8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8DD7E-68B1-4242-BC22-EB9D7B05C6E4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400050" y="1619250"/>
          <a:ext cx="6667500" cy="37147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约束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做法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基线来源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组员大三阶段真实单周期 RTL 与原始机器码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输入一致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六种配置使用相同程序、数据、结束条件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架构一致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逐条核对退休 PC、指令、rd、写回与存储事件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时序一致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分别用通过布线后时序的频率计算 CPU 时间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指标完整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CPI、IPC、MIPS、CPU 时间、停顿、预测、Cache、资源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926C43A-B244-4401-BBF0-185F063C1CF8}"/>
              </a:ext>
            </a:extLst>
          </p:cNvPr>
          <p:cNvSpPr>
            <a:spLocks noGrp="1"/>
          </p:cNvSpPr>
          <p:nvPr/>
        </p:nvSpPr>
        <p:spPr>
          <a:xfrm>
            <a:off x="7543800" y="1638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 lnSpcReduction="10000"/>
          </a:bodyPr>
          <a:lstStyle/>
          <a:p>
            <a:pPr>
              <a:defRPr sz="142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六种配置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1B4A849-BAF1-458A-9888-650347968213}"/>
              </a:ext>
            </a:extLst>
          </p:cNvPr>
          <p:cNvSpPr>
            <a:spLocks noGrp="1"/>
          </p:cNvSpPr>
          <p:nvPr/>
        </p:nvSpPr>
        <p:spPr>
          <a:xfrm>
            <a:off x="7543800" y="20955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A12379-37B3-4A8A-91B5-18307B59ADF0}"/>
              </a:ext>
            </a:extLst>
          </p:cNvPr>
          <p:cNvSpPr>
            <a:spLocks noGrp="1"/>
          </p:cNvSpPr>
          <p:nvPr/>
        </p:nvSpPr>
        <p:spPr>
          <a:xfrm>
            <a:off x="7543800" y="2143125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SC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DABDFA-BD2C-4EB0-A53F-09CA229FE760}"/>
              </a:ext>
            </a:extLst>
          </p:cNvPr>
          <p:cNvSpPr>
            <a:spLocks noGrp="1"/>
          </p:cNvSpPr>
          <p:nvPr/>
        </p:nvSpPr>
        <p:spPr>
          <a:xfrm>
            <a:off x="8839200" y="21431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原单周期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458B5F-4BCF-43DD-AB5E-F1FCC20C2D40}"/>
              </a:ext>
            </a:extLst>
          </p:cNvPr>
          <p:cNvSpPr>
            <a:spLocks noGrp="1"/>
          </p:cNvSpPr>
          <p:nvPr/>
        </p:nvSpPr>
        <p:spPr>
          <a:xfrm>
            <a:off x="7543800" y="2619375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5C6353-C328-4D53-AA1D-60A4F2C1CFA4}"/>
              </a:ext>
            </a:extLst>
          </p:cNvPr>
          <p:cNvSpPr>
            <a:spLocks noGrp="1"/>
          </p:cNvSpPr>
          <p:nvPr/>
        </p:nvSpPr>
        <p:spPr>
          <a:xfrm>
            <a:off x="7543800" y="26670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P-IDEAL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0FAC7E-C986-40C5-ADEF-EC7ACFA785B4}"/>
              </a:ext>
            </a:extLst>
          </p:cNvPr>
          <p:cNvSpPr>
            <a:spLocks noGrp="1"/>
          </p:cNvSpPr>
          <p:nvPr/>
        </p:nvSpPr>
        <p:spPr>
          <a:xfrm>
            <a:off x="8839200" y="26670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理想存储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7FFD2D-9938-41F3-BC32-6CF4ADE6CCD5}"/>
              </a:ext>
            </a:extLst>
          </p:cNvPr>
          <p:cNvSpPr>
            <a:spLocks noGrp="1"/>
          </p:cNvSpPr>
          <p:nvPr/>
        </p:nvSpPr>
        <p:spPr>
          <a:xfrm>
            <a:off x="7543800" y="314325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9EBFD7-4059-41BF-ACAD-575977CB0CC3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P-BASE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87F6E0-DCEE-4073-8BB7-DBE60880E9AA}"/>
              </a:ext>
            </a:extLst>
          </p:cNvPr>
          <p:cNvSpPr>
            <a:spLocks noGrp="1"/>
          </p:cNvSpPr>
          <p:nvPr/>
        </p:nvSpPr>
        <p:spPr>
          <a:xfrm>
            <a:off x="8839200" y="319087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同步存储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8B071E-B5B2-4EC8-A7C3-6A588E9F0634}"/>
              </a:ext>
            </a:extLst>
          </p:cNvPr>
          <p:cNvSpPr>
            <a:spLocks noGrp="1"/>
          </p:cNvSpPr>
          <p:nvPr/>
        </p:nvSpPr>
        <p:spPr>
          <a:xfrm>
            <a:off x="7543800" y="3667125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45DD72-8002-4541-B585-A55B5398713D}"/>
              </a:ext>
            </a:extLst>
          </p:cNvPr>
          <p:cNvSpPr>
            <a:spLocks noGrp="1"/>
          </p:cNvSpPr>
          <p:nvPr/>
        </p:nvSpPr>
        <p:spPr>
          <a:xfrm>
            <a:off x="7543800" y="371475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P-CACHE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E023C5-A736-41B8-8266-2CB34939BB36}"/>
              </a:ext>
            </a:extLst>
          </p:cNvPr>
          <p:cNvSpPr>
            <a:spLocks noGrp="1"/>
          </p:cNvSpPr>
          <p:nvPr/>
        </p:nvSpPr>
        <p:spPr>
          <a:xfrm>
            <a:off x="8839200" y="37147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双 Cache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DDB7A1-B140-4885-8540-0C5D8823448F}"/>
              </a:ext>
            </a:extLst>
          </p:cNvPr>
          <p:cNvSpPr>
            <a:spLocks noGrp="1"/>
          </p:cNvSpPr>
          <p:nvPr/>
        </p:nvSpPr>
        <p:spPr>
          <a:xfrm>
            <a:off x="7543800" y="41910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D36F3E-2463-4D4A-A364-4A17C34CA792}"/>
              </a:ext>
            </a:extLst>
          </p:cNvPr>
          <p:cNvSpPr>
            <a:spLocks noGrp="1"/>
          </p:cNvSpPr>
          <p:nvPr/>
        </p:nvSpPr>
        <p:spPr>
          <a:xfrm>
            <a:off x="7543800" y="4238625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P-BP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0748A7-DB90-42CB-863F-B87400E8D845}"/>
              </a:ext>
            </a:extLst>
          </p:cNvPr>
          <p:cNvSpPr>
            <a:spLocks noGrp="1"/>
          </p:cNvSpPr>
          <p:nvPr/>
        </p:nvSpPr>
        <p:spPr>
          <a:xfrm>
            <a:off x="8839200" y="42386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分支预测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FB5A9F8-A83B-4B97-ADF7-584CB3E79D88}"/>
              </a:ext>
            </a:extLst>
          </p:cNvPr>
          <p:cNvSpPr>
            <a:spLocks noGrp="1"/>
          </p:cNvSpPr>
          <p:nvPr/>
        </p:nvSpPr>
        <p:spPr>
          <a:xfrm>
            <a:off x="7543800" y="4714875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194022-5814-4A92-9178-7353FC2A2227}"/>
              </a:ext>
            </a:extLst>
          </p:cNvPr>
          <p:cNvSpPr>
            <a:spLocks noGrp="1"/>
          </p:cNvSpPr>
          <p:nvPr/>
        </p:nvSpPr>
        <p:spPr>
          <a:xfrm>
            <a:off x="7543800" y="47625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P-FULL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D258F8-B440-495D-BF07-896465B655FE}"/>
              </a:ext>
            </a:extLst>
          </p:cNvPr>
          <p:cNvSpPr>
            <a:spLocks noGrp="1"/>
          </p:cNvSpPr>
          <p:nvPr/>
        </p:nvSpPr>
        <p:spPr>
          <a:xfrm>
            <a:off x="8839200" y="47625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Cache + 预测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CB491F-212C-4A31-AF83-8FEAD59AB0F2}"/>
              </a:ext>
            </a:extLst>
          </p:cNvPr>
          <p:cNvSpPr>
            <a:spLocks noGrp="1"/>
          </p:cNvSpPr>
          <p:nvPr/>
        </p:nvSpPr>
        <p:spPr>
          <a:xfrm>
            <a:off x="7429500" y="55721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结论必须同时报告收益、反例和资源代价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4EF07C-B53F-41E0-861A-FB9469AA2B9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7B55B5-F55E-4267-ABCA-163DD3A07BAF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D56F242-1DF8-4854-B04C-88F0B752B9BE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性能结果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96A06B-262F-4BA1-BDD9-D41813F99BF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冷启动负载的 CPI 对比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8E3B624-C498-494A-B2A9-C2AD2F7B085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B166FC-CCA6-48B1-B55E-A2228D3DDEE6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0135" y="1466850"/>
            <a:ext cx="9451731" cy="40957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C396668-2BFE-4A5B-ACA7-B51C39A7D947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Cache 与预测收益取决于局部性和分支行为；短小顺序程序可能被冷启动开销拖慢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71871F-828B-4AFD-B862-89CC97B4E74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2464B8-DB38-46A8-BAB0-16B0753E58A2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9804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9951D82-DFD8-4F19-8A05-1F0A94882A9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吞吐证明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423C8E-E6E0-4DE8-B2FD-AD47830A601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流水线真实时间胜出实验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593D188-ABEB-47B9-9A67-5605D540CEE7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231549-9FE8-49E5-8E64-10307EEB6B1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1467803"/>
            <a:ext cx="11315700" cy="3960495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8DADA06-39D1-4352-B73C-FA314248BFAC}"/>
              </a:ext>
            </a:extLst>
          </p:cNvPr>
          <p:cNvSpPr>
            <a:spLocks noGrp="1"/>
          </p:cNvSpPr>
          <p:nvPr/>
        </p:nvSpPr>
        <p:spPr>
          <a:xfrm>
            <a:off x="2857500" y="567690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DB9F0B-032B-4CB5-9106-BB9A06ED0936}"/>
              </a:ext>
            </a:extLst>
          </p:cNvPr>
          <p:cNvSpPr>
            <a:spLocks noGrp="1"/>
          </p:cNvSpPr>
          <p:nvPr/>
        </p:nvSpPr>
        <p:spPr>
          <a:xfrm>
            <a:off x="2857500" y="5724525"/>
            <a:ext cx="20002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CPU 时间 -6.44%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6B3876-C17E-4236-B166-6836EF99396E}"/>
              </a:ext>
            </a:extLst>
          </p:cNvPr>
          <p:cNvSpPr>
            <a:spLocks noGrp="1"/>
          </p:cNvSpPr>
          <p:nvPr/>
        </p:nvSpPr>
        <p:spPr>
          <a:xfrm>
            <a:off x="5095875" y="5676900"/>
            <a:ext cx="1905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A63B9C-6F69-4B73-9448-DA517F321DB9}"/>
              </a:ext>
            </a:extLst>
          </p:cNvPr>
          <p:cNvSpPr>
            <a:spLocks noGrp="1"/>
          </p:cNvSpPr>
          <p:nvPr/>
        </p:nvSpPr>
        <p:spPr>
          <a:xfrm>
            <a:off x="5095875" y="5724525"/>
            <a:ext cx="1905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MIPS +6.89%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F027A60-6E1B-4F6D-9978-6AAD34E73FF4}"/>
              </a:ext>
            </a:extLst>
          </p:cNvPr>
          <p:cNvSpPr>
            <a:spLocks noGrp="1"/>
          </p:cNvSpPr>
          <p:nvPr/>
        </p:nvSpPr>
        <p:spPr>
          <a:xfrm>
            <a:off x="7239000" y="56769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13D10F-2B69-4967-BC89-33F9D5D1C2D7}"/>
              </a:ext>
            </a:extLst>
          </p:cNvPr>
          <p:cNvSpPr>
            <a:spLocks noGrp="1"/>
          </p:cNvSpPr>
          <p:nvPr/>
        </p:nvSpPr>
        <p:spPr>
          <a:xfrm>
            <a:off x="7239000" y="572452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频率比 1.0909 &gt; 所需 1.0206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70089C-0464-4281-A11C-5ACD0AAB430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3FF7F0-9EE0-4F15-832D-CD2A777929D7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C8C515F-BDA3-4FA5-AC83-28D55B5CC140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FPGA 系统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936CD-6BC6-4A1C-B3C3-90D254F8DC6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俄罗斯方块的板级执行链路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38E26D5-3AFB-4592-BBE4-387E45BA552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88042C-258D-458D-A296-0AB86FF3A3A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813877"/>
            <a:ext cx="6838950" cy="296354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rcRect l="15000" r="15000"/>
          <a:stretch>
            <a:fillRect/>
          </a:stretch>
        </p:blipFill>
        <p:spPr>
          <a:xfrm>
            <a:off x="7524750" y="1581150"/>
            <a:ext cx="4267200" cy="3429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24B901C-D319-420F-9EA2-064B4EF6A2E2}"/>
              </a:ext>
            </a:extLst>
          </p:cNvPr>
          <p:cNvSpPr>
            <a:spLocks noGrp="1"/>
          </p:cNvSpPr>
          <p:nvPr/>
        </p:nvSpPr>
        <p:spPr>
          <a:xfrm>
            <a:off x="704850" y="53149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tetris.mem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33F668-422D-48FB-B118-680D6AAC3065}"/>
              </a:ext>
            </a:extLst>
          </p:cNvPr>
          <p:cNvSpPr>
            <a:spLocks noGrp="1"/>
          </p:cNvSpPr>
          <p:nvPr/>
        </p:nvSpPr>
        <p:spPr>
          <a:xfrm>
            <a:off x="2038350" y="531495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BRAM 取指与棋盘数据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BC70F3-9457-4C9C-9896-0480391FF7D1}"/>
              </a:ext>
            </a:extLst>
          </p:cNvPr>
          <p:cNvSpPr>
            <a:spLocks noGrp="1"/>
          </p:cNvSpPr>
          <p:nvPr/>
        </p:nvSpPr>
        <p:spPr>
          <a:xfrm>
            <a:off x="4838700" y="53149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GPIO MMIO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70584E-C06A-4ED0-8A98-1389EC33327D}"/>
              </a:ext>
            </a:extLst>
          </p:cNvPr>
          <p:cNvSpPr>
            <a:spLocks noGrp="1"/>
          </p:cNvSpPr>
          <p:nvPr/>
        </p:nvSpPr>
        <p:spPr>
          <a:xfrm>
            <a:off x="5981700" y="531495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读取按键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AEC8FF-3602-4EB0-870B-655B556BDCBA}"/>
              </a:ext>
            </a:extLst>
          </p:cNvPr>
          <p:cNvSpPr>
            <a:spLocks noGrp="1"/>
          </p:cNvSpPr>
          <p:nvPr/>
        </p:nvSpPr>
        <p:spPr>
          <a:xfrm>
            <a:off x="7543800" y="53149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LCD MMIO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2AB799-F9B4-40B8-A9A9-EF86FC8816D0}"/>
              </a:ext>
            </a:extLst>
          </p:cNvPr>
          <p:cNvSpPr>
            <a:spLocks noGrp="1"/>
          </p:cNvSpPr>
          <p:nvPr/>
        </p:nvSpPr>
        <p:spPr>
          <a:xfrm>
            <a:off x="8686800" y="531495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上传 20 行并刷新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2006E4-769A-4663-AAF1-F23093D0BBF7}"/>
              </a:ext>
            </a:extLst>
          </p:cNvPr>
          <p:cNvSpPr>
            <a:spLocks noGrp="1"/>
          </p:cNvSpPr>
          <p:nvPr/>
        </p:nvSpPr>
        <p:spPr>
          <a:xfrm>
            <a:off x="2628900" y="58674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76EC8E-9EA3-4581-A5C9-E71560EFC221}"/>
              </a:ext>
            </a:extLst>
          </p:cNvPr>
          <p:cNvSpPr>
            <a:spLocks noGrp="1"/>
          </p:cNvSpPr>
          <p:nvPr/>
        </p:nvSpPr>
        <p:spPr>
          <a:xfrm>
            <a:off x="2628900" y="5915025"/>
            <a:ext cx="14287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XC7A100T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F2E4CE-D6C0-4A10-AB69-6290CF1D86FB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E2BE4D-C00D-41CC-94F4-D04AFC52F4FA}"/>
              </a:ext>
            </a:extLst>
          </p:cNvPr>
          <p:cNvSpPr>
            <a:spLocks noGrp="1"/>
          </p:cNvSpPr>
          <p:nvPr/>
        </p:nvSpPr>
        <p:spPr>
          <a:xfrm>
            <a:off x="4267200" y="5915025"/>
            <a:ext cx="1524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25 MHz CPU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42CEC02-5544-4F9B-B515-373054668404}"/>
              </a:ext>
            </a:extLst>
          </p:cNvPr>
          <p:cNvSpPr>
            <a:spLocks noGrp="1"/>
          </p:cNvSpPr>
          <p:nvPr/>
        </p:nvSpPr>
        <p:spPr>
          <a:xfrm>
            <a:off x="6000750" y="5867400"/>
            <a:ext cx="17145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3E587D-B0AD-4C47-8373-8C2C8A5977C7}"/>
              </a:ext>
            </a:extLst>
          </p:cNvPr>
          <p:cNvSpPr>
            <a:spLocks noGrp="1"/>
          </p:cNvSpPr>
          <p:nvPr/>
        </p:nvSpPr>
        <p:spPr>
          <a:xfrm>
            <a:off x="6000750" y="5915025"/>
            <a:ext cx="1714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BRAM + MMIO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545506-5C78-44B0-A561-87F66337272A}"/>
              </a:ext>
            </a:extLst>
          </p:cNvPr>
          <p:cNvSpPr>
            <a:spLocks noGrp="1"/>
          </p:cNvSpPr>
          <p:nvPr/>
        </p:nvSpPr>
        <p:spPr>
          <a:xfrm>
            <a:off x="7924800" y="5867400"/>
            <a:ext cx="17145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C06F9C-FFE9-4A2A-BD8F-CE4385A09256}"/>
              </a:ext>
            </a:extLst>
          </p:cNvPr>
          <p:cNvSpPr>
            <a:spLocks noGrp="1"/>
          </p:cNvSpPr>
          <p:nvPr/>
        </p:nvSpPr>
        <p:spPr>
          <a:xfrm>
            <a:off x="7924800" y="5915025"/>
            <a:ext cx="1714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真实应用闭环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F1B97C-30EA-4B8E-AFD5-BCBC877E319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D69005-1B4F-4A74-961C-40A4781FAF36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6890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E7F3F20-F16F-4BC6-9BE7-3CAD679FE667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下板验收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1FD3F7-E8A9-4A7B-9D2A-5D69C22433E8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俄罗斯方块实板运行证据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BF188BA-79D8-4974-B077-9EAA557117B9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C2ACD-FFD6-4897-A9D7-22D596331AA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l="16250" r="16250"/>
          <a:stretch>
            <a:fillRect/>
          </a:stretch>
        </p:blipFill>
        <p:spPr>
          <a:xfrm>
            <a:off x="400050" y="1619250"/>
            <a:ext cx="3429000" cy="2857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3B3476C-000E-4253-A3B5-67FD442FE9F8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游戏启动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779099-F804-42E2-8A68-232C5083A9F4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活动方块进入棋盘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l="16250" r="16250"/>
          <a:stretch>
            <a:fillRect/>
          </a:stretch>
        </p:blipFill>
        <p:spPr>
          <a:xfrm>
            <a:off x="4191000" y="1619250"/>
            <a:ext cx="3429000" cy="2857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99247F1-C8B9-49A9-ADE5-DF21734670C8}"/>
              </a:ext>
            </a:extLst>
          </p:cNvPr>
          <p:cNvSpPr>
            <a:spLocks noGrp="1"/>
          </p:cNvSpPr>
          <p:nvPr/>
        </p:nvSpPr>
        <p:spPr>
          <a:xfrm>
            <a:off x="4191000" y="4629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持续运行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8A0698-4BC4-4798-A0BE-7376DA79B62E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下落方块与固定块同时显示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rcRect l="16250" r="16250"/>
          <a:stretch>
            <a:fillRect/>
          </a:stretch>
        </p:blipFill>
        <p:spPr>
          <a:xfrm>
            <a:off x="7981950" y="1619250"/>
            <a:ext cx="3429000" cy="285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54E38AF-B2AA-49EC-9726-DEBBAD1976E4}"/>
              </a:ext>
            </a:extLst>
          </p:cNvPr>
          <p:cNvSpPr>
            <a:spLocks noGrp="1"/>
          </p:cNvSpPr>
          <p:nvPr/>
        </p:nvSpPr>
        <p:spPr>
          <a:xfrm>
            <a:off x="7981950" y="4629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状态变化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9BB3CC-FCFF-45F7-B315-A53C299441FA}"/>
              </a:ext>
            </a:extLst>
          </p:cNvPr>
          <p:cNvSpPr>
            <a:spLocks noGrp="1"/>
          </p:cNvSpPr>
          <p:nvPr/>
        </p:nvSpPr>
        <p:spPr>
          <a:xfrm>
            <a:off x="7981950" y="495300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方块位置和棋盘内容继续更新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E0E5F4-9EB7-4588-9B44-91E1D1BA86CA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视频证据：docs/下板演示_俄罗斯方块.mp4，约 56 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621695-240D-40BD-B15F-31E43D2756A1}"/>
              </a:ext>
            </a:extLst>
          </p:cNvPr>
          <p:cNvSpPr>
            <a:spLocks noGrp="1"/>
          </p:cNvSpPr>
          <p:nvPr/>
        </p:nvSpPr>
        <p:spPr>
          <a:xfrm>
            <a:off x="400050" y="6057900"/>
            <a:ext cx="11391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>
              <a:defRPr sz="120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画面连续变化证明 CPU 正在实板上执行游戏循环并通过 MMIO 刷新 LCD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3D481E-61FF-4D32-AF00-4DEFAD6C0C9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2C64CF-2226-4817-AA13-D4E0674F6625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146A992-11F5-4BD3-8BA0-E38AE5F3B47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3C513-2249-4A8C-82E6-BFB4537BBDF8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从 CPU 微结构到俄罗斯方块实板运行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52D2D43-8E87-4EA9-B6E1-979B2DB47068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E962A2-0D2A-4825-B3D4-3706BF27A566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755D4BA-92D5-45B7-A785-2960C734240B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4E204E4-4837-412E-BD0F-600EBDD15634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5A46BC-B05E-45CF-8CB4-59FAD0E2E314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CPU 正确性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093CFB-7CDD-42F6-A9A6-719FFDFE5B3F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27 条基础指令与五级流水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异常、中断、Cache、动态预测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13 组自动化回归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C74A0C-5227-4078-AEE9-D43E2CF524F1}"/>
              </a:ext>
            </a:extLst>
          </p:cNvPr>
          <p:cNvSpPr>
            <a:spLocks noGrp="1"/>
          </p:cNvSpPr>
          <p:nvPr/>
        </p:nvSpPr>
        <p:spPr>
          <a:xfrm>
            <a:off x="4333875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0887A61-08DE-448B-92B0-2D01890CF815}"/>
              </a:ext>
            </a:extLst>
          </p:cNvPr>
          <p:cNvSpPr>
            <a:spLocks noGrp="1"/>
          </p:cNvSpPr>
          <p:nvPr/>
        </p:nvSpPr>
        <p:spPr>
          <a:xfrm>
            <a:off x="4333875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113BAA-3603-45CE-ACD8-AD4B61FA9264}"/>
              </a:ext>
            </a:extLst>
          </p:cNvPr>
          <p:cNvSpPr>
            <a:spLocks noGrp="1"/>
          </p:cNvSpPr>
          <p:nvPr/>
        </p:nvSpPr>
        <p:spPr>
          <a:xfrm>
            <a:off x="4543425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性能结论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79D33A-DBF8-4CE3-9ED2-A4A19BA79CAD}"/>
              </a:ext>
            </a:extLst>
          </p:cNvPr>
          <p:cNvSpPr>
            <a:spLocks noGrp="1"/>
          </p:cNvSpPr>
          <p:nvPr/>
        </p:nvSpPr>
        <p:spPr>
          <a:xfrm>
            <a:off x="4543425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六种配置公平对比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连续计算 CPU 时间缩短 6.44%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收益随负载变化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81766AA-03A7-4537-813E-332A789F6B00}"/>
              </a:ext>
            </a:extLst>
          </p:cNvPr>
          <p:cNvSpPr>
            <a:spLocks noGrp="1"/>
          </p:cNvSpPr>
          <p:nvPr/>
        </p:nvSpPr>
        <p:spPr>
          <a:xfrm>
            <a:off x="8267700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9FB6CEE-53A7-4A08-8D00-8A3E5C99AEEB}"/>
              </a:ext>
            </a:extLst>
          </p:cNvPr>
          <p:cNvSpPr>
            <a:spLocks noGrp="1"/>
          </p:cNvSpPr>
          <p:nvPr/>
        </p:nvSpPr>
        <p:spPr>
          <a:xfrm>
            <a:off x="8267700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08A1C6-7CAC-40C2-A10D-B807BCFAFA7F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整机应用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A01688-C7E4-4F02-B66C-C89FBC91FCC6}"/>
              </a:ext>
            </a:extLst>
          </p:cNvPr>
          <p:cNvSpPr>
            <a:spLocks noGrp="1"/>
          </p:cNvSpPr>
          <p:nvPr/>
        </p:nvSpPr>
        <p:spPr>
          <a:xfrm>
            <a:off x="8477250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EES-338 + BRAM + MMIO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按键控制与 LCD 持续刷新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俄罗斯方块实板运行成功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65F19-639D-4777-A199-CBEC32188C9A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EA777C-3AE5-4FD1-8518-412F53F1419F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13919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俄罗斯方块持续运行把取指、流水执行、数据存储和慢速 MMIO 连接成真实可观察的 CPU 工作负载。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8390A2-F57E-47F6-A78E-A2179A6C5F2D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113919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高级功能的极端边界由定向仿真证明，实板视频负责证明最终应用与板级链路。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842574-1962-46A4-A80D-E46B9261376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243E89-80EA-4D77-9586-AEF8E5345A6C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Microsoft Office PowerPoint</Application>
  <DocSecurity>0</DocSecurity>
  <PresentationFormat>宽屏</PresentationFormat>
  <Paragraphs>352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</vt:lpstr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eon N</cp:lastModifiedBy>
  <cp:revision>2</cp:revision>
  <dcterms:created xsi:type="dcterms:W3CDTF">2026-09-17T06:56:15Z</dcterms:created>
  <dcterms:modified xsi:type="dcterms:W3CDTF">2026-09-17T07:08:54Z</dcterms:modified>
</cp:coreProperties>
</file>