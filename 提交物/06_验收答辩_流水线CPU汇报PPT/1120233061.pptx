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71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96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</a:t>
            </a:r>
          </a:p>
          <a:p>
            <a:r>
              <a:t>各位老师好，我们汇报的是基于水平微码控制的 RV32I 五级流水 CPU。本次以俄罗斯方块实板运行为主线：程序从 BRAM 取指，在流水线上持续执行分支、访存和游戏逻辑，再通过 MMIO 读取按键并刷新 LCD。随后我们从这条应用链路回到 CPU 微结构、附加功能、自动化验证和性能数据。</a:t>
            </a:r>
          </a:p>
          <a:p>
            <a:endParaRPr/>
          </a:p>
          <a:p>
            <a:r>
              <a:t>内容依据：</a:t>
            </a:r>
          </a:p>
          <a:p>
            <a:r>
              <a:t>- docs/中期与最终汇报范围划分.md §4</a:t>
            </a:r>
          </a:p>
          <a:p>
            <a:r>
              <a:t>- docs/实验报告/流水线CPU仿真与下板实验报告.docx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</a:t>
            </a:r>
          </a:p>
          <a:p>
            <a:r>
              <a:t>为减少现场切换，计组汇报按王建乐、张晓行、王建乐三段进行。王建乐负责第 1 到 3 页以及第 10 到 15 页，张晓行负责第 4 到 9 页。钱博傲负责实板材料准备，并在提问环节补充 LCD、GPIO 和 MMIO 接口问题。</a:t>
            </a:r>
          </a:p>
          <a:p>
            <a:endParaRPr/>
          </a:p>
          <a:p>
            <a:r>
              <a:t>内容依据：</a:t>
            </a:r>
          </a:p>
          <a:p>
            <a:r>
              <a:t>- docs/验收汇报ppt/验收汇报三人任务分配.md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6E421-E0D5-C922-0BFF-8A2C19DBD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7A0179-72BA-C030-B323-D2E0EA8206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4BA66A-DDE6-EBCB-C9F3-33889CBFDE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</a:t>
            </a:r>
          </a:p>
          <a:p>
            <a:r>
              <a:t>基础结构仍是 IF、ID、EX、MEM、WB 五级流水。俄罗斯方块程序把这些阶段串成连续工作负载：IF 反复取指，ID 译码，EX 处理坐标和分支，MEM 访问棋盘数据与 MMIO，WB 提交计算结果。中期以后还加入精确异常和外部中断、I/D Cache、动态分支预测、同步 BRAM 和性能计数器。</a:t>
            </a:r>
          </a:p>
          <a:p>
            <a:endParaRPr/>
          </a:p>
          <a:p>
            <a:r>
              <a:t>内容依据：</a:t>
            </a:r>
          </a:p>
          <a:p>
            <a:r>
              <a:t>- docs/设计方案.md</a:t>
            </a:r>
          </a:p>
          <a:p>
            <a:r>
              <a:t>- docs/附加功能设计与测试.md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A6C79A-0B15-63FF-9E43-221E514442BE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629699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</a:t>
            </a:r>
          </a:p>
          <a:p>
            <a:r>
              <a:t>基础结构仍是 IF、ID、EX、MEM、WB 五级流水。俄罗斯方块程序把这些阶段串成连续工作负载：IF 反复取指，ID 译码，EX 处理坐标和分支，MEM 访问棋盘数据与 MMIO，WB 提交计算结果。中期以后还加入精确异常和外部中断、I/D Cache、动态分支预测、同步 BRAM 和性能计数器。</a:t>
            </a:r>
          </a:p>
          <a:p>
            <a:endParaRPr/>
          </a:p>
          <a:p>
            <a:r>
              <a:t>内容依据：</a:t>
            </a:r>
          </a:p>
          <a:p>
            <a:r>
              <a:t>- docs/设计方案.md</a:t>
            </a:r>
          </a:p>
          <a:p>
            <a:r>
              <a:t>- docs/附加功能设计与测试.md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</a:t>
            </a:r>
          </a:p>
          <a:p>
            <a:r>
              <a:t>所有控制事件统一进入流水线仲裁器。旧访存必须先完成，随后按同步异常、MRET、外部中断、分支误预测、load-use 的顺序处理。每周期只采纳最高优先级动作，避免等待、重定向和气泡同时修改状态。这里的等待并不是体系结构优先级，而是保证更老指令先完成的约束。</a:t>
            </a:r>
          </a:p>
          <a:p>
            <a:endParaRPr/>
          </a:p>
          <a:p>
            <a:r>
              <a:t>内容依据：</a:t>
            </a:r>
          </a:p>
          <a:p>
            <a:r>
              <a:t>- rtl/core/pipeline_ctrl.sv</a:t>
            </a:r>
          </a:p>
          <a:p>
            <a:r>
              <a:t>- docs/核心设计文档/04-全局stall-flush优先级真值表.md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</a:t>
            </a:r>
          </a:p>
          <a:p>
            <a:r>
              <a:t>ADD、SUB 和 ADDI 在 EX 级检测课程规定的有符号溢出。发生异常时，故障指令不进入 EX/MEM，年轻指令清除，PC 转向 mtvec。mepc 和 mcause 保存恢复信息，处理程序用 MRET 返回。当前课程化约定把 mepc 保存为故障指令的 PC 加四，不能表述为完整特权规范。</a:t>
            </a:r>
          </a:p>
          <a:p>
            <a:endParaRPr/>
          </a:p>
          <a:p>
            <a:r>
              <a:t>内容依据：</a:t>
            </a:r>
          </a:p>
          <a:p>
            <a:r>
              <a:t>- docs/附加功能设计与测试.md §2</a:t>
            </a:r>
          </a:p>
          <a:p>
            <a:r>
              <a:t>- sim/unit/tb_alu_overflow.sv</a:t>
            </a:r>
          </a:p>
          <a:p>
            <a:r>
              <a:t>- sim/system/tb_extended_system.sv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</a:t>
            </a:r>
          </a:p>
          <a:p>
            <a:r>
              <a:t>外部中断先经双触发器同步，再锁存 pending。若 Cache 或数据总线正在等待，中断保持 pending，直到更老访存完成。只有安全的 EX 边界才接受中断，当前普通指令允许完成，年轻指令被冲刷。进入时关闭 MIE，MRET 再恢复，tb_extended_system 检查了等待期间到达中断和返回不重不漏。</a:t>
            </a:r>
          </a:p>
          <a:p>
            <a:endParaRPr/>
          </a:p>
          <a:p>
            <a:r>
              <a:t>内容依据：</a:t>
            </a:r>
          </a:p>
          <a:p>
            <a:r>
              <a:t>- docs/附加功能设计与测试.md §3</a:t>
            </a:r>
          </a:p>
          <a:p>
            <a:r>
              <a:t>- rtl/exception/csr_file.sv</a:t>
            </a:r>
          </a:p>
          <a:p>
            <a:r>
              <a:t>- sim/system/tb_extended_system.sv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</a:t>
            </a:r>
          </a:p>
          <a:p>
            <a:r>
              <a:t>I-Cache 和 D-Cache 都是 1 KiB 直接映射结构，每行 16 字节，共 64 行。I-Cache 缺失按四个字整行填充。D-Cache 采用写直达、写不分配，字节写通过 wstrb 更新。MMIO 强制旁路 Cache，保证 UART、LCD 和蜂鸣器写操作不会被缓存或合并。</a:t>
            </a:r>
          </a:p>
          <a:p>
            <a:endParaRPr/>
          </a:p>
          <a:p>
            <a:r>
              <a:t>内容依据：</a:t>
            </a:r>
          </a:p>
          <a:p>
            <a:r>
              <a:t>- docs/附加功能设计与测试.md §4</a:t>
            </a:r>
          </a:p>
          <a:p>
            <a:r>
              <a:t>- rtl/cache/icache.sv</a:t>
            </a:r>
          </a:p>
          <a:p>
            <a:r>
              <a:t>- rtl/cache/dcache.sv</a:t>
            </a:r>
          </a:p>
          <a:p>
            <a:r>
              <a:t>- sim/unit/tb_cache.sv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</a:t>
            </a:r>
          </a:p>
          <a:p>
            <a:r>
              <a:t>预测器由 16 项 BTB 和 16 个两位饱和计数器组成。IF 级给出预测方向与目标，EX 级比较真实下一 PC。只有有效且未被更老事件取消的控制指令更新预测器一次。128 次循环测试中，误预测从 128 次降为 2 次；与 Cache 同开时周期从 670 降至 418。</a:t>
            </a:r>
          </a:p>
          <a:p>
            <a:endParaRPr/>
          </a:p>
          <a:p>
            <a:r>
              <a:t>内容依据：</a:t>
            </a:r>
          </a:p>
          <a:p>
            <a:r>
              <a:t>- docs/附加功能设计与测试.md §5</a:t>
            </a:r>
          </a:p>
          <a:p>
            <a:r>
              <a:t>- rtl/predictor/branch_predictor.sv</a:t>
            </a:r>
          </a:p>
          <a:p>
            <a:r>
              <a:t>- docs/performance/results.csv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</a:t>
            </a:r>
          </a:p>
          <a:p>
            <a:r>
              <a:t>回归脚本包含 13 个 testbench。局部测试验证译码、溢出、Cache、预测器和外设，系统测试验证基础 CPU、相关处理、扩展功能、bring-up 和俄罗斯方块。tb_tetris_system 运行完整机器码，检查二十行上传顺序、方向键、软降释放、消行与蜂鸣事件，并在 65079 个周期后输出 PASS。</a:t>
            </a:r>
          </a:p>
          <a:p>
            <a:endParaRPr/>
          </a:p>
          <a:p>
            <a:r>
              <a:t>内容依据：</a:t>
            </a:r>
          </a:p>
          <a:p>
            <a:r>
              <a:t>- docs/附加功能设计与测试.md §6–7</a:t>
            </a:r>
          </a:p>
          <a:p>
            <a:r>
              <a:t>- sim/run_all_tests.tcl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</a:t>
            </a:r>
          </a:p>
          <a:p>
            <a:r>
              <a:t>性能实验使用组员大三阶段的真实单周期 RTL 作为基线。六种配置使用相同程序、输入和结束条件，并核对退休序列、写回和存储事件。我们同时报告 CPI、IPC、MIPS、CPU 时间、时序频率、停顿、预测准确率、Cache 命中率和资源占用，避免只挑对流水线有利的指标。</a:t>
            </a:r>
          </a:p>
          <a:p>
            <a:endParaRPr/>
          </a:p>
          <a:p>
            <a:r>
              <a:t>内容依据：</a:t>
            </a:r>
          </a:p>
          <a:p>
            <a:r>
              <a:t>- docs/CPU性能测试与单周期对比.md</a:t>
            </a:r>
          </a:p>
          <a:p>
            <a:r>
              <a:t>- docs/performance/results.csv</a:t>
            </a:r>
          </a:p>
          <a:p>
            <a:r>
              <a:t>- docs/performance/timing_results.csv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</a:t>
            </a:r>
          </a:p>
          <a:p>
            <a:r>
              <a:t>这张图汇总冷启动负载。连续分支负载中 Cache 和预测器组合收益明显，Branch 2000 的 CPI 接近 1.01。独立 ALU 和 RAW chain 在冷启动时 P-FULL 的 CPI 反而高于基础流水线，因为小程序无法摊薄 Cache 填充开销。结论应是附加功能收益依赖负载，而不是所有程序都更快。</a:t>
            </a:r>
          </a:p>
          <a:p>
            <a:endParaRPr/>
          </a:p>
          <a:p>
            <a:r>
              <a:t>内容依据：</a:t>
            </a:r>
          </a:p>
          <a:p>
            <a:r>
              <a:t>- docs/performance/figures/cpi_comparison.png</a:t>
            </a:r>
          </a:p>
          <a:p>
            <a:r>
              <a:t>- docs/performance/results.csv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</a:t>
            </a:r>
          </a:p>
          <a:p>
            <a:r>
              <a:t>为了证明流水线能够在真实时间上胜出，我们选择 194 条连续计算指令。单周期 CPU 通过时序的频率为 83.33 MHz，流水线为 90.91 MHz。流水线多四个填充周期，但 CPU 时间从 2.328 微秒降到 2.178 微秒，MIPS 从 83.33 提高到 89.07，时间缩短约 6.44%。</a:t>
            </a:r>
          </a:p>
          <a:p>
            <a:endParaRPr/>
          </a:p>
          <a:p>
            <a:r>
              <a:t>内容依据：</a:t>
            </a:r>
          </a:p>
          <a:p>
            <a:r>
              <a:t>- docs/performance/figures/pipeline_throughput_proof.png</a:t>
            </a:r>
          </a:p>
          <a:p>
            <a:r>
              <a:t>- docs/performance/timing_results.csv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</a:t>
            </a:r>
          </a:p>
          <a:p>
            <a:r>
              <a:t>下板系统使用 EES-338，JTAG 识别为 XC7A100T。板载 100 MHz 时钟经 MMCM 产生 25 MHz CPU 时钟，IMEM 和 DMEM 使用片内 BRAM。先用 bring-up 检查基本计算、存储、分支和外设握手，再装载 tetris.mem 运行完整应用。CPU 通过 GPIO MMIO 读取按键，通过 LCD_GAME_ROW 和 LCD_GAME_REFRESH 刷新棋盘。</a:t>
            </a:r>
          </a:p>
          <a:p>
            <a:endParaRPr/>
          </a:p>
          <a:p>
            <a:r>
              <a:t>内容依据：</a:t>
            </a:r>
          </a:p>
          <a:p>
            <a:r>
              <a:t>- docs/下板演示_俄罗斯方块.mp4</a:t>
            </a:r>
          </a:p>
          <a:p>
            <a:r>
              <a:t>- rtl/board/ees338_top.sv</a:t>
            </a:r>
          </a:p>
          <a:p>
            <a:r>
              <a:t>- firmware/tetris.S</a:t>
            </a:r>
          </a:p>
          <a:p>
            <a:r>
              <a:t>- firmware/tetris.mem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</a:t>
            </a:r>
          </a:p>
          <a:p>
            <a:r>
              <a:t>本页三张画面来自 docs 下约 56 秒的下板演示视频。启动后 LCD 出现活动方块，随后方块位置和底部固定棋盘持续变化，说明 CPU 正在真实板上重复执行取指、分支、访存、碰撞计算和 MMIO 刷新。视频同时拍到实物设备，因此它是俄罗斯方块已下板运行的直接证据。</a:t>
            </a:r>
          </a:p>
          <a:p>
            <a:endParaRPr/>
          </a:p>
          <a:p>
            <a:r>
              <a:t>内容依据：</a:t>
            </a:r>
          </a:p>
          <a:p>
            <a:r>
              <a:t>- docs/下板演示_俄罗斯方块.mp4</a:t>
            </a:r>
          </a:p>
          <a:p>
            <a:r>
              <a:t>- firmware/tetris.S</a:t>
            </a:r>
          </a:p>
          <a:p>
            <a:r>
              <a:t>- sim/system/tb_tetris_system.sv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</a:t>
            </a:r>
          </a:p>
          <a:p>
            <a:r>
              <a:t>本项目完成了基础五级流水、四项附加功能、十三组自检和性能量化，并在 EES-338 上运行俄罗斯方块。应用能够持续产生控制相关、数据访存和慢速 MMIO 访问，实板画面变化证明 CPU、BRAM、按键和 LCD 路径形成闭环。高级功能的边界条件仍以定向仿真和性能测试为主要证据。</a:t>
            </a:r>
          </a:p>
          <a:p>
            <a:endParaRPr/>
          </a:p>
          <a:p>
            <a:r>
              <a:t>内容依据：</a:t>
            </a:r>
          </a:p>
          <a:p>
            <a:r>
              <a:t>- docs/下板演示_俄罗斯方块.mp4</a:t>
            </a:r>
          </a:p>
          <a:p>
            <a:r>
              <a:t>- docs/实验报告/流水线CPU仿真与下板实验报告.docx</a:t>
            </a:r>
          </a:p>
          <a:p>
            <a:r>
              <a:t>- sim/system/tb_tetris_system.sv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F8C8787C-2D9F-45B2-81D6-2F943BDDEE16}"/>
              </a:ext>
            </a:extLst>
          </p:cNvPr>
          <p:cNvSpPr>
            <a:spLocks noGrp="1"/>
          </p:cNvSpPr>
          <p:nvPr/>
        </p:nvSpPr>
        <p:spPr>
          <a:xfrm>
            <a:off x="590550" y="495300"/>
            <a:ext cx="4953000" cy="285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125" b="1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1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计算机组成原理课程设计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21C8B4E-E0AF-4A1F-8386-D01F40C02BB9}"/>
              </a:ext>
            </a:extLst>
          </p:cNvPr>
          <p:cNvSpPr>
            <a:spLocks noGrp="1"/>
          </p:cNvSpPr>
          <p:nvPr/>
        </p:nvSpPr>
        <p:spPr>
          <a:xfrm>
            <a:off x="590550" y="1333500"/>
            <a:ext cx="9810750" cy="1381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3600" b="1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3600" b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RV32I 五级流水 CPU</a:t>
            </a:r>
          </a:p>
          <a:p>
            <a:pPr>
              <a:defRPr sz="3600" b="1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3600" b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设计实现与 FPGA 验收</a:t>
            </a:r>
          </a:p>
        </p:txBody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75926FDF-81FD-4572-A586-6356E26775AA}"/>
              </a:ext>
            </a:extLst>
          </p:cNvPr>
          <p:cNvSpPr>
            <a:spLocks noGrp="1"/>
          </p:cNvSpPr>
          <p:nvPr/>
        </p:nvSpPr>
        <p:spPr>
          <a:xfrm>
            <a:off x="0" y="3810000"/>
            <a:ext cx="12192000" cy="0"/>
          </a:xfrm>
          <a:prstGeom prst="line">
            <a:avLst/>
          </a:prstGeom>
          <a:noFill/>
          <a:ln w="9525">
            <a:solidFill>
              <a:srgbClr val="283A55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C8B51DB-E1BB-4F20-95AE-8C56F34B2ECB}"/>
              </a:ext>
            </a:extLst>
          </p:cNvPr>
          <p:cNvSpPr>
            <a:spLocks noGrp="1"/>
          </p:cNvSpPr>
          <p:nvPr/>
        </p:nvSpPr>
        <p:spPr>
          <a:xfrm>
            <a:off x="664193" y="2741665"/>
            <a:ext cx="2476500" cy="3619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50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1500" b="1" dirty="0" err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验收汇报</a:t>
            </a:r>
            <a:endParaRPr sz="1500" b="1" dirty="0">
              <a:solidFill>
                <a:srgbClr val="25D4E8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7A9C158-0293-4602-B0AB-B06C609E5D40}"/>
              </a:ext>
            </a:extLst>
          </p:cNvPr>
          <p:cNvSpPr>
            <a:spLocks noGrp="1"/>
          </p:cNvSpPr>
          <p:nvPr/>
        </p:nvSpPr>
        <p:spPr>
          <a:xfrm>
            <a:off x="590550" y="4173486"/>
            <a:ext cx="8096250" cy="228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050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2000" b="0" dirty="0" err="1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成员：王建乐、张晓行、钱博傲</a:t>
            </a:r>
            <a:endParaRPr sz="2000" b="0" dirty="0">
              <a:solidFill>
                <a:srgbClr val="A6B4C8"/>
              </a:solidFill>
              <a:latin typeface="Noto Sans SC"/>
              <a:ea typeface="Noto Sans SC"/>
              <a:cs typeface="Noto Sans SC"/>
            </a:endParaRPr>
          </a:p>
        </p:txBody>
      </p:sp>
    </p:spTree>
    <p:extLst>
      <p:ext uri="{BB962C8B-B14F-4D97-AF65-F5344CB8AC3E}">
        <p14:creationId xmlns:p14="http://schemas.microsoft.com/office/powerpoint/2010/main" val="8327325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CBF501B3-45F1-4837-A95E-F1B6432CAEB2}"/>
              </a:ext>
            </a:extLst>
          </p:cNvPr>
          <p:cNvSpPr>
            <a:spLocks noGrp="1"/>
          </p:cNvSpPr>
          <p:nvPr/>
        </p:nvSpPr>
        <p:spPr>
          <a:xfrm>
            <a:off x="400050" y="247650"/>
            <a:ext cx="409575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汇报安排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9F1AE66-8BBB-4F6D-8C90-77BC98795952}"/>
              </a:ext>
            </a:extLst>
          </p:cNvPr>
          <p:cNvSpPr>
            <a:spLocks noGrp="1"/>
          </p:cNvSpPr>
          <p:nvPr/>
        </p:nvSpPr>
        <p:spPr>
          <a:xfrm>
            <a:off x="400050" y="590550"/>
            <a:ext cx="1085850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2475" b="1" dirty="0" err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分工</a:t>
            </a:r>
            <a:r>
              <a:rPr lang="zh-CN" altLang="en-US" sz="2475" b="1" dirty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安排</a:t>
            </a:r>
            <a:endParaRPr sz="2475" b="1" dirty="0">
              <a:solidFill>
                <a:srgbClr val="EAF2FF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B79095D5-3494-4C48-9EB5-DB17F7581080}"/>
              </a:ext>
            </a:extLst>
          </p:cNvPr>
          <p:cNvSpPr>
            <a:spLocks noGrp="1"/>
          </p:cNvSpPr>
          <p:nvPr/>
        </p:nvSpPr>
        <p:spPr>
          <a:xfrm>
            <a:off x="400050" y="1238250"/>
            <a:ext cx="10991850" cy="0"/>
          </a:xfrm>
          <a:prstGeom prst="line">
            <a:avLst/>
          </a:prstGeom>
          <a:noFill/>
          <a:ln w="9525">
            <a:solidFill>
              <a:srgbClr val="283A55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95A1CFC-BB7C-44FC-91D6-610893486667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8636" lnSpcReduction="2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02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006529B8-CB46-4352-9E3E-3BFECFBA5158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723900" cy="304800"/>
          </a:xfrm>
          <a:prstGeom prst="rect">
            <a:avLst/>
          </a:prstGeom>
          <a:solidFill>
            <a:srgbClr val="0B1220"/>
          </a:solidFill>
          <a:ln w="0">
            <a:noFill/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0BAB2132-19E5-4777-9446-2644F433B7CB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8636" lnSpcReduction="2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02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D4403BCB-F322-AFB6-E81A-88242098F08D}"/>
              </a:ext>
            </a:extLst>
          </p:cNvPr>
          <p:cNvSpPr>
            <a:spLocks noGrp="1"/>
          </p:cNvSpPr>
          <p:nvPr/>
        </p:nvSpPr>
        <p:spPr>
          <a:xfrm>
            <a:off x="476250" y="1724025"/>
            <a:ext cx="106680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dirty="0" err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王建乐（组长</a:t>
            </a:r>
            <a:r>
              <a:rPr sz="1650" b="1" dirty="0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）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B209471-360E-1DC0-A65F-C3BE1F1DBF3F}"/>
              </a:ext>
            </a:extLst>
          </p:cNvPr>
          <p:cNvSpPr>
            <a:spLocks noGrp="1"/>
          </p:cNvSpPr>
          <p:nvPr/>
        </p:nvSpPr>
        <p:spPr>
          <a:xfrm>
            <a:off x="476250" y="2066925"/>
            <a:ext cx="106680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zh-CN" sz="1575" dirty="0">
                <a:solidFill>
                  <a:srgbClr val="F7FAFF"/>
                </a:solidFill>
                <a:latin typeface="Microsoft YaHei"/>
              </a:rPr>
              <a:t>ISA、微码、系统集成与材料</a:t>
            </a:r>
            <a:r>
              <a:rPr lang="zh-CN" altLang="en-US" sz="1575" dirty="0">
                <a:solidFill>
                  <a:srgbClr val="F7FAFF"/>
                </a:solidFill>
                <a:latin typeface="Microsoft YaHei"/>
              </a:rPr>
              <a:t>编写</a:t>
            </a:r>
            <a:endParaRPr sz="1575" b="0" dirty="0">
              <a:solidFill>
                <a:srgbClr val="F7FA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B0014932-8F74-5C88-CBD8-5F165747881A}"/>
              </a:ext>
            </a:extLst>
          </p:cNvPr>
          <p:cNvSpPr>
            <a:spLocks noGrp="1"/>
          </p:cNvSpPr>
          <p:nvPr/>
        </p:nvSpPr>
        <p:spPr>
          <a:xfrm>
            <a:off x="476250" y="2667000"/>
            <a:ext cx="106680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dirty="0" err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张晓行</a:t>
            </a:r>
            <a:r>
              <a:rPr sz="1650" b="1" dirty="0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（</a:t>
            </a:r>
            <a:r>
              <a:rPr lang="zh-CN" altLang="en-US" sz="1650" b="1" dirty="0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组员</a:t>
            </a:r>
            <a:r>
              <a:rPr sz="1650" b="1" dirty="0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）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C4B7DA12-34D3-BB62-4C3A-151B33A1E9C9}"/>
              </a:ext>
            </a:extLst>
          </p:cNvPr>
          <p:cNvSpPr>
            <a:spLocks noGrp="1"/>
          </p:cNvSpPr>
          <p:nvPr/>
        </p:nvSpPr>
        <p:spPr>
          <a:xfrm>
            <a:off x="476250" y="3009900"/>
            <a:ext cx="106680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zh-CN" sz="1575" dirty="0">
                <a:solidFill>
                  <a:srgbClr val="F7FAFF"/>
                </a:solidFill>
                <a:latin typeface="Microsoft YaHei"/>
              </a:rPr>
              <a:t>流水控制、前递、停顿、异常中断、CPU 验证</a:t>
            </a:r>
            <a:endParaRPr sz="1575" b="0" dirty="0">
              <a:solidFill>
                <a:srgbClr val="F7FA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A2EFF5F2-9AD9-C2EF-9526-4A79EBB513E1}"/>
              </a:ext>
            </a:extLst>
          </p:cNvPr>
          <p:cNvSpPr>
            <a:spLocks noGrp="1"/>
          </p:cNvSpPr>
          <p:nvPr/>
        </p:nvSpPr>
        <p:spPr>
          <a:xfrm>
            <a:off x="476250" y="3609975"/>
            <a:ext cx="106680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dirty="0" err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钱博傲</a:t>
            </a:r>
            <a:r>
              <a:rPr sz="1650" b="1" dirty="0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（</a:t>
            </a:r>
            <a:r>
              <a:rPr lang="zh-CN" altLang="en-US" sz="1650" b="1" dirty="0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组员</a:t>
            </a:r>
            <a:r>
              <a:rPr sz="1650" b="1" dirty="0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）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06B77F0C-1888-9CDA-7F1F-7D3C693E02C1}"/>
              </a:ext>
            </a:extLst>
          </p:cNvPr>
          <p:cNvSpPr>
            <a:spLocks noGrp="1"/>
          </p:cNvSpPr>
          <p:nvPr/>
        </p:nvSpPr>
        <p:spPr>
          <a:xfrm>
            <a:off x="476250" y="3952875"/>
            <a:ext cx="106680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zh-CN" sz="1575" dirty="0">
                <a:solidFill>
                  <a:srgbClr val="F7FAFF"/>
                </a:solidFill>
                <a:latin typeface="Microsoft YaHei"/>
              </a:rPr>
              <a:t>LCD、SPI、MMIO 驱动、汇编应用与板级协作</a:t>
            </a:r>
            <a:endParaRPr sz="1575" b="0" dirty="0">
              <a:solidFill>
                <a:srgbClr val="F7FAFF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6643636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9A2FC6-2DB0-4384-096C-246BA50A4C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矩形 42">
            <a:extLst>
              <a:ext uri="{FF2B5EF4-FFF2-40B4-BE49-F238E27FC236}">
                <a16:creationId xmlns:a16="http://schemas.microsoft.com/office/drawing/2014/main" id="{6544D3F0-A52C-18AD-DF07-49736983C50D}"/>
              </a:ext>
            </a:extLst>
          </p:cNvPr>
          <p:cNvSpPr>
            <a:spLocks noGrp="1"/>
          </p:cNvSpPr>
          <p:nvPr/>
        </p:nvSpPr>
        <p:spPr>
          <a:xfrm>
            <a:off x="400050" y="247650"/>
            <a:ext cx="409575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kumimoji="0" sz="975" b="1" i="0" u="none" strike="noStrike" kern="1200" cap="none" spc="0" normalizeH="0" baseline="0" noProof="0">
                <a:ln>
                  <a:noFill/>
                </a:ln>
                <a:solidFill>
                  <a:srgbClr val="25D4E8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</a:rPr>
              <a:t>成果概览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A607065-B811-DED9-48D4-CE11AB198CF5}"/>
              </a:ext>
            </a:extLst>
          </p:cNvPr>
          <p:cNvSpPr>
            <a:spLocks noGrp="1"/>
          </p:cNvSpPr>
          <p:nvPr/>
        </p:nvSpPr>
        <p:spPr>
          <a:xfrm>
            <a:off x="400050" y="590550"/>
            <a:ext cx="1085850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r>
              <a:rPr lang="zh-CN" altLang="en-US" sz="2800" b="1" dirty="0">
                <a:solidFill>
                  <a:srgbClr val="F7FAFF"/>
                </a:solidFill>
                <a:ea typeface="Microsoft YaHei"/>
                <a:cs typeface="Microsoft YaHei"/>
              </a:rPr>
              <a:t>基础指令集设计</a:t>
            </a:r>
            <a:endParaRPr lang="zh-CN" altLang="en-US" sz="2800" dirty="0"/>
          </a:p>
        </p:txBody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2D90CA51-55F6-2AD3-8BB3-ED13309B27AC}"/>
              </a:ext>
            </a:extLst>
          </p:cNvPr>
          <p:cNvSpPr>
            <a:spLocks noGrp="1"/>
          </p:cNvSpPr>
          <p:nvPr/>
        </p:nvSpPr>
        <p:spPr>
          <a:xfrm>
            <a:off x="400050" y="1238250"/>
            <a:ext cx="10991850" cy="0"/>
          </a:xfrm>
          <a:prstGeom prst="line">
            <a:avLst/>
          </a:prstGeom>
          <a:noFill/>
          <a:ln w="9525">
            <a:solidFill>
              <a:srgbClr val="283A55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74C6BC5-C957-C689-6E09-513C09A0CB4E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8636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kumimoji="0" sz="825" b="0" i="0" u="none" strike="noStrike" kern="1200" cap="none" spc="0" normalizeH="0" baseline="0" noProof="0">
                <a:ln>
                  <a:noFill/>
                </a:ln>
                <a:solidFill>
                  <a:srgbClr val="A6B4C8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</a:rPr>
              <a:t>02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8F3F6B81-EC9C-8268-AB7B-1C032C47C65C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723900" cy="304800"/>
          </a:xfrm>
          <a:prstGeom prst="rect">
            <a:avLst/>
          </a:prstGeom>
          <a:solidFill>
            <a:srgbClr val="0B1220"/>
          </a:solidFill>
          <a:ln w="0">
            <a:noFill/>
            <a:prstDash val="solid"/>
          </a:ln>
        </p:spPr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869E37FB-407E-DC07-DD45-9755BDC33741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8636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kumimoji="0" sz="825" b="0" i="0" u="none" strike="noStrike" kern="1200" cap="none" spc="0" normalizeH="0" baseline="0" noProof="0">
                <a:ln>
                  <a:noFill/>
                </a:ln>
                <a:solidFill>
                  <a:srgbClr val="A6B4C8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</a:rPr>
              <a:t>03</a:t>
            </a:r>
          </a:p>
        </p:txBody>
      </p:sp>
      <p:sp>
        <p:nvSpPr>
          <p:cNvPr id="21" name="Text 6">
            <a:extLst>
              <a:ext uri="{FF2B5EF4-FFF2-40B4-BE49-F238E27FC236}">
                <a16:creationId xmlns:a16="http://schemas.microsoft.com/office/drawing/2014/main" id="{46237047-4671-31F0-954B-F24AD1DC688D}"/>
              </a:ext>
            </a:extLst>
          </p:cNvPr>
          <p:cNvSpPr>
            <a:spLocks noGrp="1"/>
          </p:cNvSpPr>
          <p:nvPr/>
        </p:nvSpPr>
        <p:spPr>
          <a:xfrm>
            <a:off x="749808" y="1792224"/>
            <a:ext cx="1335024" cy="34747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</p:spPr>
        <p:txBody>
          <a:bodyPr wrap="square" lIns="254" tIns="254" rIns="254" bIns="254" anchor="ctr">
            <a:normAutofit/>
          </a:bodyPr>
          <a:lstStyle/>
          <a:p>
            <a:pPr marL="0" indent="0" algn="ctr">
              <a:buNone/>
            </a:pPr>
            <a:r>
              <a:rPr sz="11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类别</a:t>
            </a:r>
            <a:endParaRPr sz="1100"/>
          </a:p>
        </p:txBody>
      </p:sp>
      <p:sp>
        <p:nvSpPr>
          <p:cNvPr id="23" name="Text 7">
            <a:extLst>
              <a:ext uri="{FF2B5EF4-FFF2-40B4-BE49-F238E27FC236}">
                <a16:creationId xmlns:a16="http://schemas.microsoft.com/office/drawing/2014/main" id="{480401BB-EAD4-41EC-92A3-1B6A5204508D}"/>
              </a:ext>
            </a:extLst>
          </p:cNvPr>
          <p:cNvSpPr>
            <a:spLocks noGrp="1"/>
          </p:cNvSpPr>
          <p:nvPr/>
        </p:nvSpPr>
        <p:spPr>
          <a:xfrm>
            <a:off x="2377440" y="1792224"/>
            <a:ext cx="5193792" cy="34747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</p:spPr>
        <p:txBody>
          <a:bodyPr wrap="square" lIns="254" tIns="254" rIns="254" bIns="254" anchor="ctr">
            <a:normAutofit/>
          </a:bodyPr>
          <a:lstStyle/>
          <a:p>
            <a:pPr marL="0" indent="0" algn="ctr">
              <a:buNone/>
            </a:pPr>
            <a:r>
              <a:rPr sz="11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代表指令</a:t>
            </a:r>
            <a:endParaRPr sz="1100"/>
          </a:p>
        </p:txBody>
      </p:sp>
      <p:sp>
        <p:nvSpPr>
          <p:cNvPr id="44" name="Text 8">
            <a:extLst>
              <a:ext uri="{FF2B5EF4-FFF2-40B4-BE49-F238E27FC236}">
                <a16:creationId xmlns:a16="http://schemas.microsoft.com/office/drawing/2014/main" id="{8EDD3C65-7D02-3323-32BE-1CBBB211E7DD}"/>
              </a:ext>
            </a:extLst>
          </p:cNvPr>
          <p:cNvSpPr>
            <a:spLocks noGrp="1"/>
          </p:cNvSpPr>
          <p:nvPr/>
        </p:nvSpPr>
        <p:spPr>
          <a:xfrm>
            <a:off x="7863840" y="1792224"/>
            <a:ext cx="3566160" cy="34747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</p:spPr>
        <p:txBody>
          <a:bodyPr wrap="square" lIns="254" tIns="254" rIns="254" bIns="254" anchor="ctr">
            <a:normAutofit/>
          </a:bodyPr>
          <a:lstStyle/>
          <a:p>
            <a:pPr marL="0" indent="0" algn="ctr">
              <a:buNone/>
            </a:pPr>
            <a:r>
              <a:rPr sz="11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典型控制行为</a:t>
            </a:r>
            <a:endParaRPr sz="1100"/>
          </a:p>
        </p:txBody>
      </p:sp>
      <p:sp>
        <p:nvSpPr>
          <p:cNvPr id="46" name="Text 9">
            <a:extLst>
              <a:ext uri="{FF2B5EF4-FFF2-40B4-BE49-F238E27FC236}">
                <a16:creationId xmlns:a16="http://schemas.microsoft.com/office/drawing/2014/main" id="{9DF9004C-02CB-FE24-5A37-74B8FB65E84E}"/>
              </a:ext>
            </a:extLst>
          </p:cNvPr>
          <p:cNvSpPr>
            <a:spLocks noGrp="1"/>
          </p:cNvSpPr>
          <p:nvPr/>
        </p:nvSpPr>
        <p:spPr>
          <a:xfrm>
            <a:off x="749808" y="2267712"/>
            <a:ext cx="1335024" cy="530352"/>
          </a:xfrm>
          <a:prstGeom prst="rect">
            <a:avLst/>
          </a:prstGeom>
          <a:solidFill>
            <a:srgbClr val="121A2D"/>
          </a:solidFill>
          <a:ln w="15240">
            <a:solidFill>
              <a:srgbClr val="3B82F6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算术 / 逻辑</a:t>
            </a:r>
            <a:endParaRPr sz="1050"/>
          </a:p>
        </p:txBody>
      </p:sp>
      <p:sp>
        <p:nvSpPr>
          <p:cNvPr id="48" name="Text 10">
            <a:extLst>
              <a:ext uri="{FF2B5EF4-FFF2-40B4-BE49-F238E27FC236}">
                <a16:creationId xmlns:a16="http://schemas.microsoft.com/office/drawing/2014/main" id="{2FDE428B-669E-D5E7-C487-FFAF2B02AD96}"/>
              </a:ext>
            </a:extLst>
          </p:cNvPr>
          <p:cNvSpPr>
            <a:spLocks noGrp="1"/>
          </p:cNvSpPr>
          <p:nvPr/>
        </p:nvSpPr>
        <p:spPr>
          <a:xfrm>
            <a:off x="2377440" y="2267712"/>
            <a:ext cx="5193792" cy="530352"/>
          </a:xfrm>
          <a:prstGeom prst="rect">
            <a:avLst/>
          </a:prstGeom>
          <a:solidFill>
            <a:srgbClr val="121A2D"/>
          </a:solidFill>
          <a:ln w="12700">
            <a:solidFill>
              <a:srgbClr val="2C3D61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03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ADD · SUB · ADDI · AND · OR · XOR</a:t>
            </a:r>
            <a:endParaRPr sz="1030"/>
          </a:p>
        </p:txBody>
      </p:sp>
      <p:sp>
        <p:nvSpPr>
          <p:cNvPr id="50" name="Text 11">
            <a:extLst>
              <a:ext uri="{FF2B5EF4-FFF2-40B4-BE49-F238E27FC236}">
                <a16:creationId xmlns:a16="http://schemas.microsoft.com/office/drawing/2014/main" id="{3E3E1BE9-E156-779A-E213-3080E2EA6136}"/>
              </a:ext>
            </a:extLst>
          </p:cNvPr>
          <p:cNvSpPr>
            <a:spLocks noGrp="1"/>
          </p:cNvSpPr>
          <p:nvPr/>
        </p:nvSpPr>
        <p:spPr>
          <a:xfrm>
            <a:off x="7863840" y="2267712"/>
            <a:ext cx="3566160" cy="530352"/>
          </a:xfrm>
          <a:prstGeom prst="rect">
            <a:avLst/>
          </a:prstGeom>
          <a:solidFill>
            <a:srgbClr val="121A2D"/>
          </a:solidFill>
          <a:ln w="12700">
            <a:solidFill>
              <a:srgbClr val="2C3D61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03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ALU 计算，结果写回 rd</a:t>
            </a:r>
            <a:endParaRPr sz="1030"/>
          </a:p>
        </p:txBody>
      </p:sp>
      <p:sp>
        <p:nvSpPr>
          <p:cNvPr id="52" name="Text 12">
            <a:extLst>
              <a:ext uri="{FF2B5EF4-FFF2-40B4-BE49-F238E27FC236}">
                <a16:creationId xmlns:a16="http://schemas.microsoft.com/office/drawing/2014/main" id="{DF1D8404-8E19-42CD-3BB7-59CBE0422F78}"/>
              </a:ext>
            </a:extLst>
          </p:cNvPr>
          <p:cNvSpPr>
            <a:spLocks noGrp="1"/>
          </p:cNvSpPr>
          <p:nvPr/>
        </p:nvSpPr>
        <p:spPr>
          <a:xfrm>
            <a:off x="749808" y="2962656"/>
            <a:ext cx="1335024" cy="530352"/>
          </a:xfrm>
          <a:prstGeom prst="rect">
            <a:avLst/>
          </a:prstGeom>
          <a:solidFill>
            <a:srgbClr val="10172A"/>
          </a:solidFill>
          <a:ln w="15240">
            <a:solidFill>
              <a:srgbClr val="22D3EE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移位 / 比较</a:t>
            </a:r>
            <a:endParaRPr sz="1050"/>
          </a:p>
        </p:txBody>
      </p:sp>
      <p:sp>
        <p:nvSpPr>
          <p:cNvPr id="54" name="Text 13">
            <a:extLst>
              <a:ext uri="{FF2B5EF4-FFF2-40B4-BE49-F238E27FC236}">
                <a16:creationId xmlns:a16="http://schemas.microsoft.com/office/drawing/2014/main" id="{D5EF5098-A686-BABB-870E-56A7C32DFFA0}"/>
              </a:ext>
            </a:extLst>
          </p:cNvPr>
          <p:cNvSpPr>
            <a:spLocks noGrp="1"/>
          </p:cNvSpPr>
          <p:nvPr/>
        </p:nvSpPr>
        <p:spPr>
          <a:xfrm>
            <a:off x="2377440" y="2962656"/>
            <a:ext cx="5193792" cy="530352"/>
          </a:xfrm>
          <a:prstGeom prst="rect">
            <a:avLst/>
          </a:prstGeom>
          <a:solidFill>
            <a:srgbClr val="10172A"/>
          </a:solidFill>
          <a:ln w="12700">
            <a:solidFill>
              <a:srgbClr val="2C3D61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03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SLL · SRL · SRA · SLT · SLTU</a:t>
            </a:r>
            <a:endParaRPr sz="1030"/>
          </a:p>
        </p:txBody>
      </p:sp>
      <p:sp>
        <p:nvSpPr>
          <p:cNvPr id="56" name="Text 14">
            <a:extLst>
              <a:ext uri="{FF2B5EF4-FFF2-40B4-BE49-F238E27FC236}">
                <a16:creationId xmlns:a16="http://schemas.microsoft.com/office/drawing/2014/main" id="{EC0524A2-8B61-3D4B-44F7-5DCE284D2A3F}"/>
              </a:ext>
            </a:extLst>
          </p:cNvPr>
          <p:cNvSpPr>
            <a:spLocks noGrp="1"/>
          </p:cNvSpPr>
          <p:nvPr/>
        </p:nvSpPr>
        <p:spPr>
          <a:xfrm>
            <a:off x="7863840" y="2962656"/>
            <a:ext cx="3566160" cy="530352"/>
          </a:xfrm>
          <a:prstGeom prst="rect">
            <a:avLst/>
          </a:prstGeom>
          <a:solidFill>
            <a:srgbClr val="10172A"/>
          </a:solidFill>
          <a:ln w="12700">
            <a:solidFill>
              <a:srgbClr val="2C3D61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03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移位结果或 0/1 比较结果写回</a:t>
            </a:r>
            <a:endParaRPr sz="1030"/>
          </a:p>
        </p:txBody>
      </p:sp>
      <p:sp>
        <p:nvSpPr>
          <p:cNvPr id="58" name="Text 15">
            <a:extLst>
              <a:ext uri="{FF2B5EF4-FFF2-40B4-BE49-F238E27FC236}">
                <a16:creationId xmlns:a16="http://schemas.microsoft.com/office/drawing/2014/main" id="{99005A43-2603-3D66-51A6-A0090BDDB20F}"/>
              </a:ext>
            </a:extLst>
          </p:cNvPr>
          <p:cNvSpPr>
            <a:spLocks noGrp="1"/>
          </p:cNvSpPr>
          <p:nvPr/>
        </p:nvSpPr>
        <p:spPr>
          <a:xfrm>
            <a:off x="749808" y="3657600"/>
            <a:ext cx="1335024" cy="530352"/>
          </a:xfrm>
          <a:prstGeom prst="rect">
            <a:avLst/>
          </a:prstGeom>
          <a:solidFill>
            <a:srgbClr val="121A2D"/>
          </a:solidFill>
          <a:ln w="15240">
            <a:solidFill>
              <a:srgbClr val="34D399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传送 / 访存</a:t>
            </a:r>
            <a:endParaRPr sz="1050"/>
          </a:p>
        </p:txBody>
      </p:sp>
      <p:sp>
        <p:nvSpPr>
          <p:cNvPr id="60" name="Text 16">
            <a:extLst>
              <a:ext uri="{FF2B5EF4-FFF2-40B4-BE49-F238E27FC236}">
                <a16:creationId xmlns:a16="http://schemas.microsoft.com/office/drawing/2014/main" id="{17D589D7-D6D6-4712-D833-D963AD3817CC}"/>
              </a:ext>
            </a:extLst>
          </p:cNvPr>
          <p:cNvSpPr>
            <a:spLocks noGrp="1"/>
          </p:cNvSpPr>
          <p:nvPr/>
        </p:nvSpPr>
        <p:spPr>
          <a:xfrm>
            <a:off x="2377440" y="3657600"/>
            <a:ext cx="5193792" cy="530352"/>
          </a:xfrm>
          <a:prstGeom prst="rect">
            <a:avLst/>
          </a:prstGeom>
          <a:solidFill>
            <a:srgbClr val="121A2D"/>
          </a:solidFill>
          <a:ln w="12700">
            <a:solidFill>
              <a:srgbClr val="2C3D61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03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LUI · AUIPC · LW · SW · LB · LBU · SB</a:t>
            </a:r>
            <a:endParaRPr sz="1030"/>
          </a:p>
        </p:txBody>
      </p:sp>
      <p:sp>
        <p:nvSpPr>
          <p:cNvPr id="66" name="Text 17">
            <a:extLst>
              <a:ext uri="{FF2B5EF4-FFF2-40B4-BE49-F238E27FC236}">
                <a16:creationId xmlns:a16="http://schemas.microsoft.com/office/drawing/2014/main" id="{8B51DC2A-49B8-BB9D-8D12-9E9E6C545F80}"/>
              </a:ext>
            </a:extLst>
          </p:cNvPr>
          <p:cNvSpPr>
            <a:spLocks noGrp="1"/>
          </p:cNvSpPr>
          <p:nvPr/>
        </p:nvSpPr>
        <p:spPr>
          <a:xfrm>
            <a:off x="7863840" y="3657600"/>
            <a:ext cx="3566160" cy="530352"/>
          </a:xfrm>
          <a:prstGeom prst="rect">
            <a:avLst/>
          </a:prstGeom>
          <a:solidFill>
            <a:srgbClr val="121A2D"/>
          </a:solidFill>
          <a:ln w="12700">
            <a:solidFill>
              <a:srgbClr val="2C3D61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03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EX 计算地址，MEM 完成读写</a:t>
            </a:r>
            <a:endParaRPr sz="1030"/>
          </a:p>
        </p:txBody>
      </p:sp>
      <p:sp>
        <p:nvSpPr>
          <p:cNvPr id="68" name="Text 18">
            <a:extLst>
              <a:ext uri="{FF2B5EF4-FFF2-40B4-BE49-F238E27FC236}">
                <a16:creationId xmlns:a16="http://schemas.microsoft.com/office/drawing/2014/main" id="{45C75D9D-CB48-B44A-3EEA-9B3ABB6E43F9}"/>
              </a:ext>
            </a:extLst>
          </p:cNvPr>
          <p:cNvSpPr>
            <a:spLocks noGrp="1"/>
          </p:cNvSpPr>
          <p:nvPr/>
        </p:nvSpPr>
        <p:spPr>
          <a:xfrm>
            <a:off x="749808" y="4352544"/>
            <a:ext cx="1335024" cy="530352"/>
          </a:xfrm>
          <a:prstGeom prst="rect">
            <a:avLst/>
          </a:prstGeom>
          <a:solidFill>
            <a:srgbClr val="10172A"/>
          </a:solidFill>
          <a:ln w="15240">
            <a:solidFill>
              <a:srgbClr val="F59E0B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控制转移</a:t>
            </a:r>
            <a:endParaRPr sz="1050"/>
          </a:p>
        </p:txBody>
      </p:sp>
      <p:sp>
        <p:nvSpPr>
          <p:cNvPr id="70" name="Text 19">
            <a:extLst>
              <a:ext uri="{FF2B5EF4-FFF2-40B4-BE49-F238E27FC236}">
                <a16:creationId xmlns:a16="http://schemas.microsoft.com/office/drawing/2014/main" id="{56DBDF9A-62E9-3213-E15A-98812CEB71CA}"/>
              </a:ext>
            </a:extLst>
          </p:cNvPr>
          <p:cNvSpPr>
            <a:spLocks noGrp="1"/>
          </p:cNvSpPr>
          <p:nvPr/>
        </p:nvSpPr>
        <p:spPr>
          <a:xfrm>
            <a:off x="2377440" y="4352544"/>
            <a:ext cx="5193792" cy="530352"/>
          </a:xfrm>
          <a:prstGeom prst="rect">
            <a:avLst/>
          </a:prstGeom>
          <a:solidFill>
            <a:srgbClr val="10172A"/>
          </a:solidFill>
          <a:ln w="12700">
            <a:solidFill>
              <a:srgbClr val="2C3D61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03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BEQ · BNE · BLT · BGE · JAL · JALR</a:t>
            </a:r>
            <a:endParaRPr sz="1030"/>
          </a:p>
        </p:txBody>
      </p:sp>
      <p:sp>
        <p:nvSpPr>
          <p:cNvPr id="72" name="Text 20">
            <a:extLst>
              <a:ext uri="{FF2B5EF4-FFF2-40B4-BE49-F238E27FC236}">
                <a16:creationId xmlns:a16="http://schemas.microsoft.com/office/drawing/2014/main" id="{0360C494-B6C3-54A8-FBBB-4B87151C3E4A}"/>
              </a:ext>
            </a:extLst>
          </p:cNvPr>
          <p:cNvSpPr>
            <a:spLocks noGrp="1"/>
          </p:cNvSpPr>
          <p:nvPr/>
        </p:nvSpPr>
        <p:spPr>
          <a:xfrm>
            <a:off x="7863840" y="4352544"/>
            <a:ext cx="3566160" cy="530352"/>
          </a:xfrm>
          <a:prstGeom prst="rect">
            <a:avLst/>
          </a:prstGeom>
          <a:solidFill>
            <a:srgbClr val="10172A"/>
          </a:solidFill>
          <a:ln w="12700">
            <a:solidFill>
              <a:srgbClr val="2C3D61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03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EX 判定并重定向 PC</a:t>
            </a:r>
            <a:endParaRPr sz="1030"/>
          </a:p>
        </p:txBody>
      </p:sp>
    </p:spTree>
    <p:extLst>
      <p:ext uri="{BB962C8B-B14F-4D97-AF65-F5344CB8AC3E}">
        <p14:creationId xmlns:p14="http://schemas.microsoft.com/office/powerpoint/2010/main" val="21414696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矩形 42">
            <a:extLst>
              <a:ext uri="{FF2B5EF4-FFF2-40B4-BE49-F238E27FC236}">
                <a16:creationId xmlns:a16="http://schemas.microsoft.com/office/drawing/2014/main" id="{0F449E5B-D8BD-4E04-85C3-7E698F010F57}"/>
              </a:ext>
            </a:extLst>
          </p:cNvPr>
          <p:cNvSpPr>
            <a:spLocks noGrp="1"/>
          </p:cNvSpPr>
          <p:nvPr/>
        </p:nvSpPr>
        <p:spPr>
          <a:xfrm>
            <a:off x="400050" y="247650"/>
            <a:ext cx="409575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成果概览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BFEA2B2-D461-4457-B550-B326140775BE}"/>
              </a:ext>
            </a:extLst>
          </p:cNvPr>
          <p:cNvSpPr>
            <a:spLocks noGrp="1"/>
          </p:cNvSpPr>
          <p:nvPr/>
        </p:nvSpPr>
        <p:spPr>
          <a:xfrm>
            <a:off x="400050" y="590550"/>
            <a:ext cx="1085850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基础 CPU 与最终新增内容</a:t>
            </a:r>
          </a:p>
        </p:txBody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FDE61904-7CDC-4BE8-90AE-813AA0BFDE0D}"/>
              </a:ext>
            </a:extLst>
          </p:cNvPr>
          <p:cNvSpPr>
            <a:spLocks noGrp="1"/>
          </p:cNvSpPr>
          <p:nvPr/>
        </p:nvSpPr>
        <p:spPr>
          <a:xfrm>
            <a:off x="400050" y="1238250"/>
            <a:ext cx="10991850" cy="0"/>
          </a:xfrm>
          <a:prstGeom prst="line">
            <a:avLst/>
          </a:prstGeom>
          <a:noFill/>
          <a:ln w="9525">
            <a:solidFill>
              <a:srgbClr val="283A55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6F05113-E28D-471D-9A0E-7634A8E9EB7C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2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02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91C1BFA0-4726-4E86-81B7-25FEEC72CD5E}"/>
              </a:ext>
            </a:extLst>
          </p:cNvPr>
          <p:cNvSpPr>
            <a:spLocks noGrp="1"/>
          </p:cNvSpPr>
          <p:nvPr/>
        </p:nvSpPr>
        <p:spPr>
          <a:xfrm>
            <a:off x="400050" y="1714500"/>
            <a:ext cx="1809750" cy="876300"/>
          </a:xfrm>
          <a:prstGeom prst="roundRect">
            <a:avLst>
              <a:gd name="adj" fmla="val 8696"/>
            </a:avLst>
          </a:prstGeom>
          <a:solidFill>
            <a:srgbClr val="111C2F"/>
          </a:solidFill>
          <a:ln w="9525">
            <a:solidFill>
              <a:srgbClr val="25D4E8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63BB068-5E0D-4B3D-B181-34530176F4A7}"/>
              </a:ext>
            </a:extLst>
          </p:cNvPr>
          <p:cNvSpPr>
            <a:spLocks noGrp="1"/>
          </p:cNvSpPr>
          <p:nvPr/>
        </p:nvSpPr>
        <p:spPr>
          <a:xfrm>
            <a:off x="476250" y="1847850"/>
            <a:ext cx="16573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IF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76DBEB8-C26C-4D53-8FC5-A092CA5E7297}"/>
              </a:ext>
            </a:extLst>
          </p:cNvPr>
          <p:cNvSpPr>
            <a:spLocks noGrp="1"/>
          </p:cNvSpPr>
          <p:nvPr/>
        </p:nvSpPr>
        <p:spPr>
          <a:xfrm>
            <a:off x="495300" y="2171700"/>
            <a:ext cx="161925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预测取指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17522BA8-393A-4752-B6A1-4B301607D587}"/>
              </a:ext>
            </a:extLst>
          </p:cNvPr>
          <p:cNvSpPr>
            <a:spLocks noGrp="1"/>
          </p:cNvSpPr>
          <p:nvPr/>
        </p:nvSpPr>
        <p:spPr>
          <a:xfrm>
            <a:off x="2676525" y="1714500"/>
            <a:ext cx="1809750" cy="876300"/>
          </a:xfrm>
          <a:prstGeom prst="roundRect">
            <a:avLst>
              <a:gd name="adj" fmla="val 8696"/>
            </a:avLst>
          </a:prstGeom>
          <a:solidFill>
            <a:srgbClr val="111C2F"/>
          </a:solidFill>
          <a:ln w="9525">
            <a:solidFill>
              <a:srgbClr val="25D4E8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B48D691-F02B-4A3E-B4D1-7D296EA67FAF}"/>
              </a:ext>
            </a:extLst>
          </p:cNvPr>
          <p:cNvSpPr>
            <a:spLocks noGrp="1"/>
          </p:cNvSpPr>
          <p:nvPr/>
        </p:nvSpPr>
        <p:spPr>
          <a:xfrm>
            <a:off x="2752725" y="1847850"/>
            <a:ext cx="16573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ID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FC008BC-7EC2-48D5-8DBE-6581E8FDCA7A}"/>
              </a:ext>
            </a:extLst>
          </p:cNvPr>
          <p:cNvSpPr>
            <a:spLocks noGrp="1"/>
          </p:cNvSpPr>
          <p:nvPr/>
        </p:nvSpPr>
        <p:spPr>
          <a:xfrm>
            <a:off x="2771775" y="2171700"/>
            <a:ext cx="161925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微码译码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D7A0CBE7-38D6-4BB0-8020-F1D0840C5440}"/>
              </a:ext>
            </a:extLst>
          </p:cNvPr>
          <p:cNvSpPr>
            <a:spLocks noGrp="1"/>
          </p:cNvSpPr>
          <p:nvPr/>
        </p:nvSpPr>
        <p:spPr>
          <a:xfrm>
            <a:off x="4953000" y="1714500"/>
            <a:ext cx="1809750" cy="876300"/>
          </a:xfrm>
          <a:prstGeom prst="roundRect">
            <a:avLst>
              <a:gd name="adj" fmla="val 8696"/>
            </a:avLst>
          </a:prstGeom>
          <a:solidFill>
            <a:srgbClr val="111C2F"/>
          </a:solidFill>
          <a:ln w="9525">
            <a:solidFill>
              <a:srgbClr val="37D99A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E588E81-A3EA-44FD-BF13-CEFF664A8B4E}"/>
              </a:ext>
            </a:extLst>
          </p:cNvPr>
          <p:cNvSpPr>
            <a:spLocks noGrp="1"/>
          </p:cNvSpPr>
          <p:nvPr/>
        </p:nvSpPr>
        <p:spPr>
          <a:xfrm>
            <a:off x="5029200" y="1847850"/>
            <a:ext cx="16573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rPr>
              <a:t>EX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2EF4E55-E295-4EA1-A0E7-247797D88C11}"/>
              </a:ext>
            </a:extLst>
          </p:cNvPr>
          <p:cNvSpPr>
            <a:spLocks noGrp="1"/>
          </p:cNvSpPr>
          <p:nvPr/>
        </p:nvSpPr>
        <p:spPr>
          <a:xfrm>
            <a:off x="5048250" y="2171700"/>
            <a:ext cx="161925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执行与异常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C3FA0698-A710-4301-BBA5-4AD9369B7EE6}"/>
              </a:ext>
            </a:extLst>
          </p:cNvPr>
          <p:cNvSpPr>
            <a:spLocks noGrp="1"/>
          </p:cNvSpPr>
          <p:nvPr/>
        </p:nvSpPr>
        <p:spPr>
          <a:xfrm>
            <a:off x="7229475" y="1714500"/>
            <a:ext cx="1809750" cy="876300"/>
          </a:xfrm>
          <a:prstGeom prst="roundRect">
            <a:avLst>
              <a:gd name="adj" fmla="val 8696"/>
            </a:avLst>
          </a:prstGeom>
          <a:solidFill>
            <a:srgbClr val="111C2F"/>
          </a:solidFill>
          <a:ln w="9525">
            <a:solidFill>
              <a:srgbClr val="25D4E8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5433564-2CE2-4367-9B90-ABDB159286EF}"/>
              </a:ext>
            </a:extLst>
          </p:cNvPr>
          <p:cNvSpPr>
            <a:spLocks noGrp="1"/>
          </p:cNvSpPr>
          <p:nvPr/>
        </p:nvSpPr>
        <p:spPr>
          <a:xfrm>
            <a:off x="7305675" y="1847850"/>
            <a:ext cx="16573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MEM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752E64E-7DAF-49B3-8643-D72973A15DDF}"/>
              </a:ext>
            </a:extLst>
          </p:cNvPr>
          <p:cNvSpPr>
            <a:spLocks noGrp="1"/>
          </p:cNvSpPr>
          <p:nvPr/>
        </p:nvSpPr>
        <p:spPr>
          <a:xfrm>
            <a:off x="7324725" y="2171700"/>
            <a:ext cx="161925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Cache 与 MMIO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CE9273A2-23E6-40CB-A086-4A845DEA0DBE}"/>
              </a:ext>
            </a:extLst>
          </p:cNvPr>
          <p:cNvSpPr>
            <a:spLocks noGrp="1"/>
          </p:cNvSpPr>
          <p:nvPr/>
        </p:nvSpPr>
        <p:spPr>
          <a:xfrm>
            <a:off x="9505950" y="1714500"/>
            <a:ext cx="1809750" cy="876300"/>
          </a:xfrm>
          <a:prstGeom prst="roundRect">
            <a:avLst>
              <a:gd name="adj" fmla="val 8696"/>
            </a:avLst>
          </a:prstGeom>
          <a:solidFill>
            <a:srgbClr val="111C2F"/>
          </a:solidFill>
          <a:ln w="9525">
            <a:solidFill>
              <a:srgbClr val="25D4E8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A49970BB-CC90-4F71-97DE-A4A5439704C4}"/>
              </a:ext>
            </a:extLst>
          </p:cNvPr>
          <p:cNvSpPr>
            <a:spLocks noGrp="1"/>
          </p:cNvSpPr>
          <p:nvPr/>
        </p:nvSpPr>
        <p:spPr>
          <a:xfrm>
            <a:off x="9582150" y="1847850"/>
            <a:ext cx="16573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WB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37806BF1-AC53-4DD6-994F-6C50E4244ED9}"/>
              </a:ext>
            </a:extLst>
          </p:cNvPr>
          <p:cNvSpPr>
            <a:spLocks noGrp="1"/>
          </p:cNvSpPr>
          <p:nvPr/>
        </p:nvSpPr>
        <p:spPr>
          <a:xfrm>
            <a:off x="9601200" y="2171700"/>
            <a:ext cx="161925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写回与退休</a:t>
            </a:r>
          </a:p>
        </p:txBody>
      </p:sp>
      <p:cxnSp>
        <p:nvCxnSpPr>
          <p:cNvPr id="62" name="直接箭头连接符 61"/>
          <p:cNvCxnSpPr>
            <a:stCxn id="5" idx="3"/>
            <a:endCxn id="8" idx="1"/>
          </p:cNvCxnSpPr>
          <p:nvPr/>
        </p:nvCxnSpPr>
        <p:spPr>
          <a:xfrm>
            <a:off x="2209800" y="2152650"/>
            <a:ext cx="466725" cy="0"/>
          </a:xfrm>
          <a:prstGeom prst="straightConnector1">
            <a:avLst/>
          </a:prstGeom>
          <a:ln w="19050">
            <a:solidFill>
              <a:srgbClr val="25D4E8"/>
            </a:solidFill>
            <a:prstDash val="solid"/>
            <a:tailEnd type="triangle" w="sm" len="sm"/>
          </a:ln>
        </p:spPr>
      </p:cxnSp>
      <p:cxnSp>
        <p:nvCxnSpPr>
          <p:cNvPr id="63" name="直接箭头连接符 62"/>
          <p:cNvCxnSpPr>
            <a:stCxn id="8" idx="3"/>
            <a:endCxn id="11" idx="1"/>
          </p:cNvCxnSpPr>
          <p:nvPr/>
        </p:nvCxnSpPr>
        <p:spPr>
          <a:xfrm>
            <a:off x="4486275" y="2152650"/>
            <a:ext cx="466725" cy="0"/>
          </a:xfrm>
          <a:prstGeom prst="straightConnector1">
            <a:avLst/>
          </a:prstGeom>
          <a:ln w="19050">
            <a:solidFill>
              <a:srgbClr val="25D4E8"/>
            </a:solidFill>
            <a:prstDash val="solid"/>
            <a:tailEnd type="triangle" w="sm" len="sm"/>
          </a:ln>
        </p:spPr>
      </p:cxnSp>
      <p:cxnSp>
        <p:nvCxnSpPr>
          <p:cNvPr id="64" name="直接箭头连接符 63"/>
          <p:cNvCxnSpPr>
            <a:stCxn id="11" idx="3"/>
            <a:endCxn id="14" idx="1"/>
          </p:cNvCxnSpPr>
          <p:nvPr/>
        </p:nvCxnSpPr>
        <p:spPr>
          <a:xfrm>
            <a:off x="6762750" y="2152650"/>
            <a:ext cx="466725" cy="0"/>
          </a:xfrm>
          <a:prstGeom prst="straightConnector1">
            <a:avLst/>
          </a:prstGeom>
          <a:ln w="19050">
            <a:solidFill>
              <a:srgbClr val="25D4E8"/>
            </a:solidFill>
            <a:prstDash val="solid"/>
            <a:tailEnd type="triangle" w="sm" len="sm"/>
          </a:ln>
        </p:spPr>
      </p:cxnSp>
      <p:cxnSp>
        <p:nvCxnSpPr>
          <p:cNvPr id="65" name="直接箭头连接符 64"/>
          <p:cNvCxnSpPr>
            <a:stCxn id="14" idx="3"/>
            <a:endCxn id="17" idx="1"/>
          </p:cNvCxnSpPr>
          <p:nvPr/>
        </p:nvCxnSpPr>
        <p:spPr>
          <a:xfrm>
            <a:off x="9039225" y="2152650"/>
            <a:ext cx="466725" cy="0"/>
          </a:xfrm>
          <a:prstGeom prst="straightConnector1">
            <a:avLst/>
          </a:prstGeom>
          <a:ln w="19050">
            <a:solidFill>
              <a:srgbClr val="25D4E8"/>
            </a:solidFill>
            <a:prstDash val="solid"/>
            <a:tailEnd type="triangle" w="sm" len="sm"/>
          </a:ln>
        </p:spPr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E0F6393A-A9B2-4218-B482-7AA0B725CC38}"/>
              </a:ext>
            </a:extLst>
          </p:cNvPr>
          <p:cNvSpPr>
            <a:spLocks noGrp="1"/>
          </p:cNvSpPr>
          <p:nvPr/>
        </p:nvSpPr>
        <p:spPr>
          <a:xfrm>
            <a:off x="400050" y="3524250"/>
            <a:ext cx="2571750" cy="1543050"/>
          </a:xfrm>
          <a:prstGeom prst="roundRect">
            <a:avLst>
              <a:gd name="adj" fmla="val 5556"/>
            </a:avLst>
          </a:prstGeom>
          <a:solidFill>
            <a:srgbClr val="111C2F"/>
          </a:solidFill>
          <a:ln w="9525">
            <a:solidFill>
              <a:srgbClr val="283A55"/>
            </a:solidFill>
            <a:prstDash val="solid"/>
          </a:ln>
        </p:spPr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8AB10FF6-E4AB-4056-92AE-E42078288FDA}"/>
              </a:ext>
            </a:extLst>
          </p:cNvPr>
          <p:cNvSpPr>
            <a:spLocks noGrp="1"/>
          </p:cNvSpPr>
          <p:nvPr/>
        </p:nvSpPr>
        <p:spPr>
          <a:xfrm>
            <a:off x="400050" y="3524250"/>
            <a:ext cx="47625" cy="1543050"/>
          </a:xfrm>
          <a:prstGeom prst="roundRect">
            <a:avLst>
              <a:gd name="adj" fmla="val 50000"/>
            </a:avLst>
          </a:prstGeom>
          <a:solidFill>
            <a:srgbClr val="37D99A"/>
          </a:solidFill>
          <a:ln w="0">
            <a:noFill/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5331D4C2-62C5-4277-97CF-62D208110E26}"/>
              </a:ext>
            </a:extLst>
          </p:cNvPr>
          <p:cNvSpPr>
            <a:spLocks noGrp="1"/>
          </p:cNvSpPr>
          <p:nvPr/>
        </p:nvSpPr>
        <p:spPr>
          <a:xfrm>
            <a:off x="609600" y="3686175"/>
            <a:ext cx="21907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rPr>
              <a:t>游戏运行主线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FB1FC099-CD64-4188-8313-3E0F3AD4C607}"/>
              </a:ext>
            </a:extLst>
          </p:cNvPr>
          <p:cNvSpPr>
            <a:spLocks noGrp="1"/>
          </p:cNvSpPr>
          <p:nvPr/>
        </p:nvSpPr>
        <p:spPr>
          <a:xfrm>
            <a:off x="609600" y="4029075"/>
            <a:ext cx="2190750" cy="8953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取指、分支、访存、MMIO 刷新</a:t>
            </a: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F8518CD0-4390-42A0-9F51-E161CD4066DB}"/>
              </a:ext>
            </a:extLst>
          </p:cNvPr>
          <p:cNvSpPr>
            <a:spLocks noGrp="1"/>
          </p:cNvSpPr>
          <p:nvPr/>
        </p:nvSpPr>
        <p:spPr>
          <a:xfrm>
            <a:off x="3238500" y="3524250"/>
            <a:ext cx="2571750" cy="1543050"/>
          </a:xfrm>
          <a:prstGeom prst="roundRect">
            <a:avLst>
              <a:gd name="adj" fmla="val 5556"/>
            </a:avLst>
          </a:prstGeom>
          <a:solidFill>
            <a:srgbClr val="111C2F"/>
          </a:solidFill>
          <a:ln w="9525">
            <a:solidFill>
              <a:srgbClr val="283A55"/>
            </a:solidFill>
            <a:prstDash val="solid"/>
          </a:ln>
        </p:spPr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E710DC0A-B390-43AA-BB2B-A26942ABE2C7}"/>
              </a:ext>
            </a:extLst>
          </p:cNvPr>
          <p:cNvSpPr>
            <a:spLocks noGrp="1"/>
          </p:cNvSpPr>
          <p:nvPr/>
        </p:nvSpPr>
        <p:spPr>
          <a:xfrm>
            <a:off x="3238500" y="3524250"/>
            <a:ext cx="47625" cy="1543050"/>
          </a:xfrm>
          <a:prstGeom prst="roundRect">
            <a:avLst>
              <a:gd name="adj" fmla="val 50000"/>
            </a:avLst>
          </a:prstGeom>
          <a:solidFill>
            <a:srgbClr val="F26B7A"/>
          </a:solidFill>
          <a:ln w="0">
            <a:noFill/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976C9996-4E12-47EB-94A6-C2F47F86D314}"/>
              </a:ext>
            </a:extLst>
          </p:cNvPr>
          <p:cNvSpPr>
            <a:spLocks noGrp="1"/>
          </p:cNvSpPr>
          <p:nvPr/>
        </p:nvSpPr>
        <p:spPr>
          <a:xfrm>
            <a:off x="3448050" y="3686175"/>
            <a:ext cx="21907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F26B7A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F26B7A"/>
                </a:solidFill>
                <a:latin typeface="Noto Sans SC"/>
                <a:ea typeface="Noto Sans SC"/>
                <a:cs typeface="Noto Sans SC"/>
              </a:rPr>
              <a:t>异常与中断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BE5F3AFA-E9BD-4A0D-AF27-F91D4002C6B0}"/>
              </a:ext>
            </a:extLst>
          </p:cNvPr>
          <p:cNvSpPr>
            <a:spLocks noGrp="1"/>
          </p:cNvSpPr>
          <p:nvPr/>
        </p:nvSpPr>
        <p:spPr>
          <a:xfrm>
            <a:off x="3448050" y="4029075"/>
            <a:ext cx="2190750" cy="8953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精确状态、pending、MRET</a:t>
            </a:r>
          </a:p>
        </p:txBody>
      </p: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70D81978-5A29-41B4-B9ED-BADAF9D1FEC7}"/>
              </a:ext>
            </a:extLst>
          </p:cNvPr>
          <p:cNvSpPr>
            <a:spLocks noGrp="1"/>
          </p:cNvSpPr>
          <p:nvPr/>
        </p:nvSpPr>
        <p:spPr>
          <a:xfrm>
            <a:off x="6076950" y="3524250"/>
            <a:ext cx="2571750" cy="1543050"/>
          </a:xfrm>
          <a:prstGeom prst="roundRect">
            <a:avLst>
              <a:gd name="adj" fmla="val 5556"/>
            </a:avLst>
          </a:prstGeom>
          <a:solidFill>
            <a:srgbClr val="111C2F"/>
          </a:solidFill>
          <a:ln w="9525">
            <a:solidFill>
              <a:srgbClr val="283A55"/>
            </a:solidFill>
            <a:prstDash val="solid"/>
          </a:ln>
        </p:spPr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9CDAC3C7-5857-40E3-A116-A78AAF93FDE3}"/>
              </a:ext>
            </a:extLst>
          </p:cNvPr>
          <p:cNvSpPr>
            <a:spLocks noGrp="1"/>
          </p:cNvSpPr>
          <p:nvPr/>
        </p:nvSpPr>
        <p:spPr>
          <a:xfrm>
            <a:off x="6076950" y="3524250"/>
            <a:ext cx="47625" cy="1543050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 w="0">
            <a:noFill/>
            <a:prstDash val="solid"/>
          </a:ln>
        </p:spPr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040BB4B7-F2C5-4654-BB41-535D2249DE16}"/>
              </a:ext>
            </a:extLst>
          </p:cNvPr>
          <p:cNvSpPr>
            <a:spLocks noGrp="1"/>
          </p:cNvSpPr>
          <p:nvPr/>
        </p:nvSpPr>
        <p:spPr>
          <a:xfrm>
            <a:off x="6286500" y="3686175"/>
            <a:ext cx="21907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A78BFA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A78BFA"/>
                </a:solidFill>
                <a:latin typeface="Noto Sans SC"/>
                <a:ea typeface="Noto Sans SC"/>
                <a:cs typeface="Noto Sans SC"/>
              </a:rPr>
              <a:t>Cache 与预测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6F6453BF-CE0F-41E3-B5CF-A0BD2C215369}"/>
              </a:ext>
            </a:extLst>
          </p:cNvPr>
          <p:cNvSpPr>
            <a:spLocks noGrp="1"/>
          </p:cNvSpPr>
          <p:nvPr/>
        </p:nvSpPr>
        <p:spPr>
          <a:xfrm>
            <a:off x="6286500" y="4029075"/>
            <a:ext cx="2190750" cy="8953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I/D Cache、BTB、BHT</a:t>
            </a: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A4402BDE-50AE-4AE5-A71E-80F046F51895}"/>
              </a:ext>
            </a:extLst>
          </p:cNvPr>
          <p:cNvSpPr>
            <a:spLocks noGrp="1"/>
          </p:cNvSpPr>
          <p:nvPr/>
        </p:nvSpPr>
        <p:spPr>
          <a:xfrm>
            <a:off x="8915400" y="3524250"/>
            <a:ext cx="2571750" cy="1543050"/>
          </a:xfrm>
          <a:prstGeom prst="roundRect">
            <a:avLst>
              <a:gd name="adj" fmla="val 5556"/>
            </a:avLst>
          </a:prstGeom>
          <a:solidFill>
            <a:srgbClr val="111C2F"/>
          </a:solidFill>
          <a:ln w="9525">
            <a:solidFill>
              <a:srgbClr val="283A55"/>
            </a:solidFill>
            <a:prstDash val="solid"/>
          </a:ln>
        </p:spPr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C6E7B406-4FED-4E58-ABB7-755D02B65204}"/>
              </a:ext>
            </a:extLst>
          </p:cNvPr>
          <p:cNvSpPr>
            <a:spLocks noGrp="1"/>
          </p:cNvSpPr>
          <p:nvPr/>
        </p:nvSpPr>
        <p:spPr>
          <a:xfrm>
            <a:off x="8915400" y="3524250"/>
            <a:ext cx="47625" cy="1543050"/>
          </a:xfrm>
          <a:prstGeom prst="roundRect">
            <a:avLst>
              <a:gd name="adj" fmla="val 50000"/>
            </a:avLst>
          </a:prstGeom>
          <a:solidFill>
            <a:srgbClr val="F5B942"/>
          </a:solidFill>
          <a:ln w="0">
            <a:noFill/>
            <a:prstDash val="solid"/>
          </a:ln>
        </p:spPr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C579D465-4DA5-4FD3-9667-6748746C0EE6}"/>
              </a:ext>
            </a:extLst>
          </p:cNvPr>
          <p:cNvSpPr>
            <a:spLocks noGrp="1"/>
          </p:cNvSpPr>
          <p:nvPr/>
        </p:nvSpPr>
        <p:spPr>
          <a:xfrm>
            <a:off x="9124950" y="3686175"/>
            <a:ext cx="21907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rPr>
              <a:t>性能与下板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612A758E-28E0-4737-B6EC-84C568F6BA00}"/>
              </a:ext>
            </a:extLst>
          </p:cNvPr>
          <p:cNvSpPr>
            <a:spLocks noGrp="1"/>
          </p:cNvSpPr>
          <p:nvPr/>
        </p:nvSpPr>
        <p:spPr>
          <a:xfrm>
            <a:off x="9124950" y="4029075"/>
            <a:ext cx="2190750" cy="8953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时序、BRAM、按键、LCD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727D7ABE-97FB-4113-A87B-55A8483E0B6B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723900" cy="304800"/>
          </a:xfrm>
          <a:prstGeom prst="rect">
            <a:avLst/>
          </a:prstGeom>
          <a:solidFill>
            <a:srgbClr val="0B1220"/>
          </a:solidFill>
          <a:ln w="0">
            <a:noFill/>
            <a:prstDash val="solid"/>
          </a:ln>
        </p:spPr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42E89827-ACB9-4116-BDD3-7762C8A1CA57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2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121103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94DDB7E5-8572-499E-BA76-5F0625EA9F0D}"/>
              </a:ext>
            </a:extLst>
          </p:cNvPr>
          <p:cNvSpPr>
            <a:spLocks noGrp="1"/>
          </p:cNvSpPr>
          <p:nvPr/>
        </p:nvSpPr>
        <p:spPr>
          <a:xfrm>
            <a:off x="400050" y="247650"/>
            <a:ext cx="409575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流水控制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E9B2277-1D51-417E-BE28-85A4F4E801D4}"/>
              </a:ext>
            </a:extLst>
          </p:cNvPr>
          <p:cNvSpPr>
            <a:spLocks noGrp="1"/>
          </p:cNvSpPr>
          <p:nvPr/>
        </p:nvSpPr>
        <p:spPr>
          <a:xfrm>
            <a:off x="400050" y="590550"/>
            <a:ext cx="1085850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全局仲裁优先级</a:t>
            </a:r>
          </a:p>
        </p:txBody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B9CBAD44-34A6-409C-ADF9-0F07C5382A03}"/>
              </a:ext>
            </a:extLst>
          </p:cNvPr>
          <p:cNvSpPr>
            <a:spLocks noGrp="1"/>
          </p:cNvSpPr>
          <p:nvPr/>
        </p:nvSpPr>
        <p:spPr>
          <a:xfrm>
            <a:off x="400050" y="1238250"/>
            <a:ext cx="10991850" cy="0"/>
          </a:xfrm>
          <a:prstGeom prst="line">
            <a:avLst/>
          </a:prstGeom>
          <a:noFill/>
          <a:ln w="9525">
            <a:solidFill>
              <a:srgbClr val="283A55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573E3AB-4401-4161-ADA8-5C56929E559A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2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03</a:t>
            </a:r>
          </a:p>
        </p:txBody>
      </p:sp>
      <p:pic>
        <p:nvPicPr>
          <p:cNvPr id="13" name="图片 1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52450" y="1817846"/>
            <a:ext cx="11087100" cy="3603307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0F3DB43D-A5AE-4AEA-B155-FA35593A32BA}"/>
              </a:ext>
            </a:extLst>
          </p:cNvPr>
          <p:cNvSpPr>
            <a:spLocks noGrp="1"/>
          </p:cNvSpPr>
          <p:nvPr/>
        </p:nvSpPr>
        <p:spPr>
          <a:xfrm>
            <a:off x="400050" y="5905500"/>
            <a:ext cx="11391900" cy="285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75" b="1">
                <a:solidFill>
                  <a:srgbClr val="F5B942"/>
                </a:solidFill>
                <a:latin typeface="Noto Sans SC"/>
                <a:ea typeface="Noto Sans SC"/>
                <a:cs typeface="Noto Sans SC"/>
              </a:defRPr>
            </a:pPr>
            <a:r>
              <a:rPr sz="1275" b="1">
                <a:solidFill>
                  <a:srgbClr val="F5B942"/>
                </a:solidFill>
                <a:latin typeface="Noto Sans SC"/>
                <a:ea typeface="Noto Sans SC"/>
                <a:cs typeface="Noto Sans SC"/>
              </a:rPr>
              <a:t>旧访存完成约束保证精确状态，同一周期只执行最高优先级动作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BE285A5-AFF1-45AF-96CA-6AF2E4D88252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723900" cy="304800"/>
          </a:xfrm>
          <a:prstGeom prst="rect">
            <a:avLst/>
          </a:prstGeom>
          <a:solidFill>
            <a:srgbClr val="0B1220"/>
          </a:solidFill>
          <a:ln w="0">
            <a:noFill/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D7118D8-D2FA-4679-801D-E740FC1EAAFC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2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792161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矩形 29">
            <a:extLst>
              <a:ext uri="{FF2B5EF4-FFF2-40B4-BE49-F238E27FC236}">
                <a16:creationId xmlns:a16="http://schemas.microsoft.com/office/drawing/2014/main" id="{7A3449D4-DB1B-4EE4-8EBD-DE2D6C6C7B34}"/>
              </a:ext>
            </a:extLst>
          </p:cNvPr>
          <p:cNvSpPr>
            <a:spLocks noGrp="1"/>
          </p:cNvSpPr>
          <p:nvPr/>
        </p:nvSpPr>
        <p:spPr>
          <a:xfrm>
            <a:off x="400050" y="247650"/>
            <a:ext cx="409575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附加功能 1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BF33316-E7D5-4CD0-8435-17736F1EC286}"/>
              </a:ext>
            </a:extLst>
          </p:cNvPr>
          <p:cNvSpPr>
            <a:spLocks noGrp="1"/>
          </p:cNvSpPr>
          <p:nvPr/>
        </p:nvSpPr>
        <p:spPr>
          <a:xfrm>
            <a:off x="400050" y="590550"/>
            <a:ext cx="1085850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有符号溢出与精确异常</a:t>
            </a:r>
          </a:p>
        </p:txBody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9B309470-CDDB-40CE-8AC6-08952FA46DD3}"/>
              </a:ext>
            </a:extLst>
          </p:cNvPr>
          <p:cNvSpPr>
            <a:spLocks noGrp="1"/>
          </p:cNvSpPr>
          <p:nvPr/>
        </p:nvSpPr>
        <p:spPr>
          <a:xfrm>
            <a:off x="400050" y="1238250"/>
            <a:ext cx="10991850" cy="0"/>
          </a:xfrm>
          <a:prstGeom prst="line">
            <a:avLst/>
          </a:prstGeom>
          <a:noFill/>
          <a:ln w="9525">
            <a:solidFill>
              <a:srgbClr val="283A55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C1EC95B-0DF1-4C05-8829-0DDA3CE2A1E2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2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04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ADE03196-0B6B-434D-BA70-55976DD36623}"/>
              </a:ext>
            </a:extLst>
          </p:cNvPr>
          <p:cNvSpPr>
            <a:spLocks noGrp="1"/>
          </p:cNvSpPr>
          <p:nvPr/>
        </p:nvSpPr>
        <p:spPr>
          <a:xfrm>
            <a:off x="666750" y="1943100"/>
            <a:ext cx="2095500" cy="1000125"/>
          </a:xfrm>
          <a:prstGeom prst="roundRect">
            <a:avLst>
              <a:gd name="adj" fmla="val 7619"/>
            </a:avLst>
          </a:prstGeom>
          <a:solidFill>
            <a:srgbClr val="111C2F"/>
          </a:solidFill>
          <a:ln w="9525">
            <a:solidFill>
              <a:srgbClr val="F26B7A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33CBF4F-212D-44DE-B7B0-18F58865732C}"/>
              </a:ext>
            </a:extLst>
          </p:cNvPr>
          <p:cNvSpPr>
            <a:spLocks noGrp="1"/>
          </p:cNvSpPr>
          <p:nvPr/>
        </p:nvSpPr>
        <p:spPr>
          <a:xfrm>
            <a:off x="742950" y="2076450"/>
            <a:ext cx="194310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F26B7A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F26B7A"/>
                </a:solidFill>
                <a:latin typeface="Noto Sans SC"/>
                <a:ea typeface="Noto Sans SC"/>
                <a:cs typeface="Noto Sans SC"/>
              </a:rPr>
              <a:t>EX 检测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D62D0CD-FA35-4E0C-A7D8-5E983A055669}"/>
              </a:ext>
            </a:extLst>
          </p:cNvPr>
          <p:cNvSpPr>
            <a:spLocks noGrp="1"/>
          </p:cNvSpPr>
          <p:nvPr/>
        </p:nvSpPr>
        <p:spPr>
          <a:xfrm>
            <a:off x="762000" y="2400300"/>
            <a:ext cx="1905000" cy="4667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ADD / SUB / ADDI</a:t>
            </a:r>
          </a:p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边界与错误路径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F0ACC97D-21D0-4FBF-BB2C-5478703B0200}"/>
              </a:ext>
            </a:extLst>
          </p:cNvPr>
          <p:cNvSpPr>
            <a:spLocks noGrp="1"/>
          </p:cNvSpPr>
          <p:nvPr/>
        </p:nvSpPr>
        <p:spPr>
          <a:xfrm>
            <a:off x="3619500" y="1943100"/>
            <a:ext cx="2095500" cy="1000125"/>
          </a:xfrm>
          <a:prstGeom prst="roundRect">
            <a:avLst>
              <a:gd name="adj" fmla="val 7619"/>
            </a:avLst>
          </a:prstGeom>
          <a:solidFill>
            <a:srgbClr val="111C2F"/>
          </a:solidFill>
          <a:ln w="9525">
            <a:solidFill>
              <a:srgbClr val="F5B942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F32229C-CFF1-4B70-9B73-8F667B6ADB85}"/>
              </a:ext>
            </a:extLst>
          </p:cNvPr>
          <p:cNvSpPr>
            <a:spLocks noGrp="1"/>
          </p:cNvSpPr>
          <p:nvPr/>
        </p:nvSpPr>
        <p:spPr>
          <a:xfrm>
            <a:off x="3695700" y="2076450"/>
            <a:ext cx="194310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rPr>
              <a:t>阻止提交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C1EAD45-2A7E-4A3C-96A1-94F709C480CA}"/>
              </a:ext>
            </a:extLst>
          </p:cNvPr>
          <p:cNvSpPr>
            <a:spLocks noGrp="1"/>
          </p:cNvSpPr>
          <p:nvPr/>
        </p:nvSpPr>
        <p:spPr>
          <a:xfrm>
            <a:off x="3714750" y="2400300"/>
            <a:ext cx="1905000" cy="4667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故障指令不进入 EX/MEM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9AEE25A3-E93B-4866-8190-99E9765F86CB}"/>
              </a:ext>
            </a:extLst>
          </p:cNvPr>
          <p:cNvSpPr>
            <a:spLocks noGrp="1"/>
          </p:cNvSpPr>
          <p:nvPr/>
        </p:nvSpPr>
        <p:spPr>
          <a:xfrm>
            <a:off x="6572250" y="1943100"/>
            <a:ext cx="2095500" cy="1000125"/>
          </a:xfrm>
          <a:prstGeom prst="roundRect">
            <a:avLst>
              <a:gd name="adj" fmla="val 7619"/>
            </a:avLst>
          </a:prstGeom>
          <a:solidFill>
            <a:srgbClr val="111C2F"/>
          </a:solidFill>
          <a:ln w="9525">
            <a:solidFill>
              <a:srgbClr val="4F83FF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8A3BFA2-661C-4AA6-BDAF-3DF6551E7D0D}"/>
              </a:ext>
            </a:extLst>
          </p:cNvPr>
          <p:cNvSpPr>
            <a:spLocks noGrp="1"/>
          </p:cNvSpPr>
          <p:nvPr/>
        </p:nvSpPr>
        <p:spPr>
          <a:xfrm>
            <a:off x="6648450" y="2076450"/>
            <a:ext cx="194310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4F83FF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4F83FF"/>
                </a:solidFill>
                <a:latin typeface="Noto Sans SC"/>
                <a:ea typeface="Noto Sans SC"/>
                <a:cs typeface="Noto Sans SC"/>
              </a:rPr>
              <a:t>保存状态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FC36943-AFB1-4347-BD5E-49EE2B4283AD}"/>
              </a:ext>
            </a:extLst>
          </p:cNvPr>
          <p:cNvSpPr>
            <a:spLocks noGrp="1"/>
          </p:cNvSpPr>
          <p:nvPr/>
        </p:nvSpPr>
        <p:spPr>
          <a:xfrm>
            <a:off x="6667500" y="2400300"/>
            <a:ext cx="1905000" cy="4667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mepc = PC + 4</a:t>
            </a:r>
          </a:p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mcause = 16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CA775749-7CD3-4E6C-9A2B-46AF671A5977}"/>
              </a:ext>
            </a:extLst>
          </p:cNvPr>
          <p:cNvSpPr>
            <a:spLocks noGrp="1"/>
          </p:cNvSpPr>
          <p:nvPr/>
        </p:nvSpPr>
        <p:spPr>
          <a:xfrm>
            <a:off x="9525000" y="1943100"/>
            <a:ext cx="2095500" cy="1000125"/>
          </a:xfrm>
          <a:prstGeom prst="roundRect">
            <a:avLst>
              <a:gd name="adj" fmla="val 7619"/>
            </a:avLst>
          </a:prstGeom>
          <a:solidFill>
            <a:srgbClr val="111C2F"/>
          </a:solidFill>
          <a:ln w="9525">
            <a:solidFill>
              <a:srgbClr val="37D99A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4DB70A9-F253-4748-9754-2BB6BA59919D}"/>
              </a:ext>
            </a:extLst>
          </p:cNvPr>
          <p:cNvSpPr>
            <a:spLocks noGrp="1"/>
          </p:cNvSpPr>
          <p:nvPr/>
        </p:nvSpPr>
        <p:spPr>
          <a:xfrm>
            <a:off x="9601200" y="2076450"/>
            <a:ext cx="194310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rPr>
              <a:t>异常处理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5AFADF8-789D-4632-9DF1-E64FE79F07F8}"/>
              </a:ext>
            </a:extLst>
          </p:cNvPr>
          <p:cNvSpPr>
            <a:spLocks noGrp="1"/>
          </p:cNvSpPr>
          <p:nvPr/>
        </p:nvSpPr>
        <p:spPr>
          <a:xfrm>
            <a:off x="9620250" y="2400300"/>
            <a:ext cx="1905000" cy="4667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PC = mtvec</a:t>
            </a:r>
          </a:p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MRET 返回</a:t>
            </a:r>
          </a:p>
        </p:txBody>
      </p:sp>
      <p:cxnSp>
        <p:nvCxnSpPr>
          <p:cNvPr id="46" name="直接箭头连接符 45"/>
          <p:cNvCxnSpPr>
            <a:stCxn id="5" idx="3"/>
            <a:endCxn id="8" idx="1"/>
          </p:cNvCxnSpPr>
          <p:nvPr/>
        </p:nvCxnSpPr>
        <p:spPr>
          <a:xfrm>
            <a:off x="2762250" y="2443163"/>
            <a:ext cx="857250" cy="0"/>
          </a:xfrm>
          <a:prstGeom prst="straightConnector1">
            <a:avLst/>
          </a:prstGeom>
          <a:ln w="19050">
            <a:solidFill>
              <a:srgbClr val="F26B7A"/>
            </a:solidFill>
            <a:prstDash val="solid"/>
            <a:tailEnd type="triangle" w="sm" len="sm"/>
          </a:ln>
        </p:spPr>
      </p:cxnSp>
      <p:cxnSp>
        <p:nvCxnSpPr>
          <p:cNvPr id="47" name="直接箭头连接符 46"/>
          <p:cNvCxnSpPr>
            <a:stCxn id="8" idx="3"/>
            <a:endCxn id="11" idx="1"/>
          </p:cNvCxnSpPr>
          <p:nvPr/>
        </p:nvCxnSpPr>
        <p:spPr>
          <a:xfrm>
            <a:off x="5715000" y="2443163"/>
            <a:ext cx="857250" cy="0"/>
          </a:xfrm>
          <a:prstGeom prst="straightConnector1">
            <a:avLst/>
          </a:prstGeom>
          <a:ln w="19050">
            <a:solidFill>
              <a:srgbClr val="F5B942"/>
            </a:solidFill>
            <a:prstDash val="solid"/>
            <a:tailEnd type="triangle" w="sm" len="sm"/>
          </a:ln>
        </p:spPr>
      </p:cxnSp>
      <p:cxnSp>
        <p:nvCxnSpPr>
          <p:cNvPr id="48" name="直接箭头连接符 47"/>
          <p:cNvCxnSpPr>
            <a:stCxn id="11" idx="3"/>
            <a:endCxn id="14" idx="1"/>
          </p:cNvCxnSpPr>
          <p:nvPr/>
        </p:nvCxnSpPr>
        <p:spPr>
          <a:xfrm>
            <a:off x="8667750" y="2443163"/>
            <a:ext cx="857250" cy="0"/>
          </a:xfrm>
          <a:prstGeom prst="straightConnector1">
            <a:avLst/>
          </a:prstGeom>
          <a:ln w="19050">
            <a:solidFill>
              <a:srgbClr val="4F83FF"/>
            </a:solidFill>
            <a:prstDash val="solid"/>
            <a:tailEnd type="triangle" w="sm" len="sm"/>
          </a:ln>
        </p:spPr>
      </p:cxn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FCC4D585-4104-4863-952F-56BA3A5F2768}"/>
              </a:ext>
            </a:extLst>
          </p:cNvPr>
          <p:cNvSpPr>
            <a:spLocks noGrp="1"/>
          </p:cNvSpPr>
          <p:nvPr/>
        </p:nvSpPr>
        <p:spPr>
          <a:xfrm>
            <a:off x="666750" y="3695700"/>
            <a:ext cx="4857750" cy="1428750"/>
          </a:xfrm>
          <a:prstGeom prst="roundRect">
            <a:avLst>
              <a:gd name="adj" fmla="val 6000"/>
            </a:avLst>
          </a:prstGeom>
          <a:solidFill>
            <a:srgbClr val="111C2F"/>
          </a:solidFill>
          <a:ln w="9525">
            <a:solidFill>
              <a:srgbClr val="283A55"/>
            </a:solidFill>
            <a:prstDash val="solid"/>
          </a:ln>
        </p:spPr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158E6109-D80A-436C-AC56-6AB0E52F36D3}"/>
              </a:ext>
            </a:extLst>
          </p:cNvPr>
          <p:cNvSpPr>
            <a:spLocks noGrp="1"/>
          </p:cNvSpPr>
          <p:nvPr/>
        </p:nvSpPr>
        <p:spPr>
          <a:xfrm>
            <a:off x="666750" y="3695700"/>
            <a:ext cx="47625" cy="1428750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 w="0">
            <a:noFill/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FCF477C1-CB66-4FA7-94CB-8BB8D202B6D3}"/>
              </a:ext>
            </a:extLst>
          </p:cNvPr>
          <p:cNvSpPr>
            <a:spLocks noGrp="1"/>
          </p:cNvSpPr>
          <p:nvPr/>
        </p:nvSpPr>
        <p:spPr>
          <a:xfrm>
            <a:off x="876300" y="3857625"/>
            <a:ext cx="44767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A78BFA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A78BFA"/>
                </a:solidFill>
                <a:latin typeface="Noto Sans SC"/>
                <a:ea typeface="Noto Sans SC"/>
                <a:cs typeface="Noto Sans SC"/>
              </a:rPr>
              <a:t>课程化语义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AC816736-419C-405C-9851-189532F34F93}"/>
              </a:ext>
            </a:extLst>
          </p:cNvPr>
          <p:cNvSpPr>
            <a:spLocks noGrp="1"/>
          </p:cNvSpPr>
          <p:nvPr/>
        </p:nvSpPr>
        <p:spPr>
          <a:xfrm>
            <a:off x="876300" y="4200525"/>
            <a:ext cx="4476750" cy="7810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RV32I 原本按模 2³² 运算；本课程要求 ADD、SUB、ADDI 溢出进入异常。当前最小实现以 PC+4 作为 MRET 返回点。</a:t>
            </a: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2E82D635-97EF-4A92-994C-DFC0EE750747}"/>
              </a:ext>
            </a:extLst>
          </p:cNvPr>
          <p:cNvSpPr>
            <a:spLocks noGrp="1"/>
          </p:cNvSpPr>
          <p:nvPr/>
        </p:nvSpPr>
        <p:spPr>
          <a:xfrm>
            <a:off x="6667500" y="3695700"/>
            <a:ext cx="4953000" cy="1428750"/>
          </a:xfrm>
          <a:prstGeom prst="roundRect">
            <a:avLst>
              <a:gd name="adj" fmla="val 6000"/>
            </a:avLst>
          </a:prstGeom>
          <a:solidFill>
            <a:srgbClr val="111C2F"/>
          </a:solidFill>
          <a:ln w="9525">
            <a:solidFill>
              <a:srgbClr val="283A55"/>
            </a:solidFill>
            <a:prstDash val="solid"/>
          </a:ln>
        </p:spPr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914938F8-7E72-4357-B59F-670F9BA58499}"/>
              </a:ext>
            </a:extLst>
          </p:cNvPr>
          <p:cNvSpPr>
            <a:spLocks noGrp="1"/>
          </p:cNvSpPr>
          <p:nvPr/>
        </p:nvSpPr>
        <p:spPr>
          <a:xfrm>
            <a:off x="6667500" y="3695700"/>
            <a:ext cx="47625" cy="1428750"/>
          </a:xfrm>
          <a:prstGeom prst="roundRect">
            <a:avLst>
              <a:gd name="adj" fmla="val 50000"/>
            </a:avLst>
          </a:prstGeom>
          <a:solidFill>
            <a:srgbClr val="37D99A"/>
          </a:solidFill>
          <a:ln w="0">
            <a:noFill/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15390E8D-E10D-47D0-9F8A-AE19A5A5B612}"/>
              </a:ext>
            </a:extLst>
          </p:cNvPr>
          <p:cNvSpPr>
            <a:spLocks noGrp="1"/>
          </p:cNvSpPr>
          <p:nvPr/>
        </p:nvSpPr>
        <p:spPr>
          <a:xfrm>
            <a:off x="6877050" y="3857625"/>
            <a:ext cx="457200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rPr>
              <a:t>自动化证据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0545FAF1-2F7D-49FA-B457-C1801172D5C7}"/>
              </a:ext>
            </a:extLst>
          </p:cNvPr>
          <p:cNvSpPr>
            <a:spLocks noGrp="1"/>
          </p:cNvSpPr>
          <p:nvPr/>
        </p:nvSpPr>
        <p:spPr>
          <a:xfrm>
            <a:off x="6877050" y="4200525"/>
            <a:ext cx="4572000" cy="7810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tb_alu_overflow 覆盖正负边界与不误报；tb_extended_system 检查故障指令不写 rd、年轻指令无副作用、MRET 返回一次。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A5628F4B-1F42-46B8-8528-82A61C5DFC00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723900" cy="304800"/>
          </a:xfrm>
          <a:prstGeom prst="rect">
            <a:avLst/>
          </a:prstGeom>
          <a:solidFill>
            <a:srgbClr val="0B1220"/>
          </a:solidFill>
          <a:ln w="0">
            <a:noFill/>
            <a:prstDash val="solid"/>
          </a:ln>
        </p:spPr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1B94343D-FA45-4642-A606-82C466535DFD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2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9175697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矩形 32">
            <a:extLst>
              <a:ext uri="{FF2B5EF4-FFF2-40B4-BE49-F238E27FC236}">
                <a16:creationId xmlns:a16="http://schemas.microsoft.com/office/drawing/2014/main" id="{062AFA2F-903F-4196-A3E5-6926AA54C6F8}"/>
              </a:ext>
            </a:extLst>
          </p:cNvPr>
          <p:cNvSpPr>
            <a:spLocks noGrp="1"/>
          </p:cNvSpPr>
          <p:nvPr/>
        </p:nvSpPr>
        <p:spPr>
          <a:xfrm>
            <a:off x="400050" y="247650"/>
            <a:ext cx="409575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附加功能 2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0531E40-0309-4132-B68A-411296EC5C1D}"/>
              </a:ext>
            </a:extLst>
          </p:cNvPr>
          <p:cNvSpPr>
            <a:spLocks noGrp="1"/>
          </p:cNvSpPr>
          <p:nvPr/>
        </p:nvSpPr>
        <p:spPr>
          <a:xfrm>
            <a:off x="400050" y="590550"/>
            <a:ext cx="1085850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外部中断与安全接受边界</a:t>
            </a:r>
          </a:p>
        </p:txBody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9D05BB91-D037-416F-89B2-5211D7A3BD3D}"/>
              </a:ext>
            </a:extLst>
          </p:cNvPr>
          <p:cNvSpPr>
            <a:spLocks noGrp="1"/>
          </p:cNvSpPr>
          <p:nvPr/>
        </p:nvSpPr>
        <p:spPr>
          <a:xfrm>
            <a:off x="400050" y="1238250"/>
            <a:ext cx="10991850" cy="0"/>
          </a:xfrm>
          <a:prstGeom prst="line">
            <a:avLst/>
          </a:prstGeom>
          <a:noFill/>
          <a:ln w="9525">
            <a:solidFill>
              <a:srgbClr val="283A55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660CFA5-EE70-4A9F-8B48-5EA3311C6DE5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2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05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3AE1DFFE-740F-496C-9557-833340F8AE1A}"/>
              </a:ext>
            </a:extLst>
          </p:cNvPr>
          <p:cNvSpPr>
            <a:spLocks noGrp="1"/>
          </p:cNvSpPr>
          <p:nvPr/>
        </p:nvSpPr>
        <p:spPr>
          <a:xfrm>
            <a:off x="419100" y="1962150"/>
            <a:ext cx="2000250" cy="952500"/>
          </a:xfrm>
          <a:prstGeom prst="roundRect">
            <a:avLst>
              <a:gd name="adj" fmla="val 8000"/>
            </a:avLst>
          </a:prstGeom>
          <a:solidFill>
            <a:srgbClr val="111C2F"/>
          </a:solidFill>
          <a:ln w="9525">
            <a:solidFill>
              <a:srgbClr val="25D4E8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075BA54-693E-489A-9567-BA74102A77C7}"/>
              </a:ext>
            </a:extLst>
          </p:cNvPr>
          <p:cNvSpPr>
            <a:spLocks noGrp="1"/>
          </p:cNvSpPr>
          <p:nvPr/>
        </p:nvSpPr>
        <p:spPr>
          <a:xfrm>
            <a:off x="495300" y="2095500"/>
            <a:ext cx="18478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异步输入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3C594A8-72D5-48B1-8F62-A5EB16BDFB65}"/>
              </a:ext>
            </a:extLst>
          </p:cNvPr>
          <p:cNvSpPr>
            <a:spLocks noGrp="1"/>
          </p:cNvSpPr>
          <p:nvPr/>
        </p:nvSpPr>
        <p:spPr>
          <a:xfrm>
            <a:off x="514350" y="2419350"/>
            <a:ext cx="180975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双触发同步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91D58B8E-9516-43E6-8010-8670B5D513FE}"/>
              </a:ext>
            </a:extLst>
          </p:cNvPr>
          <p:cNvSpPr>
            <a:spLocks noGrp="1"/>
          </p:cNvSpPr>
          <p:nvPr/>
        </p:nvSpPr>
        <p:spPr>
          <a:xfrm>
            <a:off x="2809875" y="1962150"/>
            <a:ext cx="2000250" cy="952500"/>
          </a:xfrm>
          <a:prstGeom prst="roundRect">
            <a:avLst>
              <a:gd name="adj" fmla="val 8000"/>
            </a:avLst>
          </a:prstGeom>
          <a:solidFill>
            <a:srgbClr val="111C2F"/>
          </a:solidFill>
          <a:ln w="9525">
            <a:solidFill>
              <a:srgbClr val="F5B942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39A1071-7BEB-4AAC-AF39-A0E7DC9388A8}"/>
              </a:ext>
            </a:extLst>
          </p:cNvPr>
          <p:cNvSpPr>
            <a:spLocks noGrp="1"/>
          </p:cNvSpPr>
          <p:nvPr/>
        </p:nvSpPr>
        <p:spPr>
          <a:xfrm>
            <a:off x="2886075" y="2095500"/>
            <a:ext cx="18478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rPr>
              <a:t>pending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829A739-096F-45D1-86C2-CF87F4C267D4}"/>
              </a:ext>
            </a:extLst>
          </p:cNvPr>
          <p:cNvSpPr>
            <a:spLocks noGrp="1"/>
          </p:cNvSpPr>
          <p:nvPr/>
        </p:nvSpPr>
        <p:spPr>
          <a:xfrm>
            <a:off x="2905125" y="2419350"/>
            <a:ext cx="180975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忙时保持请求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4EC9BB30-36C9-4622-9304-BF6862980A46}"/>
              </a:ext>
            </a:extLst>
          </p:cNvPr>
          <p:cNvSpPr>
            <a:spLocks noGrp="1"/>
          </p:cNvSpPr>
          <p:nvPr/>
        </p:nvSpPr>
        <p:spPr>
          <a:xfrm>
            <a:off x="5200650" y="1962150"/>
            <a:ext cx="2000250" cy="952500"/>
          </a:xfrm>
          <a:prstGeom prst="roundRect">
            <a:avLst>
              <a:gd name="adj" fmla="val 8000"/>
            </a:avLst>
          </a:prstGeom>
          <a:solidFill>
            <a:srgbClr val="111C2F"/>
          </a:solidFill>
          <a:ln w="9525">
            <a:solidFill>
              <a:srgbClr val="37D99A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9F08274-2A1C-4288-80EB-8BB52D4DD01C}"/>
              </a:ext>
            </a:extLst>
          </p:cNvPr>
          <p:cNvSpPr>
            <a:spLocks noGrp="1"/>
          </p:cNvSpPr>
          <p:nvPr/>
        </p:nvSpPr>
        <p:spPr>
          <a:xfrm>
            <a:off x="5276850" y="2095500"/>
            <a:ext cx="18478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rPr>
              <a:t>安全 EX 边界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24909F2-41F0-487D-A86E-7B865B61E47F}"/>
              </a:ext>
            </a:extLst>
          </p:cNvPr>
          <p:cNvSpPr>
            <a:spLocks noGrp="1"/>
          </p:cNvSpPr>
          <p:nvPr/>
        </p:nvSpPr>
        <p:spPr>
          <a:xfrm>
            <a:off x="5295900" y="2419350"/>
            <a:ext cx="180975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旧访存先完成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4EADFA82-B2E5-454B-81AE-3DC0E5FD07E4}"/>
              </a:ext>
            </a:extLst>
          </p:cNvPr>
          <p:cNvSpPr>
            <a:spLocks noGrp="1"/>
          </p:cNvSpPr>
          <p:nvPr/>
        </p:nvSpPr>
        <p:spPr>
          <a:xfrm>
            <a:off x="7591425" y="1962150"/>
            <a:ext cx="2000250" cy="952500"/>
          </a:xfrm>
          <a:prstGeom prst="roundRect">
            <a:avLst>
              <a:gd name="adj" fmla="val 8000"/>
            </a:avLst>
          </a:prstGeom>
          <a:solidFill>
            <a:srgbClr val="111C2F"/>
          </a:solidFill>
          <a:ln w="9525">
            <a:solidFill>
              <a:srgbClr val="F26B7A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E6F4E43-D14F-42B1-8AC3-8B7349928C6A}"/>
              </a:ext>
            </a:extLst>
          </p:cNvPr>
          <p:cNvSpPr>
            <a:spLocks noGrp="1"/>
          </p:cNvSpPr>
          <p:nvPr/>
        </p:nvSpPr>
        <p:spPr>
          <a:xfrm>
            <a:off x="7667625" y="2095500"/>
            <a:ext cx="18478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F26B7A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F26B7A"/>
                </a:solidFill>
                <a:latin typeface="Noto Sans SC"/>
                <a:ea typeface="Noto Sans SC"/>
                <a:cs typeface="Noto Sans SC"/>
              </a:rPr>
              <a:t>进入中断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2900DDCF-5788-4090-874A-11A59784B9F8}"/>
              </a:ext>
            </a:extLst>
          </p:cNvPr>
          <p:cNvSpPr>
            <a:spLocks noGrp="1"/>
          </p:cNvSpPr>
          <p:nvPr/>
        </p:nvSpPr>
        <p:spPr>
          <a:xfrm>
            <a:off x="7686675" y="2419350"/>
            <a:ext cx="180975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mcause = 0x8000000B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310B95DD-BD19-4226-946C-FAD01ADD2028}"/>
              </a:ext>
            </a:extLst>
          </p:cNvPr>
          <p:cNvSpPr>
            <a:spLocks noGrp="1"/>
          </p:cNvSpPr>
          <p:nvPr/>
        </p:nvSpPr>
        <p:spPr>
          <a:xfrm>
            <a:off x="9982200" y="1962150"/>
            <a:ext cx="1809750" cy="952500"/>
          </a:xfrm>
          <a:prstGeom prst="roundRect">
            <a:avLst>
              <a:gd name="adj" fmla="val 8000"/>
            </a:avLst>
          </a:prstGeom>
          <a:solidFill>
            <a:srgbClr val="111C2F"/>
          </a:solidFill>
          <a:ln w="9525">
            <a:solidFill>
              <a:srgbClr val="A78BFA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64E93F77-8C25-445D-A612-156C7B693ECC}"/>
              </a:ext>
            </a:extLst>
          </p:cNvPr>
          <p:cNvSpPr>
            <a:spLocks noGrp="1"/>
          </p:cNvSpPr>
          <p:nvPr/>
        </p:nvSpPr>
        <p:spPr>
          <a:xfrm>
            <a:off x="10058400" y="2095500"/>
            <a:ext cx="16573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A78BFA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A78BFA"/>
                </a:solidFill>
                <a:latin typeface="Noto Sans SC"/>
                <a:ea typeface="Noto Sans SC"/>
                <a:cs typeface="Noto Sans SC"/>
              </a:rPr>
              <a:t>MRET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30EEDFA1-3FF2-4D16-8E88-4361A437BDD8}"/>
              </a:ext>
            </a:extLst>
          </p:cNvPr>
          <p:cNvSpPr>
            <a:spLocks noGrp="1"/>
          </p:cNvSpPr>
          <p:nvPr/>
        </p:nvSpPr>
        <p:spPr>
          <a:xfrm>
            <a:off x="10077450" y="2419350"/>
            <a:ext cx="161925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恢复 MIE 与 PC</a:t>
            </a:r>
          </a:p>
        </p:txBody>
      </p:sp>
      <p:cxnSp>
        <p:nvCxnSpPr>
          <p:cNvPr id="52" name="直接箭头连接符 51"/>
          <p:cNvCxnSpPr>
            <a:stCxn id="5" idx="3"/>
            <a:endCxn id="8" idx="1"/>
          </p:cNvCxnSpPr>
          <p:nvPr/>
        </p:nvCxnSpPr>
        <p:spPr>
          <a:xfrm>
            <a:off x="2419350" y="2438400"/>
            <a:ext cx="390525" cy="0"/>
          </a:xfrm>
          <a:prstGeom prst="straightConnector1">
            <a:avLst/>
          </a:prstGeom>
          <a:ln w="19050">
            <a:solidFill>
              <a:srgbClr val="25D4E8"/>
            </a:solidFill>
            <a:prstDash val="solid"/>
            <a:tailEnd type="triangle" w="sm" len="sm"/>
          </a:ln>
        </p:spPr>
      </p:cxnSp>
      <p:cxnSp>
        <p:nvCxnSpPr>
          <p:cNvPr id="53" name="直接箭头连接符 52"/>
          <p:cNvCxnSpPr>
            <a:stCxn id="8" idx="3"/>
            <a:endCxn id="11" idx="1"/>
          </p:cNvCxnSpPr>
          <p:nvPr/>
        </p:nvCxnSpPr>
        <p:spPr>
          <a:xfrm>
            <a:off x="4810125" y="2438400"/>
            <a:ext cx="390525" cy="0"/>
          </a:xfrm>
          <a:prstGeom prst="straightConnector1">
            <a:avLst/>
          </a:prstGeom>
          <a:ln w="19050">
            <a:solidFill>
              <a:srgbClr val="25D4E8"/>
            </a:solidFill>
            <a:prstDash val="solid"/>
            <a:tailEnd type="triangle" w="sm" len="sm"/>
          </a:ln>
        </p:spPr>
      </p:cxnSp>
      <p:cxnSp>
        <p:nvCxnSpPr>
          <p:cNvPr id="54" name="直接箭头连接符 53"/>
          <p:cNvCxnSpPr>
            <a:stCxn id="11" idx="3"/>
            <a:endCxn id="14" idx="1"/>
          </p:cNvCxnSpPr>
          <p:nvPr/>
        </p:nvCxnSpPr>
        <p:spPr>
          <a:xfrm>
            <a:off x="7200900" y="2438400"/>
            <a:ext cx="390525" cy="0"/>
          </a:xfrm>
          <a:prstGeom prst="straightConnector1">
            <a:avLst/>
          </a:prstGeom>
          <a:ln w="19050">
            <a:solidFill>
              <a:srgbClr val="25D4E8"/>
            </a:solidFill>
            <a:prstDash val="solid"/>
            <a:tailEnd type="triangle" w="sm" len="sm"/>
          </a:ln>
        </p:spPr>
      </p:cxnSp>
      <p:cxnSp>
        <p:nvCxnSpPr>
          <p:cNvPr id="55" name="直接箭头连接符 54"/>
          <p:cNvCxnSpPr>
            <a:stCxn id="14" idx="3"/>
            <a:endCxn id="17" idx="1"/>
          </p:cNvCxnSpPr>
          <p:nvPr/>
        </p:nvCxnSpPr>
        <p:spPr>
          <a:xfrm>
            <a:off x="9591675" y="2438400"/>
            <a:ext cx="390525" cy="0"/>
          </a:xfrm>
          <a:prstGeom prst="straightConnector1">
            <a:avLst/>
          </a:prstGeom>
          <a:ln w="19050">
            <a:solidFill>
              <a:srgbClr val="25D4E8"/>
            </a:solidFill>
            <a:prstDash val="solid"/>
            <a:tailEnd type="triangle" w="sm" len="sm"/>
          </a:ln>
        </p:spPr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BD2B11D3-20D0-4330-8157-234F0B0474CB}"/>
              </a:ext>
            </a:extLst>
          </p:cNvPr>
          <p:cNvSpPr>
            <a:spLocks noGrp="1"/>
          </p:cNvSpPr>
          <p:nvPr/>
        </p:nvSpPr>
        <p:spPr>
          <a:xfrm>
            <a:off x="400050" y="3638550"/>
            <a:ext cx="11391900" cy="1695450"/>
          </a:xfrm>
          <a:prstGeom prst="roundRect">
            <a:avLst>
              <a:gd name="adj" fmla="val 5056"/>
            </a:avLst>
          </a:prstGeom>
          <a:solidFill>
            <a:srgbClr val="111C2F"/>
          </a:solidFill>
          <a:ln w="9525">
            <a:solidFill>
              <a:srgbClr val="283A55"/>
            </a:solidFill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11E22314-15CC-4136-B9A0-4F217EC0AEC8}"/>
              </a:ext>
            </a:extLst>
          </p:cNvPr>
          <p:cNvSpPr>
            <a:spLocks noGrp="1"/>
          </p:cNvSpPr>
          <p:nvPr/>
        </p:nvSpPr>
        <p:spPr>
          <a:xfrm>
            <a:off x="647700" y="3905250"/>
            <a:ext cx="161925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0926" lnSpcReduction="20000"/>
          </a:bodyPr>
          <a:lstStyle/>
          <a:p>
            <a:pPr>
              <a:defRPr sz="135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rPr>
              <a:t>等待期间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4596396E-581C-41D6-8285-FBB2AF4E48D3}"/>
              </a:ext>
            </a:extLst>
          </p:cNvPr>
          <p:cNvSpPr>
            <a:spLocks noGrp="1"/>
          </p:cNvSpPr>
          <p:nvPr/>
        </p:nvSpPr>
        <p:spPr>
          <a:xfrm>
            <a:off x="2247900" y="3905250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5833"/>
          </a:bodyPr>
          <a:lstStyle/>
          <a:p>
            <a:pPr>
              <a:defRPr sz="1200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D-Cache 或数据总线未完成时只锁存 pending，不打断更老访存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9F649CC9-70B9-4284-AEC8-02FF441A33C6}"/>
              </a:ext>
            </a:extLst>
          </p:cNvPr>
          <p:cNvSpPr>
            <a:spLocks noGrp="1"/>
          </p:cNvSpPr>
          <p:nvPr/>
        </p:nvSpPr>
        <p:spPr>
          <a:xfrm>
            <a:off x="647700" y="4381500"/>
            <a:ext cx="161925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0926" lnSpcReduction="20000"/>
          </a:bodyPr>
          <a:lstStyle/>
          <a:p>
            <a:pPr>
              <a:defRPr sz="135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rPr>
              <a:t>接受条件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36407BD4-4524-4D97-873A-015160438538}"/>
              </a:ext>
            </a:extLst>
          </p:cNvPr>
          <p:cNvSpPr>
            <a:spLocks noGrp="1"/>
          </p:cNvSpPr>
          <p:nvPr/>
        </p:nvSpPr>
        <p:spPr>
          <a:xfrm>
            <a:off x="2247900" y="4381500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5833"/>
          </a:bodyPr>
          <a:lstStyle/>
          <a:p>
            <a:pPr>
              <a:defRPr sz="1200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当前 EX 为空或普通非控制指令，年轻指令清除，当前指令允许完成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DE0D48B8-D1C5-4795-B75F-AE4D6BE70C60}"/>
              </a:ext>
            </a:extLst>
          </p:cNvPr>
          <p:cNvSpPr>
            <a:spLocks noGrp="1"/>
          </p:cNvSpPr>
          <p:nvPr/>
        </p:nvSpPr>
        <p:spPr>
          <a:xfrm>
            <a:off x="647700" y="4857750"/>
            <a:ext cx="161925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0926" lnSpcReduction="20000"/>
          </a:bodyPr>
          <a:lstStyle/>
          <a:p>
            <a:pPr>
              <a:def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验证结果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D0CFBA0A-B2B0-4B79-B43D-D222EC56D9BA}"/>
              </a:ext>
            </a:extLst>
          </p:cNvPr>
          <p:cNvSpPr>
            <a:spLocks noGrp="1"/>
          </p:cNvSpPr>
          <p:nvPr/>
        </p:nvSpPr>
        <p:spPr>
          <a:xfrm>
            <a:off x="2247900" y="4857750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5833"/>
          </a:bodyPr>
          <a:lstStyle/>
          <a:p>
            <a:pPr>
              <a:defRPr sz="1200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tb_extended_system 检查 pending、进入、处理、返回和主程序不重不漏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5D099F06-BEBC-490F-ADB1-FD3A4677FB1B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723900" cy="304800"/>
          </a:xfrm>
          <a:prstGeom prst="rect">
            <a:avLst/>
          </a:prstGeom>
          <a:solidFill>
            <a:srgbClr val="0B1220"/>
          </a:solidFill>
          <a:ln w="0">
            <a:noFill/>
            <a:prstDash val="solid"/>
          </a:ln>
        </p:spPr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ED4A2EED-E7A9-423B-A37F-1217B5DD08F8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2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45475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:a16="http://schemas.microsoft.com/office/drawing/2014/main" id="{9DBD81A9-3274-43BE-9CC6-ED5F06505DC8}"/>
              </a:ext>
            </a:extLst>
          </p:cNvPr>
          <p:cNvSpPr>
            <a:spLocks noGrp="1"/>
          </p:cNvSpPr>
          <p:nvPr/>
        </p:nvSpPr>
        <p:spPr>
          <a:xfrm>
            <a:off x="400050" y="247650"/>
            <a:ext cx="409575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附加功能 3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611E8EF-75DE-418C-A19C-44B9D9E05B70}"/>
              </a:ext>
            </a:extLst>
          </p:cNvPr>
          <p:cNvSpPr>
            <a:spLocks noGrp="1"/>
          </p:cNvSpPr>
          <p:nvPr/>
        </p:nvSpPr>
        <p:spPr>
          <a:xfrm>
            <a:off x="400050" y="590550"/>
            <a:ext cx="1085850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I-Cache 与 D-Cache</a:t>
            </a:r>
          </a:p>
        </p:txBody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1A25F46D-9002-48C4-98E2-1101863003F3}"/>
              </a:ext>
            </a:extLst>
          </p:cNvPr>
          <p:cNvSpPr>
            <a:spLocks noGrp="1"/>
          </p:cNvSpPr>
          <p:nvPr/>
        </p:nvSpPr>
        <p:spPr>
          <a:xfrm>
            <a:off x="400050" y="1238250"/>
            <a:ext cx="10991850" cy="0"/>
          </a:xfrm>
          <a:prstGeom prst="line">
            <a:avLst/>
          </a:prstGeom>
          <a:noFill/>
          <a:ln w="9525">
            <a:solidFill>
              <a:srgbClr val="283A55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EB2D964-DFC7-49EF-9544-E87ABE935A9E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2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06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4DBD034-E98F-4E19-9C25-C4FF84471D70}"/>
              </a:ext>
            </a:extLst>
          </p:cNvPr>
          <p:cNvSpPr>
            <a:spLocks noGrp="1"/>
          </p:cNvSpPr>
          <p:nvPr/>
        </p:nvSpPr>
        <p:spPr>
          <a:xfrm>
            <a:off x="400050" y="1524000"/>
            <a:ext cx="171450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0926" lnSpcReduction="20000"/>
          </a:bodyPr>
          <a:lstStyle/>
          <a:p>
            <a:pPr>
              <a:def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地址字段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01D288F4-8291-4DE1-8C03-BEA9FAED28B0}"/>
              </a:ext>
            </a:extLst>
          </p:cNvPr>
          <p:cNvSpPr>
            <a:spLocks noGrp="1"/>
          </p:cNvSpPr>
          <p:nvPr/>
        </p:nvSpPr>
        <p:spPr>
          <a:xfrm>
            <a:off x="400050" y="1943100"/>
            <a:ext cx="3810000" cy="704850"/>
          </a:xfrm>
          <a:prstGeom prst="roundRect">
            <a:avLst>
              <a:gd name="adj" fmla="val 8108"/>
            </a:avLst>
          </a:prstGeom>
          <a:solidFill>
            <a:srgbClr val="16243B"/>
          </a:solidFill>
          <a:ln w="9525">
            <a:solidFill>
              <a:srgbClr val="4F83FF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74B5A01-F778-453E-BBE8-A7906217065C}"/>
              </a:ext>
            </a:extLst>
          </p:cNvPr>
          <p:cNvSpPr>
            <a:spLocks noGrp="1"/>
          </p:cNvSpPr>
          <p:nvPr/>
        </p:nvSpPr>
        <p:spPr>
          <a:xfrm>
            <a:off x="400050" y="2152650"/>
            <a:ext cx="381000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0926" lnSpcReduction="20000"/>
          </a:bodyPr>
          <a:lstStyle/>
          <a:p>
            <a:pPr>
              <a:defRPr sz="1350" b="1">
                <a:solidFill>
                  <a:srgbClr val="4F83FF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4F83FF"/>
                </a:solidFill>
                <a:latin typeface="Noto Sans SC"/>
                <a:ea typeface="Noto Sans SC"/>
                <a:cs typeface="Noto Sans SC"/>
              </a:rPr>
              <a:t>tag  [31:10]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63FB45FD-D731-48D6-80E7-4B3C37D665F0}"/>
              </a:ext>
            </a:extLst>
          </p:cNvPr>
          <p:cNvSpPr>
            <a:spLocks noGrp="1"/>
          </p:cNvSpPr>
          <p:nvPr/>
        </p:nvSpPr>
        <p:spPr>
          <a:xfrm>
            <a:off x="4343400" y="1943100"/>
            <a:ext cx="3333750" cy="704850"/>
          </a:xfrm>
          <a:prstGeom prst="roundRect">
            <a:avLst>
              <a:gd name="adj" fmla="val 8108"/>
            </a:avLst>
          </a:prstGeom>
          <a:solidFill>
            <a:srgbClr val="111C2F"/>
          </a:solidFill>
          <a:ln w="9525">
            <a:solidFill>
              <a:srgbClr val="37D99A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789AA8B-BE6E-43A2-AA2E-128536C82AF7}"/>
              </a:ext>
            </a:extLst>
          </p:cNvPr>
          <p:cNvSpPr>
            <a:spLocks noGrp="1"/>
          </p:cNvSpPr>
          <p:nvPr/>
        </p:nvSpPr>
        <p:spPr>
          <a:xfrm>
            <a:off x="4343400" y="2152650"/>
            <a:ext cx="333375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0926" lnSpcReduction="20000"/>
          </a:bodyPr>
          <a:lstStyle/>
          <a:p>
            <a:pPr>
              <a:defRPr sz="135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rPr>
              <a:t>index  [9:4]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A03D1AA3-B6BD-47FF-898E-506184A6528B}"/>
              </a:ext>
            </a:extLst>
          </p:cNvPr>
          <p:cNvSpPr>
            <a:spLocks noGrp="1"/>
          </p:cNvSpPr>
          <p:nvPr/>
        </p:nvSpPr>
        <p:spPr>
          <a:xfrm>
            <a:off x="7810500" y="1943100"/>
            <a:ext cx="2857500" cy="704850"/>
          </a:xfrm>
          <a:prstGeom prst="roundRect">
            <a:avLst>
              <a:gd name="adj" fmla="val 8108"/>
            </a:avLst>
          </a:prstGeom>
          <a:solidFill>
            <a:srgbClr val="111C2F"/>
          </a:solidFill>
          <a:ln w="9525">
            <a:solidFill>
              <a:srgbClr val="F5B942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21F7A640-48BC-4ACA-AF30-D33A1508919E}"/>
              </a:ext>
            </a:extLst>
          </p:cNvPr>
          <p:cNvSpPr>
            <a:spLocks noGrp="1"/>
          </p:cNvSpPr>
          <p:nvPr/>
        </p:nvSpPr>
        <p:spPr>
          <a:xfrm>
            <a:off x="7810500" y="2152650"/>
            <a:ext cx="285750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0926" lnSpcReduction="20000"/>
          </a:bodyPr>
          <a:lstStyle/>
          <a:p>
            <a:pPr>
              <a:defRPr sz="135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rPr>
              <a:t>offset  [3:0]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833E6B0B-7076-47F9-8A68-6A99E718F3E5}"/>
              </a:ext>
            </a:extLst>
          </p:cNvPr>
          <p:cNvSpPr>
            <a:spLocks noGrp="1"/>
          </p:cNvSpPr>
          <p:nvPr/>
        </p:nvSpPr>
        <p:spPr>
          <a:xfrm>
            <a:off x="400050" y="3238500"/>
            <a:ext cx="3524250" cy="1809750"/>
          </a:xfrm>
          <a:prstGeom prst="roundRect">
            <a:avLst>
              <a:gd name="adj" fmla="val 4737"/>
            </a:avLst>
          </a:prstGeom>
          <a:solidFill>
            <a:srgbClr val="111C2F"/>
          </a:solidFill>
          <a:ln w="9525">
            <a:solidFill>
              <a:srgbClr val="283A55"/>
            </a:solidFill>
            <a:prstDash val="solid"/>
          </a:ln>
        </p:spPr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AFFB03B6-385E-4903-B4C9-A72D706577EB}"/>
              </a:ext>
            </a:extLst>
          </p:cNvPr>
          <p:cNvSpPr>
            <a:spLocks noGrp="1"/>
          </p:cNvSpPr>
          <p:nvPr/>
        </p:nvSpPr>
        <p:spPr>
          <a:xfrm>
            <a:off x="400050" y="3238500"/>
            <a:ext cx="47625" cy="1809750"/>
          </a:xfrm>
          <a:prstGeom prst="roundRect">
            <a:avLst>
              <a:gd name="adj" fmla="val 50000"/>
            </a:avLst>
          </a:prstGeom>
          <a:solidFill>
            <a:srgbClr val="4F83FF"/>
          </a:solidFill>
          <a:ln w="0">
            <a:noFill/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27DDBE2-53F4-424F-9E3A-0E47F5BF1ECC}"/>
              </a:ext>
            </a:extLst>
          </p:cNvPr>
          <p:cNvSpPr>
            <a:spLocks noGrp="1"/>
          </p:cNvSpPr>
          <p:nvPr/>
        </p:nvSpPr>
        <p:spPr>
          <a:xfrm>
            <a:off x="609600" y="3400425"/>
            <a:ext cx="31432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4F83FF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4F83FF"/>
                </a:solidFill>
                <a:latin typeface="Noto Sans SC"/>
                <a:ea typeface="Noto Sans SC"/>
                <a:cs typeface="Noto Sans SC"/>
              </a:rPr>
              <a:t>I-Cache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54E3518-69D8-46F7-A889-0FDA07AE6DBB}"/>
              </a:ext>
            </a:extLst>
          </p:cNvPr>
          <p:cNvSpPr>
            <a:spLocks noGrp="1"/>
          </p:cNvSpPr>
          <p:nvPr/>
        </p:nvSpPr>
        <p:spPr>
          <a:xfrm>
            <a:off x="609600" y="3743325"/>
            <a:ext cx="3143250" cy="11620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1 KiB，直接映射</a:t>
            </a: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16 B 行，4 字填充</a:t>
            </a: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错误路径 refill 不返回 CPU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435C4D38-DE8B-429E-A602-9D832028552A}"/>
              </a:ext>
            </a:extLst>
          </p:cNvPr>
          <p:cNvSpPr>
            <a:spLocks noGrp="1"/>
          </p:cNvSpPr>
          <p:nvPr/>
        </p:nvSpPr>
        <p:spPr>
          <a:xfrm>
            <a:off x="4333875" y="3238500"/>
            <a:ext cx="3524250" cy="1809750"/>
          </a:xfrm>
          <a:prstGeom prst="roundRect">
            <a:avLst>
              <a:gd name="adj" fmla="val 4737"/>
            </a:avLst>
          </a:prstGeom>
          <a:solidFill>
            <a:srgbClr val="111C2F"/>
          </a:solidFill>
          <a:ln w="9525">
            <a:solidFill>
              <a:srgbClr val="283A55"/>
            </a:solidFill>
            <a:prstDash val="solid"/>
          </a:ln>
        </p:spPr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C4C5EE2D-E8F4-47CD-8207-7824DEBE4E86}"/>
              </a:ext>
            </a:extLst>
          </p:cNvPr>
          <p:cNvSpPr>
            <a:spLocks noGrp="1"/>
          </p:cNvSpPr>
          <p:nvPr/>
        </p:nvSpPr>
        <p:spPr>
          <a:xfrm>
            <a:off x="4333875" y="3238500"/>
            <a:ext cx="47625" cy="1809750"/>
          </a:xfrm>
          <a:prstGeom prst="roundRect">
            <a:avLst>
              <a:gd name="adj" fmla="val 50000"/>
            </a:avLst>
          </a:prstGeom>
          <a:solidFill>
            <a:srgbClr val="37D99A"/>
          </a:solidFill>
          <a:ln w="0">
            <a:noFill/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4FC7831D-1C3C-4DD5-B404-ED22A99E4A50}"/>
              </a:ext>
            </a:extLst>
          </p:cNvPr>
          <p:cNvSpPr>
            <a:spLocks noGrp="1"/>
          </p:cNvSpPr>
          <p:nvPr/>
        </p:nvSpPr>
        <p:spPr>
          <a:xfrm>
            <a:off x="4543425" y="3400425"/>
            <a:ext cx="31432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rPr>
              <a:t>D-Cache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30AE752C-4CFC-446A-89BC-F80CFE74524A}"/>
              </a:ext>
            </a:extLst>
          </p:cNvPr>
          <p:cNvSpPr>
            <a:spLocks noGrp="1"/>
          </p:cNvSpPr>
          <p:nvPr/>
        </p:nvSpPr>
        <p:spPr>
          <a:xfrm>
            <a:off x="4543425" y="3743325"/>
            <a:ext cx="3143250" cy="11620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1 KiB，直接映射</a:t>
            </a: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写直达、写不分配</a:t>
            </a: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支持字节写与冲突替换</a:t>
            </a: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6C1BA5B1-2DED-49BE-87AF-AF2F107422F6}"/>
              </a:ext>
            </a:extLst>
          </p:cNvPr>
          <p:cNvSpPr>
            <a:spLocks noGrp="1"/>
          </p:cNvSpPr>
          <p:nvPr/>
        </p:nvSpPr>
        <p:spPr>
          <a:xfrm>
            <a:off x="8267700" y="3238500"/>
            <a:ext cx="3524250" cy="1809750"/>
          </a:xfrm>
          <a:prstGeom prst="roundRect">
            <a:avLst>
              <a:gd name="adj" fmla="val 4737"/>
            </a:avLst>
          </a:prstGeom>
          <a:solidFill>
            <a:srgbClr val="111C2F"/>
          </a:solidFill>
          <a:ln w="9525">
            <a:solidFill>
              <a:srgbClr val="283A55"/>
            </a:solidFill>
            <a:prstDash val="solid"/>
          </a:ln>
        </p:spPr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F68F9820-5467-404C-850F-45D2A9154487}"/>
              </a:ext>
            </a:extLst>
          </p:cNvPr>
          <p:cNvSpPr>
            <a:spLocks noGrp="1"/>
          </p:cNvSpPr>
          <p:nvPr/>
        </p:nvSpPr>
        <p:spPr>
          <a:xfrm>
            <a:off x="8267700" y="3238500"/>
            <a:ext cx="47625" cy="1809750"/>
          </a:xfrm>
          <a:prstGeom prst="roundRect">
            <a:avLst>
              <a:gd name="adj" fmla="val 50000"/>
            </a:avLst>
          </a:prstGeom>
          <a:solidFill>
            <a:srgbClr val="F5B942"/>
          </a:solidFill>
          <a:ln w="0">
            <a:noFill/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F6896A3A-60D8-424C-B345-7DFA57EB4C58}"/>
              </a:ext>
            </a:extLst>
          </p:cNvPr>
          <p:cNvSpPr>
            <a:spLocks noGrp="1"/>
          </p:cNvSpPr>
          <p:nvPr/>
        </p:nvSpPr>
        <p:spPr>
          <a:xfrm>
            <a:off x="8477250" y="3400425"/>
            <a:ext cx="31432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rPr>
              <a:t>MMIO bypass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2CAFB0BD-51F4-45FF-B306-A2F1D8BB7702}"/>
              </a:ext>
            </a:extLst>
          </p:cNvPr>
          <p:cNvSpPr>
            <a:spLocks noGrp="1"/>
          </p:cNvSpPr>
          <p:nvPr/>
        </p:nvSpPr>
        <p:spPr>
          <a:xfrm>
            <a:off x="8477250" y="3743325"/>
            <a:ext cx="3143250" cy="11620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0x2000_0000 区域不缓存</a:t>
            </a: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外设访问强顺序</a:t>
            </a: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副作用只发生一次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76FBF838-AEB8-465D-8EE0-2A3A22B3F02A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723900" cy="304800"/>
          </a:xfrm>
          <a:prstGeom prst="rect">
            <a:avLst/>
          </a:prstGeom>
          <a:solidFill>
            <a:srgbClr val="0B1220"/>
          </a:solidFill>
          <a:ln w="0">
            <a:noFill/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251D2350-A720-45F9-B3B4-F442575AA75E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2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8007155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 33">
            <a:extLst>
              <a:ext uri="{FF2B5EF4-FFF2-40B4-BE49-F238E27FC236}">
                <a16:creationId xmlns:a16="http://schemas.microsoft.com/office/drawing/2014/main" id="{EE0E3F7F-8EEC-44F0-87EE-C9A1AE303593}"/>
              </a:ext>
            </a:extLst>
          </p:cNvPr>
          <p:cNvSpPr>
            <a:spLocks noGrp="1"/>
          </p:cNvSpPr>
          <p:nvPr/>
        </p:nvSpPr>
        <p:spPr>
          <a:xfrm>
            <a:off x="400050" y="247650"/>
            <a:ext cx="409575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附加功能 4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A2AF0EF-05D4-4A04-A61E-4A322DCD9EB1}"/>
              </a:ext>
            </a:extLst>
          </p:cNvPr>
          <p:cNvSpPr>
            <a:spLocks noGrp="1"/>
          </p:cNvSpPr>
          <p:nvPr/>
        </p:nvSpPr>
        <p:spPr>
          <a:xfrm>
            <a:off x="400050" y="590550"/>
            <a:ext cx="1085850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BTB 与两位饱和计数器</a:t>
            </a:r>
          </a:p>
        </p:txBody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4BF82A67-46F6-42F4-A8A4-2EEB18899F06}"/>
              </a:ext>
            </a:extLst>
          </p:cNvPr>
          <p:cNvSpPr>
            <a:spLocks noGrp="1"/>
          </p:cNvSpPr>
          <p:nvPr/>
        </p:nvSpPr>
        <p:spPr>
          <a:xfrm>
            <a:off x="400050" y="1238250"/>
            <a:ext cx="10991850" cy="0"/>
          </a:xfrm>
          <a:prstGeom prst="line">
            <a:avLst/>
          </a:prstGeom>
          <a:noFill/>
          <a:ln w="9525">
            <a:solidFill>
              <a:srgbClr val="283A55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B3D0E6F-1452-4406-9DE4-BA25B81569EB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2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07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279963B-BC97-49A7-8FAA-B35934876CC6}"/>
              </a:ext>
            </a:extLst>
          </p:cNvPr>
          <p:cNvSpPr>
            <a:spLocks noGrp="1"/>
          </p:cNvSpPr>
          <p:nvPr/>
        </p:nvSpPr>
        <p:spPr>
          <a:xfrm>
            <a:off x="647700" y="1924050"/>
            <a:ext cx="2095500" cy="1000125"/>
          </a:xfrm>
          <a:prstGeom prst="roundRect">
            <a:avLst>
              <a:gd name="adj" fmla="val 7619"/>
            </a:avLst>
          </a:prstGeom>
          <a:solidFill>
            <a:srgbClr val="111C2F"/>
          </a:solidFill>
          <a:ln w="9525">
            <a:solidFill>
              <a:srgbClr val="25D4E8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FB8CF05-936E-40DA-AF4B-37E62642E02F}"/>
              </a:ext>
            </a:extLst>
          </p:cNvPr>
          <p:cNvSpPr>
            <a:spLocks noGrp="1"/>
          </p:cNvSpPr>
          <p:nvPr/>
        </p:nvSpPr>
        <p:spPr>
          <a:xfrm>
            <a:off x="723900" y="2057400"/>
            <a:ext cx="194310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IF 查询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F6CABD9-647E-4506-B23D-21BFA753FD7D}"/>
              </a:ext>
            </a:extLst>
          </p:cNvPr>
          <p:cNvSpPr>
            <a:spLocks noGrp="1"/>
          </p:cNvSpPr>
          <p:nvPr/>
        </p:nvSpPr>
        <p:spPr>
          <a:xfrm>
            <a:off x="742950" y="2381250"/>
            <a:ext cx="1905000" cy="4667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PC 同时索引 BTB / BHT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60C3C7FA-F455-4BAF-9F95-0F5CED387F26}"/>
              </a:ext>
            </a:extLst>
          </p:cNvPr>
          <p:cNvSpPr>
            <a:spLocks noGrp="1"/>
          </p:cNvSpPr>
          <p:nvPr/>
        </p:nvSpPr>
        <p:spPr>
          <a:xfrm>
            <a:off x="3619500" y="1924050"/>
            <a:ext cx="2095500" cy="1000125"/>
          </a:xfrm>
          <a:prstGeom prst="roundRect">
            <a:avLst>
              <a:gd name="adj" fmla="val 7619"/>
            </a:avLst>
          </a:prstGeom>
          <a:solidFill>
            <a:srgbClr val="111C2F"/>
          </a:solidFill>
          <a:ln w="9525">
            <a:solidFill>
              <a:srgbClr val="A78BFA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D32B116-4FFE-4C62-9B12-6466A0C9A93E}"/>
              </a:ext>
            </a:extLst>
          </p:cNvPr>
          <p:cNvSpPr>
            <a:spLocks noGrp="1"/>
          </p:cNvSpPr>
          <p:nvPr/>
        </p:nvSpPr>
        <p:spPr>
          <a:xfrm>
            <a:off x="3695700" y="2057400"/>
            <a:ext cx="194310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A78BFA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A78BFA"/>
                </a:solidFill>
                <a:latin typeface="Noto Sans SC"/>
                <a:ea typeface="Noto Sans SC"/>
                <a:cs typeface="Noto Sans SC"/>
              </a:rPr>
              <a:t>预测下一 PC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FE33C48-313A-4986-9EB0-A0573CEFE2A3}"/>
              </a:ext>
            </a:extLst>
          </p:cNvPr>
          <p:cNvSpPr>
            <a:spLocks noGrp="1"/>
          </p:cNvSpPr>
          <p:nvPr/>
        </p:nvSpPr>
        <p:spPr>
          <a:xfrm>
            <a:off x="3714750" y="2381250"/>
            <a:ext cx="1905000" cy="4667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BTB tag 命中且 BHT[1] = 1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59929531-6AC9-46E5-9C10-E227504103BB}"/>
              </a:ext>
            </a:extLst>
          </p:cNvPr>
          <p:cNvSpPr>
            <a:spLocks noGrp="1"/>
          </p:cNvSpPr>
          <p:nvPr/>
        </p:nvSpPr>
        <p:spPr>
          <a:xfrm>
            <a:off x="6591300" y="1924050"/>
            <a:ext cx="2095500" cy="1000125"/>
          </a:xfrm>
          <a:prstGeom prst="roundRect">
            <a:avLst>
              <a:gd name="adj" fmla="val 7619"/>
            </a:avLst>
          </a:prstGeom>
          <a:solidFill>
            <a:srgbClr val="111C2F"/>
          </a:solidFill>
          <a:ln w="9525">
            <a:solidFill>
              <a:srgbClr val="37D99A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CB7030C-8409-45DC-8151-8AE3D8055D1D}"/>
              </a:ext>
            </a:extLst>
          </p:cNvPr>
          <p:cNvSpPr>
            <a:spLocks noGrp="1"/>
          </p:cNvSpPr>
          <p:nvPr/>
        </p:nvSpPr>
        <p:spPr>
          <a:xfrm>
            <a:off x="6667500" y="2057400"/>
            <a:ext cx="194310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rPr>
              <a:t>EX 确认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B9C6021-0613-4B09-B2AD-6C7DCC0D1F3B}"/>
              </a:ext>
            </a:extLst>
          </p:cNvPr>
          <p:cNvSpPr>
            <a:spLocks noGrp="1"/>
          </p:cNvSpPr>
          <p:nvPr/>
        </p:nvSpPr>
        <p:spPr>
          <a:xfrm>
            <a:off x="6686550" y="2381250"/>
            <a:ext cx="1905000" cy="4667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比较真实与预测下一 PC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FB624E88-52A9-445E-B31E-11815539BE3B}"/>
              </a:ext>
            </a:extLst>
          </p:cNvPr>
          <p:cNvSpPr>
            <a:spLocks noGrp="1"/>
          </p:cNvSpPr>
          <p:nvPr/>
        </p:nvSpPr>
        <p:spPr>
          <a:xfrm>
            <a:off x="9563100" y="1924050"/>
            <a:ext cx="2095500" cy="1000125"/>
          </a:xfrm>
          <a:prstGeom prst="roundRect">
            <a:avLst>
              <a:gd name="adj" fmla="val 7619"/>
            </a:avLst>
          </a:prstGeom>
          <a:solidFill>
            <a:srgbClr val="111C2F"/>
          </a:solidFill>
          <a:ln w="9525">
            <a:solidFill>
              <a:srgbClr val="F26B7A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29F625F-419F-4D13-92EF-23411457E0C9}"/>
              </a:ext>
            </a:extLst>
          </p:cNvPr>
          <p:cNvSpPr>
            <a:spLocks noGrp="1"/>
          </p:cNvSpPr>
          <p:nvPr/>
        </p:nvSpPr>
        <p:spPr>
          <a:xfrm>
            <a:off x="9639300" y="2057400"/>
            <a:ext cx="194310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F26B7A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F26B7A"/>
                </a:solidFill>
                <a:latin typeface="Noto Sans SC"/>
                <a:ea typeface="Noto Sans SC"/>
                <a:cs typeface="Noto Sans SC"/>
              </a:rPr>
              <a:t>恢复与更新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82CD81E-C54B-4004-BA9C-4AC607A3D9D7}"/>
              </a:ext>
            </a:extLst>
          </p:cNvPr>
          <p:cNvSpPr>
            <a:spLocks noGrp="1"/>
          </p:cNvSpPr>
          <p:nvPr/>
        </p:nvSpPr>
        <p:spPr>
          <a:xfrm>
            <a:off x="9658350" y="2381250"/>
            <a:ext cx="1905000" cy="4667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误预测冲刷</a:t>
            </a:r>
          </a:p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真实指令仅更新一次</a:t>
            </a:r>
          </a:p>
        </p:txBody>
      </p:sp>
      <p:cxnSp>
        <p:nvCxnSpPr>
          <p:cNvPr id="50" name="直接箭头连接符 49"/>
          <p:cNvCxnSpPr>
            <a:stCxn id="5" idx="3"/>
            <a:endCxn id="8" idx="1"/>
          </p:cNvCxnSpPr>
          <p:nvPr/>
        </p:nvCxnSpPr>
        <p:spPr>
          <a:xfrm>
            <a:off x="2743200" y="2424113"/>
            <a:ext cx="876300" cy="0"/>
          </a:xfrm>
          <a:prstGeom prst="straightConnector1">
            <a:avLst/>
          </a:prstGeom>
          <a:ln w="19050">
            <a:solidFill>
              <a:srgbClr val="25D4E8"/>
            </a:solidFill>
            <a:prstDash val="solid"/>
            <a:tailEnd type="triangle" w="sm" len="sm"/>
          </a:ln>
        </p:spPr>
      </p:cxnSp>
      <p:cxnSp>
        <p:nvCxnSpPr>
          <p:cNvPr id="51" name="直接箭头连接符 50"/>
          <p:cNvCxnSpPr>
            <a:stCxn id="8" idx="3"/>
            <a:endCxn id="11" idx="1"/>
          </p:cNvCxnSpPr>
          <p:nvPr/>
        </p:nvCxnSpPr>
        <p:spPr>
          <a:xfrm>
            <a:off x="5715000" y="2424113"/>
            <a:ext cx="876300" cy="0"/>
          </a:xfrm>
          <a:prstGeom prst="straightConnector1">
            <a:avLst/>
          </a:prstGeom>
          <a:ln w="19050">
            <a:solidFill>
              <a:srgbClr val="25D4E8"/>
            </a:solidFill>
            <a:prstDash val="solid"/>
            <a:tailEnd type="triangle" w="sm" len="sm"/>
          </a:ln>
        </p:spPr>
      </p:cxnSp>
      <p:cxnSp>
        <p:nvCxnSpPr>
          <p:cNvPr id="52" name="直接箭头连接符 51"/>
          <p:cNvCxnSpPr>
            <a:stCxn id="11" idx="3"/>
            <a:endCxn id="14" idx="1"/>
          </p:cNvCxnSpPr>
          <p:nvPr/>
        </p:nvCxnSpPr>
        <p:spPr>
          <a:xfrm>
            <a:off x="8686800" y="2424113"/>
            <a:ext cx="876300" cy="0"/>
          </a:xfrm>
          <a:prstGeom prst="straightConnector1">
            <a:avLst/>
          </a:prstGeom>
          <a:ln w="19050">
            <a:solidFill>
              <a:srgbClr val="25D4E8"/>
            </a:solidFill>
            <a:prstDash val="solid"/>
            <a:tailEnd type="triangle" w="sm" len="sm"/>
          </a:ln>
        </p:spPr>
      </p:cxn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9D436BC7-4C29-402D-BC3D-74C896F86012}"/>
              </a:ext>
            </a:extLst>
          </p:cNvPr>
          <p:cNvSpPr>
            <a:spLocks noGrp="1"/>
          </p:cNvSpPr>
          <p:nvPr/>
        </p:nvSpPr>
        <p:spPr>
          <a:xfrm>
            <a:off x="647700" y="3619500"/>
            <a:ext cx="3333750" cy="1428750"/>
          </a:xfrm>
          <a:prstGeom prst="roundRect">
            <a:avLst>
              <a:gd name="adj" fmla="val 6000"/>
            </a:avLst>
          </a:prstGeom>
          <a:solidFill>
            <a:srgbClr val="111C2F"/>
          </a:solidFill>
          <a:ln w="9525">
            <a:solidFill>
              <a:srgbClr val="283A55"/>
            </a:solidFill>
            <a:prstDash val="solid"/>
          </a:ln>
        </p:spPr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8BFC36B1-FCF2-4190-A660-F44F8E333856}"/>
              </a:ext>
            </a:extLst>
          </p:cNvPr>
          <p:cNvSpPr>
            <a:spLocks noGrp="1"/>
          </p:cNvSpPr>
          <p:nvPr/>
        </p:nvSpPr>
        <p:spPr>
          <a:xfrm>
            <a:off x="647700" y="3619500"/>
            <a:ext cx="47625" cy="1428750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 w="0">
            <a:noFill/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7C7EAE0-592F-48A1-93F9-AF0D17B1EEAB}"/>
              </a:ext>
            </a:extLst>
          </p:cNvPr>
          <p:cNvSpPr>
            <a:spLocks noGrp="1"/>
          </p:cNvSpPr>
          <p:nvPr/>
        </p:nvSpPr>
        <p:spPr>
          <a:xfrm>
            <a:off x="857250" y="3781425"/>
            <a:ext cx="29527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A78BFA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A78BFA"/>
                </a:solidFill>
                <a:latin typeface="Noto Sans SC"/>
                <a:ea typeface="Noto Sans SC"/>
                <a:cs typeface="Noto Sans SC"/>
              </a:rPr>
              <a:t>状态机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63C61D3C-7B8B-4DC8-B5E1-034D70B2E703}"/>
              </a:ext>
            </a:extLst>
          </p:cNvPr>
          <p:cNvSpPr>
            <a:spLocks noGrp="1"/>
          </p:cNvSpPr>
          <p:nvPr/>
        </p:nvSpPr>
        <p:spPr>
          <a:xfrm>
            <a:off x="857250" y="4124325"/>
            <a:ext cx="2952750" cy="7810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00 强不跳转</a:t>
            </a: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01 弱不跳转</a:t>
            </a: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10 弱跳转</a:t>
            </a: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11 强跳转</a:t>
            </a: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29BBBEF3-B316-4D26-BA27-3B0DF086F141}"/>
              </a:ext>
            </a:extLst>
          </p:cNvPr>
          <p:cNvSpPr>
            <a:spLocks noGrp="1"/>
          </p:cNvSpPr>
          <p:nvPr/>
        </p:nvSpPr>
        <p:spPr>
          <a:xfrm>
            <a:off x="4429125" y="3619500"/>
            <a:ext cx="3333750" cy="1428750"/>
          </a:xfrm>
          <a:prstGeom prst="roundRect">
            <a:avLst>
              <a:gd name="adj" fmla="val 6000"/>
            </a:avLst>
          </a:prstGeom>
          <a:solidFill>
            <a:srgbClr val="111C2F"/>
          </a:solidFill>
          <a:ln w="9525">
            <a:solidFill>
              <a:srgbClr val="283A55"/>
            </a:solidFill>
            <a:prstDash val="solid"/>
          </a:ln>
        </p:spPr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DF5A6CC9-F9D6-4918-BC6D-E7D68338739A}"/>
              </a:ext>
            </a:extLst>
          </p:cNvPr>
          <p:cNvSpPr>
            <a:spLocks noGrp="1"/>
          </p:cNvSpPr>
          <p:nvPr/>
        </p:nvSpPr>
        <p:spPr>
          <a:xfrm>
            <a:off x="4429125" y="3619500"/>
            <a:ext cx="47625" cy="1428750"/>
          </a:xfrm>
          <a:prstGeom prst="roundRect">
            <a:avLst>
              <a:gd name="adj" fmla="val 50000"/>
            </a:avLst>
          </a:prstGeom>
          <a:solidFill>
            <a:srgbClr val="37D99A"/>
          </a:solidFill>
          <a:ln w="0">
            <a:noFill/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A335B301-2BEA-4B0E-B277-6455B08C1B9F}"/>
              </a:ext>
            </a:extLst>
          </p:cNvPr>
          <p:cNvSpPr>
            <a:spLocks noGrp="1"/>
          </p:cNvSpPr>
          <p:nvPr/>
        </p:nvSpPr>
        <p:spPr>
          <a:xfrm>
            <a:off x="4638675" y="3781425"/>
            <a:ext cx="29527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rPr>
              <a:t>Branch 128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07E2AC77-C029-4EDC-ACC7-8DA26C1D5039}"/>
              </a:ext>
            </a:extLst>
          </p:cNvPr>
          <p:cNvSpPr>
            <a:spLocks noGrp="1"/>
          </p:cNvSpPr>
          <p:nvPr/>
        </p:nvSpPr>
        <p:spPr>
          <a:xfrm>
            <a:off x="4638675" y="4124325"/>
            <a:ext cx="2952750" cy="7810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未预测：128 次误判</a:t>
            </a: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开启预测：2 次误判</a:t>
            </a: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准确率约 99.2%</a:t>
            </a: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E38ABC53-394F-4882-B204-B77463969CEA}"/>
              </a:ext>
            </a:extLst>
          </p:cNvPr>
          <p:cNvSpPr>
            <a:spLocks noGrp="1"/>
          </p:cNvSpPr>
          <p:nvPr/>
        </p:nvSpPr>
        <p:spPr>
          <a:xfrm>
            <a:off x="8210550" y="3619500"/>
            <a:ext cx="3448050" cy="1428750"/>
          </a:xfrm>
          <a:prstGeom prst="roundRect">
            <a:avLst>
              <a:gd name="adj" fmla="val 6000"/>
            </a:avLst>
          </a:prstGeom>
          <a:solidFill>
            <a:srgbClr val="111C2F"/>
          </a:solidFill>
          <a:ln w="9525">
            <a:solidFill>
              <a:srgbClr val="283A55"/>
            </a:solidFill>
            <a:prstDash val="solid"/>
          </a:ln>
        </p:spPr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77129535-9E61-476C-84EA-476953C463AE}"/>
              </a:ext>
            </a:extLst>
          </p:cNvPr>
          <p:cNvSpPr>
            <a:spLocks noGrp="1"/>
          </p:cNvSpPr>
          <p:nvPr/>
        </p:nvSpPr>
        <p:spPr>
          <a:xfrm>
            <a:off x="8210550" y="3619500"/>
            <a:ext cx="47625" cy="1428750"/>
          </a:xfrm>
          <a:prstGeom prst="roundRect">
            <a:avLst>
              <a:gd name="adj" fmla="val 50000"/>
            </a:avLst>
          </a:prstGeom>
          <a:solidFill>
            <a:srgbClr val="25D4E8"/>
          </a:solidFill>
          <a:ln w="0">
            <a:noFill/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5309FD61-7552-46E0-B910-E633A44E67B9}"/>
              </a:ext>
            </a:extLst>
          </p:cNvPr>
          <p:cNvSpPr>
            <a:spLocks noGrp="1"/>
          </p:cNvSpPr>
          <p:nvPr/>
        </p:nvSpPr>
        <p:spPr>
          <a:xfrm>
            <a:off x="8420100" y="3781425"/>
            <a:ext cx="30670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组合收益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94A869DB-B3C1-4788-9808-22B71AF073F6}"/>
              </a:ext>
            </a:extLst>
          </p:cNvPr>
          <p:cNvSpPr>
            <a:spLocks noGrp="1"/>
          </p:cNvSpPr>
          <p:nvPr/>
        </p:nvSpPr>
        <p:spPr>
          <a:xfrm>
            <a:off x="8420100" y="4124325"/>
            <a:ext cx="3067050" cy="7810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P-CACHE：670 周期</a:t>
            </a: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P-FULL：418 周期</a:t>
            </a: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周期减少 37.6%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40EEE024-32EB-4738-9B18-5BBA3B440B61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723900" cy="304800"/>
          </a:xfrm>
          <a:prstGeom prst="rect">
            <a:avLst/>
          </a:prstGeom>
          <a:solidFill>
            <a:srgbClr val="0B1220"/>
          </a:solidFill>
          <a:ln w="0">
            <a:noFill/>
            <a:prstDash val="solid"/>
          </a:ln>
        </p:spPr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29D0CBAD-851D-4937-9240-7D97746E092B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2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0655709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7BF849B1-26FC-49F1-87D4-192AD13C596D}"/>
              </a:ext>
            </a:extLst>
          </p:cNvPr>
          <p:cNvSpPr>
            <a:spLocks noGrp="1"/>
          </p:cNvSpPr>
          <p:nvPr/>
        </p:nvSpPr>
        <p:spPr>
          <a:xfrm>
            <a:off x="400050" y="247650"/>
            <a:ext cx="409575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全量验证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7AFADF7-169B-4F97-A4D0-EC049D8B5B13}"/>
              </a:ext>
            </a:extLst>
          </p:cNvPr>
          <p:cNvSpPr>
            <a:spLocks noGrp="1"/>
          </p:cNvSpPr>
          <p:nvPr/>
        </p:nvSpPr>
        <p:spPr>
          <a:xfrm>
            <a:off x="400050" y="590550"/>
            <a:ext cx="1085850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2475" b="1" dirty="0" err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十三组自动化</a:t>
            </a:r>
            <a:r>
              <a:rPr lang="zh-CN" altLang="en-US" sz="2475" b="1" dirty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测试</a:t>
            </a:r>
            <a:endParaRPr sz="2475" b="1" dirty="0">
              <a:solidFill>
                <a:srgbClr val="EAF2FF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00ED9AA3-2340-4E93-A251-8962EFFA7FBD}"/>
              </a:ext>
            </a:extLst>
          </p:cNvPr>
          <p:cNvSpPr>
            <a:spLocks noGrp="1"/>
          </p:cNvSpPr>
          <p:nvPr/>
        </p:nvSpPr>
        <p:spPr>
          <a:xfrm>
            <a:off x="400050" y="1238250"/>
            <a:ext cx="10991850" cy="0"/>
          </a:xfrm>
          <a:prstGeom prst="line">
            <a:avLst/>
          </a:prstGeom>
          <a:noFill/>
          <a:ln w="9525">
            <a:solidFill>
              <a:srgbClr val="283A55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17F1AC5-B8F8-4ACA-9EDC-40914301283A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2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08</a:t>
            </a:r>
          </a:p>
        </p:txBody>
      </p:sp>
      <p:graphicFrame>
        <p:nvGraphicFramePr>
          <p:cNvPr id="13" name="表格 12"/>
          <p:cNvGraphicFramePr/>
          <p:nvPr/>
        </p:nvGraphicFramePr>
        <p:xfrm>
          <a:off x="400050" y="1600200"/>
          <a:ext cx="11391900" cy="3714753"/>
        </p:xfrm>
        <a:graphic>
          <a:graphicData uri="http://schemas.openxmlformats.org/drawingml/2006/table">
            <a:tbl>
              <a:tblPr/>
              <a:tblGrid>
                <a:gridCol w="18703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904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708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6022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0679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25D4E8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层次</a:t>
                      </a:r>
                    </a:p>
                  </a:txBody>
                  <a:tcPr>
                    <a:solidFill>
                      <a:srgbClr val="1631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25D4E8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testbench</a:t>
                      </a:r>
                    </a:p>
                  </a:txBody>
                  <a:tcPr>
                    <a:solidFill>
                      <a:srgbClr val="1631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25D4E8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主要覆盖</a:t>
                      </a:r>
                    </a:p>
                  </a:txBody>
                  <a:tcPr>
                    <a:solidFill>
                      <a:srgbClr val="1631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25D4E8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结果</a:t>
                      </a:r>
                    </a:p>
                  </a:txBody>
                  <a:tcPr>
                    <a:solidFill>
                      <a:srgbClr val="1631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679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译码与执行</a:t>
                      </a:r>
                    </a:p>
                  </a:txBody>
                  <a:tcPr>
                    <a:solidFill>
                      <a:srgbClr val="111C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EAF2FF"/>
                          </a:solidFill>
                          <a:latin typeface="Consolas"/>
                          <a:ea typeface="Consolas"/>
                          <a:cs typeface="Consolas"/>
                        </a:rPr>
                        <a:t>overflow / decode</a:t>
                      </a:r>
                    </a:p>
                  </a:txBody>
                  <a:tcPr>
                    <a:solidFill>
                      <a:srgbClr val="111C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边界、29 条有效编码、非法指令</a:t>
                      </a:r>
                    </a:p>
                  </a:txBody>
                  <a:tcPr>
                    <a:solidFill>
                      <a:srgbClr val="111C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37D99A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>
                    <a:solidFill>
                      <a:srgbClr val="111C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679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微结构</a:t>
                      </a:r>
                    </a:p>
                  </a:txBody>
                  <a:tcPr>
                    <a:solidFill>
                      <a:srgbClr val="16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EAF2FF"/>
                          </a:solidFill>
                          <a:latin typeface="Consolas"/>
                          <a:ea typeface="Consolas"/>
                          <a:cs typeface="Consolas"/>
                        </a:rPr>
                        <a:t>predictor / cache</a:t>
                      </a:r>
                    </a:p>
                  </a:txBody>
                  <a:tcPr>
                    <a:solidFill>
                      <a:srgbClr val="16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训练、饱和、tag 冲突、替换、旁路</a:t>
                      </a:r>
                    </a:p>
                  </a:txBody>
                  <a:tcPr>
                    <a:solidFill>
                      <a:srgbClr val="16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37D99A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>
                    <a:solidFill>
                      <a:srgbClr val="1624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679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基础 CPU</a:t>
                      </a:r>
                    </a:p>
                  </a:txBody>
                  <a:tcPr>
                    <a:solidFill>
                      <a:srgbClr val="111C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EAF2FF"/>
                          </a:solidFill>
                          <a:latin typeface="Consolas"/>
                          <a:ea typeface="Consolas"/>
                          <a:cs typeface="Consolas"/>
                        </a:rPr>
                        <a:t>cpu_core / pipeline_hazard</a:t>
                      </a:r>
                    </a:p>
                  </a:txBody>
                  <a:tcPr>
                    <a:solidFill>
                      <a:srgbClr val="111C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同步 BRAM 回归、前递、停顿、冲刷</a:t>
                      </a:r>
                    </a:p>
                  </a:txBody>
                  <a:tcPr>
                    <a:solidFill>
                      <a:srgbClr val="111C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37D99A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>
                    <a:solidFill>
                      <a:srgbClr val="111C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679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扩展系统</a:t>
                      </a:r>
                    </a:p>
                  </a:txBody>
                  <a:tcPr>
                    <a:solidFill>
                      <a:srgbClr val="16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EAF2FF"/>
                          </a:solidFill>
                          <a:latin typeface="Consolas"/>
                          <a:ea typeface="Consolas"/>
                          <a:cs typeface="Consolas"/>
                        </a:rPr>
                        <a:t>extended_system</a:t>
                      </a:r>
                    </a:p>
                  </a:txBody>
                  <a:tcPr>
                    <a:solidFill>
                      <a:srgbClr val="16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异常、中断、Cache、预测与返回</a:t>
                      </a:r>
                    </a:p>
                  </a:txBody>
                  <a:tcPr>
                    <a:solidFill>
                      <a:srgbClr val="16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37D99A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>
                    <a:solidFill>
                      <a:srgbClr val="1624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0679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板级与应用</a:t>
                      </a:r>
                    </a:p>
                  </a:txBody>
                  <a:tcPr>
                    <a:solidFill>
                      <a:srgbClr val="111C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EAF2FF"/>
                          </a:solidFill>
                          <a:latin typeface="Consolas"/>
                          <a:ea typeface="Consolas"/>
                          <a:cs typeface="Consolas"/>
                        </a:rPr>
                        <a:t>bringup / tetris</a:t>
                      </a:r>
                    </a:p>
                  </a:txBody>
                  <a:tcPr>
                    <a:solidFill>
                      <a:srgbClr val="111C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启动程序与 10×20 游戏</a:t>
                      </a:r>
                    </a:p>
                  </a:txBody>
                  <a:tcPr>
                    <a:solidFill>
                      <a:srgbClr val="111C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37D99A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>
                    <a:solidFill>
                      <a:srgbClr val="111C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0679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外设</a:t>
                      </a:r>
                    </a:p>
                  </a:txBody>
                  <a:tcPr>
                    <a:solidFill>
                      <a:srgbClr val="16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EAF2FF"/>
                          </a:solidFill>
                          <a:latin typeface="Consolas"/>
                          <a:ea typeface="Consolas"/>
                          <a:cs typeface="Consolas"/>
                        </a:rPr>
                        <a:t>UART / SPI / LCD / key</a:t>
                      </a:r>
                    </a:p>
                  </a:txBody>
                  <a:tcPr>
                    <a:solidFill>
                      <a:srgbClr val="16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位序、状态机、发送次数与消抖</a:t>
                      </a:r>
                    </a:p>
                  </a:txBody>
                  <a:tcPr>
                    <a:solidFill>
                      <a:srgbClr val="16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37D99A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>
                    <a:solidFill>
                      <a:srgbClr val="1624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矩形 6">
            <a:extLst>
              <a:ext uri="{FF2B5EF4-FFF2-40B4-BE49-F238E27FC236}">
                <a16:creationId xmlns:a16="http://schemas.microsoft.com/office/drawing/2014/main" id="{7E636683-56EA-4B0C-8878-3129E64B882E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723900" cy="304800"/>
          </a:xfrm>
          <a:prstGeom prst="rect">
            <a:avLst/>
          </a:prstGeom>
          <a:solidFill>
            <a:srgbClr val="0B1220"/>
          </a:solidFill>
          <a:ln w="0">
            <a:noFill/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BB6EA0A-5FEF-46BA-9AFD-C9F417FF4BA9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2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0138349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:a16="http://schemas.microsoft.com/office/drawing/2014/main" id="{DB9FBED9-8A6C-4F35-93D5-144D065AF15E}"/>
              </a:ext>
            </a:extLst>
          </p:cNvPr>
          <p:cNvSpPr>
            <a:spLocks noGrp="1"/>
          </p:cNvSpPr>
          <p:nvPr/>
        </p:nvSpPr>
        <p:spPr>
          <a:xfrm>
            <a:off x="400050" y="247650"/>
            <a:ext cx="409575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性能实验设计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CCCD06B-07D7-4127-8970-0442509A4D65}"/>
              </a:ext>
            </a:extLst>
          </p:cNvPr>
          <p:cNvSpPr>
            <a:spLocks noGrp="1"/>
          </p:cNvSpPr>
          <p:nvPr/>
        </p:nvSpPr>
        <p:spPr>
          <a:xfrm>
            <a:off x="400050" y="590550"/>
            <a:ext cx="1085850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性能实验口径与公平性</a:t>
            </a:r>
          </a:p>
        </p:txBody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1EA435C6-44DB-426D-9C99-03D572F218E8}"/>
              </a:ext>
            </a:extLst>
          </p:cNvPr>
          <p:cNvSpPr>
            <a:spLocks noGrp="1"/>
          </p:cNvSpPr>
          <p:nvPr/>
        </p:nvSpPr>
        <p:spPr>
          <a:xfrm>
            <a:off x="400050" y="1238250"/>
            <a:ext cx="10991850" cy="0"/>
          </a:xfrm>
          <a:prstGeom prst="line">
            <a:avLst/>
          </a:prstGeom>
          <a:noFill/>
          <a:ln w="9525">
            <a:solidFill>
              <a:srgbClr val="283A55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F78DD7E-68B1-4242-BC22-EB9D7B05C6E4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2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09</a:t>
            </a:r>
          </a:p>
        </p:txBody>
      </p:sp>
      <p:graphicFrame>
        <p:nvGraphicFramePr>
          <p:cNvPr id="32" name="表格 31"/>
          <p:cNvGraphicFramePr/>
          <p:nvPr/>
        </p:nvGraphicFramePr>
        <p:xfrm>
          <a:off x="400050" y="1619250"/>
          <a:ext cx="6667500" cy="3714750"/>
        </p:xfrm>
        <a:graphic>
          <a:graphicData uri="http://schemas.openxmlformats.org/drawingml/2006/table">
            <a:tbl>
              <a:tblPr/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67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19125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25D4E8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约束</a:t>
                      </a:r>
                    </a:p>
                  </a:txBody>
                  <a:tcPr>
                    <a:solidFill>
                      <a:srgbClr val="1631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25D4E8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做法</a:t>
                      </a:r>
                    </a:p>
                  </a:txBody>
                  <a:tcPr>
                    <a:solidFill>
                      <a:srgbClr val="1631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基线来源</a:t>
                      </a:r>
                    </a:p>
                  </a:txBody>
                  <a:tcPr>
                    <a:solidFill>
                      <a:srgbClr val="111C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组员大三阶段真实单周期 RTL 与原始机器码</a:t>
                      </a:r>
                    </a:p>
                  </a:txBody>
                  <a:tcPr>
                    <a:solidFill>
                      <a:srgbClr val="111C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输入一致</a:t>
                      </a:r>
                    </a:p>
                  </a:txBody>
                  <a:tcPr>
                    <a:solidFill>
                      <a:srgbClr val="16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六种配置使用相同程序、数据、结束条件</a:t>
                      </a:r>
                    </a:p>
                  </a:txBody>
                  <a:tcPr>
                    <a:solidFill>
                      <a:srgbClr val="1624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架构一致</a:t>
                      </a:r>
                    </a:p>
                  </a:txBody>
                  <a:tcPr>
                    <a:solidFill>
                      <a:srgbClr val="111C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逐条核对退休 PC、指令、rd、写回与存储事件</a:t>
                      </a:r>
                    </a:p>
                  </a:txBody>
                  <a:tcPr>
                    <a:solidFill>
                      <a:srgbClr val="111C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时序一致</a:t>
                      </a:r>
                    </a:p>
                  </a:txBody>
                  <a:tcPr>
                    <a:solidFill>
                      <a:srgbClr val="16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分别用通过布线后时序的频率计算 CPU 时间</a:t>
                      </a:r>
                    </a:p>
                  </a:txBody>
                  <a:tcPr>
                    <a:solidFill>
                      <a:srgbClr val="1624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指标完整</a:t>
                      </a:r>
                    </a:p>
                  </a:txBody>
                  <a:tcPr>
                    <a:solidFill>
                      <a:srgbClr val="111C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CPI、IPC、MIPS、CPU 时间、停顿、预测、Cache、资源</a:t>
                      </a:r>
                    </a:p>
                  </a:txBody>
                  <a:tcPr>
                    <a:solidFill>
                      <a:srgbClr val="111C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矩形 5">
            <a:extLst>
              <a:ext uri="{FF2B5EF4-FFF2-40B4-BE49-F238E27FC236}">
                <a16:creationId xmlns:a16="http://schemas.microsoft.com/office/drawing/2014/main" id="{E926C43A-B244-4401-BBF0-185F063C1CF8}"/>
              </a:ext>
            </a:extLst>
          </p:cNvPr>
          <p:cNvSpPr>
            <a:spLocks noGrp="1"/>
          </p:cNvSpPr>
          <p:nvPr/>
        </p:nvSpPr>
        <p:spPr>
          <a:xfrm>
            <a:off x="7543800" y="1638300"/>
            <a:ext cx="285750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8202" lnSpcReduction="20000"/>
          </a:bodyPr>
          <a:lstStyle/>
          <a:p>
            <a:pPr>
              <a:defRPr sz="142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142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六种配置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F1B4A849-BAF1-458A-9888-650347968213}"/>
              </a:ext>
            </a:extLst>
          </p:cNvPr>
          <p:cNvSpPr>
            <a:spLocks noGrp="1"/>
          </p:cNvSpPr>
          <p:nvPr/>
        </p:nvSpPr>
        <p:spPr>
          <a:xfrm>
            <a:off x="7543800" y="2095500"/>
            <a:ext cx="1143000" cy="304800"/>
          </a:xfrm>
          <a:prstGeom prst="roundRect">
            <a:avLst>
              <a:gd name="adj" fmla="val 50000"/>
            </a:avLst>
          </a:prstGeom>
          <a:solidFill>
            <a:srgbClr val="16243B"/>
          </a:solidFill>
          <a:ln w="0">
            <a:noFill/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0A12379-37B3-4A8A-91B5-18307B59ADF0}"/>
              </a:ext>
            </a:extLst>
          </p:cNvPr>
          <p:cNvSpPr>
            <a:spLocks noGrp="1"/>
          </p:cNvSpPr>
          <p:nvPr/>
        </p:nvSpPr>
        <p:spPr>
          <a:xfrm>
            <a:off x="7543800" y="2143125"/>
            <a:ext cx="1143000" cy="2000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0577" lnSpcReduction="20000"/>
          </a:bodyPr>
          <a:lstStyle/>
          <a:p>
            <a:pPr>
              <a:defRPr sz="975" b="1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SC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1DABDFA-BD2C-4EB0-A53F-09CA229FE760}"/>
              </a:ext>
            </a:extLst>
          </p:cNvPr>
          <p:cNvSpPr>
            <a:spLocks noGrp="1"/>
          </p:cNvSpPr>
          <p:nvPr/>
        </p:nvSpPr>
        <p:spPr>
          <a:xfrm>
            <a:off x="8839200" y="2143125"/>
            <a:ext cx="2476500" cy="228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7500" lnSpcReduction="10000"/>
          </a:bodyPr>
          <a:lstStyle/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原单周期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6C458B5F-4BCF-43DD-AB5E-F1FCC20C2D40}"/>
              </a:ext>
            </a:extLst>
          </p:cNvPr>
          <p:cNvSpPr>
            <a:spLocks noGrp="1"/>
          </p:cNvSpPr>
          <p:nvPr/>
        </p:nvSpPr>
        <p:spPr>
          <a:xfrm>
            <a:off x="7543800" y="2619375"/>
            <a:ext cx="1143000" cy="304800"/>
          </a:xfrm>
          <a:prstGeom prst="roundRect">
            <a:avLst>
              <a:gd name="adj" fmla="val 50000"/>
            </a:avLst>
          </a:prstGeom>
          <a:solidFill>
            <a:srgbClr val="16243B"/>
          </a:solidFill>
          <a:ln w="0">
            <a:noFill/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95C6353-C328-4D53-AA1D-60A4F2C1CFA4}"/>
              </a:ext>
            </a:extLst>
          </p:cNvPr>
          <p:cNvSpPr>
            <a:spLocks noGrp="1"/>
          </p:cNvSpPr>
          <p:nvPr/>
        </p:nvSpPr>
        <p:spPr>
          <a:xfrm>
            <a:off x="7543800" y="2667000"/>
            <a:ext cx="1143000" cy="2000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0577" lnSpcReduction="20000"/>
          </a:bodyPr>
          <a:lstStyle/>
          <a:p>
            <a:pPr>
              <a:def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P-IDEAL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B0FAC7E-C986-40C5-ADEF-EC7ACFA785B4}"/>
              </a:ext>
            </a:extLst>
          </p:cNvPr>
          <p:cNvSpPr>
            <a:spLocks noGrp="1"/>
          </p:cNvSpPr>
          <p:nvPr/>
        </p:nvSpPr>
        <p:spPr>
          <a:xfrm>
            <a:off x="8839200" y="2667000"/>
            <a:ext cx="2476500" cy="228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7500" lnSpcReduction="10000"/>
          </a:bodyPr>
          <a:lstStyle/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理想存储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C57FFD2D-9938-41F3-BC32-6CF4ADE6CCD5}"/>
              </a:ext>
            </a:extLst>
          </p:cNvPr>
          <p:cNvSpPr>
            <a:spLocks noGrp="1"/>
          </p:cNvSpPr>
          <p:nvPr/>
        </p:nvSpPr>
        <p:spPr>
          <a:xfrm>
            <a:off x="7543800" y="3143250"/>
            <a:ext cx="1143000" cy="304800"/>
          </a:xfrm>
          <a:prstGeom prst="roundRect">
            <a:avLst>
              <a:gd name="adj" fmla="val 50000"/>
            </a:avLst>
          </a:prstGeom>
          <a:solidFill>
            <a:srgbClr val="16243B"/>
          </a:solidFill>
          <a:ln w="0">
            <a:noFill/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99EBFD7-4059-41BF-ACAD-575977CB0CC3}"/>
              </a:ext>
            </a:extLst>
          </p:cNvPr>
          <p:cNvSpPr>
            <a:spLocks noGrp="1"/>
          </p:cNvSpPr>
          <p:nvPr/>
        </p:nvSpPr>
        <p:spPr>
          <a:xfrm>
            <a:off x="7543800" y="3190875"/>
            <a:ext cx="1143000" cy="2000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0577" lnSpcReduction="20000"/>
          </a:bodyPr>
          <a:lstStyle/>
          <a:p>
            <a:pPr>
              <a:defRPr sz="975" b="1">
                <a:solidFill>
                  <a:srgbClr val="F5B942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F5B942"/>
                </a:solidFill>
                <a:latin typeface="Noto Sans SC"/>
                <a:ea typeface="Noto Sans SC"/>
                <a:cs typeface="Noto Sans SC"/>
              </a:rPr>
              <a:t>P-BASE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287F6E0-DCEE-4073-8BB7-DBE60880E9AA}"/>
              </a:ext>
            </a:extLst>
          </p:cNvPr>
          <p:cNvSpPr>
            <a:spLocks noGrp="1"/>
          </p:cNvSpPr>
          <p:nvPr/>
        </p:nvSpPr>
        <p:spPr>
          <a:xfrm>
            <a:off x="8839200" y="3190875"/>
            <a:ext cx="2476500" cy="228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7500" lnSpcReduction="10000"/>
          </a:bodyPr>
          <a:lstStyle/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同步存储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938B071E-B5B2-4EC8-A7C3-6A588E9F0634}"/>
              </a:ext>
            </a:extLst>
          </p:cNvPr>
          <p:cNvSpPr>
            <a:spLocks noGrp="1"/>
          </p:cNvSpPr>
          <p:nvPr/>
        </p:nvSpPr>
        <p:spPr>
          <a:xfrm>
            <a:off x="7543800" y="3667125"/>
            <a:ext cx="1143000" cy="304800"/>
          </a:xfrm>
          <a:prstGeom prst="roundRect">
            <a:avLst>
              <a:gd name="adj" fmla="val 50000"/>
            </a:avLst>
          </a:prstGeom>
          <a:solidFill>
            <a:srgbClr val="16243B"/>
          </a:solidFill>
          <a:ln w="0">
            <a:noFill/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4445DD72-8002-4541-B585-A55B5398713D}"/>
              </a:ext>
            </a:extLst>
          </p:cNvPr>
          <p:cNvSpPr>
            <a:spLocks noGrp="1"/>
          </p:cNvSpPr>
          <p:nvPr/>
        </p:nvSpPr>
        <p:spPr>
          <a:xfrm>
            <a:off x="7543800" y="3714750"/>
            <a:ext cx="1143000" cy="2000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0577" lnSpcReduction="20000"/>
          </a:bodyPr>
          <a:lstStyle/>
          <a:p>
            <a:pPr>
              <a:defRPr sz="975" b="1">
                <a:solidFill>
                  <a:srgbClr val="4F83FF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4F83FF"/>
                </a:solidFill>
                <a:latin typeface="Noto Sans SC"/>
                <a:ea typeface="Noto Sans SC"/>
                <a:cs typeface="Noto Sans SC"/>
              </a:rPr>
              <a:t>P-CACHE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7BE023C5-A736-41B8-8266-2CB34939BB36}"/>
              </a:ext>
            </a:extLst>
          </p:cNvPr>
          <p:cNvSpPr>
            <a:spLocks noGrp="1"/>
          </p:cNvSpPr>
          <p:nvPr/>
        </p:nvSpPr>
        <p:spPr>
          <a:xfrm>
            <a:off x="8839200" y="3714750"/>
            <a:ext cx="2476500" cy="228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7500" lnSpcReduction="10000"/>
          </a:bodyPr>
          <a:lstStyle/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双 Cache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53DDB7A1-B140-4885-8540-0C5D8823448F}"/>
              </a:ext>
            </a:extLst>
          </p:cNvPr>
          <p:cNvSpPr>
            <a:spLocks noGrp="1"/>
          </p:cNvSpPr>
          <p:nvPr/>
        </p:nvSpPr>
        <p:spPr>
          <a:xfrm>
            <a:off x="7543800" y="4191000"/>
            <a:ext cx="1143000" cy="304800"/>
          </a:xfrm>
          <a:prstGeom prst="roundRect">
            <a:avLst>
              <a:gd name="adj" fmla="val 50000"/>
            </a:avLst>
          </a:prstGeom>
          <a:solidFill>
            <a:srgbClr val="16243B"/>
          </a:solidFill>
          <a:ln w="0">
            <a:noFill/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BDD36F3E-2463-4D4A-A364-4A17C34CA792}"/>
              </a:ext>
            </a:extLst>
          </p:cNvPr>
          <p:cNvSpPr>
            <a:spLocks noGrp="1"/>
          </p:cNvSpPr>
          <p:nvPr/>
        </p:nvSpPr>
        <p:spPr>
          <a:xfrm>
            <a:off x="7543800" y="4238625"/>
            <a:ext cx="1143000" cy="2000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0577" lnSpcReduction="20000"/>
          </a:bodyPr>
          <a:lstStyle/>
          <a:p>
            <a:pPr>
              <a:defRPr sz="975" b="1">
                <a:solidFill>
                  <a:srgbClr val="A78BFA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A78BFA"/>
                </a:solidFill>
                <a:latin typeface="Noto Sans SC"/>
                <a:ea typeface="Noto Sans SC"/>
                <a:cs typeface="Noto Sans SC"/>
              </a:rPr>
              <a:t>P-BP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600748A7-DB90-42CB-863F-B87400E8D845}"/>
              </a:ext>
            </a:extLst>
          </p:cNvPr>
          <p:cNvSpPr>
            <a:spLocks noGrp="1"/>
          </p:cNvSpPr>
          <p:nvPr/>
        </p:nvSpPr>
        <p:spPr>
          <a:xfrm>
            <a:off x="8839200" y="4238625"/>
            <a:ext cx="2476500" cy="228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7500" lnSpcReduction="10000"/>
          </a:bodyPr>
          <a:lstStyle/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分支预测</a:t>
            </a: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8FB5A9F8-A83B-4B97-ADF7-584CB3E79D88}"/>
              </a:ext>
            </a:extLst>
          </p:cNvPr>
          <p:cNvSpPr>
            <a:spLocks noGrp="1"/>
          </p:cNvSpPr>
          <p:nvPr/>
        </p:nvSpPr>
        <p:spPr>
          <a:xfrm>
            <a:off x="7543800" y="4714875"/>
            <a:ext cx="1143000" cy="304800"/>
          </a:xfrm>
          <a:prstGeom prst="roundRect">
            <a:avLst>
              <a:gd name="adj" fmla="val 50000"/>
            </a:avLst>
          </a:prstGeom>
          <a:solidFill>
            <a:srgbClr val="16243B"/>
          </a:solidFill>
          <a:ln w="0">
            <a:noFill/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C9194022-5814-4A92-9178-7353FC2A2227}"/>
              </a:ext>
            </a:extLst>
          </p:cNvPr>
          <p:cNvSpPr>
            <a:spLocks noGrp="1"/>
          </p:cNvSpPr>
          <p:nvPr/>
        </p:nvSpPr>
        <p:spPr>
          <a:xfrm>
            <a:off x="7543800" y="4762500"/>
            <a:ext cx="1143000" cy="2000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0577" lnSpcReduction="20000"/>
          </a:bodyPr>
          <a:lstStyle/>
          <a:p>
            <a:pPr>
              <a:defRPr sz="975" b="1">
                <a:solidFill>
                  <a:srgbClr val="37D99A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37D99A"/>
                </a:solidFill>
                <a:latin typeface="Noto Sans SC"/>
                <a:ea typeface="Noto Sans SC"/>
                <a:cs typeface="Noto Sans SC"/>
              </a:rPr>
              <a:t>P-FULL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23D258F8-B440-495D-BF07-896465B655FE}"/>
              </a:ext>
            </a:extLst>
          </p:cNvPr>
          <p:cNvSpPr>
            <a:spLocks noGrp="1"/>
          </p:cNvSpPr>
          <p:nvPr/>
        </p:nvSpPr>
        <p:spPr>
          <a:xfrm>
            <a:off x="8839200" y="4762500"/>
            <a:ext cx="2476500" cy="228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7500" lnSpcReduction="10000"/>
          </a:bodyPr>
          <a:lstStyle/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Cache + 预测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1B4EF07C-B53F-41E0-861A-FB9469AA2B9D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723900" cy="304800"/>
          </a:xfrm>
          <a:prstGeom prst="rect">
            <a:avLst/>
          </a:prstGeom>
          <a:solidFill>
            <a:srgbClr val="0B1220"/>
          </a:solidFill>
          <a:ln w="0">
            <a:noFill/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BE7B55B5-F55E-4267-ABCA-163DD3A07BAF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2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6328330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6D56F242-1DF8-4854-B04C-88F0B752B9BE}"/>
              </a:ext>
            </a:extLst>
          </p:cNvPr>
          <p:cNvSpPr>
            <a:spLocks noGrp="1"/>
          </p:cNvSpPr>
          <p:nvPr/>
        </p:nvSpPr>
        <p:spPr>
          <a:xfrm>
            <a:off x="400050" y="247650"/>
            <a:ext cx="409575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性能结果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B96A06B-262F-4BA1-BDD9-D41813F99BF1}"/>
              </a:ext>
            </a:extLst>
          </p:cNvPr>
          <p:cNvSpPr>
            <a:spLocks noGrp="1"/>
          </p:cNvSpPr>
          <p:nvPr/>
        </p:nvSpPr>
        <p:spPr>
          <a:xfrm>
            <a:off x="400050" y="590550"/>
            <a:ext cx="1085850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冷启动负载的 CPI 对比</a:t>
            </a:r>
          </a:p>
        </p:txBody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B8E3B624-C498-494A-B2A9-C2AD2F7B085B}"/>
              </a:ext>
            </a:extLst>
          </p:cNvPr>
          <p:cNvSpPr>
            <a:spLocks noGrp="1"/>
          </p:cNvSpPr>
          <p:nvPr/>
        </p:nvSpPr>
        <p:spPr>
          <a:xfrm>
            <a:off x="400050" y="1238250"/>
            <a:ext cx="10991850" cy="0"/>
          </a:xfrm>
          <a:prstGeom prst="line">
            <a:avLst/>
          </a:prstGeom>
          <a:noFill/>
          <a:ln w="9525">
            <a:solidFill>
              <a:srgbClr val="283A55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5B166FC-CCA6-48B1-B55E-A2228D3DDEE6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2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10</a:t>
            </a:r>
          </a:p>
        </p:txBody>
      </p:sp>
      <p:pic>
        <p:nvPicPr>
          <p:cNvPr id="13" name="图片 1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370135" y="1466850"/>
            <a:ext cx="9451731" cy="4095750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5C396668-2BFE-4A5B-ACA7-B51C39A7D947}"/>
              </a:ext>
            </a:extLst>
          </p:cNvPr>
          <p:cNvSpPr>
            <a:spLocks noGrp="1"/>
          </p:cNvSpPr>
          <p:nvPr/>
        </p:nvSpPr>
        <p:spPr>
          <a:xfrm>
            <a:off x="400050" y="5829300"/>
            <a:ext cx="11391900" cy="285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75" b="1">
                <a:solidFill>
                  <a:srgbClr val="F5B942"/>
                </a:solidFill>
                <a:latin typeface="Noto Sans SC"/>
                <a:ea typeface="Noto Sans SC"/>
                <a:cs typeface="Noto Sans SC"/>
              </a:defRPr>
            </a:pPr>
            <a:r>
              <a:rPr sz="1275" b="1">
                <a:solidFill>
                  <a:srgbClr val="F5B942"/>
                </a:solidFill>
                <a:latin typeface="Noto Sans SC"/>
                <a:ea typeface="Noto Sans SC"/>
                <a:cs typeface="Noto Sans SC"/>
              </a:rPr>
              <a:t>Cache 与预测收益取决于局部性和分支行为；短小顺序程序可能被冷启动开销拖慢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971871F-828B-4AFD-B862-89CC97B4E740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723900" cy="304800"/>
          </a:xfrm>
          <a:prstGeom prst="rect">
            <a:avLst/>
          </a:prstGeom>
          <a:solidFill>
            <a:srgbClr val="0B1220"/>
          </a:solidFill>
          <a:ln w="0">
            <a:noFill/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F2464B8-DB38-46A8-BAB0-16B0753E58A2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2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1098040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99951D82-DFD8-4F19-8A05-1F0A94882A92}"/>
              </a:ext>
            </a:extLst>
          </p:cNvPr>
          <p:cNvSpPr>
            <a:spLocks noGrp="1"/>
          </p:cNvSpPr>
          <p:nvPr/>
        </p:nvSpPr>
        <p:spPr>
          <a:xfrm>
            <a:off x="400050" y="247650"/>
            <a:ext cx="409575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吞吐证明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0423C8E-E6E0-4DE8-B2FD-AD47830A6015}"/>
              </a:ext>
            </a:extLst>
          </p:cNvPr>
          <p:cNvSpPr>
            <a:spLocks noGrp="1"/>
          </p:cNvSpPr>
          <p:nvPr/>
        </p:nvSpPr>
        <p:spPr>
          <a:xfrm>
            <a:off x="400050" y="590550"/>
            <a:ext cx="1085850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流水线真实时间胜出实验</a:t>
            </a:r>
          </a:p>
        </p:txBody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A593D188-ABEB-47B9-9A67-5605D540CEE7}"/>
              </a:ext>
            </a:extLst>
          </p:cNvPr>
          <p:cNvSpPr>
            <a:spLocks noGrp="1"/>
          </p:cNvSpPr>
          <p:nvPr/>
        </p:nvSpPr>
        <p:spPr>
          <a:xfrm>
            <a:off x="400050" y="1238250"/>
            <a:ext cx="10991850" cy="0"/>
          </a:xfrm>
          <a:prstGeom prst="line">
            <a:avLst/>
          </a:prstGeom>
          <a:noFill/>
          <a:ln w="9525">
            <a:solidFill>
              <a:srgbClr val="283A55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8231549-9FE8-49E5-8E64-10307EEB6B1B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2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11</a:t>
            </a:r>
          </a:p>
        </p:txBody>
      </p:sp>
      <p:pic>
        <p:nvPicPr>
          <p:cNvPr id="18" name="图片 1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38150" y="1467803"/>
            <a:ext cx="11315700" cy="3960495"/>
          </a:xfrm>
          <a:prstGeom prst="rect">
            <a:avLst/>
          </a:prstGeom>
        </p:spPr>
      </p:pic>
      <p:sp>
        <p:nvSpPr>
          <p:cNvPr id="6" name="矩形: 圆角 5">
            <a:extLst>
              <a:ext uri="{FF2B5EF4-FFF2-40B4-BE49-F238E27FC236}">
                <a16:creationId xmlns:a16="http://schemas.microsoft.com/office/drawing/2014/main" id="{18DADA06-39D1-4352-B73C-FA314248BFAC}"/>
              </a:ext>
            </a:extLst>
          </p:cNvPr>
          <p:cNvSpPr>
            <a:spLocks noGrp="1"/>
          </p:cNvSpPr>
          <p:nvPr/>
        </p:nvSpPr>
        <p:spPr>
          <a:xfrm>
            <a:off x="2857500" y="5676900"/>
            <a:ext cx="2000250" cy="304800"/>
          </a:xfrm>
          <a:prstGeom prst="roundRect">
            <a:avLst>
              <a:gd name="adj" fmla="val 50000"/>
            </a:avLst>
          </a:prstGeom>
          <a:solidFill>
            <a:srgbClr val="16243B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1DB9F0B-032B-4CB5-9106-BB9A06ED0936}"/>
              </a:ext>
            </a:extLst>
          </p:cNvPr>
          <p:cNvSpPr>
            <a:spLocks noGrp="1"/>
          </p:cNvSpPr>
          <p:nvPr/>
        </p:nvSpPr>
        <p:spPr>
          <a:xfrm>
            <a:off x="2857500" y="5724525"/>
            <a:ext cx="2000250" cy="2000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0577" lnSpcReduction="20000"/>
          </a:bodyPr>
          <a:lstStyle/>
          <a:p>
            <a:pPr>
              <a:defRPr sz="975" b="1">
                <a:solidFill>
                  <a:srgbClr val="37D99A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37D99A"/>
                </a:solidFill>
                <a:latin typeface="Noto Sans SC"/>
                <a:ea typeface="Noto Sans SC"/>
                <a:cs typeface="Noto Sans SC"/>
              </a:rPr>
              <a:t>CPU 时间 -6.44%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406B3876-C17E-4236-B166-6836EF99396E}"/>
              </a:ext>
            </a:extLst>
          </p:cNvPr>
          <p:cNvSpPr>
            <a:spLocks noGrp="1"/>
          </p:cNvSpPr>
          <p:nvPr/>
        </p:nvSpPr>
        <p:spPr>
          <a:xfrm>
            <a:off x="5095875" y="5676900"/>
            <a:ext cx="1905000" cy="304800"/>
          </a:xfrm>
          <a:prstGeom prst="roundRect">
            <a:avLst>
              <a:gd name="adj" fmla="val 50000"/>
            </a:avLst>
          </a:prstGeom>
          <a:solidFill>
            <a:srgbClr val="16243B"/>
          </a:solidFill>
          <a:ln w="0">
            <a:noFill/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BA63B9C-6F69-4B73-9448-DA517F321DB9}"/>
              </a:ext>
            </a:extLst>
          </p:cNvPr>
          <p:cNvSpPr>
            <a:spLocks noGrp="1"/>
          </p:cNvSpPr>
          <p:nvPr/>
        </p:nvSpPr>
        <p:spPr>
          <a:xfrm>
            <a:off x="5095875" y="5724525"/>
            <a:ext cx="1905000" cy="2000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0577" lnSpcReduction="20000"/>
          </a:bodyPr>
          <a:lstStyle/>
          <a:p>
            <a:pPr>
              <a:def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MIPS +6.89%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AF027A60-6E1B-4F6D-9978-6AAD34E73FF4}"/>
              </a:ext>
            </a:extLst>
          </p:cNvPr>
          <p:cNvSpPr>
            <a:spLocks noGrp="1"/>
          </p:cNvSpPr>
          <p:nvPr/>
        </p:nvSpPr>
        <p:spPr>
          <a:xfrm>
            <a:off x="7239000" y="5676900"/>
            <a:ext cx="2857500" cy="304800"/>
          </a:xfrm>
          <a:prstGeom prst="roundRect">
            <a:avLst>
              <a:gd name="adj" fmla="val 50000"/>
            </a:avLst>
          </a:prstGeom>
          <a:solidFill>
            <a:srgbClr val="16243B"/>
          </a:solidFill>
          <a:ln w="0">
            <a:noFill/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A13D10F-2B69-4967-BC89-33F9D5D1C2D7}"/>
              </a:ext>
            </a:extLst>
          </p:cNvPr>
          <p:cNvSpPr>
            <a:spLocks noGrp="1"/>
          </p:cNvSpPr>
          <p:nvPr/>
        </p:nvSpPr>
        <p:spPr>
          <a:xfrm>
            <a:off x="7239000" y="5724525"/>
            <a:ext cx="2857500" cy="2000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0577" lnSpcReduction="20000"/>
          </a:bodyPr>
          <a:lstStyle/>
          <a:p>
            <a:pPr>
              <a:defRPr sz="975" b="1">
                <a:solidFill>
                  <a:srgbClr val="F5B942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F5B942"/>
                </a:solidFill>
                <a:latin typeface="Noto Sans SC"/>
                <a:ea typeface="Noto Sans SC"/>
                <a:cs typeface="Noto Sans SC"/>
              </a:rPr>
              <a:t>频率比 1.0909 &gt; 所需 1.0206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F70089C-0464-4281-A11C-5ACD0AAB4303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723900" cy="304800"/>
          </a:xfrm>
          <a:prstGeom prst="rect">
            <a:avLst/>
          </a:prstGeom>
          <a:solidFill>
            <a:srgbClr val="0B1220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73FF7F0-9EE0-4F15-832D-CD2A777929D7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2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6328330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矩形 22">
            <a:extLst>
              <a:ext uri="{FF2B5EF4-FFF2-40B4-BE49-F238E27FC236}">
                <a16:creationId xmlns:a16="http://schemas.microsoft.com/office/drawing/2014/main" id="{BC8C515F-BDA3-4FA5-AC83-28D55B5CC140}"/>
              </a:ext>
            </a:extLst>
          </p:cNvPr>
          <p:cNvSpPr>
            <a:spLocks noGrp="1"/>
          </p:cNvSpPr>
          <p:nvPr/>
        </p:nvSpPr>
        <p:spPr>
          <a:xfrm>
            <a:off x="400050" y="247650"/>
            <a:ext cx="409575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FPGA 系统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25936CD-6BC6-4A1C-B3C3-90D254F8DC69}"/>
              </a:ext>
            </a:extLst>
          </p:cNvPr>
          <p:cNvSpPr>
            <a:spLocks noGrp="1"/>
          </p:cNvSpPr>
          <p:nvPr/>
        </p:nvSpPr>
        <p:spPr>
          <a:xfrm>
            <a:off x="400050" y="590550"/>
            <a:ext cx="1085850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俄罗斯方块的板级执行链路</a:t>
            </a:r>
          </a:p>
        </p:txBody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638E26D5-3AFB-4592-BBE4-387E45BA552B}"/>
              </a:ext>
            </a:extLst>
          </p:cNvPr>
          <p:cNvSpPr>
            <a:spLocks noGrp="1"/>
          </p:cNvSpPr>
          <p:nvPr/>
        </p:nvSpPr>
        <p:spPr>
          <a:xfrm>
            <a:off x="400050" y="1238250"/>
            <a:ext cx="10991850" cy="0"/>
          </a:xfrm>
          <a:prstGeom prst="line">
            <a:avLst/>
          </a:prstGeom>
          <a:noFill/>
          <a:ln w="9525">
            <a:solidFill>
              <a:srgbClr val="283A55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088042C-258D-458D-A296-0AB86FF3A3AA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2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12</a:t>
            </a:r>
          </a:p>
        </p:txBody>
      </p:sp>
      <p:pic>
        <p:nvPicPr>
          <p:cNvPr id="27" name="图片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867314" y="1543051"/>
            <a:ext cx="8068089" cy="3496172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C24B901C-D319-420F-9EA2-064B4EF6A2E2}"/>
              </a:ext>
            </a:extLst>
          </p:cNvPr>
          <p:cNvSpPr>
            <a:spLocks noGrp="1"/>
          </p:cNvSpPr>
          <p:nvPr/>
        </p:nvSpPr>
        <p:spPr>
          <a:xfrm>
            <a:off x="704850" y="5314950"/>
            <a:ext cx="142875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2917" lnSpcReduction="10000"/>
          </a:bodyPr>
          <a:lstStyle/>
          <a:p>
            <a:pPr>
              <a:defRPr sz="120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rPr>
              <a:t>tetris.mem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433F668-422D-48FB-B118-680D6AAC3065}"/>
              </a:ext>
            </a:extLst>
          </p:cNvPr>
          <p:cNvSpPr>
            <a:spLocks noGrp="1"/>
          </p:cNvSpPr>
          <p:nvPr/>
        </p:nvSpPr>
        <p:spPr>
          <a:xfrm>
            <a:off x="2038350" y="5314950"/>
            <a:ext cx="238125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8611" lnSpcReduction="10000"/>
          </a:bodyPr>
          <a:lstStyle/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BRAM 取指与棋盘数据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8BC70F3-9457-4C9C-9896-0480391FF7D1}"/>
              </a:ext>
            </a:extLst>
          </p:cNvPr>
          <p:cNvSpPr>
            <a:spLocks noGrp="1"/>
          </p:cNvSpPr>
          <p:nvPr/>
        </p:nvSpPr>
        <p:spPr>
          <a:xfrm>
            <a:off x="4838700" y="5314950"/>
            <a:ext cx="123825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2917" lnSpcReduction="10000"/>
          </a:bodyPr>
          <a:lstStyle/>
          <a:p>
            <a:pPr>
              <a:defRPr sz="120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GPIO MMIO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A70584E-C06A-4ED0-8A98-1389EC33327D}"/>
              </a:ext>
            </a:extLst>
          </p:cNvPr>
          <p:cNvSpPr>
            <a:spLocks noGrp="1"/>
          </p:cNvSpPr>
          <p:nvPr/>
        </p:nvSpPr>
        <p:spPr>
          <a:xfrm>
            <a:off x="5981700" y="5314950"/>
            <a:ext cx="114300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8611" lnSpcReduction="10000"/>
          </a:bodyPr>
          <a:lstStyle/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读取按键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EAEC8FF-3602-4EB0-870B-655B556BDCBA}"/>
              </a:ext>
            </a:extLst>
          </p:cNvPr>
          <p:cNvSpPr>
            <a:spLocks noGrp="1"/>
          </p:cNvSpPr>
          <p:nvPr/>
        </p:nvSpPr>
        <p:spPr>
          <a:xfrm>
            <a:off x="7543800" y="5314950"/>
            <a:ext cx="123825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2917" lnSpcReduction="10000"/>
          </a:bodyPr>
          <a:lstStyle/>
          <a:p>
            <a:pPr>
              <a:defRPr sz="120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rPr>
              <a:t>LCD MMIO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92AB799-F9B4-40B8-A9A9-EF86FC8816D0}"/>
              </a:ext>
            </a:extLst>
          </p:cNvPr>
          <p:cNvSpPr>
            <a:spLocks noGrp="1"/>
          </p:cNvSpPr>
          <p:nvPr/>
        </p:nvSpPr>
        <p:spPr>
          <a:xfrm>
            <a:off x="8686800" y="5314950"/>
            <a:ext cx="238125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8611" lnSpcReduction="10000"/>
          </a:bodyPr>
          <a:lstStyle/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上传 20 行并刷新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012006E4-769A-4663-AAF1-F23093D0BBF7}"/>
              </a:ext>
            </a:extLst>
          </p:cNvPr>
          <p:cNvSpPr>
            <a:spLocks noGrp="1"/>
          </p:cNvSpPr>
          <p:nvPr/>
        </p:nvSpPr>
        <p:spPr>
          <a:xfrm>
            <a:off x="2628900" y="5867400"/>
            <a:ext cx="1428750" cy="304800"/>
          </a:xfrm>
          <a:prstGeom prst="roundRect">
            <a:avLst>
              <a:gd name="adj" fmla="val 50000"/>
            </a:avLst>
          </a:prstGeom>
          <a:solidFill>
            <a:srgbClr val="16243B"/>
          </a:solidFill>
          <a:ln w="0">
            <a:noFill/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576EC8E-9EA3-4581-A5C9-E71560EFC221}"/>
              </a:ext>
            </a:extLst>
          </p:cNvPr>
          <p:cNvSpPr>
            <a:spLocks noGrp="1"/>
          </p:cNvSpPr>
          <p:nvPr/>
        </p:nvSpPr>
        <p:spPr>
          <a:xfrm>
            <a:off x="2628900" y="5915025"/>
            <a:ext cx="1428750" cy="2000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0577" lnSpcReduction="20000"/>
          </a:bodyPr>
          <a:lstStyle/>
          <a:p>
            <a:pPr>
              <a:def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XC7A100T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56F2E4CE-D6C0-4A10-AB69-6290CF1D86FB}"/>
              </a:ext>
            </a:extLst>
          </p:cNvPr>
          <p:cNvSpPr>
            <a:spLocks noGrp="1"/>
          </p:cNvSpPr>
          <p:nvPr/>
        </p:nvSpPr>
        <p:spPr>
          <a:xfrm>
            <a:off x="4267200" y="5867400"/>
            <a:ext cx="1524000" cy="304800"/>
          </a:xfrm>
          <a:prstGeom prst="roundRect">
            <a:avLst>
              <a:gd name="adj" fmla="val 50000"/>
            </a:avLst>
          </a:prstGeom>
          <a:solidFill>
            <a:srgbClr val="16243B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AE2BE4D-C00D-41CC-94F4-D04AFC52F4FA}"/>
              </a:ext>
            </a:extLst>
          </p:cNvPr>
          <p:cNvSpPr>
            <a:spLocks noGrp="1"/>
          </p:cNvSpPr>
          <p:nvPr/>
        </p:nvSpPr>
        <p:spPr>
          <a:xfrm>
            <a:off x="4267200" y="5915025"/>
            <a:ext cx="1524000" cy="2000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0577" lnSpcReduction="20000"/>
          </a:bodyPr>
          <a:lstStyle/>
          <a:p>
            <a:pPr>
              <a:defRPr sz="975" b="1">
                <a:solidFill>
                  <a:srgbClr val="37D99A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37D99A"/>
                </a:solidFill>
                <a:latin typeface="Noto Sans SC"/>
                <a:ea typeface="Noto Sans SC"/>
                <a:cs typeface="Noto Sans SC"/>
              </a:rPr>
              <a:t>25 MHz CPU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F42CEC02-5544-4F9B-B515-373054668404}"/>
              </a:ext>
            </a:extLst>
          </p:cNvPr>
          <p:cNvSpPr>
            <a:spLocks noGrp="1"/>
          </p:cNvSpPr>
          <p:nvPr/>
        </p:nvSpPr>
        <p:spPr>
          <a:xfrm>
            <a:off x="6000750" y="5867400"/>
            <a:ext cx="1714500" cy="304800"/>
          </a:xfrm>
          <a:prstGeom prst="roundRect">
            <a:avLst>
              <a:gd name="adj" fmla="val 50000"/>
            </a:avLst>
          </a:prstGeom>
          <a:solidFill>
            <a:srgbClr val="16243B"/>
          </a:solidFill>
          <a:ln w="0">
            <a:noFill/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63E587D-B0AD-4C47-8373-8C2C8A5977C7}"/>
              </a:ext>
            </a:extLst>
          </p:cNvPr>
          <p:cNvSpPr>
            <a:spLocks noGrp="1"/>
          </p:cNvSpPr>
          <p:nvPr/>
        </p:nvSpPr>
        <p:spPr>
          <a:xfrm>
            <a:off x="6000750" y="5915025"/>
            <a:ext cx="1714500" cy="2000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0577" lnSpcReduction="20000"/>
          </a:bodyPr>
          <a:lstStyle/>
          <a:p>
            <a:pPr>
              <a:defRPr sz="975" b="1">
                <a:solidFill>
                  <a:srgbClr val="4F83FF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4F83FF"/>
                </a:solidFill>
                <a:latin typeface="Noto Sans SC"/>
                <a:ea typeface="Noto Sans SC"/>
                <a:cs typeface="Noto Sans SC"/>
              </a:rPr>
              <a:t>BRAM + MMIO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B6F1B97C-30EA-4B8E-AFD5-BCBC877E319F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723900" cy="304800"/>
          </a:xfrm>
          <a:prstGeom prst="rect">
            <a:avLst/>
          </a:prstGeom>
          <a:solidFill>
            <a:srgbClr val="0B1220"/>
          </a:solidFill>
          <a:ln w="0">
            <a:noFill/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05D69005-1B4F-4A74-961C-40A4781FAF36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2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0768901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2E7F3F20-F16F-4BC6-9BE7-3CAD679FE667}"/>
              </a:ext>
            </a:extLst>
          </p:cNvPr>
          <p:cNvSpPr>
            <a:spLocks noGrp="1"/>
          </p:cNvSpPr>
          <p:nvPr/>
        </p:nvSpPr>
        <p:spPr>
          <a:xfrm>
            <a:off x="400050" y="247650"/>
            <a:ext cx="409575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下板验收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91FD3F7-E8A9-4A7B-9D2A-5D69C22433E8}"/>
              </a:ext>
            </a:extLst>
          </p:cNvPr>
          <p:cNvSpPr>
            <a:spLocks noGrp="1"/>
          </p:cNvSpPr>
          <p:nvPr/>
        </p:nvSpPr>
        <p:spPr>
          <a:xfrm>
            <a:off x="400050" y="590550"/>
            <a:ext cx="1085850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2475" b="1" dirty="0" err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俄罗斯方块实板运行</a:t>
            </a:r>
            <a:endParaRPr sz="2475" b="1" dirty="0">
              <a:solidFill>
                <a:srgbClr val="EAF2FF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5BF188BA-79D8-4974-B077-9EAA557117B9}"/>
              </a:ext>
            </a:extLst>
          </p:cNvPr>
          <p:cNvSpPr>
            <a:spLocks noGrp="1"/>
          </p:cNvSpPr>
          <p:nvPr/>
        </p:nvSpPr>
        <p:spPr>
          <a:xfrm>
            <a:off x="400050" y="1238250"/>
            <a:ext cx="10991850" cy="0"/>
          </a:xfrm>
          <a:prstGeom prst="line">
            <a:avLst/>
          </a:prstGeom>
          <a:noFill/>
          <a:ln w="9525">
            <a:solidFill>
              <a:srgbClr val="283A55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CFC2ACD-FFD6-4897-A9D7-22D596331AAB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2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13</a:t>
            </a:r>
          </a:p>
        </p:txBody>
      </p:sp>
      <p:pic>
        <p:nvPicPr>
          <p:cNvPr id="22" name="图片 21"/>
          <p:cNvPicPr>
            <a:picLocks noChangeAspect="1"/>
          </p:cNvPicPr>
          <p:nvPr/>
        </p:nvPicPr>
        <p:blipFill>
          <a:blip r:embed="rId3"/>
          <a:srcRect l="16250" r="16250"/>
          <a:stretch>
            <a:fillRect/>
          </a:stretch>
        </p:blipFill>
        <p:spPr>
          <a:xfrm>
            <a:off x="400050" y="1619250"/>
            <a:ext cx="3429000" cy="2857500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E3B3476C-000E-4253-A3B5-67FD442FE9F8}"/>
              </a:ext>
            </a:extLst>
          </p:cNvPr>
          <p:cNvSpPr>
            <a:spLocks noGrp="1"/>
          </p:cNvSpPr>
          <p:nvPr/>
        </p:nvSpPr>
        <p:spPr>
          <a:xfrm>
            <a:off x="400050" y="4629150"/>
            <a:ext cx="342900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游戏启动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C779099-F804-42E2-8A68-232C5083A9F4}"/>
              </a:ext>
            </a:extLst>
          </p:cNvPr>
          <p:cNvSpPr>
            <a:spLocks noGrp="1"/>
          </p:cNvSpPr>
          <p:nvPr/>
        </p:nvSpPr>
        <p:spPr>
          <a:xfrm>
            <a:off x="400050" y="4953000"/>
            <a:ext cx="3429000" cy="4191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050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050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活动方块进入棋盘</a:t>
            </a:r>
          </a:p>
        </p:txBody>
      </p:sp>
      <p:pic>
        <p:nvPicPr>
          <p:cNvPr id="25" name="图片 24"/>
          <p:cNvPicPr>
            <a:picLocks noChangeAspect="1"/>
          </p:cNvPicPr>
          <p:nvPr/>
        </p:nvPicPr>
        <p:blipFill>
          <a:blip r:embed="rId4"/>
          <a:srcRect l="16250" r="16250"/>
          <a:stretch>
            <a:fillRect/>
          </a:stretch>
        </p:blipFill>
        <p:spPr>
          <a:xfrm>
            <a:off x="4191000" y="1619250"/>
            <a:ext cx="3429000" cy="2857500"/>
          </a:xfrm>
          <a:prstGeom prst="rect">
            <a:avLst/>
          </a:prstGeom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799247F1-C8B9-49A9-ADE5-DF21734670C8}"/>
              </a:ext>
            </a:extLst>
          </p:cNvPr>
          <p:cNvSpPr>
            <a:spLocks noGrp="1"/>
          </p:cNvSpPr>
          <p:nvPr/>
        </p:nvSpPr>
        <p:spPr>
          <a:xfrm>
            <a:off x="4191000" y="4629150"/>
            <a:ext cx="342900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rPr>
              <a:t>持续运行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58A0698-4BC4-4798-A0BE-7376DA79B62E}"/>
              </a:ext>
            </a:extLst>
          </p:cNvPr>
          <p:cNvSpPr>
            <a:spLocks noGrp="1"/>
          </p:cNvSpPr>
          <p:nvPr/>
        </p:nvSpPr>
        <p:spPr>
          <a:xfrm>
            <a:off x="4191000" y="4953000"/>
            <a:ext cx="3429000" cy="4191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050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050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下落方块与固定块同时显示</a:t>
            </a:r>
          </a:p>
        </p:txBody>
      </p:sp>
      <p:pic>
        <p:nvPicPr>
          <p:cNvPr id="28" name="图片 27"/>
          <p:cNvPicPr>
            <a:picLocks noChangeAspect="1"/>
          </p:cNvPicPr>
          <p:nvPr/>
        </p:nvPicPr>
        <p:blipFill>
          <a:blip r:embed="rId5"/>
          <a:srcRect l="16250" r="16250"/>
          <a:stretch>
            <a:fillRect/>
          </a:stretch>
        </p:blipFill>
        <p:spPr>
          <a:xfrm>
            <a:off x="7981950" y="1619250"/>
            <a:ext cx="3429000" cy="2857500"/>
          </a:xfrm>
          <a:prstGeom prst="rect">
            <a:avLst/>
          </a:prstGeom>
        </p:spPr>
      </p:pic>
      <p:sp>
        <p:nvSpPr>
          <p:cNvPr id="12" name="矩形 11">
            <a:extLst>
              <a:ext uri="{FF2B5EF4-FFF2-40B4-BE49-F238E27FC236}">
                <a16:creationId xmlns:a16="http://schemas.microsoft.com/office/drawing/2014/main" id="{054E38AF-B2AA-49EC-9726-DEBBAD1976E4}"/>
              </a:ext>
            </a:extLst>
          </p:cNvPr>
          <p:cNvSpPr>
            <a:spLocks noGrp="1"/>
          </p:cNvSpPr>
          <p:nvPr/>
        </p:nvSpPr>
        <p:spPr>
          <a:xfrm>
            <a:off x="7981950" y="4629150"/>
            <a:ext cx="342900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rPr>
              <a:t>状态变化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69BB3CC-FCFF-45F7-B315-A53C299441FA}"/>
              </a:ext>
            </a:extLst>
          </p:cNvPr>
          <p:cNvSpPr>
            <a:spLocks noGrp="1"/>
          </p:cNvSpPr>
          <p:nvPr/>
        </p:nvSpPr>
        <p:spPr>
          <a:xfrm>
            <a:off x="7981950" y="4953000"/>
            <a:ext cx="3429000" cy="4191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050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050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方块位置和棋盘内容继续更新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0621695-240D-40BD-B15F-31E43D2756A1}"/>
              </a:ext>
            </a:extLst>
          </p:cNvPr>
          <p:cNvSpPr>
            <a:spLocks noGrp="1"/>
          </p:cNvSpPr>
          <p:nvPr/>
        </p:nvSpPr>
        <p:spPr>
          <a:xfrm>
            <a:off x="400050" y="5696078"/>
            <a:ext cx="1139190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5833"/>
          </a:bodyPr>
          <a:lstStyle/>
          <a:p>
            <a:pPr>
              <a:defRPr sz="1200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画面连续变化证明 CPU 正在实板上执行游戏循环并通过 MMIO 刷新 LCD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FD3D481E-61FF-4D32-AF00-4DEFAD6C0C91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723900" cy="304800"/>
          </a:xfrm>
          <a:prstGeom prst="rect">
            <a:avLst/>
          </a:prstGeom>
          <a:solidFill>
            <a:srgbClr val="0B1220"/>
          </a:solidFill>
          <a:ln w="0">
            <a:noFill/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862C64CF-2226-4817-AA13-D4E0674F6625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2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6328330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A146A992-11F5-4BD3-8BA0-E38AE5F3B478}"/>
              </a:ext>
            </a:extLst>
          </p:cNvPr>
          <p:cNvSpPr>
            <a:spLocks noGrp="1"/>
          </p:cNvSpPr>
          <p:nvPr/>
        </p:nvSpPr>
        <p:spPr>
          <a:xfrm>
            <a:off x="400050" y="247650"/>
            <a:ext cx="409575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总结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493C513-2249-4A8C-82E6-BFB4537BBDF8}"/>
              </a:ext>
            </a:extLst>
          </p:cNvPr>
          <p:cNvSpPr>
            <a:spLocks noGrp="1"/>
          </p:cNvSpPr>
          <p:nvPr/>
        </p:nvSpPr>
        <p:spPr>
          <a:xfrm>
            <a:off x="400050" y="590550"/>
            <a:ext cx="1085850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从 CPU 微结构到俄罗斯方块实板运行</a:t>
            </a:r>
          </a:p>
        </p:txBody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552D2D43-8E87-4EA9-B6E1-979B2DB47068}"/>
              </a:ext>
            </a:extLst>
          </p:cNvPr>
          <p:cNvSpPr>
            <a:spLocks noGrp="1"/>
          </p:cNvSpPr>
          <p:nvPr/>
        </p:nvSpPr>
        <p:spPr>
          <a:xfrm>
            <a:off x="400050" y="1238250"/>
            <a:ext cx="10991850" cy="0"/>
          </a:xfrm>
          <a:prstGeom prst="line">
            <a:avLst/>
          </a:prstGeom>
          <a:noFill/>
          <a:ln w="9525">
            <a:solidFill>
              <a:srgbClr val="283A55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AE962A2-0D2A-4825-B3D4-3706BF27A566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2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14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D755D4BA-92D5-45B7-A785-2960C734240B}"/>
              </a:ext>
            </a:extLst>
          </p:cNvPr>
          <p:cNvSpPr>
            <a:spLocks noGrp="1"/>
          </p:cNvSpPr>
          <p:nvPr/>
        </p:nvSpPr>
        <p:spPr>
          <a:xfrm>
            <a:off x="400050" y="1695450"/>
            <a:ext cx="3524250" cy="1809750"/>
          </a:xfrm>
          <a:prstGeom prst="roundRect">
            <a:avLst>
              <a:gd name="adj" fmla="val 4737"/>
            </a:avLst>
          </a:prstGeom>
          <a:solidFill>
            <a:srgbClr val="111C2F"/>
          </a:solidFill>
          <a:ln w="9525">
            <a:solidFill>
              <a:srgbClr val="283A55"/>
            </a:solidFill>
            <a:prstDash val="solid"/>
          </a:ln>
        </p:spPr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94E204E4-4837-412E-BD0F-600EBDD15634}"/>
              </a:ext>
            </a:extLst>
          </p:cNvPr>
          <p:cNvSpPr>
            <a:spLocks noGrp="1"/>
          </p:cNvSpPr>
          <p:nvPr/>
        </p:nvSpPr>
        <p:spPr>
          <a:xfrm>
            <a:off x="400050" y="1695450"/>
            <a:ext cx="47625" cy="1809750"/>
          </a:xfrm>
          <a:prstGeom prst="roundRect">
            <a:avLst>
              <a:gd name="adj" fmla="val 50000"/>
            </a:avLst>
          </a:prstGeom>
          <a:solidFill>
            <a:srgbClr val="37D99A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F5A46BC-B05E-45CF-8CB4-59FAD0E2E314}"/>
              </a:ext>
            </a:extLst>
          </p:cNvPr>
          <p:cNvSpPr>
            <a:spLocks noGrp="1"/>
          </p:cNvSpPr>
          <p:nvPr/>
        </p:nvSpPr>
        <p:spPr>
          <a:xfrm>
            <a:off x="609600" y="1857375"/>
            <a:ext cx="31432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rPr>
              <a:t>CPU 正确性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1093CFB-7CDD-42F6-A9A6-719FFDFE5B3F}"/>
              </a:ext>
            </a:extLst>
          </p:cNvPr>
          <p:cNvSpPr>
            <a:spLocks noGrp="1"/>
          </p:cNvSpPr>
          <p:nvPr/>
        </p:nvSpPr>
        <p:spPr>
          <a:xfrm>
            <a:off x="609600" y="2200275"/>
            <a:ext cx="3143250" cy="11620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 dirty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27 </a:t>
            </a:r>
            <a:r>
              <a:rPr sz="1125" b="0" dirty="0" err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条基础指令与五级流水</a:t>
            </a:r>
            <a:endParaRPr sz="1125" b="0" dirty="0">
              <a:solidFill>
                <a:srgbClr val="EAF2FF"/>
              </a:solidFill>
              <a:latin typeface="Noto Sans SC"/>
              <a:ea typeface="Noto Sans SC"/>
              <a:cs typeface="Noto Sans SC"/>
            </a:endParaRP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 dirty="0" err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异常、中断、Cache、动态预测</a:t>
            </a:r>
            <a:endParaRPr sz="1125" b="0" dirty="0">
              <a:solidFill>
                <a:srgbClr val="EAF2FF"/>
              </a:solidFill>
              <a:latin typeface="Noto Sans SC"/>
              <a:ea typeface="Noto Sans SC"/>
              <a:cs typeface="Noto Sans SC"/>
            </a:endParaRP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 dirty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13 </a:t>
            </a:r>
            <a:r>
              <a:rPr sz="1125" b="0" dirty="0" err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组自动化</a:t>
            </a:r>
            <a:r>
              <a:rPr lang="zh-CN" altLang="en-US" sz="1125" b="0" dirty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测试</a:t>
            </a:r>
            <a:endParaRPr sz="1125" b="0" dirty="0">
              <a:solidFill>
                <a:srgbClr val="EAF2FF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1EC74A0C-5227-4078-AEE9-D43E2CF524F1}"/>
              </a:ext>
            </a:extLst>
          </p:cNvPr>
          <p:cNvSpPr>
            <a:spLocks noGrp="1"/>
          </p:cNvSpPr>
          <p:nvPr/>
        </p:nvSpPr>
        <p:spPr>
          <a:xfrm>
            <a:off x="4333875" y="1695450"/>
            <a:ext cx="3524250" cy="1809750"/>
          </a:xfrm>
          <a:prstGeom prst="roundRect">
            <a:avLst>
              <a:gd name="adj" fmla="val 4737"/>
            </a:avLst>
          </a:prstGeom>
          <a:solidFill>
            <a:srgbClr val="111C2F"/>
          </a:solidFill>
          <a:ln w="9525">
            <a:solidFill>
              <a:srgbClr val="283A55"/>
            </a:solidFill>
            <a:prstDash val="solid"/>
          </a:ln>
        </p:spPr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D0887A61-08DE-448B-92B0-2D01890CF815}"/>
              </a:ext>
            </a:extLst>
          </p:cNvPr>
          <p:cNvSpPr>
            <a:spLocks noGrp="1"/>
          </p:cNvSpPr>
          <p:nvPr/>
        </p:nvSpPr>
        <p:spPr>
          <a:xfrm>
            <a:off x="4333875" y="1695450"/>
            <a:ext cx="47625" cy="1809750"/>
          </a:xfrm>
          <a:prstGeom prst="roundRect">
            <a:avLst>
              <a:gd name="adj" fmla="val 50000"/>
            </a:avLst>
          </a:prstGeom>
          <a:solidFill>
            <a:srgbClr val="25D4E8"/>
          </a:solidFill>
          <a:ln w="0">
            <a:noFill/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F113BAA-3603-45CE-ACD8-AD4B61FA9264}"/>
              </a:ext>
            </a:extLst>
          </p:cNvPr>
          <p:cNvSpPr>
            <a:spLocks noGrp="1"/>
          </p:cNvSpPr>
          <p:nvPr/>
        </p:nvSpPr>
        <p:spPr>
          <a:xfrm>
            <a:off x="4543425" y="1857375"/>
            <a:ext cx="31432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性能结论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C79D33A-DBF8-4CE3-9ED2-A4A19BA79CAD}"/>
              </a:ext>
            </a:extLst>
          </p:cNvPr>
          <p:cNvSpPr>
            <a:spLocks noGrp="1"/>
          </p:cNvSpPr>
          <p:nvPr/>
        </p:nvSpPr>
        <p:spPr>
          <a:xfrm>
            <a:off x="4543425" y="2200275"/>
            <a:ext cx="3143250" cy="11620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六种配置公平对比</a:t>
            </a: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连续计算 CPU 时间缩短 6.44%</a:t>
            </a: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收益随负载变化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281766AA-03A7-4537-813E-332A789F6B00}"/>
              </a:ext>
            </a:extLst>
          </p:cNvPr>
          <p:cNvSpPr>
            <a:spLocks noGrp="1"/>
          </p:cNvSpPr>
          <p:nvPr/>
        </p:nvSpPr>
        <p:spPr>
          <a:xfrm>
            <a:off x="8267700" y="1695450"/>
            <a:ext cx="3524250" cy="1809750"/>
          </a:xfrm>
          <a:prstGeom prst="roundRect">
            <a:avLst>
              <a:gd name="adj" fmla="val 4737"/>
            </a:avLst>
          </a:prstGeom>
          <a:solidFill>
            <a:srgbClr val="111C2F"/>
          </a:solidFill>
          <a:ln w="9525">
            <a:solidFill>
              <a:srgbClr val="283A55"/>
            </a:solidFill>
            <a:prstDash val="solid"/>
          </a:ln>
        </p:spPr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49FB6CEE-53A7-4A08-8D00-8A3E5C99AEEB}"/>
              </a:ext>
            </a:extLst>
          </p:cNvPr>
          <p:cNvSpPr>
            <a:spLocks noGrp="1"/>
          </p:cNvSpPr>
          <p:nvPr/>
        </p:nvSpPr>
        <p:spPr>
          <a:xfrm>
            <a:off x="8267700" y="1695450"/>
            <a:ext cx="47625" cy="1809750"/>
          </a:xfrm>
          <a:prstGeom prst="roundRect">
            <a:avLst>
              <a:gd name="adj" fmla="val 50000"/>
            </a:avLst>
          </a:prstGeom>
          <a:solidFill>
            <a:srgbClr val="F5B942"/>
          </a:solidFill>
          <a:ln w="0">
            <a:noFill/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108A1C6-7CAC-40C2-A10D-B807BCFAFA7F}"/>
              </a:ext>
            </a:extLst>
          </p:cNvPr>
          <p:cNvSpPr>
            <a:spLocks noGrp="1"/>
          </p:cNvSpPr>
          <p:nvPr/>
        </p:nvSpPr>
        <p:spPr>
          <a:xfrm>
            <a:off x="8477250" y="1857375"/>
            <a:ext cx="31432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rPr>
              <a:t>整机应用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46A01688-C7E4-4F02-B66C-C89FBC91FCC6}"/>
              </a:ext>
            </a:extLst>
          </p:cNvPr>
          <p:cNvSpPr>
            <a:spLocks noGrp="1"/>
          </p:cNvSpPr>
          <p:nvPr/>
        </p:nvSpPr>
        <p:spPr>
          <a:xfrm>
            <a:off x="8477250" y="2200275"/>
            <a:ext cx="3143250" cy="11620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EES-338 + BRAM + MMIO</a:t>
            </a: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按键控制与 LCD 持续刷新</a:t>
            </a: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俄罗斯方块实板运行成功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2B65F19-639D-4777-A199-CBEC32188C9A}"/>
              </a:ext>
            </a:extLst>
          </p:cNvPr>
          <p:cNvSpPr>
            <a:spLocks noGrp="1"/>
          </p:cNvSpPr>
          <p:nvPr/>
        </p:nvSpPr>
        <p:spPr>
          <a:xfrm>
            <a:off x="400050" y="4000500"/>
            <a:ext cx="152400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4167" lnSpcReduction="20000"/>
          </a:bodyPr>
          <a:lstStyle/>
          <a:p>
            <a:pPr>
              <a:defRPr sz="150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150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结论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7EEA777C-3AE5-4FD1-8518-412F53F1419F}"/>
              </a:ext>
            </a:extLst>
          </p:cNvPr>
          <p:cNvSpPr>
            <a:spLocks noGrp="1"/>
          </p:cNvSpPr>
          <p:nvPr/>
        </p:nvSpPr>
        <p:spPr>
          <a:xfrm>
            <a:off x="400050" y="4400550"/>
            <a:ext cx="11391900" cy="3619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42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42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俄罗斯方块持续运行把取指、流水执行、数据存储和慢速 MMIO 连接成真实可观察的 CPU 工作负载。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FD842574-1962-46A4-A80D-E46B92613761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723900" cy="304800"/>
          </a:xfrm>
          <a:prstGeom prst="rect">
            <a:avLst/>
          </a:prstGeom>
          <a:solidFill>
            <a:srgbClr val="0B1220"/>
          </a:solidFill>
          <a:ln w="0">
            <a:noFill/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BC243E89-80EA-4D77-9586-AEF8E5345A6C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2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6328330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328</TotalTime>
  <Words>1755</Words>
  <Application>Microsoft Office PowerPoint</Application>
  <DocSecurity>0</DocSecurity>
  <PresentationFormat>宽屏</PresentationFormat>
  <Paragraphs>366</Paragraphs>
  <Slides>16</Slides>
  <Notes>16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1" baseType="lpstr">
      <vt:lpstr>Noto Sans SC</vt:lpstr>
      <vt:lpstr>Microsoft YaHei</vt:lpstr>
      <vt:lpstr>Arial</vt:lpstr>
      <vt:lpstr>Consolas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eon N</cp:lastModifiedBy>
  <cp:revision>7</cp:revision>
  <dcterms:created xsi:type="dcterms:W3CDTF">2026-09-17T06:56:15Z</dcterms:created>
  <dcterms:modified xsi:type="dcterms:W3CDTF">2026-09-17T23:59:53Z</dcterms:modified>
</cp:coreProperties>
</file>