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各位老师好，我们汇报的是基于 ST7571 的可复用 LCD SPI 接口控制器及 RISC-V 汇编图形应用。最终成果包括独立 LCD 控制器 IP、MMIO 驱动和 10 乘 20 俄罗斯方块程序。硬件负责复位、初始化、串行发送和像素映射，汇编软件负责输入、游戏规则和刷新调度。</a:t>
            </a:r>
          </a:p>
          <a:p/>
          <a:p>
            <a:r>
              <a:t>内容依据：</a:t>
            </a:r>
          </a:p>
          <a:p>
            <a:r>
              <a:t>- docs/中期与最终汇报范围划分.md §7</a:t>
            </a:r>
          </a:p>
          <a:p>
            <a:r>
              <a:t>- docs/实验报告/接口控制器设计实验报告.docx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为减少现场切换，计组汇报按王建乐、张晓行、王建乐三段进行。王建乐负责第 1 到 3 页以及第 10 到 15 页，张晓行负责第 4 到 9 页。钱博傲负责实板材料准备，并在提问环节补充 LCD、GPIO 和 MMIO 接口问题。</a:t>
            </a:r>
          </a:p>
          <a:p/>
          <a:p>
            <a:r>
              <a:t>内容依据：</a:t>
            </a:r>
          </a:p>
          <a:p>
            <a:r>
              <a:t>- docs/验收汇报ppt/验收汇报三人任务分配.md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系统从手柄和拨码输入开始，汇编程序在 CPU 上运行，通过 GPIO 和 LCD MMIO 访问外设。地址译码器使用 req、ready 握手连接 LCD 控制器，控制器再把命令、数据和棋盘帧转换成 ST7571 的四线 SPI。消行事件单独写蜂鸣器寄存器，形成声音反馈。</a:t>
            </a:r>
          </a:p>
          <a:p/>
          <a:p>
            <a:r>
              <a:t>内容依据：</a:t>
            </a:r>
          </a:p>
          <a:p>
            <a:r>
              <a:t>- docs/中期与最终汇报范围划分.md §5.2</a:t>
            </a:r>
          </a:p>
          <a:p>
            <a:r>
              <a:t>- rtl/soc/soc_top.sv</a:t>
            </a:r>
          </a:p>
          <a:p>
            <a:r>
              <a:t>- firmware/tetris.S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LCD 控制器分成上层状态机和 SPI master。状态机完成硬复位、120 毫秒等待、初始化命令和清屏，进入 IDLE 后接受软件请求。每个字节都经过 WAIT_BUSY 和 WAIT_DONE，continuation 决定完成后返回初始化、清屏或用户路径。tx_ready 只在 IDLE 且 SPI 空闲时有效。</a:t>
            </a:r>
          </a:p>
          <a:p/>
          <a:p>
            <a:r>
              <a:t>内容依据：</a:t>
            </a:r>
          </a:p>
          <a:p>
            <a:r>
              <a:t>- rtl/peripheral/lcd_controller.sv</a:t>
            </a:r>
          </a:p>
          <a:p>
            <a:r>
              <a:t>- rtl/peripheral/lcd_spi_master.sv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软件通过七个 MMIO 寄存器操作 LCD 和蜂鸣器。CMD 与 DATA 分别决定 RS 为零或一，STATUS 提供 ready 和 initialized。CTRL 支持重初始化、清屏和固定文字。GAME_ROW 上传行号与十位棋盘数据，GAME_REFRESH 触发整屏刷新。所有地址强制旁路 Cache，并保持强顺序。</a:t>
            </a:r>
          </a:p>
          <a:p/>
          <a:p>
            <a:r>
              <a:t>内容依据：</a:t>
            </a:r>
          </a:p>
          <a:p>
            <a:r>
              <a:t>- docs/核心设计文档/05-地址空间与MMIO寄存器表.md</a:t>
            </a:r>
          </a:p>
          <a:p>
            <a:r>
              <a:t>- rtl/soc/soc_top.sv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控制器已封装为 local:user:lcd_controller:1.0。IP 目录只包含 component.xml、src 和 xgui，避免把 CPU、SoC 与约束文件误纳入 IP。component.xml 声明端口、时序参数、综合与仿真文件组。仓库脚本可以重新打包并在 IP Catalog 中注册。答辩前应补入 Catalog、Block Design、Validate Design 和输出产品截图。</a:t>
            </a:r>
          </a:p>
          <a:p/>
          <a:p>
            <a:r>
              <a:t>内容依据：</a:t>
            </a:r>
          </a:p>
          <a:p>
            <a:r>
              <a:t>- ip/lcd_controller_v1_0/component.xml</a:t>
            </a:r>
          </a:p>
          <a:p>
            <a:r>
              <a:t>- docs/IP核生成与验证指南.md</a:t>
            </a:r>
          </a:p>
          <a:p>
            <a:r>
              <a:t>- sim/package_lcd_ip.tcl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汇编软件分成四层。底层驱动轮询状态并完成命令、数据、行上传和刷新。帧组织层把固定棋盘与活动方块合成二十行。游戏规则层处理碰撞、移动、旋转、锁定、消行与重开。MMIO 与硬件层完成地址译码、ready 背压、LCD 控制器和 SPI。</a:t>
            </a:r>
          </a:p>
          <a:p/>
          <a:p>
            <a:r>
              <a:t>内容依据：</a:t>
            </a:r>
          </a:p>
          <a:p>
            <a:r>
              <a:t>- firmware/tetris.S</a:t>
            </a:r>
          </a:p>
          <a:p>
            <a:r>
              <a:t>- docs/中期与最终汇报范围划分.md §5.5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棋盘在 DMEM 中保存为二十个十位行，满行值为 0x3FF。七种方块的四个旋转状态使用四乘四位图表示。当前活动方块由类型、旋转、x 和 y 描述。显示前把固定棋盘复制到临时帧，再叠加活动方块，避免修改尚未锁定的棋盘。</a:t>
            </a:r>
          </a:p>
          <a:p/>
          <a:p>
            <a:r>
              <a:t>内容依据：</a:t>
            </a:r>
          </a:p>
          <a:p>
            <a:r>
              <a:t>- firmware/tetris.S:28–43, 189–203, 317–374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移动和旋转采用试探式更新。程序先计算候选 x、y 或旋转状态，再逐位检查四乘四位图。越过左右边界、底部或与固定棋盘重叠都返回 blocked。若碰撞则撤销；旋转还尝试向左或向右偏移一次，形成简单 wall kick。</a:t>
            </a:r>
          </a:p>
          <a:p/>
          <a:p>
            <a:r>
              <a:t>内容依据：</a:t>
            </a:r>
          </a:p>
          <a:p>
            <a:r>
              <a:t>- firmware/tetris.S:81–172, 204–249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方块无法继续下降时，程序把活动方块按位或到固定棋盘。随后从底部向上扫描，检测 0x3FF 满行；发现满行就把上方行整体下移并清空顶行。只要本次锁定产生消行，就向 0x20000038 写一次，硬件产生约 2 kHz、120 毫秒提示音。</a:t>
            </a:r>
          </a:p>
          <a:p/>
          <a:p>
            <a:r>
              <a:t>内容依据：</a:t>
            </a:r>
          </a:p>
          <a:p>
            <a:r>
              <a:t>- firmware/tetris.S:165–186, 251–315</a:t>
            </a:r>
          </a:p>
          <a:p>
            <a:r>
              <a:t>- rtl/soc/soc_top.sv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刷新时，软件逐行把行号和十位数据写入 LCD_GAME_ROW，完成二十行上传后写 LCD_GAME_REFRESH。硬件把两行逻辑棋盘映射到一个八像素页面，每个方块使用八列实体和两列间隔。这样软件只处理棋盘位图，不逐像素发送一万多个显示位。</a:t>
            </a:r>
          </a:p>
          <a:p/>
          <a:p>
            <a:r>
              <a:t>内容依据：</a:t>
            </a:r>
          </a:p>
          <a:p>
            <a:r>
              <a:t>- firmware/tetris.S:317–374</a:t>
            </a:r>
          </a:p>
          <a:p>
            <a:r>
              <a:t>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验证分为 SPI、控制器、MMIO、游戏系统、IP 复用和实板六层。SPI 测试检查 0xA5 的八位 MSB first、RS 与空闲恢复；控制器测试检查复位、初始化与传输次数；系统测试检查二十行上传顺序、方向键、软降释放和蜂鸣器事件。所有自动化测试以断言和 PASS 作为通过条件。</a:t>
            </a:r>
          </a:p>
          <a:p/>
          <a:p>
            <a:r>
              <a:t>内容依据：</a:t>
            </a:r>
          </a:p>
          <a:p>
            <a:r>
              <a:t>- sim/unit/tb_lcd_spi_master.sv</a:t>
            </a:r>
          </a:p>
          <a:p>
            <a:r>
              <a:t>- sim/unit/tb_lcd_controller.sv</a:t>
            </a:r>
          </a:p>
          <a:p>
            <a:r>
              <a:t>- sim/system/tb_tetris_system.sv</a:t>
            </a:r>
          </a:p>
          <a:p>
            <a:r>
              <a:t>- docs/测试报告.md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现场演示建议按上电、开始、左右移动、旋转、软降、锁定、消行蜂鸣和重新开始的顺序。已有报告记录基础 LCD 测试图案与按键路径，但仓库没有最终游戏画面、蜂鸣器和 IP Catalog 截图。本页因此只列验收点，答辩前必须插入同一 bitstream 对应的实物照片或现场视频帧。</a:t>
            </a:r>
          </a:p>
          <a:p/>
          <a:p>
            <a:r>
              <a:t>内容依据：</a:t>
            </a:r>
          </a:p>
          <a:p>
            <a:r>
              <a:t>- docs/中期与最终汇报范围划分.md §7.2, §10</a:t>
            </a:r>
          </a:p>
          <a:p>
            <a:r>
              <a:t>- docs/Vivado下板操作.md §12</a:t>
            </a:r>
          </a:p>
          <a:p>
            <a:r>
              <a:t>- firmware/tetris.S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最终成果形成了可独立复用的 LCD SPI IP、清晰的 MMIO 软件接口和完整汇编图形应用。课程边界上，CPU 微架构和性能属于计组；本课程评价接口协议、IP 封装、汇编驱动和软硬件协同。现有仿真已经覆盖核心功能，最终提交还需把实物证据和视频与代码版本绑定。</a:t>
            </a:r>
          </a:p>
          <a:p/>
          <a:p>
            <a:r>
              <a:t>内容依据：</a:t>
            </a:r>
          </a:p>
          <a:p>
            <a:r>
              <a:t>- docs/实验报告/接口控制器设计实验报告.docx</a:t>
            </a:r>
          </a:p>
          <a:p>
            <a:r>
              <a:t>- docs/中期与最终汇报范围划分.md §7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590550" y="49530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汇编与接口技术课程设计</a:t>
            </a:r>
            <a:endParaRPr sz="1125" b="1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333500"/>
            <a:ext cx="102870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可复用 LCD SPI 控制器 IP</a:t>
            </a:r>
            <a:endParaRPr sz="352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与 RISC-V 汇编图形应用</a:t>
            </a:r>
            <a:endParaRPr sz="352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90550" y="286702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验收汇报</a:t>
            </a:r>
            <a:endParaRPr sz="1500" b="1" dirty="0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90550" y="4210050"/>
            <a:ext cx="8096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2000" b="0" dirty="0" err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成员：王建乐、张晓行、钱博傲</a:t>
            </a:r>
            <a:endParaRPr sz="2000" b="0" dirty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25D4E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汇报安排</a:t>
            </a:r>
            <a:endParaRPr kumimoji="0" sz="975" b="1" i="0" u="none" strike="noStrike" kern="1200" cap="none" spc="0" normalizeH="0" baseline="0" noProof="0">
              <a:ln>
                <a:noFill/>
              </a:ln>
              <a:solidFill>
                <a:srgbClr val="25D4E8"/>
              </a:solidFill>
              <a:effectLst/>
              <a:uLnTx/>
              <a:uFillTx/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2475" b="1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分工</a:t>
            </a:r>
            <a:r>
              <a:rPr kumimoji="0" lang="zh-CN" altLang="en-US" sz="2475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安排</a:t>
            </a:r>
            <a:endParaRPr kumimoji="0" sz="2475" b="1" i="0" u="none" strike="noStrike" kern="1200" cap="none" spc="0" normalizeH="0" baseline="0" noProof="0" dirty="0">
              <a:ln>
                <a:noFill/>
              </a:ln>
              <a:solidFill>
                <a:srgbClr val="EAF2FF"/>
              </a:solidFill>
              <a:effectLst/>
              <a:uLnTx/>
              <a:uFillTx/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02</a:t>
            </a:r>
            <a:endParaRPr kumimoji="0" sz="825" b="0" i="0" u="none" strike="noStrike" kern="1200" cap="none" spc="0" normalizeH="0" baseline="0" noProof="0">
              <a:ln>
                <a:noFill/>
              </a:ln>
              <a:solidFill>
                <a:srgbClr val="A6B4C8"/>
              </a:solidFill>
              <a:effectLst/>
              <a:uLnTx/>
              <a:uFillTx/>
              <a:latin typeface="Noto Sans SC"/>
              <a:ea typeface="Noto Sans SC"/>
              <a:cs typeface="Noto Sans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02</a:t>
            </a:r>
            <a:endParaRPr kumimoji="0" sz="825" b="0" i="0" u="none" strike="noStrike" kern="1200" cap="none" spc="0" normalizeH="0" baseline="0" noProof="0">
              <a:ln>
                <a:noFill/>
              </a:ln>
              <a:solidFill>
                <a:srgbClr val="A6B4C8"/>
              </a:solidFill>
              <a:effectLst/>
              <a:uLnTx/>
              <a:uFillTx/>
              <a:latin typeface="Noto Sans SC"/>
              <a:ea typeface="Noto Sans SC"/>
              <a:cs typeface="Noto Sans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476250" y="17240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王建乐（组长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22D3EE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76250" y="20669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ISA、微码、系统集成与材料</a:t>
            </a:r>
            <a:r>
              <a:rPr kumimoji="0" lang="zh-CN" altLang="en-US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编写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76250" y="26670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张晓行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（</a:t>
            </a:r>
            <a:r>
              <a:rPr kumimoji="0" lang="zh-CN" alt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组员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22D3EE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476250" y="30099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流水控制、前递、停顿、异常中断、CPU 验证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76250" y="36099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钱博傲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（</a:t>
            </a:r>
            <a:r>
              <a:rPr kumimoji="0" lang="zh-CN" alt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组员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22D3EE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76250" y="39528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LCD、SPI、MMIO 驱动、汇编应用与板级协作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系统结构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输入、软件、MMIO 与 LCD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9324" y="1524000"/>
            <a:ext cx="8673353" cy="4095750"/>
          </a:xfrm>
          <a:prstGeom prst="rect">
            <a:avLst/>
          </a:prstGeom>
        </p:spPr>
      </p:pic>
      <p:sp>
        <p:nvSpPr>
          <p:cNvPr id="7" name="矩形 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硬件控制器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控制器状态机与发送闭环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245" y="1476375"/>
            <a:ext cx="7509510" cy="4171950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tx_ready 只在 IDLE 且 SPI 空闲时有效，一次请求只产生一次发送</a:t>
            </a:r>
            <a:endParaRPr sz="1275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软件接口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与蜂鸣器 MMIO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571625"/>
          <a:ext cx="11391900" cy="3905248"/>
        </p:xfrm>
        <a:graphic>
          <a:graphicData uri="http://schemas.openxmlformats.org/drawingml/2006/table">
            <a:tbl>
              <a:tblPr/>
              <a:tblGrid>
                <a:gridCol w="2614534"/>
                <a:gridCol w="2801287"/>
                <a:gridCol w="5976079"/>
              </a:tblGrid>
              <a:tr h="488156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地址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寄存器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软件用途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0x2000_0020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LCD_CMD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写低 8 位命令，RS = 0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0x2000_0024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LCD_DATA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写低 8 位数据，RS = 1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0x2000_0028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LCD_STATUS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bit0 ready，bit1 initialized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0x2000_002C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LCD_CTRL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重初始化、清屏、固定文字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0x2000_0030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LCD_GAME_ROW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行号 + 10 位棋盘数据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0x2000_0034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LCD_GAME_REFRESH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请求刷新完整棋盘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0x2000_0038</a:t>
                      </a:r>
                      <a:endParaRPr sz="975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BUZZER_TRIGGER</a:t>
                      </a:r>
                      <a:endParaRPr sz="975" b="1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消行后触发短音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</a:tbl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400050" y="581025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MMIO 不缓存、强顺序，写副作用只在 req &amp;&amp; ready 时产生一次</a:t>
            </a:r>
            <a:endParaRPr sz="1275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IP 核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控制器 IP 封装与复用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1619250"/>
            <a:ext cx="952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0208" lnSpcReduction="10000"/>
          </a:bodyPr>
          <a:lstStyle/>
          <a:p>
            <a:pPr>
              <a:defRPr sz="1200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VLNV</a:t>
            </a:r>
            <a:endParaRPr sz="1200" b="1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409700" y="1581150"/>
            <a:ext cx="49530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8659" lnSpcReduction="10000"/>
          </a:bodyPr>
          <a:lstStyle/>
          <a:p>
            <a:pPr>
              <a:defRPr sz="1725" b="1">
                <a:solidFill>
                  <a:srgbClr val="A78BF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725" b="1">
                <a:solidFill>
                  <a:srgbClr val="A78BF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local:user:lcd_controller:1.0</a:t>
            </a:r>
            <a:endParaRPr sz="1725" b="1">
              <a:solidFill>
                <a:srgbClr val="A78BF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8580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component.xml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19 个端口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9 个时序参数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363855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71475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src/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73380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lcd_controller.sv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lcd_spi_master.sv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659130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66750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xgui/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68655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参数界面与校验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9544050" y="2333625"/>
            <a:ext cx="2095500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620250" y="2466975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IP Catalog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639300" y="2790825"/>
            <a:ext cx="1905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注册、例化、Validate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50" name="直接箭头连接符 49"/>
          <p:cNvCxnSpPr>
            <a:stCxn id="7" idx="3"/>
            <a:endCxn id="10" idx="1"/>
          </p:cNvCxnSpPr>
          <p:nvPr/>
        </p:nvCxnSpPr>
        <p:spPr>
          <a:xfrm>
            <a:off x="3019425" y="2857500"/>
            <a:ext cx="619125" cy="0"/>
          </a:xfrm>
          <a:prstGeom prst="straightConnector1">
            <a:avLst/>
          </a:prstGeom>
          <a:ln w="19050">
            <a:solidFill>
              <a:srgbClr val="A78BFA"/>
            </a:solidFill>
            <a:prstDash val="solid"/>
            <a:tailEnd type="triangle" w="sm" len="sm"/>
          </a:ln>
        </p:spPr>
      </p:cxnSp>
      <p:cxnSp>
        <p:nvCxnSpPr>
          <p:cNvPr id="51" name="直接箭头连接符 50"/>
          <p:cNvCxnSpPr>
            <a:stCxn id="10" idx="3"/>
            <a:endCxn id="13" idx="1"/>
          </p:cNvCxnSpPr>
          <p:nvPr/>
        </p:nvCxnSpPr>
        <p:spPr>
          <a:xfrm>
            <a:off x="5972175" y="2857500"/>
            <a:ext cx="6191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2" name="直接箭头连接符 51"/>
          <p:cNvCxnSpPr>
            <a:stCxn id="13" idx="3"/>
            <a:endCxn id="16" idx="1"/>
          </p:cNvCxnSpPr>
          <p:nvPr/>
        </p:nvCxnSpPr>
        <p:spPr>
          <a:xfrm>
            <a:off x="8924925" y="2857500"/>
            <a:ext cx="619125" cy="0"/>
          </a:xfrm>
          <a:prstGeom prst="straightConnector1">
            <a:avLst/>
          </a:prstGeom>
          <a:ln w="19050">
            <a:solidFill>
              <a:srgbClr val="37D99A"/>
            </a:solidFill>
            <a:prstDash val="solid"/>
            <a:tailEnd type="triangle" w="sm" len="sm"/>
          </a:ln>
        </p:spPr>
      </p:cxnSp>
      <p:sp>
        <p:nvSpPr>
          <p:cNvPr id="22" name="矩形: 圆角 21"/>
          <p:cNvSpPr>
            <a:spLocks noGrp="1"/>
          </p:cNvSpPr>
          <p:nvPr/>
        </p:nvSpPr>
        <p:spPr>
          <a:xfrm>
            <a:off x="685800" y="4095750"/>
            <a:ext cx="4953000" cy="1285875"/>
          </a:xfrm>
          <a:prstGeom prst="roundRect">
            <a:avLst>
              <a:gd name="adj" fmla="val 666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3" name="矩形: 圆角 22"/>
          <p:cNvSpPr>
            <a:spLocks noGrp="1"/>
          </p:cNvSpPr>
          <p:nvPr/>
        </p:nvSpPr>
        <p:spPr>
          <a:xfrm>
            <a:off x="685800" y="4095750"/>
            <a:ext cx="47625" cy="1285875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95350" y="42576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封装边界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95350" y="4600575"/>
            <a:ext cx="4572000" cy="638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只打包 LCD 控制器和 SPI master，不把 CPU、SoC、约束或测试平台混入 IP。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软件架构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汇编软件分层与显示数据流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0667" y="1476375"/>
            <a:ext cx="7450667" cy="4191000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软件处理规则与棋盘位图，硬件处理时序与像素映射</a:t>
            </a:r>
            <a:endParaRPr sz="1275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数据结构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棋盘、方块与活动状态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09600" y="1600200"/>
            <a:ext cx="3810000" cy="4095750"/>
          </a:xfrm>
          <a:prstGeom prst="roundRect">
            <a:avLst>
              <a:gd name="adj" fmla="val 1500"/>
            </a:avLst>
          </a:prstGeom>
          <a:solidFill>
            <a:srgbClr val="08101C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38250" y="1790700"/>
            <a:ext cx="25527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0000000000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0000000000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0001111000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0000110000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0000110000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0001100000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0001100000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0011110000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0000110000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0001111000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0010010000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0011110000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0110110000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0111111000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0110011000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1111011000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1111111100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1110111000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1111111100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37D99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1111111111</a:t>
            </a:r>
            <a:endParaRPr sz="1125" b="1">
              <a:solidFill>
                <a:srgbClr val="37D99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5048250" y="166687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8" name="矩形: 圆角 7"/>
          <p:cNvSpPr>
            <a:spLocks noGrp="1"/>
          </p:cNvSpPr>
          <p:nvPr/>
        </p:nvSpPr>
        <p:spPr>
          <a:xfrm>
            <a:off x="5048250" y="166687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257800" y="182880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固定棋盘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257800" y="217170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DMEM 保存 20 个 10 位行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满行值为 0x3FF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上方行向下压缩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8477250" y="166687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8477250" y="166687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686800" y="182880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方块位图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686800" y="217170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7 种类型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每种 4 个旋转状态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每个状态为 4×4 位图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5048250" y="347662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5048250" y="347662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257800" y="363855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活动状态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257800" y="398145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type / rotation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x / y 坐标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边沿检测与下降计数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8477250" y="347662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8477250" y="347662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686800" y="363855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显示帧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686800" y="398145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复制固定棋盘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叠加活动方块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逐行上传 20 行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048250" y="5286375"/>
            <a:ext cx="647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活动方块在锁定前不修改固定棋盘</a:t>
            </a:r>
            <a:endParaRPr sz="1275" b="1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核心算法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碰撞检测、移动与旋转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0960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生成候选状态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0485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x / y / rotation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310515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18135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逐位扫描</a:t>
            </a:r>
            <a:endParaRPr sz="1350" b="1">
              <a:solidFill>
                <a:srgbClr val="4F83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0040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4×4 mask 中的有效格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560070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67690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边界检查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69595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左右、底部、顶部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09625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7245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棋盘相与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19150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对应行已有固定块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10591800" y="1866900"/>
            <a:ext cx="1190625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0668000" y="2000250"/>
            <a:ext cx="1038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结果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687050" y="2324100"/>
            <a:ext cx="10001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接受或撤销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58" name="直接箭头连接符 57"/>
          <p:cNvCxnSpPr>
            <a:stCxn id="5" idx="3"/>
            <a:endCxn id="8" idx="1"/>
          </p:cNvCxnSpPr>
          <p:nvPr/>
        </p:nvCxnSpPr>
        <p:spPr>
          <a:xfrm>
            <a:off x="260985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9" name="直接箭头连接符 58"/>
          <p:cNvCxnSpPr>
            <a:stCxn id="8" idx="3"/>
            <a:endCxn id="11" idx="1"/>
          </p:cNvCxnSpPr>
          <p:nvPr/>
        </p:nvCxnSpPr>
        <p:spPr>
          <a:xfrm>
            <a:off x="510540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0" name="直接箭头连接符 59"/>
          <p:cNvCxnSpPr>
            <a:stCxn id="11" idx="3"/>
            <a:endCxn id="14" idx="1"/>
          </p:cNvCxnSpPr>
          <p:nvPr/>
        </p:nvCxnSpPr>
        <p:spPr>
          <a:xfrm>
            <a:off x="760095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1" name="直接箭头连接符 60"/>
          <p:cNvCxnSpPr>
            <a:stCxn id="14" idx="3"/>
            <a:endCxn id="17" idx="1"/>
          </p:cNvCxnSpPr>
          <p:nvPr/>
        </p:nvCxnSpPr>
        <p:spPr>
          <a:xfrm>
            <a:off x="1009650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/>
          <p:cNvSpPr>
            <a:spLocks noGrp="1"/>
          </p:cNvSpPr>
          <p:nvPr/>
        </p:nvSpPr>
        <p:spPr>
          <a:xfrm>
            <a:off x="609600" y="371475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60960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19150" y="387667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左右移动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19150" y="421957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x ± 1 后调用 collision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未碰撞才提交新坐标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8" name="矩形: 圆角 27"/>
          <p:cNvSpPr>
            <a:spLocks noGrp="1"/>
          </p:cNvSpPr>
          <p:nvPr/>
        </p:nvSpPr>
        <p:spPr>
          <a:xfrm>
            <a:off x="4429125" y="371475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4429125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638675" y="387667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旋转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638675" y="421957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尝试下一旋转状态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失败后分别尝试左移、右移一次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2" name="矩形: 圆角 31"/>
          <p:cNvSpPr>
            <a:spLocks noGrp="1"/>
          </p:cNvSpPr>
          <p:nvPr/>
        </p:nvSpPr>
        <p:spPr>
          <a:xfrm>
            <a:off x="8248650" y="3714750"/>
            <a:ext cx="3533775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3" name="矩形: 圆角 32"/>
          <p:cNvSpPr>
            <a:spLocks noGrp="1"/>
          </p:cNvSpPr>
          <p:nvPr/>
        </p:nvSpPr>
        <p:spPr>
          <a:xfrm>
            <a:off x="824865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458200" y="3876675"/>
            <a:ext cx="31527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下降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8458200" y="4219575"/>
            <a:ext cx="3152775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普通下降由软件计数触发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按住下键连续软降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400050" y="5619750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碰撞函数只返回 blocked，不直接修改游戏状态</a:t>
            </a:r>
            <a:endParaRPr sz="120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核心算法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锁定、消行与蜂鸣器反馈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7048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无法继续下降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collision = blocked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36004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6766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锁定方块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6957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按位或写入固定棋盘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4960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5722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自底向上扫描</a:t>
            </a:r>
            <a:endParaRPr sz="1350" b="1">
              <a:solidFill>
                <a:srgbClr val="4F83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5913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row == 0x3FF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93916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4678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压缩与反馈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4869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行下移、顶行清零、触发蜂鸣器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41" name="直接箭头连接符 40"/>
          <p:cNvCxnSpPr>
            <a:stCxn id="5" idx="3"/>
            <a:endCxn id="8" idx="1"/>
          </p:cNvCxnSpPr>
          <p:nvPr/>
        </p:nvCxnSpPr>
        <p:spPr>
          <a:xfrm>
            <a:off x="2847975" y="2452688"/>
            <a:ext cx="752475" cy="0"/>
          </a:xfrm>
          <a:prstGeom prst="straightConnector1">
            <a:avLst/>
          </a:prstGeom>
          <a:ln w="19050">
            <a:solidFill>
              <a:srgbClr val="F5B942"/>
            </a:solidFill>
            <a:prstDash val="solid"/>
            <a:tailEnd type="triangle" w="sm" len="sm"/>
          </a:ln>
        </p:spPr>
      </p:cxnSp>
      <p:cxnSp>
        <p:nvCxnSpPr>
          <p:cNvPr id="42" name="直接箭头连接符 41"/>
          <p:cNvCxnSpPr>
            <a:stCxn id="8" idx="3"/>
            <a:endCxn id="11" idx="1"/>
          </p:cNvCxnSpPr>
          <p:nvPr/>
        </p:nvCxnSpPr>
        <p:spPr>
          <a:xfrm>
            <a:off x="5743575" y="2452688"/>
            <a:ext cx="7524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43" name="直接箭头连接符 42"/>
          <p:cNvCxnSpPr>
            <a:stCxn id="11" idx="3"/>
            <a:endCxn id="14" idx="1"/>
          </p:cNvCxnSpPr>
          <p:nvPr/>
        </p:nvCxnSpPr>
        <p:spPr>
          <a:xfrm>
            <a:off x="8639175" y="2452688"/>
            <a:ext cx="7524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0" name="矩形: 圆角 19"/>
          <p:cNvSpPr>
            <a:spLocks noGrp="1"/>
          </p:cNvSpPr>
          <p:nvPr/>
        </p:nvSpPr>
        <p:spPr>
          <a:xfrm>
            <a:off x="704850" y="3714750"/>
            <a:ext cx="10829925" cy="1466850"/>
          </a:xfrm>
          <a:prstGeom prst="roundRect">
            <a:avLst>
              <a:gd name="adj" fmla="val 5195"/>
            </a:avLst>
          </a:prstGeom>
          <a:solidFill>
            <a:srgbClr val="08101C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90600" y="3914775"/>
            <a:ext cx="6286500" cy="1104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clear_lines:</a:t>
            </a:r>
            <a:endParaRPr sz="1275" b="0">
              <a:solidFill>
                <a:srgbClr val="EAF2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li   t6, 0x3FF       # 满行</a:t>
            </a:r>
            <a:endParaRPr sz="1275" b="0">
              <a:solidFill>
                <a:srgbClr val="EAF2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bne  t3, t6, clear_not_full</a:t>
            </a:r>
            <a:endParaRPr sz="1275" b="0">
              <a:solidFill>
                <a:srgbClr val="EAF2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...                   # 上方各行向下搬移</a:t>
            </a:r>
            <a:endParaRPr sz="1275" b="0">
              <a:solidFill>
                <a:srgbClr val="EAF2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def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 b="0">
                <a:solidFill>
                  <a:srgbClr val="EAF2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sw   t0, 56(s0)       # BUZZER_TRIGGER</a:t>
            </a:r>
            <a:endParaRPr sz="1275" b="0">
              <a:solidFill>
                <a:srgbClr val="EAF2F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905750" y="4019550"/>
            <a:ext cx="2857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蜂鸣器硬件输出</a:t>
            </a:r>
            <a:endParaRPr sz="16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约 2 kHz</a:t>
            </a:r>
            <a:endParaRPr sz="16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约 120 ms</a:t>
            </a:r>
            <a:endParaRPr sz="16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显示刷新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棋盘上传与硬件像素映射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51435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9055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合成帧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固定棋盘 + 活动方块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300990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08610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20 行上传</a:t>
            </a:r>
            <a:endParaRPr sz="1350" b="1">
              <a:solidFill>
                <a:srgbClr val="4F83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10515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LCD_GAME_ROW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550545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58165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刷新请求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60070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LCD_GAME_REFRESH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00100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7720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硬件映射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09625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2 行 / page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8 列块 + 2 列间隔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10496550" y="1952625"/>
            <a:ext cx="1285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0572750" y="2085975"/>
            <a:ext cx="1133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SPI</a:t>
            </a:r>
            <a:endParaRPr sz="135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591800" y="2409825"/>
            <a:ext cx="1095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页面与列数据</a:t>
            </a:r>
            <a:endParaRPr sz="97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54" name="直接箭头连接符 53"/>
          <p:cNvCxnSpPr>
            <a:stCxn id="5" idx="3"/>
            <a:endCxn id="8" idx="1"/>
          </p:cNvCxnSpPr>
          <p:nvPr/>
        </p:nvCxnSpPr>
        <p:spPr>
          <a:xfrm>
            <a:off x="256222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5" name="直接箭头连接符 54"/>
          <p:cNvCxnSpPr>
            <a:stCxn id="8" idx="3"/>
            <a:endCxn id="11" idx="1"/>
          </p:cNvCxnSpPr>
          <p:nvPr/>
        </p:nvCxnSpPr>
        <p:spPr>
          <a:xfrm>
            <a:off x="505777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6" name="直接箭头连接符 55"/>
          <p:cNvCxnSpPr>
            <a:stCxn id="11" idx="3"/>
            <a:endCxn id="14" idx="1"/>
          </p:cNvCxnSpPr>
          <p:nvPr/>
        </p:nvCxnSpPr>
        <p:spPr>
          <a:xfrm>
            <a:off x="755332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7" name="直接箭头连接符 56"/>
          <p:cNvCxnSpPr>
            <a:stCxn id="14" idx="3"/>
            <a:endCxn id="17" idx="1"/>
          </p:cNvCxnSpPr>
          <p:nvPr/>
        </p:nvCxnSpPr>
        <p:spPr>
          <a:xfrm>
            <a:off x="1004887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/>
          <p:cNvSpPr>
            <a:spLocks noGrp="1"/>
          </p:cNvSpPr>
          <p:nvPr/>
        </p:nvSpPr>
        <p:spPr>
          <a:xfrm>
            <a:off x="514350" y="3714750"/>
            <a:ext cx="495300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51435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23900" y="38766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软件责任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23900" y="4219575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维护棋盘与游戏状态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逐行写 10 位逻辑数据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刷新期间等待 ready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8" name="矩形: 圆角 27"/>
          <p:cNvSpPr>
            <a:spLocks noGrp="1"/>
          </p:cNvSpPr>
          <p:nvPr/>
        </p:nvSpPr>
        <p:spPr>
          <a:xfrm>
            <a:off x="6324600" y="3714750"/>
            <a:ext cx="5457825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632460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534150" y="3876675"/>
            <a:ext cx="50768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硬件责任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534150" y="4219575"/>
            <a:ext cx="5076825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把逻辑行映射为 128×128 像素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安排页面、列与字节顺序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控制 SPI 时序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00050" y="5619750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7696" lnSpcReduction="10000"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分层后，汇编程序不需要逐像素维护 LCD 时序</a:t>
            </a:r>
            <a:endParaRPr sz="1275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验证闭环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接口、系统与应用验证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581150"/>
          <a:ext cx="11391900" cy="3714753"/>
        </p:xfrm>
        <a:graphic>
          <a:graphicData uri="http://schemas.openxmlformats.org/drawingml/2006/table">
            <a:tbl>
              <a:tblPr/>
              <a:tblGrid>
                <a:gridCol w="1485900"/>
                <a:gridCol w="2806700"/>
                <a:gridCol w="5448300"/>
                <a:gridCol w="1651000"/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层次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测试对象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通过标准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状态</a:t>
                      </a:r>
                      <a:endParaRPr sz="1125" b="1">
                        <a:solidFill>
                          <a:srgbClr val="25D4E8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314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SPI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tb_lcd_spi_master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0xA5、8 位 MSB first、RS 与空闲恢复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  <a:endParaRPr sz="1050" b="1">
                        <a:solidFill>
                          <a:srgbClr val="37D99A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控制器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tb_lcd_controller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复位、初始化、清屏、请求与传输计数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  <a:endParaRPr sz="1050" b="1">
                        <a:solidFill>
                          <a:srgbClr val="37D99A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MMIO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tb_bringup_system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状态轮询、慢外设等待、一次请求一次发送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  <a:endParaRPr sz="1050" b="1">
                        <a:solidFill>
                          <a:srgbClr val="37D99A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游戏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tb_tetris_system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行上传、方向键、软降释放、消行与蜂鸣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  <a:endParaRPr sz="1050" b="1">
                        <a:solidFill>
                          <a:srgbClr val="37D99A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IP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Catalog / Block Design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注册、例化、Validate、输出产品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  <a:sym typeface="+mn-ea"/>
                        </a:rPr>
                        <a:t>PASS</a:t>
                      </a:r>
                      <a:endParaRPr lang="en-US" sz="1050" b="1">
                        <a:solidFill>
                          <a:srgbClr val="F5B942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11C2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实板</a:t>
                      </a:r>
                      <a:endParaRPr sz="1050" b="1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</a:rPr>
                        <a:t>EES-338 + LCD + 手柄</a:t>
                      </a:r>
                      <a:endParaRPr sz="900" b="0">
                        <a:solidFill>
                          <a:srgbClr val="EAF2FF"/>
                        </a:solidFill>
                        <a:latin typeface="Consolas" panose="020B0609020204030204"/>
                        <a:ea typeface="Consolas" panose="020B0609020204030204"/>
                        <a:cs typeface="Consolas" panose="020B0609020204030204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画面、控制、消行声音、重新开始</a:t>
                      </a:r>
                      <a:endParaRPr sz="1050" b="0">
                        <a:solidFill>
                          <a:srgbClr val="EAF2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50" b="1">
                          <a:solidFill>
                            <a:srgbClr val="00B050"/>
                          </a:solidFill>
                          <a:latin typeface="Noto Sans SC"/>
                          <a:ea typeface="SimSun" charset="0"/>
                          <a:cs typeface="Noto Sans SC"/>
                        </a:rPr>
                        <a:t>见视频</a:t>
                      </a:r>
                      <a:endParaRPr lang="zh-CN" altLang="en-US" sz="1050" b="1">
                        <a:solidFill>
                          <a:srgbClr val="00B050"/>
                        </a:solidFill>
                        <a:latin typeface="Noto Sans SC"/>
                        <a:ea typeface="SimSun" charset="0"/>
                        <a:cs typeface="Noto Sans SC"/>
                      </a:endParaRPr>
                    </a:p>
                  </a:txBody>
                  <a:tcPr>
                    <a:solidFill>
                      <a:srgbClr val="16243B"/>
                    </a:solidFill>
                  </a:tcPr>
                </a:tc>
              </a:tr>
            </a:tbl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400050" y="561975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自动化证据与实物证据分开陈述，不用 CPU 波形替代 LCD 协议验证</a:t>
            </a:r>
            <a:endParaRPr sz="1200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下板演示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现场演示顺序与实物证据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40005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: 圆角 5"/>
          <p:cNvSpPr>
            <a:spLocks noGrp="1"/>
          </p:cNvSpPr>
          <p:nvPr/>
        </p:nvSpPr>
        <p:spPr>
          <a:xfrm>
            <a:off x="57150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7150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1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2395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上电复位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 完成初始化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19100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436245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36245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2</a:t>
            </a:r>
            <a:endParaRPr sz="975" b="1">
              <a:solidFill>
                <a:srgbClr val="4F83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91490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开始游戏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91490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SW0 进入主循环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798195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815340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5340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3</a:t>
            </a:r>
            <a:endParaRPr sz="975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70585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左右与旋转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70585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手柄输入响应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40005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57150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7150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4</a:t>
            </a:r>
            <a:endParaRPr sz="975" b="1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12395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软降与锁定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2395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方块进入固定棋盘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419100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436245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36245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5</a:t>
            </a:r>
            <a:endParaRPr sz="975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91490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消行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91490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画面更新并触发蜂鸣器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798195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815340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15340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6</a:t>
            </a:r>
            <a:endParaRPr sz="975" b="1">
              <a:solidFill>
                <a:srgbClr val="F26B7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70585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重新开始</a:t>
            </a:r>
            <a:endParaRPr sz="1350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70585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游戏状态清零</a:t>
            </a:r>
            <a:endParaRPr sz="1050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总结</a:t>
            </a:r>
            <a:endParaRPr sz="975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接口 IP 与汇编应用形成完整系统</a:t>
            </a:r>
            <a:endParaRPr sz="247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/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40005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6" name="矩形: 圆角 5"/>
          <p:cNvSpPr>
            <a:spLocks noGrp="1"/>
          </p:cNvSpPr>
          <p:nvPr/>
        </p:nvSpPr>
        <p:spPr>
          <a:xfrm>
            <a:off x="40005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可复用硬件</a:t>
            </a:r>
            <a:endParaRPr sz="1350" b="1">
              <a:solidFill>
                <a:srgbClr val="A78BF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ST7571 复位与初始化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4 线 SPI 字节发送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IP Catalog 封装结构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4333875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333875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43425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完整软件</a:t>
            </a:r>
            <a:endParaRPr sz="135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43425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MMIO 驱动与状态轮询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10×20 俄罗斯方块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移动、旋转、消行与重开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826770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6770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7725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分层验证</a:t>
            </a:r>
            <a:endParaRPr sz="1350" b="1">
              <a:solidFill>
                <a:srgbClr val="37D9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7725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SPI 与控制器单元测试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MMIO 与游戏系统测试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基础 LCD 下板闭环</a:t>
            </a:r>
            <a:endParaRPr sz="1125" b="0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00050" y="4000500"/>
            <a:ext cx="1524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6667" lnSpcReduction="10000"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课程边界</a:t>
            </a:r>
            <a:endParaRPr sz="1500" b="1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00050" y="4400550"/>
            <a:ext cx="113919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计组评价 CPU 微架构与性能；本课程评价接口协议、IP 封装、汇编驱动与软硬件协同。</a:t>
            </a:r>
            <a:endParaRPr sz="1425" b="1">
              <a:solidFill>
                <a:srgbClr val="EAF2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  <a:endParaRPr sz="825" b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2458</Words>
  <Application>WPS Presentation</Application>
  <PresentationFormat>宽屏</PresentationFormat>
  <Paragraphs>466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SimSun</vt:lpstr>
      <vt:lpstr>Wingdings</vt:lpstr>
      <vt:lpstr>Arial</vt:lpstr>
      <vt:lpstr>Noto Sans SC</vt:lpstr>
      <vt:lpstr>Space Grotesk Light</vt:lpstr>
      <vt:lpstr>Microsoft YaHei</vt:lpstr>
      <vt:lpstr>Consolas</vt:lpstr>
      <vt:lpstr>SimSun</vt:lpstr>
      <vt:lpstr>方正书宋_GBK</vt:lpstr>
      <vt:lpstr>Microsoft YaHei</vt:lpstr>
      <vt:lpstr>文泉驿微米黑</vt:lpstr>
      <vt:lpstr>Arial Unicode MS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钱博傲</cp:lastModifiedBy>
  <cp:revision>4</cp:revision>
  <dcterms:created xsi:type="dcterms:W3CDTF">2026-09-18T01:11:18Z</dcterms:created>
  <dcterms:modified xsi:type="dcterms:W3CDTF">2026-09-18T01:11:18Z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9B24BFEA51E0FC93208FAC6A5EB539D0_42</vt:lpwstr>
  </property>
  <property fmtid="{D5CDD505-2E9C-101B-9397-08002B2CF9AE}" pid="3" name="KSOProductBuildVer">
    <vt:lpwstr>1033-12.1.2.26885</vt:lpwstr>
  </property>
</Properties>
</file>