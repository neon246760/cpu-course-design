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7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各位老师好，我们汇报的是基于 ST7571 的可复用 LCD SPI 接口控制器及 RISC-V 汇编图形应用。最终成果包括独立 LCD 控制器 IP、MMIO 驱动和 10 乘 20 俄罗斯方块程序。硬件负责复位、初始化、串行发送和像素映射，汇编软件负责输入、游戏规则和刷新调度。</a:t>
            </a:r>
          </a:p>
          <a:p>
            <a:endParaRPr/>
          </a:p>
          <a:p>
            <a:r>
              <a:t>内容依据：</a:t>
            </a:r>
          </a:p>
          <a:p>
            <a:r>
              <a:t>- docs/中期与最终汇报范围划分.md §7</a:t>
            </a:r>
          </a:p>
          <a:p>
            <a:r>
              <a:t>- docs/实验报告/接口控制器设计实验报告.docx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为减少现场切换，计组汇报按王建乐、张晓行、王建乐三段进行。王建乐负责第 1 到 3 页以及第 10 到 15 页，张晓行负责第 4 到 9 页。钱博傲负责实板材料准备，并在提问环节补充 LCD、GPIO 和 MMIO 接口问题。</a:t>
            </a:r>
          </a:p>
          <a:p>
            <a:endParaRPr/>
          </a:p>
          <a:p>
            <a:r>
              <a:t>内容依据：</a:t>
            </a:r>
          </a:p>
          <a:p>
            <a:r>
              <a:t>- docs/验收汇报ppt/验收汇报三人任务分配.md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系统从手柄和拨码输入开始，汇编程序在 CPU 上运行，通过 GPIO 和 LCD MMIO 访问外设。地址译码器使用 req、ready 握手连接 LCD 控制器，控制器再把命令、数据和棋盘帧转换成 ST7571 的四线 SPI。消行事件单独写蜂鸣器寄存器，形成声音反馈。</a:t>
            </a:r>
          </a:p>
          <a:p>
            <a:endParaRPr/>
          </a:p>
          <a:p>
            <a:r>
              <a:t>内容依据：</a:t>
            </a:r>
          </a:p>
          <a:p>
            <a:r>
              <a:t>- docs/中期与最终汇报范围划分.md §5.2</a:t>
            </a:r>
          </a:p>
          <a:p>
            <a:r>
              <a:t>- rtl/soc/soc_top.sv</a:t>
            </a:r>
          </a:p>
          <a:p>
            <a:r>
              <a:t>- firmware/tetris.S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LCD 控制器分成上层状态机和 SPI master。状态机完成硬复位、120 毫秒等待、初始化命令和清屏，进入 IDLE 后接受软件请求。每个字节都经过 WAIT_BUSY 和 WAIT_DONE，continuation 决定完成后返回初始化、清屏或用户路径。tx_ready 只在 IDLE 且 SPI 空闲时有效。</a:t>
            </a:r>
          </a:p>
          <a:p>
            <a:endParaRPr/>
          </a:p>
          <a:p>
            <a:r>
              <a:t>内容依据：</a:t>
            </a:r>
          </a:p>
          <a:p>
            <a:r>
              <a:t>- rtl/peripheral/lcd_controller.sv</a:t>
            </a:r>
          </a:p>
          <a:p>
            <a:r>
              <a:t>- rtl/peripheral/lcd_spi_master.sv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软件通过七个 MMIO 寄存器操作 LCD 和蜂鸣器。CMD 与 DATA 分别决定 RS 为零或一，STATUS 提供 ready 和 initialized。CTRL 支持重初始化、清屏和固定文字。GAME_ROW 上传行号与十位棋盘数据，GAME_REFRESH 触发整屏刷新。所有地址强制旁路 Cache，并保持强顺序。</a:t>
            </a:r>
          </a:p>
          <a:p>
            <a:endParaRPr/>
          </a:p>
          <a:p>
            <a:r>
              <a:t>内容依据：</a:t>
            </a:r>
          </a:p>
          <a:p>
            <a:r>
              <a:t>- docs/核心设计文档/05-地址空间与MMIO寄存器表.md</a:t>
            </a:r>
          </a:p>
          <a:p>
            <a:r>
              <a:t>- rtl/soc/soc_top.sv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控制器已封装为 local:user:lcd_controller:1.0。IP 目录只包含 component.xml、src 和 xgui，避免把 CPU、SoC 与约束文件误纳入 IP。component.xml 声明端口、时序参数、综合与仿真文件组。仓库脚本可以重新打包并在 IP Catalog 中注册。答辩前应补入 Catalog、Block Design、Validate Design 和输出产品截图。</a:t>
            </a:r>
          </a:p>
          <a:p>
            <a:endParaRPr/>
          </a:p>
          <a:p>
            <a:r>
              <a:t>内容依据：</a:t>
            </a:r>
          </a:p>
          <a:p>
            <a:r>
              <a:t>- ip/lcd_controller_v1_0/component.xml</a:t>
            </a:r>
          </a:p>
          <a:p>
            <a:r>
              <a:t>- docs/IP核生成与验证指南.md</a:t>
            </a:r>
          </a:p>
          <a:p>
            <a:r>
              <a:t>- sim/package_lcd_ip.tcl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汇编软件分成四层。底层驱动轮询状态并完成命令、数据、行上传和刷新。帧组织层把固定棋盘与活动方块合成二十行。游戏规则层处理碰撞、移动、旋转、锁定、消行与重开。MMIO 与硬件层完成地址译码、ready 背压、LCD 控制器和 SPI。</a:t>
            </a:r>
          </a:p>
          <a:p>
            <a:endParaRPr/>
          </a:p>
          <a:p>
            <a:r>
              <a:t>内容依据：</a:t>
            </a:r>
          </a:p>
          <a:p>
            <a:r>
              <a:t>- firmware/tetris.S</a:t>
            </a:r>
          </a:p>
          <a:p>
            <a:r>
              <a:t>- docs/中期与最终汇报范围划分.md §5.5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棋盘在 DMEM 中保存为二十个十位行，满行值为 0x3FF。七种方块的四个旋转状态使用四乘四位图表示。当前活动方块由类型、旋转、x 和 y 描述。显示前把固定棋盘复制到临时帧，再叠加活动方块，避免修改尚未锁定的棋盘。</a:t>
            </a:r>
          </a:p>
          <a:p>
            <a:endParaRPr/>
          </a:p>
          <a:p>
            <a:r>
              <a:t>内容依据：</a:t>
            </a:r>
          </a:p>
          <a:p>
            <a:r>
              <a:t>- firmware/tetris.S:28–43, 189–203, 317–374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移动和旋转采用试探式更新。程序先计算候选 x、y 或旋转状态，再逐位检查四乘四位图。越过左右边界、底部或与固定棋盘重叠都返回 blocked。若碰撞则撤销；旋转还尝试向左或向右偏移一次，形成简单 wall kick。</a:t>
            </a:r>
          </a:p>
          <a:p>
            <a:endParaRPr/>
          </a:p>
          <a:p>
            <a:r>
              <a:t>内容依据：</a:t>
            </a:r>
          </a:p>
          <a:p>
            <a:r>
              <a:t>- firmware/tetris.S:81–172, 204–249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方块无法继续下降时，程序把活动方块按位或到固定棋盘。随后从底部向上扫描，检测 0x3FF 满行；发现满行就把上方行整体下移并清空顶行。只要本次锁定产生消行，就向 0x20000038 写一次，硬件产生约 2 kHz、120 毫秒提示音。</a:t>
            </a:r>
          </a:p>
          <a:p>
            <a:endParaRPr/>
          </a:p>
          <a:p>
            <a:r>
              <a:t>内容依据：</a:t>
            </a:r>
          </a:p>
          <a:p>
            <a:r>
              <a:t>- firmware/tetris.S:165–186, 251–315</a:t>
            </a:r>
          </a:p>
          <a:p>
            <a:r>
              <a:t>- rtl/soc/soc_top.sv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刷新时，软件逐行把行号和十位数据写入 LCD_GAME_ROW，完成二十行上传后写 LCD_GAME_REFRESH。硬件把两行逻辑棋盘映射到一个八像素页面，每个方块使用八列实体和两列间隔。这样软件只处理棋盘位图，不逐像素发送一万多个显示位。</a:t>
            </a:r>
          </a:p>
          <a:p>
            <a:endParaRPr/>
          </a:p>
          <a:p>
            <a:r>
              <a:t>内容依据：</a:t>
            </a:r>
          </a:p>
          <a:p>
            <a:r>
              <a:t>- firmware/tetris.S:317–374</a:t>
            </a:r>
          </a:p>
          <a:p>
            <a:r>
              <a:t>- rtl/peripheral/lcd_controller.sv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验证分为 SPI、控制器、MMIO、游戏系统、IP 复用和实板六层。SPI 测试检查 0xA5 的八位 MSB first、RS 与空闲恢复；控制器测试检查复位、初始化与传输次数；系统测试检查二十行上传顺序、方向键、软降释放和蜂鸣器事件。所有自动化测试以断言和 PASS 作为通过条件。</a:t>
            </a:r>
          </a:p>
          <a:p>
            <a:endParaRPr/>
          </a:p>
          <a:p>
            <a:r>
              <a:t>内容依据：</a:t>
            </a:r>
          </a:p>
          <a:p>
            <a:r>
              <a:t>- sim/unit/tb_lcd_spi_master.sv</a:t>
            </a:r>
          </a:p>
          <a:p>
            <a:r>
              <a:t>- sim/unit/tb_lcd_controller.sv</a:t>
            </a:r>
          </a:p>
          <a:p>
            <a:r>
              <a:t>- sim/system/tb_tetris_system.sv</a:t>
            </a:r>
          </a:p>
          <a:p>
            <a:r>
              <a:t>- docs/测试报告.md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现场演示建议按上电、开始、左右移动、旋转、软降、锁定、消行蜂鸣和重新开始的顺序。已有报告记录基础 LCD 测试图案与按键路径，但仓库没有最终游戏画面、蜂鸣器和 IP Catalog 截图。本页因此只列验收点，答辩前必须插入同一 bitstream 对应的实物照片或现场视频帧。</a:t>
            </a:r>
          </a:p>
          <a:p>
            <a:endParaRPr/>
          </a:p>
          <a:p>
            <a:r>
              <a:t>内容依据：</a:t>
            </a:r>
          </a:p>
          <a:p>
            <a:r>
              <a:t>- docs/中期与最终汇报范围划分.md §7.2, §10</a:t>
            </a:r>
          </a:p>
          <a:p>
            <a:r>
              <a:t>- docs/Vivado下板操作.md §12</a:t>
            </a:r>
          </a:p>
          <a:p>
            <a:r>
              <a:t>- firmware/tetris.S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最终成果形成了可独立复用的 LCD SPI IP、清晰的 MMIO 软件接口和完整汇编图形应用。课程边界上，CPU 微架构和性能属于计组；本课程评价接口协议、IP 封装、汇编驱动和软硬件协同。现有仿真已经覆盖核心功能，最终提交还需把实物证据和视频与代码版本绑定。</a:t>
            </a:r>
          </a:p>
          <a:p>
            <a:endParaRPr/>
          </a:p>
          <a:p>
            <a:r>
              <a:t>内容依据：</a:t>
            </a:r>
          </a:p>
          <a:p>
            <a:r>
              <a:t>- docs/实验报告/接口控制器设计实验报告.docx</a:t>
            </a:r>
          </a:p>
          <a:p>
            <a:r>
              <a:t>- docs/中期与最终汇报范围划分.md §7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469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364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176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2837C96-49ED-42B5-9B1F-F1D2E08A52C0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汇编与接口技术课程设计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B282D6-754C-4139-AC55-73AD6B21DED7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1028700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35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可复用 LCD SPI 控制器 IP</a:t>
            </a:r>
          </a:p>
          <a:p>
            <a:pPr>
              <a:defRPr sz="35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与 RISC-V 汇编图形应用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C622E1-1DDB-433E-8A53-B2B39BE37323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B21CE2-BB8B-4814-9D46-16BC26FF26F0}"/>
              </a:ext>
            </a:extLst>
          </p:cNvPr>
          <p:cNvSpPr>
            <a:spLocks noGrp="1"/>
          </p:cNvSpPr>
          <p:nvPr/>
        </p:nvSpPr>
        <p:spPr>
          <a:xfrm>
            <a:off x="590550" y="43053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验收汇报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B736FC-AB2D-41DC-89C7-D1CE32D81295}"/>
              </a:ext>
            </a:extLst>
          </p:cNvPr>
          <p:cNvSpPr>
            <a:spLocks noGrp="1"/>
          </p:cNvSpPr>
          <p:nvPr/>
        </p:nvSpPr>
        <p:spPr>
          <a:xfrm>
            <a:off x="590550" y="4857750"/>
            <a:ext cx="8858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65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ST7571 初始化、MMIO 驱动、俄罗斯方块与实板交互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8B83389-0104-4308-A921-A218EC68849A}"/>
              </a:ext>
            </a:extLst>
          </p:cNvPr>
          <p:cNvSpPr>
            <a:spLocks noGrp="1"/>
          </p:cNvSpPr>
          <p:nvPr/>
        </p:nvSpPr>
        <p:spPr>
          <a:xfrm>
            <a:off x="590550" y="5657850"/>
            <a:ext cx="123825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5165EC-FD49-4048-8000-5BD8834671DF}"/>
              </a:ext>
            </a:extLst>
          </p:cNvPr>
          <p:cNvSpPr>
            <a:spLocks noGrp="1"/>
          </p:cNvSpPr>
          <p:nvPr/>
        </p:nvSpPr>
        <p:spPr>
          <a:xfrm>
            <a:off x="590550" y="5705475"/>
            <a:ext cx="12382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20000"/>
          </a:bodyPr>
          <a:lstStyle/>
          <a:p>
            <a:pPr>
              <a:defRPr sz="975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IP v1.0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41949D5-E755-4892-9B96-C5FCC17E93F3}"/>
              </a:ext>
            </a:extLst>
          </p:cNvPr>
          <p:cNvSpPr>
            <a:spLocks noGrp="1"/>
          </p:cNvSpPr>
          <p:nvPr/>
        </p:nvSpPr>
        <p:spPr>
          <a:xfrm>
            <a:off x="1981200" y="565785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4CF627-F4CB-4E84-B009-85EA47FD5550}"/>
              </a:ext>
            </a:extLst>
          </p:cNvPr>
          <p:cNvSpPr>
            <a:spLocks noGrp="1"/>
          </p:cNvSpPr>
          <p:nvPr/>
        </p:nvSpPr>
        <p:spPr>
          <a:xfrm>
            <a:off x="1981200" y="5705475"/>
            <a:ext cx="14287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20000"/>
          </a:bodyPr>
          <a:lstStyle/>
          <a:p>
            <a:pPr>
              <a:def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10×20 棋盘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0CEFDAE-8E39-4495-8EAD-4E9EB8742169}"/>
              </a:ext>
            </a:extLst>
          </p:cNvPr>
          <p:cNvSpPr>
            <a:spLocks noGrp="1"/>
          </p:cNvSpPr>
          <p:nvPr/>
        </p:nvSpPr>
        <p:spPr>
          <a:xfrm>
            <a:off x="3562350" y="565785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110B24-3DE6-478C-9E7B-94654D3612AD}"/>
              </a:ext>
            </a:extLst>
          </p:cNvPr>
          <p:cNvSpPr>
            <a:spLocks noGrp="1"/>
          </p:cNvSpPr>
          <p:nvPr/>
        </p:nvSpPr>
        <p:spPr>
          <a:xfrm>
            <a:off x="3562350" y="5705475"/>
            <a:ext cx="15240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20000"/>
          </a:bodyPr>
          <a:lstStyle/>
          <a:p>
            <a:pPr>
              <a:def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SPI + MMIO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F4131C-F10F-47DB-BBD7-982B9DE66AB7}"/>
              </a:ext>
            </a:extLst>
          </p:cNvPr>
          <p:cNvSpPr>
            <a:spLocks noGrp="1"/>
          </p:cNvSpPr>
          <p:nvPr/>
        </p:nvSpPr>
        <p:spPr>
          <a:xfrm>
            <a:off x="590550" y="61722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214" lnSpcReduction="10000"/>
          </a:bodyPr>
          <a:lstStyle/>
          <a:p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成员：王建乐、张晓行、钱博傲    日期：2026 年 9 月</a:t>
            </a:r>
          </a:p>
        </p:txBody>
      </p:sp>
    </p:spTree>
    <p:extLst>
      <p:ext uri="{BB962C8B-B14F-4D97-AF65-F5344CB8AC3E}">
        <p14:creationId xmlns:p14="http://schemas.microsoft.com/office/powerpoint/2010/main" val="201082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CBF501B3-45F1-4837-A95E-F1B6432CAEB2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25D4E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汇报安排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F1AE66-8BBB-4F6D-8C90-77BC98795952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sz="2475" b="1" i="0" u="none" strike="noStrike" kern="1200" cap="none" spc="0" normalizeH="0" baseline="0" noProof="0" dirty="0" err="1">
                <a:ln>
                  <a:noFill/>
                </a:ln>
                <a:solidFill>
                  <a:srgbClr val="EAF2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分工</a:t>
            </a:r>
            <a:r>
              <a:rPr kumimoji="0" lang="zh-CN" altLang="en-US" sz="2475" b="1" i="0" u="none" strike="noStrike" kern="1200" cap="none" spc="0" normalizeH="0" baseline="0" noProof="0" dirty="0">
                <a:ln>
                  <a:noFill/>
                </a:ln>
                <a:solidFill>
                  <a:srgbClr val="EAF2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安排</a:t>
            </a:r>
            <a:endParaRPr kumimoji="0" sz="2475" b="1" i="0" u="none" strike="noStrike" kern="1200" cap="none" spc="0" normalizeH="0" baseline="0" noProof="0" dirty="0">
              <a:ln>
                <a:noFill/>
              </a:ln>
              <a:solidFill>
                <a:srgbClr val="EAF2FF"/>
              </a:solidFill>
              <a:effectLst/>
              <a:uLnTx/>
              <a:uFillTx/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79095D5-3494-4C48-9EB5-DB17F7581080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5A1CFC-BB7C-44FC-91D6-610893486667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636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A6B4C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06529B8-CB46-4352-9E3E-3BFECFBA515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AB2132-19E5-4777-9446-2644F433B7CB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636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A6B4C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403BCB-F322-AFB6-E81A-88242098F08D}"/>
              </a:ext>
            </a:extLst>
          </p:cNvPr>
          <p:cNvSpPr>
            <a:spLocks noGrp="1"/>
          </p:cNvSpPr>
          <p:nvPr/>
        </p:nvSpPr>
        <p:spPr>
          <a:xfrm>
            <a:off x="476250" y="17240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650" b="1" i="0" u="none" strike="noStrike" kern="1200" cap="none" spc="0" normalizeH="0" baseline="0" noProof="0" dirty="0" err="1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王建乐（组长</a:t>
            </a: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B209471-360E-1DC0-A65F-C3BE1F1DBF3F}"/>
              </a:ext>
            </a:extLst>
          </p:cNvPr>
          <p:cNvSpPr>
            <a:spLocks noGrp="1"/>
          </p:cNvSpPr>
          <p:nvPr/>
        </p:nvSpPr>
        <p:spPr>
          <a:xfrm>
            <a:off x="476250" y="20669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zh-CN" sz="1575" b="0" i="0" u="none" strike="noStrike" kern="1200" cap="none" spc="0" normalizeH="0" baseline="0" noProof="0" dirty="0">
                <a:ln>
                  <a:noFill/>
                </a:ln>
                <a:solidFill>
                  <a:srgbClr val="F7FAFF"/>
                </a:solidFill>
                <a:effectLst/>
                <a:uLnTx/>
                <a:uFillTx/>
                <a:latin typeface="Microsoft YaHei"/>
                <a:ea typeface="Microsoft YaHei"/>
              </a:rPr>
              <a:t>ISA、微码、系统集成与材料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F7FAFF"/>
                </a:solidFill>
                <a:effectLst/>
                <a:uLnTx/>
                <a:uFillTx/>
                <a:latin typeface="Microsoft YaHei"/>
                <a:ea typeface="Microsoft YaHei"/>
              </a:rPr>
              <a:t>编写</a:t>
            </a:r>
            <a:endParaRPr kumimoji="0" sz="1575" b="0" i="0" u="none" strike="noStrike" kern="1200" cap="none" spc="0" normalizeH="0" baseline="0" noProof="0" dirty="0">
              <a:ln>
                <a:noFill/>
              </a:ln>
              <a:solidFill>
                <a:srgbClr val="F7FA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0014932-8F74-5C88-CBD8-5F165747881A}"/>
              </a:ext>
            </a:extLst>
          </p:cNvPr>
          <p:cNvSpPr>
            <a:spLocks noGrp="1"/>
          </p:cNvSpPr>
          <p:nvPr/>
        </p:nvSpPr>
        <p:spPr>
          <a:xfrm>
            <a:off x="476250" y="266700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650" b="1" i="0" u="none" strike="noStrike" kern="1200" cap="none" spc="0" normalizeH="0" baseline="0" noProof="0" dirty="0" err="1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张晓行</a:t>
            </a: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（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组员</a:t>
            </a: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4B7DA12-34D3-BB62-4C3A-151B33A1E9C9}"/>
              </a:ext>
            </a:extLst>
          </p:cNvPr>
          <p:cNvSpPr>
            <a:spLocks noGrp="1"/>
          </p:cNvSpPr>
          <p:nvPr/>
        </p:nvSpPr>
        <p:spPr>
          <a:xfrm>
            <a:off x="476250" y="30099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zh-CN" sz="1575" b="0" i="0" u="none" strike="noStrike" kern="1200" cap="none" spc="0" normalizeH="0" baseline="0" noProof="0" dirty="0">
                <a:ln>
                  <a:noFill/>
                </a:ln>
                <a:solidFill>
                  <a:srgbClr val="F7FAFF"/>
                </a:solidFill>
                <a:effectLst/>
                <a:uLnTx/>
                <a:uFillTx/>
                <a:latin typeface="Microsoft YaHei"/>
                <a:ea typeface="Microsoft YaHei"/>
              </a:rPr>
              <a:t>流水控制、前递、停顿、异常中断、CPU 验证</a:t>
            </a:r>
            <a:endParaRPr kumimoji="0" sz="1575" b="0" i="0" u="none" strike="noStrike" kern="1200" cap="none" spc="0" normalizeH="0" baseline="0" noProof="0" dirty="0">
              <a:ln>
                <a:noFill/>
              </a:ln>
              <a:solidFill>
                <a:srgbClr val="F7FA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2EFF5F2-9AD9-C2EF-9526-4A79EBB513E1}"/>
              </a:ext>
            </a:extLst>
          </p:cNvPr>
          <p:cNvSpPr>
            <a:spLocks noGrp="1"/>
          </p:cNvSpPr>
          <p:nvPr/>
        </p:nvSpPr>
        <p:spPr>
          <a:xfrm>
            <a:off x="476250" y="36099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sz="1650" b="1" i="0" u="none" strike="noStrike" kern="1200" cap="none" spc="0" normalizeH="0" baseline="0" noProof="0" dirty="0" err="1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钱博傲</a:t>
            </a: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（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组员</a:t>
            </a: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6B77F0C-1888-9CDA-7F1F-7D3C693E02C1}"/>
              </a:ext>
            </a:extLst>
          </p:cNvPr>
          <p:cNvSpPr>
            <a:spLocks noGrp="1"/>
          </p:cNvSpPr>
          <p:nvPr/>
        </p:nvSpPr>
        <p:spPr>
          <a:xfrm>
            <a:off x="476250" y="39528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kumimoji="0" lang="zh-CN" altLang="zh-CN" sz="1575" b="0" i="0" u="none" strike="noStrike" kern="1200" cap="none" spc="0" normalizeH="0" baseline="0" noProof="0" dirty="0">
                <a:ln>
                  <a:noFill/>
                </a:ln>
                <a:solidFill>
                  <a:srgbClr val="F7FAFF"/>
                </a:solidFill>
                <a:effectLst/>
                <a:uLnTx/>
                <a:uFillTx/>
                <a:latin typeface="Microsoft YaHei"/>
                <a:ea typeface="Microsoft YaHei"/>
              </a:rPr>
              <a:t>LCD、SPI、MMIO 驱动、汇编应用与板级协作</a:t>
            </a:r>
            <a:endParaRPr kumimoji="0" sz="1575" b="0" i="0" u="none" strike="noStrike" kern="1200" cap="none" spc="0" normalizeH="0" baseline="0" noProof="0" dirty="0">
              <a:ln>
                <a:noFill/>
              </a:ln>
              <a:solidFill>
                <a:srgbClr val="F7FAFF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64363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6422E83-3374-4FAF-B0C3-9EB827633A3D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系统结构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7E2209-B976-43E7-809C-215B0AC66E59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输入、软件、MMIO 与 LCD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E5A70275-2ACE-4A7B-B571-92234C41785D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4B71D6-7A5C-4E66-955E-56954D449F12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2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59324" y="1524000"/>
            <a:ext cx="8673353" cy="40957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B37CEA3-3576-495B-9F91-6C4A2918A34A}"/>
              </a:ext>
            </a:extLst>
          </p:cNvPr>
          <p:cNvSpPr>
            <a:spLocks noGrp="1"/>
          </p:cNvSpPr>
          <p:nvPr/>
        </p:nvSpPr>
        <p:spPr>
          <a:xfrm>
            <a:off x="400050" y="5867400"/>
            <a:ext cx="11391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课程评价对象：LCD 接口控制器 IP、汇编驱动与软硬件协同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501387-2032-4040-8346-BBD8E1D91333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1C7CEB-99B2-472F-8996-8E6E2CC98D9D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2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9310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84A08A8-4D57-4FA4-8086-839A54727335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硬件控制器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60934B-DC09-4DB5-B4B2-63C85C6A46FF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LCD 控制器状态机与发送闭环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645CBCD-7E55-44D7-8262-1DFC63FE150D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CDBB0A-25F6-4C77-AD47-4AF061EEFFD6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41245" y="1476375"/>
            <a:ext cx="7509510" cy="41719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28A5746-1210-40B9-ABF7-9C8BE43306DF}"/>
              </a:ext>
            </a:extLst>
          </p:cNvPr>
          <p:cNvSpPr>
            <a:spLocks noGrp="1"/>
          </p:cNvSpPr>
          <p:nvPr/>
        </p:nvSpPr>
        <p:spPr>
          <a:xfrm>
            <a:off x="400050" y="5905500"/>
            <a:ext cx="11391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tx_ready 只在 IDLE 且 SPI 空闲时有效，一次请求只产生一次发送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7D1A62-2D15-4DB6-9669-F0A6DD71E382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3A505B-DBE7-4477-B5D8-ED02698E93AA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455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107EAF4-7698-414D-9929-B841678FE8BB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软件接口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3502AA-3174-42CE-8A73-50EA25E163CD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LCD 与蜂鸣器 MMIO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8135C7E9-E8BA-4D2D-8E07-D4CF857D8ED0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CC8934-1076-4EA5-8122-784CB8770F6D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400050" y="1571625"/>
          <a:ext cx="11391900" cy="3905248"/>
        </p:xfrm>
        <a:graphic>
          <a:graphicData uri="http://schemas.openxmlformats.org/drawingml/2006/table">
            <a:tbl>
              <a:tblPr/>
              <a:tblGrid>
                <a:gridCol w="2614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1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6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156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地址</a:t>
                      </a:r>
                    </a:p>
                  </a:txBody>
                  <a:tcPr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寄存器</a:t>
                      </a:r>
                    </a:p>
                  </a:txBody>
                  <a:tcPr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软件用途</a:t>
                      </a:r>
                    </a:p>
                  </a:txBody>
                  <a:tcPr>
                    <a:solidFill>
                      <a:srgbClr val="1631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0x2000_0020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LCD_CMD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写低 8 位命令，RS = 0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0x2000_0024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LCD_DATA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写低 8 位数据，RS = 1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0x2000_0028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LCD_STATUS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bit0 ready，bit1 initialized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0x2000_002C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LCD_CTRL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重初始化、清屏、固定文字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0x2000_0030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LCD_GAME_ROW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行号 + 10 位棋盘数据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0x2000_0034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LCD_GAME_REFRESH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请求刷新完整棋盘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0x2000_0038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BUZZER_TRIGGER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消行后触发短音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E3EA8AA-5ECC-45E2-92A1-5F814580081E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11391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MMIO 不缓存、强顺序，写副作用只在 req &amp;&amp; ready 时产生一次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920BF8-D209-4B2B-A2B0-156DB39B0295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430D21-16E0-4CBD-93A7-0ECBBCE0AF17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328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17641338-41D8-4DAB-8317-2AE1B9304C54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IP 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56B0F2-1011-4DCB-A057-BBAF8EAECCF4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LCD 控制器 IP 封装与复用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8E8769E5-E7DA-4946-9EA9-C0BB3845E90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A78F4B-B510-490C-A4C7-60C5391F4019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5D55B5-1F64-4D78-A07D-6BB186FAF645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208" lnSpcReduction="10000"/>
          </a:bodyPr>
          <a:lstStyle/>
          <a:p>
            <a:pPr>
              <a:defRPr sz="1200" b="1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VLNV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AEDA5D-B81D-4DE1-B59B-0CB323A59C6E}"/>
              </a:ext>
            </a:extLst>
          </p:cNvPr>
          <p:cNvSpPr>
            <a:spLocks noGrp="1"/>
          </p:cNvSpPr>
          <p:nvPr/>
        </p:nvSpPr>
        <p:spPr>
          <a:xfrm>
            <a:off x="1409700" y="15811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659" lnSpcReduction="10000"/>
          </a:bodyPr>
          <a:lstStyle/>
          <a:p>
            <a:pPr>
              <a:defRPr sz="1725" b="1">
                <a:solidFill>
                  <a:srgbClr val="A78BFA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local:user:lcd_controller:1.0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AD4C193-6885-4E97-BD8C-9FB8D1278FD9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2333625" cy="1047750"/>
          </a:xfrm>
          <a:prstGeom prst="roundRect">
            <a:avLst>
              <a:gd name="adj" fmla="val 7273"/>
            </a:avLst>
          </a:prstGeom>
          <a:solidFill>
            <a:srgbClr val="111C2F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CF5BCD-B6FE-4C1C-866D-F4EDC4100AB1}"/>
              </a:ext>
            </a:extLst>
          </p:cNvPr>
          <p:cNvSpPr>
            <a:spLocks noGrp="1"/>
          </p:cNvSpPr>
          <p:nvPr/>
        </p:nvSpPr>
        <p:spPr>
          <a:xfrm>
            <a:off x="762000" y="2466975"/>
            <a:ext cx="21812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component.xml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82C0CE-912F-424F-BA7B-3924CF24ED87}"/>
              </a:ext>
            </a:extLst>
          </p:cNvPr>
          <p:cNvSpPr>
            <a:spLocks noGrp="1"/>
          </p:cNvSpPr>
          <p:nvPr/>
        </p:nvSpPr>
        <p:spPr>
          <a:xfrm>
            <a:off x="781050" y="2790825"/>
            <a:ext cx="21431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19 个端口</a:t>
            </a:r>
          </a:p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9 个时序参数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8EE1DBD-12F6-4782-867C-17FF22B145B3}"/>
              </a:ext>
            </a:extLst>
          </p:cNvPr>
          <p:cNvSpPr>
            <a:spLocks noGrp="1"/>
          </p:cNvSpPr>
          <p:nvPr/>
        </p:nvSpPr>
        <p:spPr>
          <a:xfrm>
            <a:off x="3638550" y="2333625"/>
            <a:ext cx="2333625" cy="1047750"/>
          </a:xfrm>
          <a:prstGeom prst="roundRect">
            <a:avLst>
              <a:gd name="adj" fmla="val 7273"/>
            </a:avLst>
          </a:prstGeom>
          <a:solidFill>
            <a:srgbClr val="111C2F"/>
          </a:solidFill>
          <a:ln w="9525">
            <a:solidFill>
              <a:srgbClr val="25D4E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F03BAE-910A-46A3-9C0B-EB569C5328EC}"/>
              </a:ext>
            </a:extLst>
          </p:cNvPr>
          <p:cNvSpPr>
            <a:spLocks noGrp="1"/>
          </p:cNvSpPr>
          <p:nvPr/>
        </p:nvSpPr>
        <p:spPr>
          <a:xfrm>
            <a:off x="3714750" y="2466975"/>
            <a:ext cx="21812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src/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E758B3-D325-4201-B926-110274EDA873}"/>
              </a:ext>
            </a:extLst>
          </p:cNvPr>
          <p:cNvSpPr>
            <a:spLocks noGrp="1"/>
          </p:cNvSpPr>
          <p:nvPr/>
        </p:nvSpPr>
        <p:spPr>
          <a:xfrm>
            <a:off x="3733800" y="2790825"/>
            <a:ext cx="21431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lcd_controller.sv</a:t>
            </a:r>
          </a:p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lcd_spi_master.sv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7BFEB75-A7BB-4C98-8837-CA07E91D326A}"/>
              </a:ext>
            </a:extLst>
          </p:cNvPr>
          <p:cNvSpPr>
            <a:spLocks noGrp="1"/>
          </p:cNvSpPr>
          <p:nvPr/>
        </p:nvSpPr>
        <p:spPr>
          <a:xfrm>
            <a:off x="6591300" y="2333625"/>
            <a:ext cx="2333625" cy="1047750"/>
          </a:xfrm>
          <a:prstGeom prst="roundRect">
            <a:avLst>
              <a:gd name="adj" fmla="val 7273"/>
            </a:avLst>
          </a:prstGeom>
          <a:solidFill>
            <a:srgbClr val="111C2F"/>
          </a:solidFill>
          <a:ln w="9525">
            <a:solidFill>
              <a:srgbClr val="37D99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58903E-1F8D-4149-9CD8-812DC9AAF777}"/>
              </a:ext>
            </a:extLst>
          </p:cNvPr>
          <p:cNvSpPr>
            <a:spLocks noGrp="1"/>
          </p:cNvSpPr>
          <p:nvPr/>
        </p:nvSpPr>
        <p:spPr>
          <a:xfrm>
            <a:off x="6667500" y="2466975"/>
            <a:ext cx="21812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xgui/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D06FCD8-651F-475C-B893-891F3DF9F82F}"/>
              </a:ext>
            </a:extLst>
          </p:cNvPr>
          <p:cNvSpPr>
            <a:spLocks noGrp="1"/>
          </p:cNvSpPr>
          <p:nvPr/>
        </p:nvSpPr>
        <p:spPr>
          <a:xfrm>
            <a:off x="6686550" y="2790825"/>
            <a:ext cx="21431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参数界面与校验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86FEBE0-93C5-4694-B962-38AC4F9A40BB}"/>
              </a:ext>
            </a:extLst>
          </p:cNvPr>
          <p:cNvSpPr>
            <a:spLocks noGrp="1"/>
          </p:cNvSpPr>
          <p:nvPr/>
        </p:nvSpPr>
        <p:spPr>
          <a:xfrm>
            <a:off x="9544050" y="2333625"/>
            <a:ext cx="2095500" cy="1047750"/>
          </a:xfrm>
          <a:prstGeom prst="roundRect">
            <a:avLst>
              <a:gd name="adj" fmla="val 7273"/>
            </a:avLst>
          </a:prstGeom>
          <a:solidFill>
            <a:srgbClr val="111C2F"/>
          </a:solidFill>
          <a:ln w="9525">
            <a:solidFill>
              <a:srgbClr val="F5B94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B27A41-AC5E-4676-9735-5AB31A98693E}"/>
              </a:ext>
            </a:extLst>
          </p:cNvPr>
          <p:cNvSpPr>
            <a:spLocks noGrp="1"/>
          </p:cNvSpPr>
          <p:nvPr/>
        </p:nvSpPr>
        <p:spPr>
          <a:xfrm>
            <a:off x="9620250" y="2466975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IP Catalog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063819-7488-40EC-9020-A88A626F685B}"/>
              </a:ext>
            </a:extLst>
          </p:cNvPr>
          <p:cNvSpPr>
            <a:spLocks noGrp="1"/>
          </p:cNvSpPr>
          <p:nvPr/>
        </p:nvSpPr>
        <p:spPr>
          <a:xfrm>
            <a:off x="9639300" y="2790825"/>
            <a:ext cx="1905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注册、例化、Validate</a:t>
            </a:r>
          </a:p>
        </p:txBody>
      </p:sp>
      <p:cxnSp>
        <p:nvCxnSpPr>
          <p:cNvPr id="50" name="直接箭头连接符 49"/>
          <p:cNvCxnSpPr>
            <a:stCxn id="7" idx="3"/>
            <a:endCxn id="10" idx="1"/>
          </p:cNvCxnSpPr>
          <p:nvPr/>
        </p:nvCxnSpPr>
        <p:spPr>
          <a:xfrm>
            <a:off x="3019425" y="2857500"/>
            <a:ext cx="619125" cy="0"/>
          </a:xfrm>
          <a:prstGeom prst="straightConnector1">
            <a:avLst/>
          </a:prstGeom>
          <a:ln w="19050">
            <a:solidFill>
              <a:srgbClr val="A78BFA"/>
            </a:solidFill>
            <a:prstDash val="solid"/>
            <a:tailEnd type="triangle" w="sm" len="sm"/>
          </a:ln>
        </p:spPr>
      </p:cxnSp>
      <p:cxnSp>
        <p:nvCxnSpPr>
          <p:cNvPr id="51" name="直接箭头连接符 50"/>
          <p:cNvCxnSpPr>
            <a:stCxn id="10" idx="3"/>
            <a:endCxn id="13" idx="1"/>
          </p:cNvCxnSpPr>
          <p:nvPr/>
        </p:nvCxnSpPr>
        <p:spPr>
          <a:xfrm>
            <a:off x="5972175" y="2857500"/>
            <a:ext cx="61912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2" name="直接箭头连接符 51"/>
          <p:cNvCxnSpPr>
            <a:stCxn id="13" idx="3"/>
            <a:endCxn id="16" idx="1"/>
          </p:cNvCxnSpPr>
          <p:nvPr/>
        </p:nvCxnSpPr>
        <p:spPr>
          <a:xfrm>
            <a:off x="8924925" y="2857500"/>
            <a:ext cx="619125" cy="0"/>
          </a:xfrm>
          <a:prstGeom prst="straightConnector1">
            <a:avLst/>
          </a:prstGeom>
          <a:ln w="19050">
            <a:solidFill>
              <a:srgbClr val="37D99A"/>
            </a:solidFill>
            <a:prstDash val="solid"/>
            <a:tailEnd type="triangle" w="sm" len="sm"/>
          </a:ln>
        </p:spPr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C1CFD42-F80B-4AC9-B17F-AAAADC78C444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4953000" cy="1285875"/>
          </a:xfrm>
          <a:prstGeom prst="roundRect">
            <a:avLst>
              <a:gd name="adj" fmla="val 6667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94E8662-2DC1-4AB8-8B9C-61FE4E68EDBB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47625" cy="1285875"/>
          </a:xfrm>
          <a:prstGeom prst="roundRect">
            <a:avLst>
              <a:gd name="adj" fmla="val 50000"/>
            </a:avLst>
          </a:prstGeom>
          <a:solidFill>
            <a:srgbClr val="25D4E8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F1BBAF5-D69F-4A4E-9E49-1F3277D68003}"/>
              </a:ext>
            </a:extLst>
          </p:cNvPr>
          <p:cNvSpPr>
            <a:spLocks noGrp="1"/>
          </p:cNvSpPr>
          <p:nvPr/>
        </p:nvSpPr>
        <p:spPr>
          <a:xfrm>
            <a:off x="895350" y="4257675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封装边界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30090B1-5A98-4BE0-84BD-A485B909D471}"/>
              </a:ext>
            </a:extLst>
          </p:cNvPr>
          <p:cNvSpPr>
            <a:spLocks noGrp="1"/>
          </p:cNvSpPr>
          <p:nvPr/>
        </p:nvSpPr>
        <p:spPr>
          <a:xfrm>
            <a:off x="895350" y="4600575"/>
            <a:ext cx="4572000" cy="638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只打包 LCD 控制器和 SPI master，不把 CPU、SoC、约束或测试平台混入 IP。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7E3CB16-48AE-40FD-BA53-25E55445167F}"/>
              </a:ext>
            </a:extLst>
          </p:cNvPr>
          <p:cNvSpPr>
            <a:spLocks noGrp="1"/>
          </p:cNvSpPr>
          <p:nvPr/>
        </p:nvSpPr>
        <p:spPr>
          <a:xfrm>
            <a:off x="6591300" y="4095750"/>
            <a:ext cx="5048250" cy="1285875"/>
          </a:xfrm>
          <a:prstGeom prst="roundRect">
            <a:avLst>
              <a:gd name="adj" fmla="val 6667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ABC0498-4B01-4A71-9A02-E069601AB272}"/>
              </a:ext>
            </a:extLst>
          </p:cNvPr>
          <p:cNvSpPr>
            <a:spLocks noGrp="1"/>
          </p:cNvSpPr>
          <p:nvPr/>
        </p:nvSpPr>
        <p:spPr>
          <a:xfrm>
            <a:off x="6591300" y="4095750"/>
            <a:ext cx="47625" cy="1285875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0446DCE-83AA-44E9-97BF-C777F9E98D4F}"/>
              </a:ext>
            </a:extLst>
          </p:cNvPr>
          <p:cNvSpPr>
            <a:spLocks noGrp="1"/>
          </p:cNvSpPr>
          <p:nvPr/>
        </p:nvSpPr>
        <p:spPr>
          <a:xfrm>
            <a:off x="6800850" y="4257675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答辩前补图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4C2207D-00D7-4E24-B905-6E5CEC317FCB}"/>
              </a:ext>
            </a:extLst>
          </p:cNvPr>
          <p:cNvSpPr>
            <a:spLocks noGrp="1"/>
          </p:cNvSpPr>
          <p:nvPr/>
        </p:nvSpPr>
        <p:spPr>
          <a:xfrm>
            <a:off x="6800850" y="4600575"/>
            <a:ext cx="4667250" cy="638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IP Catalog、Block Design、Validate Design、Generate Output Products 四张截图。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1B664B1-09A0-4E23-B03F-598442822C05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130DD-A917-45A7-9591-1C13EDB1A7DC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0969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E3F2004-DD05-4954-A61B-D6FD6501639F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软件架构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3D1F3B-2F79-4CD9-A35D-02CAE07B3D47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汇编软件分层与显示数据流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0AF8D64-12D5-4010-BDC0-BEE9827ABDF1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6A7A67-4666-4A52-94C1-D7FD71837C4D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70667" y="1476375"/>
            <a:ext cx="7450667" cy="4191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DA8ADBE-76EF-426F-8C40-14FDC288EC2A}"/>
              </a:ext>
            </a:extLst>
          </p:cNvPr>
          <p:cNvSpPr>
            <a:spLocks noGrp="1"/>
          </p:cNvSpPr>
          <p:nvPr/>
        </p:nvSpPr>
        <p:spPr>
          <a:xfrm>
            <a:off x="400050" y="5905500"/>
            <a:ext cx="11391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软件处理规则与棋盘位图，硬件处理时序与像素映射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80A4BC-D04C-4E0B-8703-4340027FE7C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C4AA10-4252-4400-AA72-D994F3252BF0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3656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C1E658EC-0E7E-4401-8D3E-9CFF983DB38F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数据结构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A46648-7117-4338-B9CF-A03E0F3B6B35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棋盘、方块与活动状态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3BB71BFD-6D8B-4001-9E4D-7FF4E954D3DD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254665-781D-4BC1-9AA9-9193A0FFDFD2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70CFE14-A36C-49EE-A2C2-A68B4F244964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3810000" cy="4095750"/>
          </a:xfrm>
          <a:prstGeom prst="roundRect">
            <a:avLst>
              <a:gd name="adj" fmla="val 1500"/>
            </a:avLst>
          </a:prstGeom>
          <a:solidFill>
            <a:srgbClr val="08101C"/>
          </a:solidFill>
          <a:ln w="9525">
            <a:solidFill>
              <a:srgbClr val="25D4E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8FFBFB-2327-4946-8730-E1D01E26814A}"/>
              </a:ext>
            </a:extLst>
          </p:cNvPr>
          <p:cNvSpPr>
            <a:spLocks noGrp="1"/>
          </p:cNvSpPr>
          <p:nvPr/>
        </p:nvSpPr>
        <p:spPr>
          <a:xfrm>
            <a:off x="1238250" y="1790700"/>
            <a:ext cx="25527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0000000000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0000000000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0001111000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0000110000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0000110000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0001100000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0001100000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0011110000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0000110000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0001111000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0010010000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0011110000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0110110000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0111111000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0110011000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1111011000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1111111100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1110111000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1111111100</a:t>
            </a:r>
          </a:p>
          <a:p>
            <a:pPr>
              <a:defRPr sz="1125" b="1">
                <a:solidFill>
                  <a:srgbClr val="37D99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7D99A"/>
                </a:solidFill>
                <a:latin typeface="Consolas"/>
                <a:ea typeface="Consolas"/>
                <a:cs typeface="Consolas"/>
              </a:rPr>
              <a:t>1111111111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35F2730-72CD-4D95-9315-25FEFC5E766E}"/>
              </a:ext>
            </a:extLst>
          </p:cNvPr>
          <p:cNvSpPr>
            <a:spLocks noGrp="1"/>
          </p:cNvSpPr>
          <p:nvPr/>
        </p:nvSpPr>
        <p:spPr>
          <a:xfrm>
            <a:off x="5048250" y="1666875"/>
            <a:ext cx="3048000" cy="1333500"/>
          </a:xfrm>
          <a:prstGeom prst="roundRect">
            <a:avLst>
              <a:gd name="adj" fmla="val 6429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E7007FF-0D9E-4D3D-AB25-2F6CFDDEB981}"/>
              </a:ext>
            </a:extLst>
          </p:cNvPr>
          <p:cNvSpPr>
            <a:spLocks noGrp="1"/>
          </p:cNvSpPr>
          <p:nvPr/>
        </p:nvSpPr>
        <p:spPr>
          <a:xfrm>
            <a:off x="5048250" y="1666875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25D4E8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556D27-5F6A-4DEC-9D9C-F55C9F6D9B9A}"/>
              </a:ext>
            </a:extLst>
          </p:cNvPr>
          <p:cNvSpPr>
            <a:spLocks noGrp="1"/>
          </p:cNvSpPr>
          <p:nvPr/>
        </p:nvSpPr>
        <p:spPr>
          <a:xfrm>
            <a:off x="5257800" y="18288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固定棋盘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0CCACE-64B0-4714-B0D7-47F968253836}"/>
              </a:ext>
            </a:extLst>
          </p:cNvPr>
          <p:cNvSpPr>
            <a:spLocks noGrp="1"/>
          </p:cNvSpPr>
          <p:nvPr/>
        </p:nvSpPr>
        <p:spPr>
          <a:xfrm>
            <a:off x="5257800" y="2171700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DMEM 保存 20 个 10 位行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满行值为 0x3FF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上方行向下压缩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032ADBD-757C-4002-AC31-311D11C1C20F}"/>
              </a:ext>
            </a:extLst>
          </p:cNvPr>
          <p:cNvSpPr>
            <a:spLocks noGrp="1"/>
          </p:cNvSpPr>
          <p:nvPr/>
        </p:nvSpPr>
        <p:spPr>
          <a:xfrm>
            <a:off x="8477250" y="1666875"/>
            <a:ext cx="3048000" cy="1333500"/>
          </a:xfrm>
          <a:prstGeom prst="roundRect">
            <a:avLst>
              <a:gd name="adj" fmla="val 6429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0DC52E2-F55B-4DE3-9E31-A5C426357604}"/>
              </a:ext>
            </a:extLst>
          </p:cNvPr>
          <p:cNvSpPr>
            <a:spLocks noGrp="1"/>
          </p:cNvSpPr>
          <p:nvPr/>
        </p:nvSpPr>
        <p:spPr>
          <a:xfrm>
            <a:off x="8477250" y="1666875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91209E-3D57-43C2-B2D9-01FC4794CE69}"/>
              </a:ext>
            </a:extLst>
          </p:cNvPr>
          <p:cNvSpPr>
            <a:spLocks noGrp="1"/>
          </p:cNvSpPr>
          <p:nvPr/>
        </p:nvSpPr>
        <p:spPr>
          <a:xfrm>
            <a:off x="8686800" y="18288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方块位图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B61F58-0C8B-4572-BCC8-DBDFABF55461}"/>
              </a:ext>
            </a:extLst>
          </p:cNvPr>
          <p:cNvSpPr>
            <a:spLocks noGrp="1"/>
          </p:cNvSpPr>
          <p:nvPr/>
        </p:nvSpPr>
        <p:spPr>
          <a:xfrm>
            <a:off x="8686800" y="2171700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7 种类型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每种 4 个旋转状态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每个状态为 4×4 位图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6AA90B2-7872-4C84-B6B5-737A717297AF}"/>
              </a:ext>
            </a:extLst>
          </p:cNvPr>
          <p:cNvSpPr>
            <a:spLocks noGrp="1"/>
          </p:cNvSpPr>
          <p:nvPr/>
        </p:nvSpPr>
        <p:spPr>
          <a:xfrm>
            <a:off x="5048250" y="3476625"/>
            <a:ext cx="3048000" cy="1333500"/>
          </a:xfrm>
          <a:prstGeom prst="roundRect">
            <a:avLst>
              <a:gd name="adj" fmla="val 6429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0017A07-4847-4D6E-BA78-640818B5A17B}"/>
              </a:ext>
            </a:extLst>
          </p:cNvPr>
          <p:cNvSpPr>
            <a:spLocks noGrp="1"/>
          </p:cNvSpPr>
          <p:nvPr/>
        </p:nvSpPr>
        <p:spPr>
          <a:xfrm>
            <a:off x="5048250" y="3476625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19DE9A-A9EC-4556-924A-BA73DF44E0C8}"/>
              </a:ext>
            </a:extLst>
          </p:cNvPr>
          <p:cNvSpPr>
            <a:spLocks noGrp="1"/>
          </p:cNvSpPr>
          <p:nvPr/>
        </p:nvSpPr>
        <p:spPr>
          <a:xfrm>
            <a:off x="5257800" y="36385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活动状态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BEC239-45B9-4661-993C-2F2A1858B2C9}"/>
              </a:ext>
            </a:extLst>
          </p:cNvPr>
          <p:cNvSpPr>
            <a:spLocks noGrp="1"/>
          </p:cNvSpPr>
          <p:nvPr/>
        </p:nvSpPr>
        <p:spPr>
          <a:xfrm>
            <a:off x="5257800" y="3981450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type / rotation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x / y 坐标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边沿检测与下降计数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B38AFDC-516C-48FE-BD74-6F5FE42FCA20}"/>
              </a:ext>
            </a:extLst>
          </p:cNvPr>
          <p:cNvSpPr>
            <a:spLocks noGrp="1"/>
          </p:cNvSpPr>
          <p:nvPr/>
        </p:nvSpPr>
        <p:spPr>
          <a:xfrm>
            <a:off x="8477250" y="3476625"/>
            <a:ext cx="3048000" cy="1333500"/>
          </a:xfrm>
          <a:prstGeom prst="roundRect">
            <a:avLst>
              <a:gd name="adj" fmla="val 6429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E779783-90D9-4C74-BABC-D046F30B4C3D}"/>
              </a:ext>
            </a:extLst>
          </p:cNvPr>
          <p:cNvSpPr>
            <a:spLocks noGrp="1"/>
          </p:cNvSpPr>
          <p:nvPr/>
        </p:nvSpPr>
        <p:spPr>
          <a:xfrm>
            <a:off x="8477250" y="3476625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37D99A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32426F-D2BE-4010-8292-497968C92B4E}"/>
              </a:ext>
            </a:extLst>
          </p:cNvPr>
          <p:cNvSpPr>
            <a:spLocks noGrp="1"/>
          </p:cNvSpPr>
          <p:nvPr/>
        </p:nvSpPr>
        <p:spPr>
          <a:xfrm>
            <a:off x="8686800" y="36385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显示帧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B0DB78A-4187-41E1-BD75-3A019F75AC60}"/>
              </a:ext>
            </a:extLst>
          </p:cNvPr>
          <p:cNvSpPr>
            <a:spLocks noGrp="1"/>
          </p:cNvSpPr>
          <p:nvPr/>
        </p:nvSpPr>
        <p:spPr>
          <a:xfrm>
            <a:off x="8686800" y="3981450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复制固定棋盘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叠加活动方块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逐行上传 20 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2693D4A-1A4D-41E1-AF76-9375B0F1767F}"/>
              </a:ext>
            </a:extLst>
          </p:cNvPr>
          <p:cNvSpPr>
            <a:spLocks noGrp="1"/>
          </p:cNvSpPr>
          <p:nvPr/>
        </p:nvSpPr>
        <p:spPr>
          <a:xfrm>
            <a:off x="5048250" y="5286375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活动方块在锁定前不修改固定棋盘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C47DFA8-5C5D-4D99-AB49-9470DDEB5E2C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C277708-F9F0-43D8-97B9-AEAD6E59F013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1617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4522F08C-9A58-4436-A113-CAC3071A37F2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核心算法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9B93B9-0B60-4419-BD4E-3DAB703EDE0E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碰撞检测、移动与旋转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F7F4A8A-BC73-48CB-826B-EC2009730EC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192DCA-77DB-44EB-9792-3F822298B4AF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817E96F-A3F4-403E-B9CA-C05FE264FFA1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2000250" cy="952500"/>
          </a:xfrm>
          <a:prstGeom prst="roundRect">
            <a:avLst>
              <a:gd name="adj" fmla="val 8000"/>
            </a:avLst>
          </a:prstGeom>
          <a:solidFill>
            <a:srgbClr val="111C2F"/>
          </a:solidFill>
          <a:ln w="9525">
            <a:solidFill>
              <a:srgbClr val="25D4E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A6EF69-1CC5-4819-AEFC-21ED27C99B89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847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生成候选状态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FD7CDC-7C44-4B1E-8AB2-E1EED072CB84}"/>
              </a:ext>
            </a:extLst>
          </p:cNvPr>
          <p:cNvSpPr>
            <a:spLocks noGrp="1"/>
          </p:cNvSpPr>
          <p:nvPr/>
        </p:nvSpPr>
        <p:spPr>
          <a:xfrm>
            <a:off x="704850" y="2324100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x / y / rotation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4722289-DFA8-4FF9-BBF7-B02DF112D7D2}"/>
              </a:ext>
            </a:extLst>
          </p:cNvPr>
          <p:cNvSpPr>
            <a:spLocks noGrp="1"/>
          </p:cNvSpPr>
          <p:nvPr/>
        </p:nvSpPr>
        <p:spPr>
          <a:xfrm>
            <a:off x="3105150" y="1866900"/>
            <a:ext cx="2000250" cy="952500"/>
          </a:xfrm>
          <a:prstGeom prst="roundRect">
            <a:avLst>
              <a:gd name="adj" fmla="val 8000"/>
            </a:avLst>
          </a:prstGeom>
          <a:solidFill>
            <a:srgbClr val="111C2F"/>
          </a:solidFill>
          <a:ln w="9525">
            <a:solidFill>
              <a:srgbClr val="4F83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15BB9D-1AE2-4FC4-A8B6-520E0A6292C1}"/>
              </a:ext>
            </a:extLst>
          </p:cNvPr>
          <p:cNvSpPr>
            <a:spLocks noGrp="1"/>
          </p:cNvSpPr>
          <p:nvPr/>
        </p:nvSpPr>
        <p:spPr>
          <a:xfrm>
            <a:off x="3181350" y="2000250"/>
            <a:ext cx="1847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逐位扫描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04D40F-8DDB-4E5D-80C4-FE2005436B05}"/>
              </a:ext>
            </a:extLst>
          </p:cNvPr>
          <p:cNvSpPr>
            <a:spLocks noGrp="1"/>
          </p:cNvSpPr>
          <p:nvPr/>
        </p:nvSpPr>
        <p:spPr>
          <a:xfrm>
            <a:off x="3200400" y="2324100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4×4 mask 中的有效格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C082A5-48D9-477C-A834-739F9223D835}"/>
              </a:ext>
            </a:extLst>
          </p:cNvPr>
          <p:cNvSpPr>
            <a:spLocks noGrp="1"/>
          </p:cNvSpPr>
          <p:nvPr/>
        </p:nvSpPr>
        <p:spPr>
          <a:xfrm>
            <a:off x="5600700" y="1866900"/>
            <a:ext cx="2000250" cy="952500"/>
          </a:xfrm>
          <a:prstGeom prst="roundRect">
            <a:avLst>
              <a:gd name="adj" fmla="val 8000"/>
            </a:avLst>
          </a:prstGeom>
          <a:solidFill>
            <a:srgbClr val="111C2F"/>
          </a:solidFill>
          <a:ln w="9525">
            <a:solidFill>
              <a:srgbClr val="F5B94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1FC104-C46E-40D1-856D-ED86384599E5}"/>
              </a:ext>
            </a:extLst>
          </p:cNvPr>
          <p:cNvSpPr>
            <a:spLocks noGrp="1"/>
          </p:cNvSpPr>
          <p:nvPr/>
        </p:nvSpPr>
        <p:spPr>
          <a:xfrm>
            <a:off x="5676900" y="2000250"/>
            <a:ext cx="1847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边界检查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246EDA-C09C-4C46-AC42-702C8EE772A7}"/>
              </a:ext>
            </a:extLst>
          </p:cNvPr>
          <p:cNvSpPr>
            <a:spLocks noGrp="1"/>
          </p:cNvSpPr>
          <p:nvPr/>
        </p:nvSpPr>
        <p:spPr>
          <a:xfrm>
            <a:off x="5695950" y="2324100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左右、底部、顶部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FF8ACAB-4717-46F9-B907-FAFA23B72F14}"/>
              </a:ext>
            </a:extLst>
          </p:cNvPr>
          <p:cNvSpPr>
            <a:spLocks noGrp="1"/>
          </p:cNvSpPr>
          <p:nvPr/>
        </p:nvSpPr>
        <p:spPr>
          <a:xfrm>
            <a:off x="8096250" y="1866900"/>
            <a:ext cx="2000250" cy="952500"/>
          </a:xfrm>
          <a:prstGeom prst="roundRect">
            <a:avLst>
              <a:gd name="adj" fmla="val 8000"/>
            </a:avLst>
          </a:prstGeom>
          <a:solidFill>
            <a:srgbClr val="111C2F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19DE02-26A1-451E-9C48-78D8855A51CC}"/>
              </a:ext>
            </a:extLst>
          </p:cNvPr>
          <p:cNvSpPr>
            <a:spLocks noGrp="1"/>
          </p:cNvSpPr>
          <p:nvPr/>
        </p:nvSpPr>
        <p:spPr>
          <a:xfrm>
            <a:off x="8172450" y="2000250"/>
            <a:ext cx="1847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棋盘相与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E537632-814B-4179-BDCE-5896864D5696}"/>
              </a:ext>
            </a:extLst>
          </p:cNvPr>
          <p:cNvSpPr>
            <a:spLocks noGrp="1"/>
          </p:cNvSpPr>
          <p:nvPr/>
        </p:nvSpPr>
        <p:spPr>
          <a:xfrm>
            <a:off x="8191500" y="2324100"/>
            <a:ext cx="1809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对应行已有固定块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43D476B-CE21-4FE1-9F5F-CCF125665026}"/>
              </a:ext>
            </a:extLst>
          </p:cNvPr>
          <p:cNvSpPr>
            <a:spLocks noGrp="1"/>
          </p:cNvSpPr>
          <p:nvPr/>
        </p:nvSpPr>
        <p:spPr>
          <a:xfrm>
            <a:off x="10591800" y="1866900"/>
            <a:ext cx="1190625" cy="952500"/>
          </a:xfrm>
          <a:prstGeom prst="roundRect">
            <a:avLst>
              <a:gd name="adj" fmla="val 8000"/>
            </a:avLst>
          </a:prstGeom>
          <a:solidFill>
            <a:srgbClr val="111C2F"/>
          </a:solidFill>
          <a:ln w="9525">
            <a:solidFill>
              <a:srgbClr val="37D99A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3EA9F5B-42DF-4122-9186-8705FAE6840A}"/>
              </a:ext>
            </a:extLst>
          </p:cNvPr>
          <p:cNvSpPr>
            <a:spLocks noGrp="1"/>
          </p:cNvSpPr>
          <p:nvPr/>
        </p:nvSpPr>
        <p:spPr>
          <a:xfrm>
            <a:off x="10668000" y="2000250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结果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A6FFF4-0F97-47DA-9361-2892BA594CF1}"/>
              </a:ext>
            </a:extLst>
          </p:cNvPr>
          <p:cNvSpPr>
            <a:spLocks noGrp="1"/>
          </p:cNvSpPr>
          <p:nvPr/>
        </p:nvSpPr>
        <p:spPr>
          <a:xfrm>
            <a:off x="10687050" y="2324100"/>
            <a:ext cx="1000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接受或撤销</a:t>
            </a:r>
          </a:p>
        </p:txBody>
      </p:sp>
      <p:cxnSp>
        <p:nvCxnSpPr>
          <p:cNvPr id="58" name="直接箭头连接符 57"/>
          <p:cNvCxnSpPr>
            <a:stCxn id="5" idx="3"/>
            <a:endCxn id="8" idx="1"/>
          </p:cNvCxnSpPr>
          <p:nvPr/>
        </p:nvCxnSpPr>
        <p:spPr>
          <a:xfrm>
            <a:off x="2609850" y="2343150"/>
            <a:ext cx="495300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9" name="直接箭头连接符 58"/>
          <p:cNvCxnSpPr>
            <a:stCxn id="8" idx="3"/>
            <a:endCxn id="11" idx="1"/>
          </p:cNvCxnSpPr>
          <p:nvPr/>
        </p:nvCxnSpPr>
        <p:spPr>
          <a:xfrm>
            <a:off x="5105400" y="2343150"/>
            <a:ext cx="495300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60" name="直接箭头连接符 59"/>
          <p:cNvCxnSpPr>
            <a:stCxn id="11" idx="3"/>
            <a:endCxn id="14" idx="1"/>
          </p:cNvCxnSpPr>
          <p:nvPr/>
        </p:nvCxnSpPr>
        <p:spPr>
          <a:xfrm>
            <a:off x="7600950" y="2343150"/>
            <a:ext cx="495300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61" name="直接箭头连接符 60"/>
          <p:cNvCxnSpPr>
            <a:stCxn id="14" idx="3"/>
            <a:endCxn id="17" idx="1"/>
          </p:cNvCxnSpPr>
          <p:nvPr/>
        </p:nvCxnSpPr>
        <p:spPr>
          <a:xfrm>
            <a:off x="10096500" y="2343150"/>
            <a:ext cx="495300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32793EA-CA6D-41E8-80B7-81F5057ABC56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3333750" cy="142875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58410F9-E313-4D20-969D-13D55891C2E2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" cy="1428750"/>
          </a:xfrm>
          <a:prstGeom prst="roundRect">
            <a:avLst>
              <a:gd name="adj" fmla="val 50000"/>
            </a:avLst>
          </a:prstGeom>
          <a:solidFill>
            <a:srgbClr val="25D4E8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1585A5-2299-496A-8A27-B60106FDF93B}"/>
              </a:ext>
            </a:extLst>
          </p:cNvPr>
          <p:cNvSpPr>
            <a:spLocks noGrp="1"/>
          </p:cNvSpPr>
          <p:nvPr/>
        </p:nvSpPr>
        <p:spPr>
          <a:xfrm>
            <a:off x="819150" y="3876675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左右移动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9E71CFA-65ED-425E-AACE-98351B9063BA}"/>
              </a:ext>
            </a:extLst>
          </p:cNvPr>
          <p:cNvSpPr>
            <a:spLocks noGrp="1"/>
          </p:cNvSpPr>
          <p:nvPr/>
        </p:nvSpPr>
        <p:spPr>
          <a:xfrm>
            <a:off x="819150" y="4219575"/>
            <a:ext cx="29527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x ± 1 后调用 collision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未碰撞才提交新坐标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F954353-E555-42D0-9C42-3D80C8AA8327}"/>
              </a:ext>
            </a:extLst>
          </p:cNvPr>
          <p:cNvSpPr>
            <a:spLocks noGrp="1"/>
          </p:cNvSpPr>
          <p:nvPr/>
        </p:nvSpPr>
        <p:spPr>
          <a:xfrm>
            <a:off x="4429125" y="3714750"/>
            <a:ext cx="3333750" cy="142875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4BAABBF-83DF-437A-8714-DAB866CD6BDB}"/>
              </a:ext>
            </a:extLst>
          </p:cNvPr>
          <p:cNvSpPr>
            <a:spLocks noGrp="1"/>
          </p:cNvSpPr>
          <p:nvPr/>
        </p:nvSpPr>
        <p:spPr>
          <a:xfrm>
            <a:off x="4429125" y="3714750"/>
            <a:ext cx="47625" cy="142875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1DD4F52-8F52-4064-BB38-908E94DDEA52}"/>
              </a:ext>
            </a:extLst>
          </p:cNvPr>
          <p:cNvSpPr>
            <a:spLocks noGrp="1"/>
          </p:cNvSpPr>
          <p:nvPr/>
        </p:nvSpPr>
        <p:spPr>
          <a:xfrm>
            <a:off x="4638675" y="3876675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旋转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83BF8B-3BD3-417C-A5B3-2F96A7B89EFE}"/>
              </a:ext>
            </a:extLst>
          </p:cNvPr>
          <p:cNvSpPr>
            <a:spLocks noGrp="1"/>
          </p:cNvSpPr>
          <p:nvPr/>
        </p:nvSpPr>
        <p:spPr>
          <a:xfrm>
            <a:off x="4638675" y="4219575"/>
            <a:ext cx="29527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尝试下一旋转状态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失败后分别尝试左移、右移一次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CAE8566-F69E-435C-ABBC-79261F1680CA}"/>
              </a:ext>
            </a:extLst>
          </p:cNvPr>
          <p:cNvSpPr>
            <a:spLocks noGrp="1"/>
          </p:cNvSpPr>
          <p:nvPr/>
        </p:nvSpPr>
        <p:spPr>
          <a:xfrm>
            <a:off x="8248650" y="3714750"/>
            <a:ext cx="3533775" cy="142875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E314F13-F8BA-4306-B4C2-5440359F7C92}"/>
              </a:ext>
            </a:extLst>
          </p:cNvPr>
          <p:cNvSpPr>
            <a:spLocks noGrp="1"/>
          </p:cNvSpPr>
          <p:nvPr/>
        </p:nvSpPr>
        <p:spPr>
          <a:xfrm>
            <a:off x="8248650" y="3714750"/>
            <a:ext cx="47625" cy="1428750"/>
          </a:xfrm>
          <a:prstGeom prst="roundRect">
            <a:avLst>
              <a:gd name="adj" fmla="val 50000"/>
            </a:avLst>
          </a:prstGeom>
          <a:solidFill>
            <a:srgbClr val="F5B942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9AB917D-F7B0-4B42-BE5D-F0B463854B83}"/>
              </a:ext>
            </a:extLst>
          </p:cNvPr>
          <p:cNvSpPr>
            <a:spLocks noGrp="1"/>
          </p:cNvSpPr>
          <p:nvPr/>
        </p:nvSpPr>
        <p:spPr>
          <a:xfrm>
            <a:off x="8458200" y="3876675"/>
            <a:ext cx="31527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下降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CB34351-4F1F-485E-978D-588AE88F26C3}"/>
              </a:ext>
            </a:extLst>
          </p:cNvPr>
          <p:cNvSpPr>
            <a:spLocks noGrp="1"/>
          </p:cNvSpPr>
          <p:nvPr/>
        </p:nvSpPr>
        <p:spPr>
          <a:xfrm>
            <a:off x="8458200" y="4219575"/>
            <a:ext cx="3152775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普通下降由软件计数触发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按住下键连续软降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93C8BDD-25BB-4B11-8AFB-5522696FE6C5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1391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>
              <a:defRPr sz="120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碰撞函数只返回 blocked，不直接修改游戏状态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F5A90A8-6361-4D7A-A64E-BACA6F219729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5F74FA5-EB71-445C-A3BF-AAA5B350AF10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60743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893FAB91-DC30-41A9-A7AA-CE2D9B5676B7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核心算法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CB60C7-9FB0-43F0-A03E-C85DF293BDC0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锁定、消行与蜂鸣器反馈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119D463D-250F-46E0-A214-892DACCA51CF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8B0E6F-21E5-4E0D-9804-2024847074B8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7A1C762-327F-4656-93FF-756963037007}"/>
              </a:ext>
            </a:extLst>
          </p:cNvPr>
          <p:cNvSpPr>
            <a:spLocks noGrp="1"/>
          </p:cNvSpPr>
          <p:nvPr/>
        </p:nvSpPr>
        <p:spPr>
          <a:xfrm>
            <a:off x="704850" y="1952625"/>
            <a:ext cx="2143125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F5B942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7CABAD-7ECD-40F9-8655-0A094A23FC02}"/>
              </a:ext>
            </a:extLst>
          </p:cNvPr>
          <p:cNvSpPr>
            <a:spLocks noGrp="1"/>
          </p:cNvSpPr>
          <p:nvPr/>
        </p:nvSpPr>
        <p:spPr>
          <a:xfrm>
            <a:off x="781050" y="2085975"/>
            <a:ext cx="19907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无法继续下降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C48FF7-E3FA-4BAD-BC4B-FF135E57BAA4}"/>
              </a:ext>
            </a:extLst>
          </p:cNvPr>
          <p:cNvSpPr>
            <a:spLocks noGrp="1"/>
          </p:cNvSpPr>
          <p:nvPr/>
        </p:nvSpPr>
        <p:spPr>
          <a:xfrm>
            <a:off x="800100" y="2409825"/>
            <a:ext cx="1952625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collision = blocked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53C7BCB-D484-4559-9E7B-94BBDC03FEDA}"/>
              </a:ext>
            </a:extLst>
          </p:cNvPr>
          <p:cNvSpPr>
            <a:spLocks noGrp="1"/>
          </p:cNvSpPr>
          <p:nvPr/>
        </p:nvSpPr>
        <p:spPr>
          <a:xfrm>
            <a:off x="3600450" y="1952625"/>
            <a:ext cx="2143125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25D4E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DBB580-F04A-4EDA-8126-754BC19E7539}"/>
              </a:ext>
            </a:extLst>
          </p:cNvPr>
          <p:cNvSpPr>
            <a:spLocks noGrp="1"/>
          </p:cNvSpPr>
          <p:nvPr/>
        </p:nvSpPr>
        <p:spPr>
          <a:xfrm>
            <a:off x="3676650" y="2085975"/>
            <a:ext cx="19907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锁定方块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B1E8EC-2DBD-43DC-B182-2C041DBFE097}"/>
              </a:ext>
            </a:extLst>
          </p:cNvPr>
          <p:cNvSpPr>
            <a:spLocks noGrp="1"/>
          </p:cNvSpPr>
          <p:nvPr/>
        </p:nvSpPr>
        <p:spPr>
          <a:xfrm>
            <a:off x="3695700" y="2409825"/>
            <a:ext cx="1952625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按位或写入固定棋盘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4AFC2CF-4E9B-41E9-BCB4-FD4AD77A9A48}"/>
              </a:ext>
            </a:extLst>
          </p:cNvPr>
          <p:cNvSpPr>
            <a:spLocks noGrp="1"/>
          </p:cNvSpPr>
          <p:nvPr/>
        </p:nvSpPr>
        <p:spPr>
          <a:xfrm>
            <a:off x="6496050" y="1952625"/>
            <a:ext cx="2143125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4F83F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58F12F-F244-46B0-BF9A-50E3DB1D8406}"/>
              </a:ext>
            </a:extLst>
          </p:cNvPr>
          <p:cNvSpPr>
            <a:spLocks noGrp="1"/>
          </p:cNvSpPr>
          <p:nvPr/>
        </p:nvSpPr>
        <p:spPr>
          <a:xfrm>
            <a:off x="6572250" y="2085975"/>
            <a:ext cx="19907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自底向上扫描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63A0D8-C17C-4EAB-899C-688B11ECEAC9}"/>
              </a:ext>
            </a:extLst>
          </p:cNvPr>
          <p:cNvSpPr>
            <a:spLocks noGrp="1"/>
          </p:cNvSpPr>
          <p:nvPr/>
        </p:nvSpPr>
        <p:spPr>
          <a:xfrm>
            <a:off x="6591300" y="2409825"/>
            <a:ext cx="1952625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row == 0x3FF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BBA298D-F685-4937-AF0D-0E0D845FF762}"/>
              </a:ext>
            </a:extLst>
          </p:cNvPr>
          <p:cNvSpPr>
            <a:spLocks noGrp="1"/>
          </p:cNvSpPr>
          <p:nvPr/>
        </p:nvSpPr>
        <p:spPr>
          <a:xfrm>
            <a:off x="9391650" y="1952625"/>
            <a:ext cx="2143125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37D99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77C417-F4E9-4162-AA05-EEC39B8A8491}"/>
              </a:ext>
            </a:extLst>
          </p:cNvPr>
          <p:cNvSpPr>
            <a:spLocks noGrp="1"/>
          </p:cNvSpPr>
          <p:nvPr/>
        </p:nvSpPr>
        <p:spPr>
          <a:xfrm>
            <a:off x="9467850" y="2085975"/>
            <a:ext cx="19907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压缩与反馈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723ECC8-1931-48EB-85EF-B7FA59FD6E36}"/>
              </a:ext>
            </a:extLst>
          </p:cNvPr>
          <p:cNvSpPr>
            <a:spLocks noGrp="1"/>
          </p:cNvSpPr>
          <p:nvPr/>
        </p:nvSpPr>
        <p:spPr>
          <a:xfrm>
            <a:off x="9486900" y="2409825"/>
            <a:ext cx="1952625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行下移、顶行清零、触发蜂鸣器</a:t>
            </a:r>
          </a:p>
        </p:txBody>
      </p:sp>
      <p:cxnSp>
        <p:nvCxnSpPr>
          <p:cNvPr id="41" name="直接箭头连接符 40"/>
          <p:cNvCxnSpPr>
            <a:stCxn id="5" idx="3"/>
            <a:endCxn id="8" idx="1"/>
          </p:cNvCxnSpPr>
          <p:nvPr/>
        </p:nvCxnSpPr>
        <p:spPr>
          <a:xfrm>
            <a:off x="2847975" y="2452688"/>
            <a:ext cx="752475" cy="0"/>
          </a:xfrm>
          <a:prstGeom prst="straightConnector1">
            <a:avLst/>
          </a:prstGeom>
          <a:ln w="19050">
            <a:solidFill>
              <a:srgbClr val="F5B942"/>
            </a:solidFill>
            <a:prstDash val="solid"/>
            <a:tailEnd type="triangle" w="sm" len="sm"/>
          </a:ln>
        </p:spPr>
      </p:cxnSp>
      <p:cxnSp>
        <p:nvCxnSpPr>
          <p:cNvPr id="42" name="直接箭头连接符 41"/>
          <p:cNvCxnSpPr>
            <a:stCxn id="8" idx="3"/>
            <a:endCxn id="11" idx="1"/>
          </p:cNvCxnSpPr>
          <p:nvPr/>
        </p:nvCxnSpPr>
        <p:spPr>
          <a:xfrm>
            <a:off x="5743575" y="2452688"/>
            <a:ext cx="75247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43" name="直接箭头连接符 42"/>
          <p:cNvCxnSpPr>
            <a:stCxn id="11" idx="3"/>
            <a:endCxn id="14" idx="1"/>
          </p:cNvCxnSpPr>
          <p:nvPr/>
        </p:nvCxnSpPr>
        <p:spPr>
          <a:xfrm>
            <a:off x="8639175" y="2452688"/>
            <a:ext cx="75247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4087218-8BC9-4479-95FE-439898A88C2C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10829925" cy="1466850"/>
          </a:xfrm>
          <a:prstGeom prst="roundRect">
            <a:avLst>
              <a:gd name="adj" fmla="val 5195"/>
            </a:avLst>
          </a:prstGeom>
          <a:solidFill>
            <a:srgbClr val="08101C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F6EA5AE-7D94-4678-998E-3C82665D6935}"/>
              </a:ext>
            </a:extLst>
          </p:cNvPr>
          <p:cNvSpPr>
            <a:spLocks noGrp="1"/>
          </p:cNvSpPr>
          <p:nvPr/>
        </p:nvSpPr>
        <p:spPr>
          <a:xfrm>
            <a:off x="990600" y="3914775"/>
            <a:ext cx="628650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0">
                <a:solidFill>
                  <a:srgbClr val="EAF2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clear_lines:</a:t>
            </a:r>
          </a:p>
          <a:p>
            <a:pPr>
              <a:defRPr sz="1275" b="0">
                <a:solidFill>
                  <a:srgbClr val="EAF2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    li   t6, 0x3FF       # 满行</a:t>
            </a:r>
          </a:p>
          <a:p>
            <a:pPr>
              <a:defRPr sz="1275" b="0">
                <a:solidFill>
                  <a:srgbClr val="EAF2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    bne  t3, t6, clear_not_full</a:t>
            </a:r>
          </a:p>
          <a:p>
            <a:pPr>
              <a:defRPr sz="1275" b="0">
                <a:solidFill>
                  <a:srgbClr val="EAF2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    ...                   # 上方各行向下搬移</a:t>
            </a:r>
          </a:p>
          <a:p>
            <a:pPr>
              <a:defRPr sz="1275" b="0">
                <a:solidFill>
                  <a:srgbClr val="EAF2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    sw   t0, 56(s0)       # BUZZER_TRIGGER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5C9D58D-F586-426A-BC45-84D87BA58AC7}"/>
              </a:ext>
            </a:extLst>
          </p:cNvPr>
          <p:cNvSpPr>
            <a:spLocks noGrp="1"/>
          </p:cNvSpPr>
          <p:nvPr/>
        </p:nvSpPr>
        <p:spPr>
          <a:xfrm>
            <a:off x="7905750" y="4019550"/>
            <a:ext cx="285750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蜂鸣器硬件输出</a:t>
            </a:r>
          </a:p>
          <a:p>
            <a:pPr>
              <a:defRPr sz="16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约 2 kHz</a:t>
            </a:r>
          </a:p>
          <a:p>
            <a:pPr>
              <a:defRPr sz="16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约 120 ms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3B2F12B-4F81-46F0-9D4A-02C6684D57DD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E42C69-7B5E-45C5-8753-E48B2C3C5C7C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2172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40E04417-A78D-46D2-B03A-0B2BF6B1EC7D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显示刷新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7A63C2-BAAD-443B-B42E-FC031FA3B53C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棋盘上传与硬件像素映射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15C40B30-76CE-42FA-AD25-9C0AAD284514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916440-0CF9-4E75-9551-ACDE98F5C9E3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C8E4693-AC8F-46E8-8223-D3D1CD5DFD91}"/>
              </a:ext>
            </a:extLst>
          </p:cNvPr>
          <p:cNvSpPr>
            <a:spLocks noGrp="1"/>
          </p:cNvSpPr>
          <p:nvPr/>
        </p:nvSpPr>
        <p:spPr>
          <a:xfrm>
            <a:off x="514350" y="1952625"/>
            <a:ext cx="2047875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25D4E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4AB2A2-A26C-45DF-9751-5EAB823BE63A}"/>
              </a:ext>
            </a:extLst>
          </p:cNvPr>
          <p:cNvSpPr>
            <a:spLocks noGrp="1"/>
          </p:cNvSpPr>
          <p:nvPr/>
        </p:nvSpPr>
        <p:spPr>
          <a:xfrm>
            <a:off x="590550" y="2085975"/>
            <a:ext cx="18954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合成帧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0148A7-11D1-4BCC-80C2-9350DC1BB972}"/>
              </a:ext>
            </a:extLst>
          </p:cNvPr>
          <p:cNvSpPr>
            <a:spLocks noGrp="1"/>
          </p:cNvSpPr>
          <p:nvPr/>
        </p:nvSpPr>
        <p:spPr>
          <a:xfrm>
            <a:off x="609600" y="2409825"/>
            <a:ext cx="1857375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固定棋盘 + 活动方块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C22877A-D9AD-442F-850F-84F6609AE17C}"/>
              </a:ext>
            </a:extLst>
          </p:cNvPr>
          <p:cNvSpPr>
            <a:spLocks noGrp="1"/>
          </p:cNvSpPr>
          <p:nvPr/>
        </p:nvSpPr>
        <p:spPr>
          <a:xfrm>
            <a:off x="3009900" y="1952625"/>
            <a:ext cx="2047875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4F83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84FD81-7401-4495-ADDC-9C2AEEC1C056}"/>
              </a:ext>
            </a:extLst>
          </p:cNvPr>
          <p:cNvSpPr>
            <a:spLocks noGrp="1"/>
          </p:cNvSpPr>
          <p:nvPr/>
        </p:nvSpPr>
        <p:spPr>
          <a:xfrm>
            <a:off x="3086100" y="2085975"/>
            <a:ext cx="18954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20 行上传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73367B-99D7-4F29-B5AA-5A3A73C47A8A}"/>
              </a:ext>
            </a:extLst>
          </p:cNvPr>
          <p:cNvSpPr>
            <a:spLocks noGrp="1"/>
          </p:cNvSpPr>
          <p:nvPr/>
        </p:nvSpPr>
        <p:spPr>
          <a:xfrm>
            <a:off x="3105150" y="2409825"/>
            <a:ext cx="1857375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LCD_GAME_ROW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9F28111-087A-4F3E-8742-6EBC878E43A3}"/>
              </a:ext>
            </a:extLst>
          </p:cNvPr>
          <p:cNvSpPr>
            <a:spLocks noGrp="1"/>
          </p:cNvSpPr>
          <p:nvPr/>
        </p:nvSpPr>
        <p:spPr>
          <a:xfrm>
            <a:off x="5505450" y="1952625"/>
            <a:ext cx="2047875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37D99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879E7F-4C82-441E-A047-F215B6A2694B}"/>
              </a:ext>
            </a:extLst>
          </p:cNvPr>
          <p:cNvSpPr>
            <a:spLocks noGrp="1"/>
          </p:cNvSpPr>
          <p:nvPr/>
        </p:nvSpPr>
        <p:spPr>
          <a:xfrm>
            <a:off x="5581650" y="2085975"/>
            <a:ext cx="18954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刷新请求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7DD6B5-BA5C-451B-AADB-21CEC7292740}"/>
              </a:ext>
            </a:extLst>
          </p:cNvPr>
          <p:cNvSpPr>
            <a:spLocks noGrp="1"/>
          </p:cNvSpPr>
          <p:nvPr/>
        </p:nvSpPr>
        <p:spPr>
          <a:xfrm>
            <a:off x="5600700" y="2409825"/>
            <a:ext cx="1857375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LCD_GAME_REFRESH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4D122C9-9EDE-45FF-B10B-0D6EB1DC1B94}"/>
              </a:ext>
            </a:extLst>
          </p:cNvPr>
          <p:cNvSpPr>
            <a:spLocks noGrp="1"/>
          </p:cNvSpPr>
          <p:nvPr/>
        </p:nvSpPr>
        <p:spPr>
          <a:xfrm>
            <a:off x="8001000" y="1952625"/>
            <a:ext cx="2047875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607DFD9-D63C-48D9-8773-0C7EF07107A3}"/>
              </a:ext>
            </a:extLst>
          </p:cNvPr>
          <p:cNvSpPr>
            <a:spLocks noGrp="1"/>
          </p:cNvSpPr>
          <p:nvPr/>
        </p:nvSpPr>
        <p:spPr>
          <a:xfrm>
            <a:off x="8077200" y="2085975"/>
            <a:ext cx="18954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硬件映射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4B8FBF-3C50-4E05-B4F8-0DCF6723A230}"/>
              </a:ext>
            </a:extLst>
          </p:cNvPr>
          <p:cNvSpPr>
            <a:spLocks noGrp="1"/>
          </p:cNvSpPr>
          <p:nvPr/>
        </p:nvSpPr>
        <p:spPr>
          <a:xfrm>
            <a:off x="8096250" y="2409825"/>
            <a:ext cx="1857375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2 行 / page</a:t>
            </a:r>
          </a:p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8 列块 + 2 列间隔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7A8EDE-70AF-4167-88CE-B1F6EAAAF53E}"/>
              </a:ext>
            </a:extLst>
          </p:cNvPr>
          <p:cNvSpPr>
            <a:spLocks noGrp="1"/>
          </p:cNvSpPr>
          <p:nvPr/>
        </p:nvSpPr>
        <p:spPr>
          <a:xfrm>
            <a:off x="10496550" y="1952625"/>
            <a:ext cx="1285875" cy="1000125"/>
          </a:xfrm>
          <a:prstGeom prst="roundRect">
            <a:avLst>
              <a:gd name="adj" fmla="val 7619"/>
            </a:avLst>
          </a:prstGeom>
          <a:solidFill>
            <a:srgbClr val="111C2F"/>
          </a:solidFill>
          <a:ln w="9525">
            <a:solidFill>
              <a:srgbClr val="F5B94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711711C-61BA-4F35-8E4D-206E1B2627FD}"/>
              </a:ext>
            </a:extLst>
          </p:cNvPr>
          <p:cNvSpPr>
            <a:spLocks noGrp="1"/>
          </p:cNvSpPr>
          <p:nvPr/>
        </p:nvSpPr>
        <p:spPr>
          <a:xfrm>
            <a:off x="10572750" y="2085975"/>
            <a:ext cx="11334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SPI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01F92DF-8088-4767-B61F-F1893B8C5624}"/>
              </a:ext>
            </a:extLst>
          </p:cNvPr>
          <p:cNvSpPr>
            <a:spLocks noGrp="1"/>
          </p:cNvSpPr>
          <p:nvPr/>
        </p:nvSpPr>
        <p:spPr>
          <a:xfrm>
            <a:off x="10591800" y="2409825"/>
            <a:ext cx="1095375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页面与列数据</a:t>
            </a:r>
          </a:p>
        </p:txBody>
      </p:sp>
      <p:cxnSp>
        <p:nvCxnSpPr>
          <p:cNvPr id="54" name="直接箭头连接符 53"/>
          <p:cNvCxnSpPr>
            <a:stCxn id="5" idx="3"/>
            <a:endCxn id="8" idx="1"/>
          </p:cNvCxnSpPr>
          <p:nvPr/>
        </p:nvCxnSpPr>
        <p:spPr>
          <a:xfrm>
            <a:off x="2562225" y="2452688"/>
            <a:ext cx="44767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5" name="直接箭头连接符 54"/>
          <p:cNvCxnSpPr>
            <a:stCxn id="8" idx="3"/>
            <a:endCxn id="11" idx="1"/>
          </p:cNvCxnSpPr>
          <p:nvPr/>
        </p:nvCxnSpPr>
        <p:spPr>
          <a:xfrm>
            <a:off x="5057775" y="2452688"/>
            <a:ext cx="44767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6" name="直接箭头连接符 55"/>
          <p:cNvCxnSpPr>
            <a:stCxn id="11" idx="3"/>
            <a:endCxn id="14" idx="1"/>
          </p:cNvCxnSpPr>
          <p:nvPr/>
        </p:nvCxnSpPr>
        <p:spPr>
          <a:xfrm>
            <a:off x="7553325" y="2452688"/>
            <a:ext cx="44767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cxnSp>
        <p:nvCxnSpPr>
          <p:cNvPr id="57" name="直接箭头连接符 56"/>
          <p:cNvCxnSpPr>
            <a:stCxn id="14" idx="3"/>
            <a:endCxn id="17" idx="1"/>
          </p:cNvCxnSpPr>
          <p:nvPr/>
        </p:nvCxnSpPr>
        <p:spPr>
          <a:xfrm>
            <a:off x="10048875" y="2452688"/>
            <a:ext cx="447675" cy="0"/>
          </a:xfrm>
          <a:prstGeom prst="straightConnector1">
            <a:avLst/>
          </a:prstGeom>
          <a:ln w="19050">
            <a:solidFill>
              <a:srgbClr val="25D4E8"/>
            </a:solidFill>
            <a:prstDash val="solid"/>
            <a:tailEnd type="triangle" w="sm" len="sm"/>
          </a:ln>
        </p:spPr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2FF6D28-C72B-44D2-806D-8F055065F02D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4953000" cy="142875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58A4949-962E-4A10-A3E3-AF73F8B3DE8C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47625" cy="1428750"/>
          </a:xfrm>
          <a:prstGeom prst="roundRect">
            <a:avLst>
              <a:gd name="adj" fmla="val 50000"/>
            </a:avLst>
          </a:prstGeom>
          <a:solidFill>
            <a:srgbClr val="25D4E8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1B9082D-1F05-4DA0-AAED-871C02A4CB91}"/>
              </a:ext>
            </a:extLst>
          </p:cNvPr>
          <p:cNvSpPr>
            <a:spLocks noGrp="1"/>
          </p:cNvSpPr>
          <p:nvPr/>
        </p:nvSpPr>
        <p:spPr>
          <a:xfrm>
            <a:off x="723900" y="3876675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软件责任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828550B-A626-4047-B5AE-32F24F91B1C2}"/>
              </a:ext>
            </a:extLst>
          </p:cNvPr>
          <p:cNvSpPr>
            <a:spLocks noGrp="1"/>
          </p:cNvSpPr>
          <p:nvPr/>
        </p:nvSpPr>
        <p:spPr>
          <a:xfrm>
            <a:off x="723900" y="4219575"/>
            <a:ext cx="45720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维护棋盘与游戏状态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逐行写 10 位逻辑数据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刷新期间等待 ready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F57131C-9A9A-4197-922F-D0678F2A6F08}"/>
              </a:ext>
            </a:extLst>
          </p:cNvPr>
          <p:cNvSpPr>
            <a:spLocks noGrp="1"/>
          </p:cNvSpPr>
          <p:nvPr/>
        </p:nvSpPr>
        <p:spPr>
          <a:xfrm>
            <a:off x="6324600" y="3714750"/>
            <a:ext cx="5457825" cy="142875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01DB6E2-60BC-4B34-A2B0-55E5B0F2FBDE}"/>
              </a:ext>
            </a:extLst>
          </p:cNvPr>
          <p:cNvSpPr>
            <a:spLocks noGrp="1"/>
          </p:cNvSpPr>
          <p:nvPr/>
        </p:nvSpPr>
        <p:spPr>
          <a:xfrm>
            <a:off x="6324600" y="3714750"/>
            <a:ext cx="47625" cy="142875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F41FAFF-732B-451A-8598-0296C14A4FA7}"/>
              </a:ext>
            </a:extLst>
          </p:cNvPr>
          <p:cNvSpPr>
            <a:spLocks noGrp="1"/>
          </p:cNvSpPr>
          <p:nvPr/>
        </p:nvSpPr>
        <p:spPr>
          <a:xfrm>
            <a:off x="6534150" y="3876675"/>
            <a:ext cx="50768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硬件责任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236FB22-791A-4D27-8D38-32CC8DFDC9B6}"/>
              </a:ext>
            </a:extLst>
          </p:cNvPr>
          <p:cNvSpPr>
            <a:spLocks noGrp="1"/>
          </p:cNvSpPr>
          <p:nvPr/>
        </p:nvSpPr>
        <p:spPr>
          <a:xfrm>
            <a:off x="6534150" y="4219575"/>
            <a:ext cx="5076825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把逻辑行映射为 128×128 像素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安排页面、列与字节顺序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控制 SPI 时序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2C62154-F48C-4848-BD82-5F2998C88339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1391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696" lnSpcReduction="10000"/>
          </a:bodyPr>
          <a:lstStyle/>
          <a:p>
            <a:pPr>
              <a:defRPr sz="12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分层后，汇编程序不需要逐像素维护 LCD 时序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0231BF3-D29D-40B1-9C4D-B4ECDFCDB10E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0CED1C7-5398-4CE6-BD59-113ACAEFA26A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54675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2E9B6D4-2DB4-4A64-A8A9-1E0F8504F837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验证闭环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9D0F5C-151B-4B38-8F07-F82138A66D10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接口、系统与应用验证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F4BBF654-AAA0-4A5A-95A0-E7D82A57B708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4DD90C-8D10-4F58-9072-7D02EEBF0D9A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400050" y="1581150"/>
          <a:ext cx="11391900" cy="371475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6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层次</a:t>
                      </a:r>
                    </a:p>
                  </a:txBody>
                  <a:tcPr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测试对象</a:t>
                      </a:r>
                    </a:p>
                  </a:txBody>
                  <a:tcPr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通过标准</a:t>
                      </a:r>
                    </a:p>
                  </a:txBody>
                  <a:tcPr>
                    <a:solidFill>
                      <a:srgbClr val="1631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5D4E8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</a:t>
                      </a:r>
                    </a:p>
                  </a:txBody>
                  <a:tcPr>
                    <a:solidFill>
                      <a:srgbClr val="1631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SPI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tb_lcd_spi_master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0xA5、8 位 MSB first、RS 与空闲恢复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控制器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tb_lcd_controller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复位、初始化、清屏、请求与传输计数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MMIO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tb_bringup_system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状态轮询、慢外设等待、一次请求一次发送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游戏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tb_tetris_system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行上传、方向键、软降释放、消行与蜂鸣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7D99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IP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Catalog / Block Design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注册、例化、Validate、输出产品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B94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待补截图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实板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AF2FF"/>
                          </a:solidFill>
                          <a:latin typeface="Consolas"/>
                          <a:ea typeface="Consolas"/>
                          <a:cs typeface="Consolas"/>
                        </a:rPr>
                        <a:t>EES-338 + LCD + 手柄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EAF2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画面、控制、消行声音、重新开始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B94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待视频</a:t>
                      </a:r>
                    </a:p>
                  </a:txBody>
                  <a:tcPr>
                    <a:solidFill>
                      <a:srgbClr val="16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7DE19739-C9BC-4134-90FA-B0F81E515003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1391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自动化证据与实物证据分开陈述，不用 CPU 波形替代 LCD 协议验证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BC4229-31F4-48BA-928F-1144CF8A67CC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EFA933-F81C-456F-A56A-D0A5DA941A14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12386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DE20DED1-E08F-44D2-B113-266AFD3FA2E1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下板演示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BE04C6-AB52-4540-B5B7-06BCDC9136AE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现场演示顺序与实物证据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6160B69-D3EC-43C1-BBF9-15B73E60A319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D04888-CFF3-48B4-8C2A-78B307791ABD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51DC968-A889-437C-95A3-B934B7AFF6DE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3429000" cy="1181100"/>
          </a:xfrm>
          <a:prstGeom prst="roundRect">
            <a:avLst>
              <a:gd name="adj" fmla="val 7258"/>
            </a:avLst>
          </a:prstGeom>
          <a:solidFill>
            <a:srgbClr val="111C2F"/>
          </a:solidFill>
          <a:ln w="9525">
            <a:solidFill>
              <a:srgbClr val="25D4E8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E255D9E-E479-4DB8-B902-8C1FEB836A63}"/>
              </a:ext>
            </a:extLst>
          </p:cNvPr>
          <p:cNvSpPr>
            <a:spLocks noGrp="1"/>
          </p:cNvSpPr>
          <p:nvPr/>
        </p:nvSpPr>
        <p:spPr>
          <a:xfrm>
            <a:off x="571500" y="188595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80AD48-D59A-405D-8683-F36ADECB9367}"/>
              </a:ext>
            </a:extLst>
          </p:cNvPr>
          <p:cNvSpPr>
            <a:spLocks noGrp="1"/>
          </p:cNvSpPr>
          <p:nvPr/>
        </p:nvSpPr>
        <p:spPr>
          <a:xfrm>
            <a:off x="571500" y="1933575"/>
            <a:ext cx="4000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44F4F2-4467-4B99-8417-B63A234A8B6D}"/>
              </a:ext>
            </a:extLst>
          </p:cNvPr>
          <p:cNvSpPr>
            <a:spLocks noGrp="1"/>
          </p:cNvSpPr>
          <p:nvPr/>
        </p:nvSpPr>
        <p:spPr>
          <a:xfrm>
            <a:off x="1123950" y="18859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上电复位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CFF928-94C0-4281-8D0C-7792CAB594C1}"/>
              </a:ext>
            </a:extLst>
          </p:cNvPr>
          <p:cNvSpPr>
            <a:spLocks noGrp="1"/>
          </p:cNvSpPr>
          <p:nvPr/>
        </p:nvSpPr>
        <p:spPr>
          <a:xfrm>
            <a:off x="1123950" y="2295525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LCD 完成初始化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7D530A0-0DE8-4F90-A7CC-9C261333DEA2}"/>
              </a:ext>
            </a:extLst>
          </p:cNvPr>
          <p:cNvSpPr>
            <a:spLocks noGrp="1"/>
          </p:cNvSpPr>
          <p:nvPr/>
        </p:nvSpPr>
        <p:spPr>
          <a:xfrm>
            <a:off x="4191000" y="1714500"/>
            <a:ext cx="3429000" cy="1181100"/>
          </a:xfrm>
          <a:prstGeom prst="roundRect">
            <a:avLst>
              <a:gd name="adj" fmla="val 7258"/>
            </a:avLst>
          </a:prstGeom>
          <a:solidFill>
            <a:srgbClr val="111C2F"/>
          </a:solidFill>
          <a:ln w="9525">
            <a:solidFill>
              <a:srgbClr val="4F83FF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9C6B106-400F-4A35-8445-6284A7957BD9}"/>
              </a:ext>
            </a:extLst>
          </p:cNvPr>
          <p:cNvSpPr>
            <a:spLocks noGrp="1"/>
          </p:cNvSpPr>
          <p:nvPr/>
        </p:nvSpPr>
        <p:spPr>
          <a:xfrm>
            <a:off x="4362450" y="188595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DBFD2D-29A8-4FBF-B771-6D3226B5D064}"/>
              </a:ext>
            </a:extLst>
          </p:cNvPr>
          <p:cNvSpPr>
            <a:spLocks noGrp="1"/>
          </p:cNvSpPr>
          <p:nvPr/>
        </p:nvSpPr>
        <p:spPr>
          <a:xfrm>
            <a:off x="4362450" y="1933575"/>
            <a:ext cx="4000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4F83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4F83F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464CAF-2735-45E1-A8F2-BD1FE96795A9}"/>
              </a:ext>
            </a:extLst>
          </p:cNvPr>
          <p:cNvSpPr>
            <a:spLocks noGrp="1"/>
          </p:cNvSpPr>
          <p:nvPr/>
        </p:nvSpPr>
        <p:spPr>
          <a:xfrm>
            <a:off x="4914900" y="18859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开始游戏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4CF9F1-393D-4354-A235-AB89355428F8}"/>
              </a:ext>
            </a:extLst>
          </p:cNvPr>
          <p:cNvSpPr>
            <a:spLocks noGrp="1"/>
          </p:cNvSpPr>
          <p:nvPr/>
        </p:nvSpPr>
        <p:spPr>
          <a:xfrm>
            <a:off x="4914900" y="2295525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SW0 进入主循环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A99C916-6033-4A32-8602-1DF3A6D7CB15}"/>
              </a:ext>
            </a:extLst>
          </p:cNvPr>
          <p:cNvSpPr>
            <a:spLocks noGrp="1"/>
          </p:cNvSpPr>
          <p:nvPr/>
        </p:nvSpPr>
        <p:spPr>
          <a:xfrm>
            <a:off x="7981950" y="1714500"/>
            <a:ext cx="3429000" cy="1181100"/>
          </a:xfrm>
          <a:prstGeom prst="roundRect">
            <a:avLst>
              <a:gd name="adj" fmla="val 7258"/>
            </a:avLst>
          </a:prstGeom>
          <a:solidFill>
            <a:srgbClr val="111C2F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4EDCAB1-CC94-49E5-A06A-BF47C4E3783F}"/>
              </a:ext>
            </a:extLst>
          </p:cNvPr>
          <p:cNvSpPr>
            <a:spLocks noGrp="1"/>
          </p:cNvSpPr>
          <p:nvPr/>
        </p:nvSpPr>
        <p:spPr>
          <a:xfrm>
            <a:off x="8153400" y="188595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F3CDAD-345E-419B-B61C-1064301EB0D6}"/>
              </a:ext>
            </a:extLst>
          </p:cNvPr>
          <p:cNvSpPr>
            <a:spLocks noGrp="1"/>
          </p:cNvSpPr>
          <p:nvPr/>
        </p:nvSpPr>
        <p:spPr>
          <a:xfrm>
            <a:off x="8153400" y="1933575"/>
            <a:ext cx="4000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F5AF173-4D41-4326-B97D-51351F6D001D}"/>
              </a:ext>
            </a:extLst>
          </p:cNvPr>
          <p:cNvSpPr>
            <a:spLocks noGrp="1"/>
          </p:cNvSpPr>
          <p:nvPr/>
        </p:nvSpPr>
        <p:spPr>
          <a:xfrm>
            <a:off x="8705850" y="18859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左右与旋转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710153-D62E-41A1-A466-0A978522240B}"/>
              </a:ext>
            </a:extLst>
          </p:cNvPr>
          <p:cNvSpPr>
            <a:spLocks noGrp="1"/>
          </p:cNvSpPr>
          <p:nvPr/>
        </p:nvSpPr>
        <p:spPr>
          <a:xfrm>
            <a:off x="8705850" y="2295525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手柄输入响应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7DF30D7-07F7-4080-BAC5-4DEAA2D6F1B2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3429000" cy="1181100"/>
          </a:xfrm>
          <a:prstGeom prst="roundRect">
            <a:avLst>
              <a:gd name="adj" fmla="val 7258"/>
            </a:avLst>
          </a:prstGeom>
          <a:solidFill>
            <a:srgbClr val="111C2F"/>
          </a:solidFill>
          <a:ln w="9525">
            <a:solidFill>
              <a:srgbClr val="F5B942"/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58AF328-AD78-4011-A25D-8EA09781D22F}"/>
              </a:ext>
            </a:extLst>
          </p:cNvPr>
          <p:cNvSpPr>
            <a:spLocks noGrp="1"/>
          </p:cNvSpPr>
          <p:nvPr/>
        </p:nvSpPr>
        <p:spPr>
          <a:xfrm>
            <a:off x="571500" y="340995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CFA788-52C1-478D-B73A-AACA6187D88F}"/>
              </a:ext>
            </a:extLst>
          </p:cNvPr>
          <p:cNvSpPr>
            <a:spLocks noGrp="1"/>
          </p:cNvSpPr>
          <p:nvPr/>
        </p:nvSpPr>
        <p:spPr>
          <a:xfrm>
            <a:off x="571500" y="3457575"/>
            <a:ext cx="4000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8300BA2-E5D6-4001-BECB-B275422F1DA0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软降与锁定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B683515-AE5A-4EFF-AB10-1EC95BB4BF71}"/>
              </a:ext>
            </a:extLst>
          </p:cNvPr>
          <p:cNvSpPr>
            <a:spLocks noGrp="1"/>
          </p:cNvSpPr>
          <p:nvPr/>
        </p:nvSpPr>
        <p:spPr>
          <a:xfrm>
            <a:off x="1123950" y="3819525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方块进入固定棋盘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7039AC8-4EF7-4C89-A6C1-D5DA56C7AC82}"/>
              </a:ext>
            </a:extLst>
          </p:cNvPr>
          <p:cNvSpPr>
            <a:spLocks noGrp="1"/>
          </p:cNvSpPr>
          <p:nvPr/>
        </p:nvSpPr>
        <p:spPr>
          <a:xfrm>
            <a:off x="4191000" y="3238500"/>
            <a:ext cx="3429000" cy="1181100"/>
          </a:xfrm>
          <a:prstGeom prst="roundRect">
            <a:avLst>
              <a:gd name="adj" fmla="val 7258"/>
            </a:avLst>
          </a:prstGeom>
          <a:solidFill>
            <a:srgbClr val="111C2F"/>
          </a:solidFill>
          <a:ln w="9525">
            <a:solidFill>
              <a:srgbClr val="37D99A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CB596A5-51F1-4A56-A8FC-17D217027F5E}"/>
              </a:ext>
            </a:extLst>
          </p:cNvPr>
          <p:cNvSpPr>
            <a:spLocks noGrp="1"/>
          </p:cNvSpPr>
          <p:nvPr/>
        </p:nvSpPr>
        <p:spPr>
          <a:xfrm>
            <a:off x="4362450" y="340995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5A70F0B-DFA3-41D4-A5C7-71EF3ACB3BA2}"/>
              </a:ext>
            </a:extLst>
          </p:cNvPr>
          <p:cNvSpPr>
            <a:spLocks noGrp="1"/>
          </p:cNvSpPr>
          <p:nvPr/>
        </p:nvSpPr>
        <p:spPr>
          <a:xfrm>
            <a:off x="4362450" y="3457575"/>
            <a:ext cx="4000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6D8C851-1348-4743-B7F7-DFE3736EB5B3}"/>
              </a:ext>
            </a:extLst>
          </p:cNvPr>
          <p:cNvSpPr>
            <a:spLocks noGrp="1"/>
          </p:cNvSpPr>
          <p:nvPr/>
        </p:nvSpPr>
        <p:spPr>
          <a:xfrm>
            <a:off x="4914900" y="34099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消行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3AD3561-AB21-417E-A38F-CA7CD5D5DD18}"/>
              </a:ext>
            </a:extLst>
          </p:cNvPr>
          <p:cNvSpPr>
            <a:spLocks noGrp="1"/>
          </p:cNvSpPr>
          <p:nvPr/>
        </p:nvSpPr>
        <p:spPr>
          <a:xfrm>
            <a:off x="4914900" y="3819525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画面更新并触发蜂鸣器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42253A1-E39A-4C34-BB53-CE5E7FCA6B58}"/>
              </a:ext>
            </a:extLst>
          </p:cNvPr>
          <p:cNvSpPr>
            <a:spLocks noGrp="1"/>
          </p:cNvSpPr>
          <p:nvPr/>
        </p:nvSpPr>
        <p:spPr>
          <a:xfrm>
            <a:off x="7981950" y="3238500"/>
            <a:ext cx="3429000" cy="1181100"/>
          </a:xfrm>
          <a:prstGeom prst="roundRect">
            <a:avLst>
              <a:gd name="adj" fmla="val 7258"/>
            </a:avLst>
          </a:prstGeom>
          <a:solidFill>
            <a:srgbClr val="111C2F"/>
          </a:solidFill>
          <a:ln w="9525">
            <a:solidFill>
              <a:srgbClr val="F26B7A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1D88C4F-B4A4-44EE-AADF-04FCFC11C507}"/>
              </a:ext>
            </a:extLst>
          </p:cNvPr>
          <p:cNvSpPr>
            <a:spLocks noGrp="1"/>
          </p:cNvSpPr>
          <p:nvPr/>
        </p:nvSpPr>
        <p:spPr>
          <a:xfrm>
            <a:off x="8153400" y="3409950"/>
            <a:ext cx="400050" cy="304800"/>
          </a:xfrm>
          <a:prstGeom prst="roundRect">
            <a:avLst>
              <a:gd name="adj" fmla="val 50000"/>
            </a:avLst>
          </a:prstGeom>
          <a:solidFill>
            <a:srgbClr val="16243B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476A092-CDB9-4F4D-A206-51A842637804}"/>
              </a:ext>
            </a:extLst>
          </p:cNvPr>
          <p:cNvSpPr>
            <a:spLocks noGrp="1"/>
          </p:cNvSpPr>
          <p:nvPr/>
        </p:nvSpPr>
        <p:spPr>
          <a:xfrm>
            <a:off x="8153400" y="3457575"/>
            <a:ext cx="40005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77" lnSpcReduction="10000"/>
          </a:bodyPr>
          <a:lstStyle/>
          <a:p>
            <a:pPr>
              <a:defRPr sz="975" b="1">
                <a:solidFill>
                  <a:srgbClr val="F26B7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26B7A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60686EA-F8C1-4CC8-8496-0B6ED8065F38}"/>
              </a:ext>
            </a:extLst>
          </p:cNvPr>
          <p:cNvSpPr>
            <a:spLocks noGrp="1"/>
          </p:cNvSpPr>
          <p:nvPr/>
        </p:nvSpPr>
        <p:spPr>
          <a:xfrm>
            <a:off x="8705850" y="34099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重新开始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BCC544E-20B0-433D-9A4C-10786C24D2F1}"/>
              </a:ext>
            </a:extLst>
          </p:cNvPr>
          <p:cNvSpPr>
            <a:spLocks noGrp="1"/>
          </p:cNvSpPr>
          <p:nvPr/>
        </p:nvSpPr>
        <p:spPr>
          <a:xfrm>
            <a:off x="8705850" y="3819525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游戏状态清零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CCFF0E2-D994-44E0-888F-0265FB154AEF}"/>
              </a:ext>
            </a:extLst>
          </p:cNvPr>
          <p:cNvSpPr>
            <a:spLocks noGrp="1"/>
          </p:cNvSpPr>
          <p:nvPr/>
        </p:nvSpPr>
        <p:spPr>
          <a:xfrm>
            <a:off x="400050" y="5286375"/>
            <a:ext cx="113919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B942"/>
                </a:solidFill>
                <a:latin typeface="Noto Sans SC"/>
                <a:ea typeface="Noto Sans SC"/>
                <a:cs typeface="Noto Sans SC"/>
              </a:rPr>
              <a:t>答辩前补入：游戏画面、按键操作、消行帧与蜂鸣器视频截图；总视频不超过 5 分钟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AF0AB09-282F-4567-93BA-5C8461F0751C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8C10433-76A9-4390-B156-E9F2019EF544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06252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F374BCFB-FD5B-473A-A830-3D0B3B1069E8}"/>
              </a:ext>
            </a:extLst>
          </p:cNvPr>
          <p:cNvSpPr>
            <a:spLocks noGrp="1"/>
          </p:cNvSpPr>
          <p:nvPr/>
        </p:nvSpPr>
        <p:spPr>
          <a:xfrm>
            <a:off x="400050" y="247650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总结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834363-FEA4-4B97-9B53-4962271F9FAB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接口 IP 与汇编应用形成完整系统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45C961C-B82D-4C4B-8A90-F3CA07AFBF07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0991850" cy="0"/>
          </a:xfrm>
          <a:prstGeom prst="line">
            <a:avLst/>
          </a:prstGeom>
          <a:noFill/>
          <a:ln w="9525">
            <a:solidFill>
              <a:srgbClr val="283A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6B2AD6-0CF7-4D21-BC9C-B79F97C8BF39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9503D80-A857-4A15-AD9F-C81EF767A935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3524250" cy="1809750"/>
          </a:xfrm>
          <a:prstGeom prst="roundRect">
            <a:avLst>
              <a:gd name="adj" fmla="val 4737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FC26B9D-8A49-41DF-A2FA-CFB4376F7F6F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47625" cy="180975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4798D4-AD44-43DE-A661-B58B7E155079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78BFA"/>
                </a:solidFill>
                <a:latin typeface="Noto Sans SC"/>
                <a:ea typeface="Noto Sans SC"/>
                <a:cs typeface="Noto Sans SC"/>
              </a:rPr>
              <a:t>可复用硬件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AEF288-7622-4197-9163-18EC83DE84AE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3143250" cy="1162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ST7571 复位与初始化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4 线 SPI 字节发送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IP Catalog 封装结构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E9E72B6-6526-433A-813D-211CB9D5667D}"/>
              </a:ext>
            </a:extLst>
          </p:cNvPr>
          <p:cNvSpPr>
            <a:spLocks noGrp="1"/>
          </p:cNvSpPr>
          <p:nvPr/>
        </p:nvSpPr>
        <p:spPr>
          <a:xfrm>
            <a:off x="4333875" y="1695450"/>
            <a:ext cx="3524250" cy="1809750"/>
          </a:xfrm>
          <a:prstGeom prst="roundRect">
            <a:avLst>
              <a:gd name="adj" fmla="val 4737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76AF7FB-DABD-439D-80A0-B1F689BA595D}"/>
              </a:ext>
            </a:extLst>
          </p:cNvPr>
          <p:cNvSpPr>
            <a:spLocks noGrp="1"/>
          </p:cNvSpPr>
          <p:nvPr/>
        </p:nvSpPr>
        <p:spPr>
          <a:xfrm>
            <a:off x="4333875" y="1695450"/>
            <a:ext cx="47625" cy="1809750"/>
          </a:xfrm>
          <a:prstGeom prst="roundRect">
            <a:avLst>
              <a:gd name="adj" fmla="val 50000"/>
            </a:avLst>
          </a:prstGeom>
          <a:solidFill>
            <a:srgbClr val="25D4E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F42FA1-5748-4270-9B6C-93F85E851175}"/>
              </a:ext>
            </a:extLst>
          </p:cNvPr>
          <p:cNvSpPr>
            <a:spLocks noGrp="1"/>
          </p:cNvSpPr>
          <p:nvPr/>
        </p:nvSpPr>
        <p:spPr>
          <a:xfrm>
            <a:off x="4543425" y="185737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完整软件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6B23BA-45FC-4E6E-9688-FCD38F4B42C1}"/>
              </a:ext>
            </a:extLst>
          </p:cNvPr>
          <p:cNvSpPr>
            <a:spLocks noGrp="1"/>
          </p:cNvSpPr>
          <p:nvPr/>
        </p:nvSpPr>
        <p:spPr>
          <a:xfrm>
            <a:off x="4543425" y="2200275"/>
            <a:ext cx="3143250" cy="1162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MMIO 驱动与状态轮询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10×20 俄罗斯方块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移动、旋转、消行与重开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0781D8B-3C62-4DEE-BEC1-69138F40707F}"/>
              </a:ext>
            </a:extLst>
          </p:cNvPr>
          <p:cNvSpPr>
            <a:spLocks noGrp="1"/>
          </p:cNvSpPr>
          <p:nvPr/>
        </p:nvSpPr>
        <p:spPr>
          <a:xfrm>
            <a:off x="8267700" y="1695450"/>
            <a:ext cx="3524250" cy="1809750"/>
          </a:xfrm>
          <a:prstGeom prst="roundRect">
            <a:avLst>
              <a:gd name="adj" fmla="val 4737"/>
            </a:avLst>
          </a:prstGeom>
          <a:solidFill>
            <a:srgbClr val="111C2F"/>
          </a:solidFill>
          <a:ln w="9525">
            <a:solidFill>
              <a:srgbClr val="283A55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83FEE3A-1C09-47BF-9B45-157539E4ADA3}"/>
              </a:ext>
            </a:extLst>
          </p:cNvPr>
          <p:cNvSpPr>
            <a:spLocks noGrp="1"/>
          </p:cNvSpPr>
          <p:nvPr/>
        </p:nvSpPr>
        <p:spPr>
          <a:xfrm>
            <a:off x="8267700" y="1695450"/>
            <a:ext cx="47625" cy="1809750"/>
          </a:xfrm>
          <a:prstGeom prst="roundRect">
            <a:avLst>
              <a:gd name="adj" fmla="val 50000"/>
            </a:avLst>
          </a:prstGeom>
          <a:solidFill>
            <a:srgbClr val="37D99A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8705409-3436-441D-86D1-31EAFAAB69FE}"/>
              </a:ext>
            </a:extLst>
          </p:cNvPr>
          <p:cNvSpPr>
            <a:spLocks noGrp="1"/>
          </p:cNvSpPr>
          <p:nvPr/>
        </p:nvSpPr>
        <p:spPr>
          <a:xfrm>
            <a:off x="8477250" y="185737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>
              <a:def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7D99A"/>
                </a:solidFill>
                <a:latin typeface="Noto Sans SC"/>
                <a:ea typeface="Noto Sans SC"/>
                <a:cs typeface="Noto Sans SC"/>
              </a:rPr>
              <a:t>分层验证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74D3608-BDDE-4ACA-98FD-02E871F849F6}"/>
              </a:ext>
            </a:extLst>
          </p:cNvPr>
          <p:cNvSpPr>
            <a:spLocks noGrp="1"/>
          </p:cNvSpPr>
          <p:nvPr/>
        </p:nvSpPr>
        <p:spPr>
          <a:xfrm>
            <a:off x="8477250" y="2200275"/>
            <a:ext cx="3143250" cy="1162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SPI 与控制器单元测试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MMIO 与游戏系统测试</a:t>
            </a:r>
          </a:p>
          <a:p>
            <a:pPr>
              <a:def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基础 LCD 下板闭环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DD284A-D1CD-4EEB-BE0C-67905F46AF74}"/>
              </a:ext>
            </a:extLst>
          </p:cNvPr>
          <p:cNvSpPr>
            <a:spLocks noGrp="1"/>
          </p:cNvSpPr>
          <p:nvPr/>
        </p:nvSpPr>
        <p:spPr>
          <a:xfrm>
            <a:off x="400050" y="400050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 lnSpcReduction="10000"/>
          </a:bodyPr>
          <a:lstStyle/>
          <a:p>
            <a:pPr>
              <a:def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5D4E8"/>
                </a:solidFill>
                <a:latin typeface="Noto Sans SC"/>
                <a:ea typeface="Noto Sans SC"/>
                <a:cs typeface="Noto Sans SC"/>
              </a:rPr>
              <a:t>课程边界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57D8F6-050C-48A4-8419-97FB6E09F307}"/>
              </a:ext>
            </a:extLst>
          </p:cNvPr>
          <p:cNvSpPr>
            <a:spLocks noGrp="1"/>
          </p:cNvSpPr>
          <p:nvPr/>
        </p:nvSpPr>
        <p:spPr>
          <a:xfrm>
            <a:off x="400050" y="4400550"/>
            <a:ext cx="113919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EAF2FF"/>
                </a:solidFill>
                <a:latin typeface="Noto Sans SC"/>
                <a:ea typeface="Noto Sans SC"/>
                <a:cs typeface="Noto Sans SC"/>
              </a:rPr>
              <a:t>计组评价 CPU 微架构与性能；本课程评价接口协议、IP 封装、汇编驱动与软硬件协同。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2DE4ECF-7456-4EA2-8042-FA55E5E9204B}"/>
              </a:ext>
            </a:extLst>
          </p:cNvPr>
          <p:cNvSpPr>
            <a:spLocks noGrp="1"/>
          </p:cNvSpPr>
          <p:nvPr/>
        </p:nvSpPr>
        <p:spPr>
          <a:xfrm>
            <a:off x="400050" y="5181600"/>
            <a:ext cx="113919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F26B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26B7A"/>
                </a:solidFill>
                <a:latin typeface="Noto Sans SC"/>
                <a:ea typeface="Noto Sans SC"/>
                <a:cs typeface="Noto Sans SC"/>
              </a:rPr>
              <a:t>提交前仍需补齐 IP 工具截图、最终游戏实物照片和不超过 5 分钟的下板视频。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9F6605-1BF2-4E1D-9117-3889D8BDB9C0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723900" cy="304800"/>
          </a:xfrm>
          <a:prstGeom prst="rect">
            <a:avLst/>
          </a:prstGeom>
          <a:solidFill>
            <a:srgbClr val="0B1220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C557CB-2C1B-44F7-869E-A1636BCCFB32}"/>
              </a:ext>
            </a:extLst>
          </p:cNvPr>
          <p:cNvSpPr>
            <a:spLocks noGrp="1"/>
          </p:cNvSpPr>
          <p:nvPr/>
        </p:nvSpPr>
        <p:spPr>
          <a:xfrm>
            <a:off x="11258550" y="6496050"/>
            <a:ext cx="5334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136" lnSpcReduction="10000"/>
          </a:bodyPr>
          <a:lstStyle/>
          <a:p>
            <a:pPr>
              <a:def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A6B4C8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09751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1518</Words>
  <Application>Microsoft Office PowerPoint</Application>
  <DocSecurity>0</DocSecurity>
  <PresentationFormat>宽屏</PresentationFormat>
  <Paragraphs>353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Noto Sans SC</vt:lpstr>
      <vt:lpstr>Microsoft YaHei</vt:lpstr>
      <vt:lpstr>Arial</vt:lpstr>
      <vt:lpstr>Consolas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eon N</cp:lastModifiedBy>
  <cp:revision>1</cp:revision>
  <dcterms:created xsi:type="dcterms:W3CDTF">2026-09-17T06:58:16Z</dcterms:created>
  <dcterms:modified xsi:type="dcterms:W3CDTF">2026-09-17T07:09:29Z</dcterms:modified>
</cp:coreProperties>
</file>